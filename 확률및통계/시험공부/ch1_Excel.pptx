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59" r:id="rId5"/>
    <p:sldId id="260" r:id="rId6"/>
    <p:sldId id="261" r:id="rId7"/>
    <p:sldId id="271" r:id="rId8"/>
    <p:sldId id="262" r:id="rId9"/>
    <p:sldId id="258" r:id="rId10"/>
    <p:sldId id="270" r:id="rId11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0929"/>
  </p:normalViewPr>
  <p:slideViewPr>
    <p:cSldViewPr>
      <p:cViewPr varScale="1">
        <p:scale>
          <a:sx n="99" d="100"/>
          <a:sy n="99" d="100"/>
        </p:scale>
        <p:origin x="1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A15BF73-70F6-40CB-8A34-48956399FEC0}" type="datetimeFigureOut">
              <a:rPr lang="ko-KR" altLang="en-US"/>
              <a:pPr>
                <a:defRPr/>
              </a:pPr>
              <a:t>2026-03-05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DB067B4-859B-4772-B86A-69653AF006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6954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fld id="{D2ABAE2B-8EBA-4B10-8AC4-1838D9F15640}" type="slidenum">
              <a:rPr lang="en-US" altLang="ko-KR" sz="1200" smtClean="0"/>
              <a:pPr eaLnBrk="1" hangingPunct="1"/>
              <a:t>3</a:t>
            </a:fld>
            <a:endParaRPr lang="en-US" altLang="ko-KR" sz="120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B067B4-859B-4772-B86A-69653AF0064D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894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E8B38-A3BD-4A59-B4D0-3574B95BD30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31108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E9BAF-14BC-4D70-82C5-3FF9BBA2F1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5325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4A885-5623-46C4-9ADA-7A8C674837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01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035298-C136-4177-924D-682BFBA5883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19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1D735-846B-4670-8B47-F06FEED170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963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8B4E4-6D01-4B05-995F-080E04D025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646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807B6-C5DD-41A8-97BB-A927BE25F5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9838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50AA6-84CF-43A6-9E13-73FD79613C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689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52F0A-3DF4-4209-B6D3-C62A09D9421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567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EB828-74F6-4ED8-984C-ED24303D01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9931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CB62D1-AADC-4A11-AF91-B0AC459987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3715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623BD9A-1EFF-4D1A-A687-998F727A77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pminder.org/videos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576" y="1196752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dirty="0"/>
              <a:t>확률 및 통계</a:t>
            </a:r>
            <a:br>
              <a:rPr lang="ko-KR" altLang="en-US" dirty="0"/>
            </a:br>
            <a:r>
              <a:rPr lang="ko-KR" altLang="en-US" dirty="0"/>
              <a:t> </a:t>
            </a:r>
            <a:r>
              <a:rPr lang="en-US" altLang="ko-KR" dirty="0"/>
              <a:t>Probability and Statistics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1376" y="2924944"/>
            <a:ext cx="6400800" cy="1752600"/>
          </a:xfrm>
        </p:spPr>
        <p:txBody>
          <a:bodyPr/>
          <a:lstStyle/>
          <a:p>
            <a:pPr eaLnBrk="1" hangingPunct="1"/>
            <a:endParaRPr lang="en-US" altLang="ko-KR" dirty="0"/>
          </a:p>
          <a:p>
            <a:pPr eaLnBrk="1" hangingPunct="1"/>
            <a:r>
              <a:rPr lang="ko-KR" altLang="en-US" dirty="0"/>
              <a:t>엄 종 석</a:t>
            </a:r>
            <a:endParaRPr lang="en-US" altLang="ko-KR" dirty="0"/>
          </a:p>
          <a:p>
            <a:pPr eaLnBrk="1" hangingPunct="1"/>
            <a:r>
              <a:rPr lang="en-US" altLang="ko-KR" dirty="0"/>
              <a:t>jsum@hansung.ac.kr</a:t>
            </a:r>
          </a:p>
          <a:p>
            <a:pPr eaLnBrk="1" hangingPunct="1"/>
            <a:r>
              <a:rPr lang="en-US" altLang="ko-KR" dirty="0"/>
              <a:t>010-8944-0789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60648"/>
            <a:ext cx="7772400" cy="731168"/>
          </a:xfrm>
        </p:spPr>
        <p:txBody>
          <a:bodyPr/>
          <a:lstStyle/>
          <a:p>
            <a:pPr algn="l" eaLnBrk="1" hangingPunct="1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통계학의 개념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196752"/>
            <a:ext cx="8136904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 dirty="0"/>
              <a:t>1.1 </a:t>
            </a:r>
            <a:r>
              <a:rPr lang="ko-KR" altLang="en-US" sz="2800" dirty="0"/>
              <a:t>통계학이란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  관심의 대상에 대하여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  </a:t>
            </a:r>
            <a:r>
              <a:rPr lang="en-US" altLang="ko-KR" sz="2800" dirty="0"/>
              <a:t>1) gathering data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    - sampling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    - experiment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	    - accumulated data, </a:t>
            </a:r>
            <a:r>
              <a:rPr kumimoji="0" lang="ko-KR" altLang="ko-KR" sz="2800" dirty="0" err="1">
                <a:solidFill>
                  <a:srgbClr val="202124"/>
                </a:solidFill>
                <a:ea typeface="inherit"/>
              </a:rPr>
              <a:t>crawling</a:t>
            </a:r>
            <a:r>
              <a:rPr kumimoji="0" lang="ko-KR" altLang="ko-KR" sz="2800" dirty="0">
                <a:solidFill>
                  <a:srgbClr val="202124"/>
                </a:solidFill>
                <a:ea typeface="inherit"/>
              </a:rPr>
              <a:t> </a:t>
            </a:r>
            <a:r>
              <a:rPr lang="en-US" altLang="ko-KR" sz="2800" dirty="0"/>
              <a:t>		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2) summarizing data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    - descriptive statistics(mean, variance,..)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    - graphics(histogram, bar chart, bubble</a:t>
            </a:r>
            <a:r>
              <a:rPr lang="ko-KR" altLang="en-US" sz="2800" dirty="0"/>
              <a:t> </a:t>
            </a:r>
            <a:r>
              <a:rPr lang="en-US" altLang="ko-KR" sz="2800" dirty="0"/>
              <a:t>chart, tree map, network graph,</a:t>
            </a:r>
            <a:r>
              <a:rPr lang="ko-KR" altLang="en-US" sz="2800" dirty="0"/>
              <a:t> </a:t>
            </a:r>
            <a:r>
              <a:rPr lang="en-US" altLang="ko-KR" sz="2800" dirty="0"/>
              <a:t>..)     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A209DB-8D5B-4A10-97CB-846506C8C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5253"/>
            <a:ext cx="25648" cy="66693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6255" y="5820085"/>
            <a:ext cx="789592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l" eaLnBrk="1" hangingPunct="1"/>
            <a:r>
              <a:rPr lang="en-US" altLang="ko-KR" sz="1800" b="1" u="sng" dirty="0">
                <a:latin typeface="Franklin Gothic Book" pitchFamily="34" charset="0"/>
                <a:ea typeface="굴림" charset="-127"/>
                <a:hlinkClick r:id="rId3"/>
              </a:rPr>
              <a:t>https://www.gapminder.org/videos/hans-rosling-on-cnn-us-in-a-converging-world/</a:t>
            </a:r>
          </a:p>
          <a:p>
            <a:pPr algn="l" eaLnBrk="1" hangingPunct="1"/>
            <a:r>
              <a:rPr lang="en-US" altLang="ko-KR" sz="1800" dirty="0">
                <a:latin typeface="Franklin Gothic Book" pitchFamily="34" charset="0"/>
                <a:ea typeface="굴림" charset="-127"/>
              </a:rPr>
              <a:t>(</a:t>
            </a:r>
            <a:r>
              <a:rPr lang="ko-KR" altLang="en-US" sz="1800" dirty="0">
                <a:latin typeface="Franklin Gothic Book" pitchFamily="34" charset="0"/>
                <a:ea typeface="굴림" charset="-127"/>
              </a:rPr>
              <a:t>시간성 차원 추가 예</a:t>
            </a:r>
            <a:r>
              <a:rPr lang="en-US" altLang="ko-KR" sz="1800" dirty="0">
                <a:latin typeface="Franklin Gothic Book" pitchFamily="34" charset="0"/>
                <a:ea typeface="굴림" charset="-127"/>
              </a:rPr>
              <a:t>)</a:t>
            </a:r>
            <a:endParaRPr lang="en-US" altLang="ko-KR" sz="1800" b="1" u="sng" dirty="0">
              <a:latin typeface="Franklin Gothic Book" pitchFamily="34" charset="0"/>
              <a:ea typeface="굴림" charset="-127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767943" y="66272"/>
            <a:ext cx="7772400" cy="500062"/>
          </a:xfrm>
        </p:spPr>
        <p:txBody>
          <a:bodyPr/>
          <a:lstStyle/>
          <a:p>
            <a:pPr eaLnBrk="1" hangingPunct="1"/>
            <a:r>
              <a:rPr lang="ko-KR" altLang="en-US" sz="2000" dirty="0"/>
              <a:t>프레젠테이션 그래픽스</a:t>
            </a:r>
            <a:r>
              <a:rPr lang="ko-KR" altLang="en-US" sz="2400" dirty="0"/>
              <a:t> </a:t>
            </a:r>
          </a:p>
        </p:txBody>
      </p:sp>
      <p:pic>
        <p:nvPicPr>
          <p:cNvPr id="5125" name="그림 5" descr="1_2.bmp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263" y="650799"/>
            <a:ext cx="3935729" cy="2664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53" y="667544"/>
            <a:ext cx="3533362" cy="2632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내용 개체 틀 3">
            <a:extLst>
              <a:ext uri="{FF2B5EF4-FFF2-40B4-BE49-F238E27FC236}">
                <a16:creationId xmlns:a16="http://schemas.microsoft.com/office/drawing/2014/main" id="{61C360C5-7C11-4C51-97A6-A4DF65FB7D7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315" y="3299962"/>
            <a:ext cx="3935729" cy="2539253"/>
          </a:xfrm>
          <a:prstGeom prst="rect">
            <a:avLst/>
          </a:prstGeom>
        </p:spPr>
      </p:pic>
      <p:pic>
        <p:nvPicPr>
          <p:cNvPr id="11" name="내용 개체 틀 3">
            <a:extLst>
              <a:ext uri="{FF2B5EF4-FFF2-40B4-BE49-F238E27FC236}">
                <a16:creationId xmlns:a16="http://schemas.microsoft.com/office/drawing/2014/main" id="{525A336A-CF9C-49C7-AB66-B4FF7243349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544" y="3280831"/>
            <a:ext cx="3533362" cy="2539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836712"/>
            <a:ext cx="7772400" cy="487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  3) analyzing data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     - inferential statistics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     - estimation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     - testing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     - modeling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4) reporting the results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5) making decision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	 - </a:t>
            </a:r>
            <a:r>
              <a:rPr lang="ko-KR" altLang="en-US" sz="2400" dirty="0" err="1"/>
              <a:t>그동안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축척된</a:t>
            </a:r>
            <a:r>
              <a:rPr lang="ko-KR" altLang="en-US" sz="2400" dirty="0"/>
              <a:t> 데이터를 기반으로 효과적인  </a:t>
            </a:r>
            <a:endParaRPr lang="en-US" altLang="ko-KR" sz="2400" dirty="0"/>
          </a:p>
          <a:p>
            <a:pPr eaLnBrk="1" hangingPunct="1">
              <a:buFontTx/>
              <a:buNone/>
            </a:pPr>
            <a:r>
              <a:rPr lang="en-US" altLang="ko-KR" sz="2400" dirty="0"/>
              <a:t>        </a:t>
            </a:r>
            <a:r>
              <a:rPr lang="ko-KR" altLang="en-US" sz="2400" dirty="0"/>
              <a:t>의사결정을 위한 분석적 환경 필요 </a:t>
            </a:r>
            <a:r>
              <a:rPr lang="en-US" altLang="ko-KR" sz="2400" dirty="0"/>
              <a:t>=&gt; R, SPSS, SAS, Python, EXCEL,…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ko-KR"/>
              <a:t>1.2 </a:t>
            </a:r>
            <a:r>
              <a:rPr lang="ko-KR" altLang="en-US"/>
              <a:t>기술통계학</a:t>
            </a:r>
            <a:r>
              <a:rPr lang="en-US" altLang="ko-KR"/>
              <a:t>, </a:t>
            </a:r>
            <a:r>
              <a:rPr lang="ko-KR" altLang="en-US"/>
              <a:t>추측통계학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ko-KR"/>
              <a:t>-</a:t>
            </a:r>
            <a:r>
              <a:rPr lang="ko-KR" altLang="en-US"/>
              <a:t>모집단</a:t>
            </a:r>
            <a:r>
              <a:rPr lang="en-US" altLang="ko-KR"/>
              <a:t>(population) : </a:t>
            </a:r>
            <a:r>
              <a:rPr lang="ko-KR" altLang="en-US"/>
              <a:t>관심 대상 집단의 </a:t>
            </a:r>
          </a:p>
          <a:p>
            <a:pPr eaLnBrk="1" hangingPunct="1">
              <a:buFontTx/>
              <a:buNone/>
            </a:pPr>
            <a:r>
              <a:rPr lang="ko-KR" altLang="en-US"/>
              <a:t>                               개체 전체</a:t>
            </a:r>
          </a:p>
          <a:p>
            <a:pPr eaLnBrk="1" hangingPunct="1">
              <a:buFontTx/>
              <a:buNone/>
            </a:pPr>
            <a:r>
              <a:rPr lang="en-US" altLang="ko-KR"/>
              <a:t>-</a:t>
            </a:r>
            <a:r>
              <a:rPr lang="ko-KR" altLang="en-US"/>
              <a:t>표본</a:t>
            </a:r>
            <a:r>
              <a:rPr lang="en-US" altLang="ko-KR"/>
              <a:t>(sample) : </a:t>
            </a:r>
            <a:r>
              <a:rPr lang="ko-KR" altLang="en-US"/>
              <a:t>관심대상에서 추출된 </a:t>
            </a:r>
          </a:p>
          <a:p>
            <a:pPr eaLnBrk="1" hangingPunct="1">
              <a:buFontTx/>
              <a:buNone/>
            </a:pPr>
            <a:r>
              <a:rPr lang="ko-KR" altLang="en-US"/>
              <a:t>                        일부개체</a:t>
            </a:r>
          </a:p>
          <a:p>
            <a:pPr eaLnBrk="1" hangingPunct="1">
              <a:buFontTx/>
              <a:buNone/>
            </a:pPr>
            <a:r>
              <a:rPr lang="ko-KR" altLang="en-US"/>
              <a:t>모수</a:t>
            </a:r>
            <a:r>
              <a:rPr lang="en-US" altLang="ko-KR"/>
              <a:t>(parameter): </a:t>
            </a:r>
            <a:r>
              <a:rPr lang="ko-KR" altLang="en-US"/>
              <a:t>모집단의 관심값</a:t>
            </a:r>
          </a:p>
          <a:p>
            <a:pPr eaLnBrk="1" hangingPunct="1">
              <a:buFontTx/>
              <a:buNone/>
            </a:pPr>
            <a:r>
              <a:rPr lang="ko-KR" altLang="en-US"/>
              <a:t>통계량</a:t>
            </a:r>
            <a:r>
              <a:rPr lang="en-US" altLang="ko-KR"/>
              <a:t>(statistics): </a:t>
            </a:r>
            <a:r>
              <a:rPr lang="ko-KR" altLang="en-US" sz="2800"/>
              <a:t>표본을 이용하여 구한값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1) </a:t>
            </a:r>
            <a:r>
              <a:rPr lang="ko-KR" altLang="en-US" sz="2800" dirty="0"/>
              <a:t>기술통계학 </a:t>
            </a:r>
            <a:r>
              <a:rPr lang="en-US" altLang="ko-KR" sz="2800" dirty="0"/>
              <a:t>: </a:t>
            </a:r>
            <a:r>
              <a:rPr lang="ko-KR" altLang="en-US" sz="2800" dirty="0"/>
              <a:t>자료의 정리</a:t>
            </a:r>
            <a:r>
              <a:rPr lang="en-US" altLang="ko-KR" sz="2800" dirty="0"/>
              <a:t>, </a:t>
            </a:r>
            <a:r>
              <a:rPr lang="ko-KR" altLang="en-US" sz="2800" dirty="0"/>
              <a:t>요약</a:t>
            </a:r>
            <a:r>
              <a:rPr lang="en-US" altLang="ko-KR" sz="2800" dirty="0"/>
              <a:t>, </a:t>
            </a:r>
            <a:r>
              <a:rPr lang="ko-KR" altLang="en-US" sz="2800" dirty="0"/>
              <a:t>및 분석</a:t>
            </a:r>
          </a:p>
          <a:p>
            <a:pPr eaLnBrk="1" hangingPunct="1">
              <a:lnSpc>
                <a:spcPct val="90000"/>
              </a:lnSpc>
            </a:pPr>
            <a:endParaRPr lang="ko-KR" altLang="en-US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2) </a:t>
            </a:r>
            <a:r>
              <a:rPr lang="ko-KR" altLang="en-US" sz="2800" dirty="0"/>
              <a:t>추측통계학 </a:t>
            </a:r>
            <a:r>
              <a:rPr lang="en-US" altLang="ko-KR" sz="2800" dirty="0"/>
              <a:t>: </a:t>
            </a:r>
            <a:r>
              <a:rPr lang="ko-KR" altLang="en-US" sz="2800" dirty="0"/>
              <a:t>자료에 근거하여 불확실한 상황에 대한 추론</a:t>
            </a:r>
            <a:r>
              <a:rPr lang="en-US" altLang="ko-KR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ko-KR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                    +                    =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ko-KR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ko-KR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ko-KR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</a:t>
            </a:r>
          </a:p>
        </p:txBody>
      </p:sp>
      <p:sp>
        <p:nvSpPr>
          <p:cNvPr id="8195" name="Text Box 5"/>
          <p:cNvSpPr txBox="1">
            <a:spLocks noChangeArrowheads="1"/>
          </p:cNvSpPr>
          <p:nvPr/>
        </p:nvSpPr>
        <p:spPr bwMode="auto">
          <a:xfrm>
            <a:off x="1524000" y="3429000"/>
            <a:ext cx="1905000" cy="1016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atinLnBrk="0"/>
            <a:r>
              <a:rPr kumimoji="0" lang="ko-KR" altLang="en-US" sz="2000" b="1" dirty="0"/>
              <a:t>표본</a:t>
            </a:r>
            <a:r>
              <a:rPr kumimoji="0" lang="en-US" altLang="ko-KR" sz="2000" b="1" dirty="0"/>
              <a:t>:</a:t>
            </a:r>
          </a:p>
          <a:p>
            <a:pPr latinLnBrk="0"/>
            <a:r>
              <a:rPr kumimoji="0" lang="ko-KR" altLang="en-US" sz="2000" b="1" dirty="0"/>
              <a:t>불완전한 자료</a:t>
            </a:r>
          </a:p>
          <a:p>
            <a:pPr latinLnBrk="0"/>
            <a:r>
              <a:rPr kumimoji="0" lang="en-US" altLang="ko-KR" sz="2000" b="1" dirty="0"/>
              <a:t>=&gt;</a:t>
            </a:r>
            <a:r>
              <a:rPr kumimoji="0" lang="ko-KR" altLang="en-US" sz="2000" b="1" dirty="0"/>
              <a:t>불확실성</a:t>
            </a:r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4114800" y="3581400"/>
            <a:ext cx="1905000" cy="711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atinLnBrk="0"/>
            <a:r>
              <a:rPr kumimoji="0" lang="ko-KR" altLang="en-US" sz="2000" b="1" dirty="0"/>
              <a:t>불확실한 측도</a:t>
            </a:r>
            <a:r>
              <a:rPr kumimoji="0" lang="en-US" altLang="ko-KR" sz="2000" b="1" dirty="0"/>
              <a:t>:</a:t>
            </a:r>
          </a:p>
          <a:p>
            <a:pPr latinLnBrk="0"/>
            <a:r>
              <a:rPr kumimoji="0" lang="ko-KR" altLang="en-US" sz="2000" b="1" dirty="0"/>
              <a:t>확률</a:t>
            </a:r>
          </a:p>
        </p:txBody>
      </p:sp>
      <p:sp>
        <p:nvSpPr>
          <p:cNvPr id="8197" name="Text Box 7"/>
          <p:cNvSpPr txBox="1">
            <a:spLocks noChangeArrowheads="1"/>
          </p:cNvSpPr>
          <p:nvPr/>
        </p:nvSpPr>
        <p:spPr bwMode="auto">
          <a:xfrm>
            <a:off x="6705600" y="3581400"/>
            <a:ext cx="1905000" cy="711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atinLnBrk="0"/>
            <a:r>
              <a:rPr kumimoji="0" lang="ko-KR" altLang="en-US" sz="2000" b="1" dirty="0"/>
              <a:t>사용가능 지식</a:t>
            </a:r>
            <a:r>
              <a:rPr kumimoji="0" lang="en-US" altLang="ko-KR" sz="2000" b="1" dirty="0"/>
              <a:t>, </a:t>
            </a:r>
            <a:r>
              <a:rPr kumimoji="0" lang="ko-KR" altLang="en-US" sz="2000" b="1" dirty="0"/>
              <a:t>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772400" cy="762000"/>
          </a:xfrm>
        </p:spPr>
        <p:txBody>
          <a:bodyPr/>
          <a:lstStyle/>
          <a:p>
            <a:pPr algn="l" eaLnBrk="1" hangingPunct="1"/>
            <a:r>
              <a:rPr lang="ko-KR" altLang="en-US" sz="3600" dirty="0"/>
              <a:t>취급할 내용</a:t>
            </a:r>
            <a:br>
              <a:rPr lang="en-US" altLang="ko-KR" sz="3600" dirty="0"/>
            </a:br>
            <a:r>
              <a:rPr lang="en-US" altLang="ko-KR" sz="2800" dirty="0"/>
              <a:t>(</a:t>
            </a:r>
            <a:r>
              <a:rPr lang="ko-KR" altLang="en-US" sz="2800" dirty="0"/>
              <a:t>각 단원 마다 </a:t>
            </a:r>
            <a:r>
              <a:rPr lang="en-US" altLang="ko-KR" sz="2800" dirty="0"/>
              <a:t>EXCEL</a:t>
            </a:r>
            <a:r>
              <a:rPr lang="ko-KR" altLang="en-US" sz="2800" dirty="0"/>
              <a:t>을 이용한</a:t>
            </a:r>
            <a:r>
              <a:rPr lang="en-US" altLang="ko-KR" sz="2800" dirty="0"/>
              <a:t> </a:t>
            </a:r>
            <a:r>
              <a:rPr lang="ko-KR" altLang="en-US" sz="2800" dirty="0"/>
              <a:t>실습</a:t>
            </a:r>
            <a:r>
              <a:rPr lang="en-US" altLang="ko-KR" sz="2800" dirty="0"/>
              <a:t>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80728"/>
            <a:ext cx="7772400" cy="46482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자료의 요약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자료 형태</a:t>
            </a:r>
            <a:r>
              <a:rPr lang="en-US" altLang="ko-KR" sz="2400" dirty="0"/>
              <a:t>: </a:t>
            </a:r>
            <a:r>
              <a:rPr lang="ko-KR" altLang="en-US" sz="2400" dirty="0"/>
              <a:t>범주형</a:t>
            </a:r>
            <a:r>
              <a:rPr lang="en-US" altLang="ko-KR" sz="2400" dirty="0"/>
              <a:t>, </a:t>
            </a:r>
            <a:r>
              <a:rPr lang="ko-KR" altLang="en-US" sz="2400" dirty="0"/>
              <a:t>이산형</a:t>
            </a:r>
            <a:r>
              <a:rPr lang="en-US" altLang="ko-KR" sz="2400" dirty="0"/>
              <a:t>, </a:t>
            </a:r>
            <a:r>
              <a:rPr lang="ko-KR" altLang="en-US" sz="2400" dirty="0"/>
              <a:t>연속형</a:t>
            </a:r>
            <a:endParaRPr lang="en-US" altLang="ko-KR" sz="2400" dirty="0"/>
          </a:p>
          <a:p>
            <a:pPr lvl="1" eaLnBrk="1" hangingPunct="1"/>
            <a:r>
              <a:rPr lang="ko-KR" altLang="en-US" sz="2400" dirty="0"/>
              <a:t>요약</a:t>
            </a:r>
            <a:r>
              <a:rPr lang="en-US" altLang="ko-KR" sz="2400" dirty="0"/>
              <a:t>: </a:t>
            </a:r>
            <a:r>
              <a:rPr lang="ko-KR" altLang="en-US" sz="2400" dirty="0"/>
              <a:t>표</a:t>
            </a:r>
            <a:r>
              <a:rPr lang="en-US" altLang="ko-KR" sz="2400" dirty="0"/>
              <a:t>, </a:t>
            </a:r>
            <a:r>
              <a:rPr lang="ko-KR" altLang="en-US" sz="2400" dirty="0"/>
              <a:t>그림</a:t>
            </a:r>
            <a:r>
              <a:rPr lang="en-US" altLang="ko-KR" sz="2400" dirty="0"/>
              <a:t>, </a:t>
            </a:r>
            <a:r>
              <a:rPr lang="ko-KR" altLang="en-US" sz="2400" dirty="0"/>
              <a:t>수치</a:t>
            </a:r>
            <a:endParaRPr lang="en-US" altLang="ko-KR" sz="2400" dirty="0"/>
          </a:p>
          <a:p>
            <a:pPr eaLnBrk="1" hangingPunct="1"/>
            <a:r>
              <a:rPr lang="ko-KR" altLang="en-US" sz="2800" dirty="0"/>
              <a:t>확률 및 확률분포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확률 계산</a:t>
            </a:r>
            <a:r>
              <a:rPr lang="en-US" altLang="ko-KR" sz="2400" dirty="0"/>
              <a:t>: </a:t>
            </a:r>
            <a:r>
              <a:rPr lang="ko-KR" altLang="en-US" sz="2400" dirty="0"/>
              <a:t>확률 법칙</a:t>
            </a:r>
            <a:r>
              <a:rPr lang="en-US" altLang="ko-KR" sz="2400" dirty="0"/>
              <a:t>, </a:t>
            </a:r>
            <a:r>
              <a:rPr lang="ko-KR" altLang="en-US" sz="2400" dirty="0"/>
              <a:t>조건부 확률</a:t>
            </a:r>
            <a:endParaRPr lang="en-US" altLang="ko-KR" sz="2400" dirty="0"/>
          </a:p>
          <a:p>
            <a:pPr lvl="1" eaLnBrk="1" hangingPunct="1"/>
            <a:r>
              <a:rPr lang="ko-KR" altLang="en-US" sz="2400" dirty="0"/>
              <a:t>확률 분포</a:t>
            </a:r>
            <a:r>
              <a:rPr lang="en-US" altLang="ko-KR" sz="2400" dirty="0"/>
              <a:t>, </a:t>
            </a:r>
            <a:r>
              <a:rPr lang="ko-KR" altLang="en-US" sz="2400" dirty="0"/>
              <a:t>두 확률 변수의 결합분포</a:t>
            </a:r>
            <a:endParaRPr lang="en-US" altLang="ko-KR" sz="2400" dirty="0"/>
          </a:p>
          <a:p>
            <a:pPr lvl="1" eaLnBrk="1" hangingPunct="1"/>
            <a:r>
              <a:rPr lang="ko-KR" altLang="en-US" sz="2400" dirty="0"/>
              <a:t>공분산과 상관계수</a:t>
            </a:r>
          </a:p>
          <a:p>
            <a:pPr eaLnBrk="1" hangingPunct="1"/>
            <a:r>
              <a:rPr lang="ko-KR" altLang="en-US" sz="2800" dirty="0"/>
              <a:t>이항분포와 그에 관련된 확률분포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이항분포</a:t>
            </a:r>
            <a:r>
              <a:rPr lang="en-US" altLang="ko-KR" sz="2400" dirty="0"/>
              <a:t>, </a:t>
            </a:r>
            <a:r>
              <a:rPr lang="ko-KR" altLang="en-US" sz="2400" dirty="0"/>
              <a:t>초기하분포</a:t>
            </a:r>
            <a:r>
              <a:rPr lang="en-US" altLang="ko-KR" sz="2400" dirty="0"/>
              <a:t>, </a:t>
            </a:r>
            <a:r>
              <a:rPr lang="ko-KR" altLang="en-US" sz="2400" dirty="0" err="1"/>
              <a:t>포아송분포</a:t>
            </a:r>
            <a:endParaRPr lang="en-US" altLang="ko-KR" sz="2400" dirty="0"/>
          </a:p>
          <a:p>
            <a:pPr eaLnBrk="1" hangingPunct="1"/>
            <a:r>
              <a:rPr lang="ko-KR" altLang="en-US" sz="2800" dirty="0"/>
              <a:t>정규분포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연속확률분포</a:t>
            </a:r>
            <a:endParaRPr lang="en-US" altLang="ko-KR" sz="2400" dirty="0"/>
          </a:p>
          <a:p>
            <a:pPr lvl="1" eaLnBrk="1" hangingPunct="1"/>
            <a:r>
              <a:rPr lang="ko-KR" altLang="en-US" sz="2400" dirty="0"/>
              <a:t>정규분포의 일반적 성질</a:t>
            </a:r>
          </a:p>
          <a:p>
            <a:pPr eaLnBrk="1" hangingPunct="1"/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32013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260648"/>
            <a:ext cx="7772400" cy="762000"/>
          </a:xfrm>
        </p:spPr>
        <p:txBody>
          <a:bodyPr/>
          <a:lstStyle/>
          <a:p>
            <a:pPr algn="l" eaLnBrk="1" hangingPunct="1"/>
            <a:r>
              <a:rPr lang="ko-KR" altLang="en-US" sz="3600" dirty="0"/>
              <a:t>취급할 내용</a:t>
            </a:r>
            <a:br>
              <a:rPr lang="en-US" altLang="ko-KR" sz="3600" dirty="0"/>
            </a:br>
            <a:r>
              <a:rPr lang="en-US" altLang="ko-KR" sz="2800" dirty="0"/>
              <a:t>(</a:t>
            </a:r>
            <a:r>
              <a:rPr lang="ko-KR" altLang="en-US" sz="2800" dirty="0"/>
              <a:t>각 단원 마다 </a:t>
            </a:r>
            <a:r>
              <a:rPr lang="en-US" altLang="ko-KR" sz="2800" dirty="0"/>
              <a:t>EXCEL</a:t>
            </a:r>
            <a:r>
              <a:rPr lang="ko-KR" altLang="en-US" sz="2800" dirty="0"/>
              <a:t>을 이용한</a:t>
            </a:r>
            <a:r>
              <a:rPr lang="en-US" altLang="ko-KR" sz="2800" dirty="0"/>
              <a:t> </a:t>
            </a:r>
            <a:r>
              <a:rPr lang="ko-KR" altLang="en-US" sz="2800" dirty="0"/>
              <a:t>실습</a:t>
            </a:r>
            <a:r>
              <a:rPr lang="en-US" altLang="ko-KR" sz="2800" dirty="0"/>
              <a:t>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196752"/>
            <a:ext cx="7772400" cy="46482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표본과 표본분포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통계량의 확률분포</a:t>
            </a:r>
            <a:endParaRPr lang="en-US" altLang="ko-KR" sz="2400" dirty="0"/>
          </a:p>
          <a:p>
            <a:pPr lvl="1" eaLnBrk="1" hangingPunct="1"/>
            <a:r>
              <a:rPr lang="ko-KR" altLang="en-US" sz="2400" dirty="0"/>
              <a:t>중심극한정리</a:t>
            </a:r>
            <a:r>
              <a:rPr lang="en-US" altLang="ko-KR" sz="2400" dirty="0"/>
              <a:t>(central limit theory)</a:t>
            </a:r>
            <a:endParaRPr lang="ko-KR" altLang="en-US" sz="2400" dirty="0"/>
          </a:p>
          <a:p>
            <a:pPr eaLnBrk="1" hangingPunct="1"/>
            <a:r>
              <a:rPr lang="ko-KR" altLang="en-US" sz="2800" dirty="0"/>
              <a:t>통계적 추론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추정</a:t>
            </a:r>
            <a:r>
              <a:rPr lang="en-US" altLang="ko-KR" sz="2400" dirty="0"/>
              <a:t>(estimation)</a:t>
            </a:r>
          </a:p>
          <a:p>
            <a:pPr lvl="1" eaLnBrk="1" hangingPunct="1"/>
            <a:r>
              <a:rPr lang="ko-KR" altLang="en-US" sz="2400" dirty="0"/>
              <a:t>검정</a:t>
            </a:r>
            <a:r>
              <a:rPr lang="en-US" altLang="ko-KR" sz="2400" dirty="0"/>
              <a:t>(testing)</a:t>
            </a:r>
          </a:p>
          <a:p>
            <a:pPr eaLnBrk="1" hangingPunct="1"/>
            <a:r>
              <a:rPr lang="ko-KR" altLang="en-US" sz="2800" dirty="0"/>
              <a:t>정규모집단에서의 추론</a:t>
            </a:r>
            <a:endParaRPr lang="en-US" altLang="ko-KR" sz="2800" dirty="0"/>
          </a:p>
          <a:p>
            <a:pPr lvl="1" eaLnBrk="1" hangingPunct="1"/>
            <a:r>
              <a:rPr lang="en-US" altLang="ko-KR" sz="2400" dirty="0"/>
              <a:t>t </a:t>
            </a:r>
            <a:r>
              <a:rPr lang="ko-KR" altLang="en-US" sz="2400" dirty="0"/>
              <a:t>분포</a:t>
            </a:r>
            <a:r>
              <a:rPr lang="en-US" altLang="ko-KR" sz="2400" dirty="0"/>
              <a:t>, </a:t>
            </a:r>
            <a:r>
              <a:rPr lang="ko-KR" altLang="en-US" sz="2400" dirty="0"/>
              <a:t>추정 및 검정</a:t>
            </a:r>
            <a:endParaRPr lang="en-US" altLang="ko-KR" sz="2400" dirty="0"/>
          </a:p>
          <a:p>
            <a:pPr eaLnBrk="1" hangingPunct="1"/>
            <a:r>
              <a:rPr lang="ko-KR" altLang="en-US" sz="2800" dirty="0"/>
              <a:t>두 모집단의 비교</a:t>
            </a:r>
            <a:endParaRPr lang="en-US" altLang="ko-KR" sz="2800" dirty="0"/>
          </a:p>
          <a:p>
            <a:pPr eaLnBrk="1" hangingPunct="1"/>
            <a:r>
              <a:rPr lang="ko-KR" altLang="en-US" sz="2800" dirty="0"/>
              <a:t>회귀분석</a:t>
            </a:r>
            <a:endParaRPr lang="en-US" altLang="ko-KR" sz="2800" dirty="0"/>
          </a:p>
          <a:p>
            <a:pPr lvl="1" eaLnBrk="1" hangingPunct="1"/>
            <a:r>
              <a:rPr lang="ko-KR" altLang="en-US" sz="2400" dirty="0"/>
              <a:t>단순선형회귀모형</a:t>
            </a:r>
            <a:r>
              <a:rPr lang="en-US" altLang="ko-KR" sz="2400" dirty="0"/>
              <a:t>(simple linear regression)</a:t>
            </a:r>
          </a:p>
          <a:p>
            <a:pPr eaLnBrk="1" hangingPunct="1"/>
            <a:r>
              <a:rPr lang="ko-KR" altLang="en-US" sz="2800" dirty="0"/>
              <a:t>범주형 자료분석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028700"/>
            <a:ext cx="8060432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dirty="0"/>
              <a:t>통계학 </a:t>
            </a:r>
            <a:endParaRPr lang="en-US" altLang="ko-KR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dirty="0"/>
              <a:t>인터넷상에 있는 확률 및 통계 이론 문서 </a:t>
            </a:r>
            <a:endParaRPr lang="en-US" altLang="ko-KR" dirty="0"/>
          </a:p>
          <a:p>
            <a:pPr lvl="2" eaLnBrk="1" hangingPunct="1">
              <a:lnSpc>
                <a:spcPct val="90000"/>
              </a:lnSpc>
            </a:pPr>
            <a:r>
              <a:rPr lang="en-US" altLang="ko-KR" dirty="0"/>
              <a:t>1. https://wikidocs.net/book/7259 : AI</a:t>
            </a:r>
            <a:r>
              <a:rPr lang="ko-KR" altLang="en-US" dirty="0"/>
              <a:t>와 빅데이터의 기본개념인 통계학 </a:t>
            </a:r>
            <a:r>
              <a:rPr lang="en-US" altLang="ko-KR" dirty="0"/>
              <a:t>-SPSS</a:t>
            </a:r>
            <a:r>
              <a:rPr lang="ko-KR" altLang="en-US" dirty="0"/>
              <a:t>와 </a:t>
            </a:r>
            <a:r>
              <a:rPr lang="en-US" altLang="ko-KR" dirty="0"/>
              <a:t>python</a:t>
            </a:r>
            <a:r>
              <a:rPr lang="ko-KR" altLang="en-US" dirty="0"/>
              <a:t>으로</a:t>
            </a:r>
            <a:endParaRPr lang="en-US" altLang="ko-KR" dirty="0"/>
          </a:p>
          <a:p>
            <a:pPr lvl="2" eaLnBrk="1" hangingPunct="1">
              <a:lnSpc>
                <a:spcPct val="90000"/>
              </a:lnSpc>
            </a:pPr>
            <a:r>
              <a:rPr lang="en-US" altLang="ko-KR" dirty="0"/>
              <a:t>2. https://wikidocs.net/book/9637 : (</a:t>
            </a:r>
            <a:r>
              <a:rPr lang="ko-KR" altLang="en-US" dirty="0"/>
              <a:t>통계를 위한</a:t>
            </a:r>
            <a:r>
              <a:rPr lang="en-US" altLang="ko-KR" dirty="0"/>
              <a:t>) </a:t>
            </a:r>
            <a:r>
              <a:rPr lang="ko-KR" altLang="en-US" dirty="0"/>
              <a:t>확률 다루기 기초</a:t>
            </a:r>
            <a:endParaRPr lang="en-US" altLang="ko-KR" dirty="0"/>
          </a:p>
          <a:p>
            <a:pPr lvl="2" eaLnBrk="1" hangingPunct="1">
              <a:lnSpc>
                <a:spcPct val="90000"/>
              </a:lnSpc>
            </a:pPr>
            <a:r>
              <a:rPr lang="en-US" altLang="ko-KR" dirty="0"/>
              <a:t>3. https://wikidocs.net/book/7777 : Excel</a:t>
            </a:r>
            <a:r>
              <a:rPr lang="ko-KR" altLang="en-US" dirty="0"/>
              <a:t>을 이용한 자료분석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dirty="0"/>
              <a:t>참고문헌</a:t>
            </a:r>
            <a:r>
              <a:rPr lang="en-US" altLang="ko-KR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 </a:t>
            </a:r>
            <a:r>
              <a:rPr lang="ko-KR" altLang="en-US" dirty="0"/>
              <a:t>통계학</a:t>
            </a:r>
            <a:r>
              <a:rPr lang="en-US" altLang="ko-KR" dirty="0"/>
              <a:t>: Excel</a:t>
            </a:r>
            <a:r>
              <a:rPr lang="ko-KR" altLang="en-US" dirty="0"/>
              <a:t>을 이용한 분석</a:t>
            </a:r>
            <a:endParaRPr lang="en-US" altLang="ko-KR" dirty="0"/>
          </a:p>
          <a:p>
            <a:pPr lvl="2" eaLnBrk="1" hangingPunct="1">
              <a:lnSpc>
                <a:spcPct val="90000"/>
              </a:lnSpc>
            </a:pPr>
            <a:r>
              <a:rPr lang="ko-KR" altLang="en-US" dirty="0"/>
              <a:t>출판사</a:t>
            </a:r>
            <a:r>
              <a:rPr lang="en-US" altLang="ko-KR" dirty="0"/>
              <a:t>:</a:t>
            </a:r>
            <a:r>
              <a:rPr lang="ko-KR" altLang="en-US" dirty="0"/>
              <a:t>자유아카데미</a:t>
            </a:r>
            <a:r>
              <a:rPr lang="en-US" altLang="ko-KR" dirty="0"/>
              <a:t>, </a:t>
            </a:r>
            <a:r>
              <a:rPr lang="ko-KR" altLang="en-US" dirty="0"/>
              <a:t>저자</a:t>
            </a:r>
            <a:r>
              <a:rPr lang="en-US" altLang="ko-KR" dirty="0"/>
              <a:t>: </a:t>
            </a:r>
            <a:r>
              <a:rPr lang="ko-KR" altLang="en-US" dirty="0" err="1"/>
              <a:t>김진경외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명</a:t>
            </a:r>
            <a:endParaRPr lang="en-US" altLang="ko-KR" dirty="0"/>
          </a:p>
          <a:p>
            <a:pPr lvl="1" eaLnBrk="1" hangingPunct="1">
              <a:lnSpc>
                <a:spcPct val="90000"/>
              </a:lnSpc>
            </a:pPr>
            <a:r>
              <a:rPr lang="en-US" altLang="ko-KR" dirty="0"/>
              <a:t>EXCEL, SPSS, R</a:t>
            </a:r>
            <a:r>
              <a:rPr lang="ko-KR" altLang="en-US" dirty="0"/>
              <a:t>로 배우는 통계학 입문</a:t>
            </a:r>
            <a:endParaRPr lang="en-US" altLang="ko-KR" dirty="0"/>
          </a:p>
          <a:p>
            <a:pPr lvl="2" eaLnBrk="1" hangingPunct="1">
              <a:lnSpc>
                <a:spcPct val="90000"/>
              </a:lnSpc>
            </a:pPr>
            <a:r>
              <a:rPr lang="en-US" altLang="ko-KR" dirty="0"/>
              <a:t> </a:t>
            </a:r>
            <a:r>
              <a:rPr lang="ko-KR" altLang="en-US" dirty="0"/>
              <a:t>출판사</a:t>
            </a:r>
            <a:r>
              <a:rPr lang="en-US" altLang="ko-KR" dirty="0"/>
              <a:t>: </a:t>
            </a:r>
            <a:r>
              <a:rPr lang="ko-KR" altLang="en-US" dirty="0"/>
              <a:t>자유아카데미</a:t>
            </a:r>
            <a:r>
              <a:rPr lang="en-US" altLang="ko-KR" dirty="0"/>
              <a:t>,</a:t>
            </a:r>
            <a:r>
              <a:rPr lang="ko-KR" altLang="en-US" dirty="0"/>
              <a:t>저자</a:t>
            </a:r>
            <a:r>
              <a:rPr lang="en-US" altLang="ko-KR" dirty="0"/>
              <a:t>: </a:t>
            </a:r>
            <a:r>
              <a:rPr lang="ko-KR" altLang="en-US" dirty="0"/>
              <a:t>강승호 외 </a:t>
            </a:r>
            <a:r>
              <a:rPr lang="en-US" altLang="ko-KR" dirty="0"/>
              <a:t>6</a:t>
            </a:r>
            <a:r>
              <a:rPr lang="ko-KR" altLang="en-US" dirty="0"/>
              <a:t>인</a:t>
            </a:r>
            <a:endParaRPr lang="en-US" altLang="ko-KR" dirty="0"/>
          </a:p>
          <a:p>
            <a:pPr lvl="1" eaLnBrk="1" hangingPunct="1">
              <a:lnSpc>
                <a:spcPct val="90000"/>
              </a:lnSpc>
            </a:pPr>
            <a:endParaRPr lang="ko-KR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800" dirty="0"/>
              <a:t>      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dirty="0"/>
              <a:t>                  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188640"/>
            <a:ext cx="7772400" cy="744016"/>
          </a:xfrm>
        </p:spPr>
        <p:txBody>
          <a:bodyPr/>
          <a:lstStyle/>
          <a:p>
            <a:pPr algn="l" eaLnBrk="1" hangingPunct="1"/>
            <a:r>
              <a:rPr lang="ko-KR" altLang="en-US" dirty="0"/>
              <a:t>교재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33516"/>
            <a:ext cx="7772400" cy="762000"/>
          </a:xfrm>
        </p:spPr>
        <p:txBody>
          <a:bodyPr/>
          <a:lstStyle/>
          <a:p>
            <a:pPr algn="l" eaLnBrk="1" hangingPunct="1"/>
            <a:r>
              <a:rPr lang="ko-KR" altLang="en-US" sz="3200" dirty="0"/>
              <a:t>성적</a:t>
            </a:r>
            <a:endParaRPr lang="en-US" altLang="ko-KR" sz="32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5516"/>
            <a:ext cx="8134672" cy="4648200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출석 </a:t>
            </a:r>
            <a:r>
              <a:rPr lang="en-US" altLang="ko-KR" sz="2800" dirty="0"/>
              <a:t>10%</a:t>
            </a:r>
          </a:p>
          <a:p>
            <a:pPr eaLnBrk="1" hangingPunct="1"/>
            <a:r>
              <a:rPr lang="ko-KR" altLang="en-US" sz="2800" dirty="0"/>
              <a:t>과제 </a:t>
            </a:r>
            <a:r>
              <a:rPr lang="en-US" altLang="ko-KR" sz="2800" dirty="0"/>
              <a:t>10% </a:t>
            </a:r>
          </a:p>
          <a:p>
            <a:pPr lvl="1" eaLnBrk="1" hangingPunct="1"/>
            <a:r>
              <a:rPr lang="ko-KR" altLang="en-US" sz="2400" dirty="0"/>
              <a:t>과제 제출할 때 파일 한 개로 제출</a:t>
            </a:r>
            <a:r>
              <a:rPr lang="en-US" altLang="ko-KR" sz="2400" dirty="0"/>
              <a:t>: </a:t>
            </a:r>
            <a:r>
              <a:rPr lang="ko-KR" altLang="en-US" sz="2400" dirty="0"/>
              <a:t>압출하지 </a:t>
            </a:r>
            <a:r>
              <a:rPr lang="ko-KR" altLang="en-US" sz="2400" dirty="0" err="1"/>
              <a:t>말것</a:t>
            </a:r>
            <a:r>
              <a:rPr lang="en-US" altLang="ko-KR" sz="2400" dirty="0"/>
              <a:t>.</a:t>
            </a:r>
          </a:p>
          <a:p>
            <a:pPr eaLnBrk="1" hangingPunct="1"/>
            <a:r>
              <a:rPr lang="ko-KR" altLang="en-US" sz="2800" dirty="0"/>
              <a:t>중간시험</a:t>
            </a:r>
            <a:r>
              <a:rPr lang="en-US" altLang="ko-KR" sz="2800" dirty="0"/>
              <a:t>, </a:t>
            </a:r>
            <a:r>
              <a:rPr lang="ko-KR" altLang="en-US" sz="2800" dirty="0"/>
              <a:t>기말시험 각 </a:t>
            </a:r>
            <a:r>
              <a:rPr lang="ko-KR" altLang="en-US" sz="2800" dirty="0" err="1"/>
              <a:t>각</a:t>
            </a:r>
            <a:r>
              <a:rPr lang="ko-KR" altLang="en-US" sz="2800" dirty="0"/>
              <a:t> </a:t>
            </a:r>
            <a:r>
              <a:rPr lang="en-US" altLang="ko-KR" sz="2800" dirty="0"/>
              <a:t>40%</a:t>
            </a:r>
          </a:p>
          <a:p>
            <a:pPr eaLnBrk="1" hangingPunct="1"/>
            <a:r>
              <a:rPr lang="ko-KR" altLang="en-US" sz="2800" dirty="0"/>
              <a:t>시험은 과제 문제의 변형</a:t>
            </a:r>
            <a:endParaRPr lang="en-US" altLang="ko-KR" sz="2800" dirty="0"/>
          </a:p>
          <a:p>
            <a:pPr lvl="1" eaLnBrk="1" hangingPunct="1">
              <a:lnSpc>
                <a:spcPct val="90000"/>
              </a:lnSpc>
            </a:pPr>
            <a:r>
              <a:rPr lang="ko-KR" altLang="en-US" sz="2400" dirty="0"/>
              <a:t>과제는 주로 참고문헌인 통계학</a:t>
            </a:r>
            <a:r>
              <a:rPr lang="en-US" altLang="ko-KR" sz="2400" dirty="0"/>
              <a:t>: Excel</a:t>
            </a:r>
            <a:r>
              <a:rPr lang="ko-KR" altLang="en-US" sz="2400" dirty="0"/>
              <a:t>을 이용한 분석</a:t>
            </a:r>
            <a:r>
              <a:rPr lang="en-US" altLang="ko-KR" sz="2400" dirty="0"/>
              <a:t>(</a:t>
            </a:r>
            <a:r>
              <a:rPr lang="ko-KR" altLang="en-US" sz="2400" dirty="0"/>
              <a:t>출판사</a:t>
            </a:r>
            <a:r>
              <a:rPr lang="en-US" altLang="ko-KR" sz="2400" dirty="0"/>
              <a:t>:</a:t>
            </a:r>
            <a:r>
              <a:rPr lang="ko-KR" altLang="en-US" sz="2400" dirty="0"/>
              <a:t>자유아카데미</a:t>
            </a:r>
            <a:r>
              <a:rPr lang="en-US" altLang="ko-KR" sz="2400" dirty="0"/>
              <a:t>, </a:t>
            </a:r>
            <a:r>
              <a:rPr lang="ko-KR" altLang="en-US" sz="2400" dirty="0"/>
              <a:t>저자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김진경외</a:t>
            </a:r>
            <a:r>
              <a:rPr lang="ko-KR" altLang="en-US" sz="2400" dirty="0"/>
              <a:t> </a:t>
            </a:r>
            <a:r>
              <a:rPr lang="en-US" altLang="ko-KR" sz="2400" dirty="0"/>
              <a:t>5</a:t>
            </a:r>
            <a:r>
              <a:rPr lang="ko-KR" altLang="en-US" sz="2400" dirty="0"/>
              <a:t>명</a:t>
            </a:r>
            <a:r>
              <a:rPr lang="en-US" altLang="ko-KR" sz="2400" dirty="0"/>
              <a:t>)</a:t>
            </a:r>
            <a:r>
              <a:rPr lang="ko-KR" altLang="en-US" sz="2400" dirty="0"/>
              <a:t>에서 나옴</a:t>
            </a:r>
            <a:endParaRPr lang="en-US" altLang="ko-KR" sz="2400" dirty="0"/>
          </a:p>
          <a:p>
            <a:pPr lvl="1" eaLnBrk="1" hangingPunct="1"/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0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5527</TotalTime>
  <Words>512</Words>
  <Application>Microsoft Office PowerPoint</Application>
  <PresentationFormat>화면 슬라이드 쇼(4:3)</PresentationFormat>
  <Paragraphs>100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inherit</vt:lpstr>
      <vt:lpstr>굴림</vt:lpstr>
      <vt:lpstr>맑은 고딕</vt:lpstr>
      <vt:lpstr>Arial</vt:lpstr>
      <vt:lpstr>Franklin Gothic Book</vt:lpstr>
      <vt:lpstr>기본 디자인</vt:lpstr>
      <vt:lpstr>확률 및 통계  Probability and Statistics</vt:lpstr>
      <vt:lpstr>제1장 통계학의 개념</vt:lpstr>
      <vt:lpstr>프레젠테이션 그래픽스 </vt:lpstr>
      <vt:lpstr>PowerPoint 프레젠테이션</vt:lpstr>
      <vt:lpstr>1.2 기술통계학, 추측통계학</vt:lpstr>
      <vt:lpstr>PowerPoint 프레젠테이션</vt:lpstr>
      <vt:lpstr>취급할 내용 (각 단원 마다 EXCEL을 이용한 실습)</vt:lpstr>
      <vt:lpstr>취급할 내용 (각 단원 마다 EXCEL을 이용한 실습)</vt:lpstr>
      <vt:lpstr>교재</vt:lpstr>
      <vt:lpstr>성적</vt:lpstr>
    </vt:vector>
  </TitlesOfParts>
  <Company>한성대학교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확률 및 통계  Probability and Statistics</dc:title>
  <dc:creator>엄종석</dc:creator>
  <cp:lastModifiedBy>Windows 사용자</cp:lastModifiedBy>
  <cp:revision>59</cp:revision>
  <dcterms:created xsi:type="dcterms:W3CDTF">2002-03-06T11:06:54Z</dcterms:created>
  <dcterms:modified xsi:type="dcterms:W3CDTF">2026-03-05T02:58:58Z</dcterms:modified>
</cp:coreProperties>
</file>