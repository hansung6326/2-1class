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73" r:id="rId6"/>
    <p:sldId id="260" r:id="rId7"/>
    <p:sldId id="261" r:id="rId8"/>
    <p:sldId id="262" r:id="rId9"/>
    <p:sldId id="263" r:id="rId10"/>
    <p:sldId id="265" r:id="rId11"/>
    <p:sldId id="275" r:id="rId12"/>
    <p:sldId id="267" r:id="rId13"/>
    <p:sldId id="268" r:id="rId14"/>
    <p:sldId id="269" r:id="rId15"/>
    <p:sldId id="272" r:id="rId16"/>
    <p:sldId id="270" r:id="rId17"/>
    <p:sldId id="271" r:id="rId18"/>
    <p:sldId id="274" r:id="rId19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ahom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ahom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ahom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ahom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104" d="100"/>
          <a:sy n="104" d="100"/>
        </p:scale>
        <p:origin x="1422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4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ko-KR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ko-KR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ko-KR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ko-KR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/>
            </a:p>
          </p:txBody>
        </p:sp>
      </p:grpSp>
      <p:sp>
        <p:nvSpPr>
          <p:cNvPr id="2766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766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D0940EE0-C2EC-4CC3-BD8D-CAB61009CA3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82750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F290A6-6FC8-4917-BBCA-4E52169C366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38401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2856CF-D40F-480A-82FA-46ED7F23E9C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52212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182688" y="1143000"/>
            <a:ext cx="3810000" cy="4989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45088" y="1143000"/>
            <a:ext cx="3810000" cy="4989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DBD209-502D-478F-8D09-DF148101187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09293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E1EE9E-8C76-4D6E-8203-701E9BA9C6E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36432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A80E89-256A-46D3-8B34-D70674E3608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74565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706675-B91E-420C-9535-B13B1366BF1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27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ED6AE8-FB7D-4B3E-866D-16FCAC99517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10177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CFA466-3C1D-4590-BCA6-C62D3BCDF9C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13782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E8BB4A-2923-4C38-82E5-063BD5A2848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83627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964363" y="609600"/>
            <a:ext cx="1990725" cy="552291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990600" y="609600"/>
            <a:ext cx="5821363" cy="552291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00E77B-A4C5-4AEB-B676-CF68CDEFC68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1741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ltGray">
          <a:xfrm>
            <a:off x="381000" y="45720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ko-KR"/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ltGray">
          <a:xfrm>
            <a:off x="685800" y="45720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ko-KR"/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ltGray">
          <a:xfrm>
            <a:off x="533400" y="685800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ko-KR"/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ltGray">
          <a:xfrm>
            <a:off x="762000" y="6858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ko-KR"/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ltGray">
          <a:xfrm>
            <a:off x="152400" y="685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ko-KR"/>
          </a:p>
        </p:txBody>
      </p:sp>
      <p:sp>
        <p:nvSpPr>
          <p:cNvPr id="26631" name="Rectangle 7"/>
          <p:cNvSpPr>
            <a:spLocks noChangeArrowheads="1"/>
          </p:cNvSpPr>
          <p:nvPr/>
        </p:nvSpPr>
        <p:spPr bwMode="gray">
          <a:xfrm>
            <a:off x="685800" y="1524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ko-KR"/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gray">
          <a:xfrm>
            <a:off x="458788" y="914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ko-KR"/>
          </a:p>
        </p:txBody>
      </p:sp>
      <p:sp>
        <p:nvSpPr>
          <p:cNvPr id="615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609600"/>
            <a:ext cx="77930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615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1143000"/>
            <a:ext cx="7772400" cy="498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66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>
                <a:latin typeface="+mn-lt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+mn-lt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latin typeface="+mn-lt"/>
              </a:defRPr>
            </a:lvl1pPr>
          </a:lstStyle>
          <a:p>
            <a:pPr>
              <a:defRPr/>
            </a:pPr>
            <a:fld id="{6FCCB1F5-AE20-4642-8164-8F41E271C99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7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8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71600" y="1981200"/>
            <a:ext cx="6248400" cy="1143000"/>
          </a:xfrm>
        </p:spPr>
        <p:txBody>
          <a:bodyPr/>
          <a:lstStyle/>
          <a:p>
            <a:pPr eaLnBrk="1" hangingPunct="1"/>
            <a:r>
              <a:rPr lang="ko-KR" altLang="en-US"/>
              <a:t>제</a:t>
            </a:r>
            <a:r>
              <a:rPr lang="en-US" altLang="ko-KR"/>
              <a:t>4</a:t>
            </a:r>
            <a:r>
              <a:rPr lang="ko-KR" altLang="en-US"/>
              <a:t>장 두 변수 자료의 요약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ko-KR"/>
          </a:p>
          <a:p>
            <a:pPr eaLnBrk="1" hangingPunct="1"/>
            <a:r>
              <a:rPr lang="en-US" altLang="ko-KR"/>
              <a:t>jsum@hansung.ac.kr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1. </a:t>
            </a:r>
            <a:r>
              <a:rPr lang="ko-KR" altLang="en-US"/>
              <a:t>두 범주형 변수의 요약</a:t>
            </a:r>
            <a:r>
              <a:rPr lang="en-US" altLang="ko-KR"/>
              <a:t>: </a:t>
            </a:r>
            <a:r>
              <a:rPr lang="ko-KR" altLang="en-US"/>
              <a:t>분할표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두 변수가 모두 범주형인 경우</a:t>
            </a:r>
          </a:p>
          <a:p>
            <a:pPr lvl="1" eaLnBrk="1" hangingPunct="1"/>
            <a:r>
              <a:rPr lang="ko-KR" altLang="en-US"/>
              <a:t>분할표</a:t>
            </a:r>
            <a:r>
              <a:rPr lang="en-US" altLang="ko-KR"/>
              <a:t>(Contingency Table)</a:t>
            </a:r>
            <a:r>
              <a:rPr lang="ko-KR" altLang="en-US"/>
              <a:t>작성</a:t>
            </a:r>
          </a:p>
          <a:p>
            <a:pPr lvl="1" eaLnBrk="1" hangingPunct="1"/>
            <a:r>
              <a:rPr lang="en-US" altLang="ko-KR"/>
              <a:t>2</a:t>
            </a:r>
            <a:r>
              <a:rPr lang="ko-KR" altLang="en-US"/>
              <a:t>차원 돗수분포표</a:t>
            </a:r>
          </a:p>
          <a:p>
            <a:pPr lvl="1" eaLnBrk="1" hangingPunct="1"/>
            <a:r>
              <a:rPr lang="ko-KR" altLang="en-US"/>
              <a:t>한 변수에 대한 범주는 왼쪽</a:t>
            </a:r>
            <a:r>
              <a:rPr lang="en-US" altLang="ko-KR"/>
              <a:t>,</a:t>
            </a:r>
            <a:r>
              <a:rPr lang="ko-KR" altLang="en-US"/>
              <a:t> 다른 변수에 대한 범주는 위쪽에 표시</a:t>
            </a:r>
          </a:p>
          <a:p>
            <a:pPr lvl="1" eaLnBrk="1" hangingPunct="1"/>
            <a:r>
              <a:rPr lang="ko-KR" altLang="en-US"/>
              <a:t>두 변수 범주가 교차되는 칸에 돗수 혹은 상대돗수 </a:t>
            </a:r>
          </a:p>
          <a:p>
            <a:pPr lvl="1" eaLnBrk="1" hangingPunct="1"/>
            <a:r>
              <a:rPr lang="ko-KR" altLang="en-US">
                <a:hlinkClick r:id="rId2" action="ppaction://hlinksldjump"/>
              </a:rPr>
              <a:t>예제</a:t>
            </a:r>
            <a:r>
              <a:rPr lang="en-US" altLang="ko-KR">
                <a:hlinkClick r:id="rId2" action="ppaction://hlinksldjump"/>
              </a:rPr>
              <a:t>)</a:t>
            </a:r>
            <a:endParaRPr lang="en-US" altLang="ko-KR"/>
          </a:p>
          <a:p>
            <a:pPr lvl="1" eaLnBrk="1" hangingPunct="1"/>
            <a:endParaRPr lang="en-US" altLang="ko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81" name="Group 65"/>
          <p:cNvGraphicFramePr>
            <a:graphicFrameLocks noGrp="1"/>
          </p:cNvGraphicFramePr>
          <p:nvPr>
            <p:ph type="body" idx="1"/>
          </p:nvPr>
        </p:nvGraphicFramePr>
        <p:xfrm>
          <a:off x="1104900" y="1417638"/>
          <a:ext cx="6934200" cy="2187576"/>
        </p:xfrm>
        <a:graphic>
          <a:graphicData uri="http://schemas.openxmlformats.org/drawingml/2006/table">
            <a:tbl>
              <a:tblPr/>
              <a:tblGrid>
                <a:gridCol w="1385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58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ko-KR" altLang="ko-K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흡연자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금연자</a:t>
                      </a: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금연자</a:t>
                      </a: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II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합계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폐암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81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63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정상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57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합계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350</a:t>
                      </a:r>
                      <a:endParaRPr kumimoji="1" lang="ko-KR" altLang="ko-K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274" name="Rectangle 30"/>
          <p:cNvSpPr>
            <a:spLocks noChangeArrowheads="1"/>
          </p:cNvSpPr>
          <p:nvPr/>
        </p:nvSpPr>
        <p:spPr bwMode="auto">
          <a:xfrm>
            <a:off x="1524000" y="252413"/>
            <a:ext cx="41116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ko-KR" altLang="en-US" sz="3200">
                <a:solidFill>
                  <a:schemeClr val="folHlink"/>
                </a:solidFill>
                <a:latin typeface="굴림" pitchFamily="50" charset="-127"/>
              </a:rPr>
              <a:t>폐암과 흡연간 분할표</a:t>
            </a:r>
          </a:p>
        </p:txBody>
      </p:sp>
      <p:sp>
        <p:nvSpPr>
          <p:cNvPr id="10275" name="Text Box 31"/>
          <p:cNvSpPr txBox="1">
            <a:spLocks noChangeArrowheads="1"/>
          </p:cNvSpPr>
          <p:nvPr/>
        </p:nvSpPr>
        <p:spPr bwMode="auto">
          <a:xfrm>
            <a:off x="1447800" y="3886200"/>
            <a:ext cx="6629400" cy="144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ko-KR" altLang="en-US">
                <a:latin typeface="굴림" pitchFamily="50" charset="-127"/>
              </a:rPr>
              <a:t>범주형 변수</a:t>
            </a:r>
            <a:r>
              <a:rPr lang="en-US" altLang="ko-KR">
                <a:latin typeface="굴림" pitchFamily="50" charset="-127"/>
              </a:rPr>
              <a:t>: </a:t>
            </a:r>
            <a:r>
              <a:rPr lang="ko-KR" altLang="en-US">
                <a:latin typeface="굴림" pitchFamily="50" charset="-127"/>
              </a:rPr>
              <a:t>폐암유무</a:t>
            </a:r>
            <a:r>
              <a:rPr lang="en-US" altLang="ko-KR">
                <a:latin typeface="굴림" pitchFamily="50" charset="-127"/>
              </a:rPr>
              <a:t>, </a:t>
            </a:r>
            <a:r>
              <a:rPr lang="ko-KR" altLang="en-US">
                <a:latin typeface="굴림" pitchFamily="50" charset="-127"/>
              </a:rPr>
              <a:t>흡연유무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ko-KR" altLang="en-US">
                <a:latin typeface="굴림" pitchFamily="50" charset="-127"/>
              </a:rPr>
              <a:t>금연자 </a:t>
            </a:r>
            <a:r>
              <a:rPr lang="en-US" altLang="ko-KR">
                <a:latin typeface="굴림" pitchFamily="50" charset="-127"/>
              </a:rPr>
              <a:t>I</a:t>
            </a:r>
            <a:r>
              <a:rPr lang="ko-KR" altLang="en-US">
                <a:latin typeface="굴림" pitchFamily="50" charset="-127"/>
              </a:rPr>
              <a:t>은 담배를 피워본 적이 없는 사람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ko-KR" altLang="en-US">
                <a:latin typeface="굴림" pitchFamily="50" charset="-127"/>
              </a:rPr>
              <a:t>금연자 </a:t>
            </a:r>
            <a:r>
              <a:rPr lang="en-US" altLang="ko-KR">
                <a:latin typeface="굴림" pitchFamily="50" charset="-127"/>
              </a:rPr>
              <a:t>II</a:t>
            </a:r>
            <a:r>
              <a:rPr lang="ko-KR" altLang="en-US">
                <a:latin typeface="굴림" pitchFamily="50" charset="-127"/>
              </a:rPr>
              <a:t>는 담배를 끊은 지 </a:t>
            </a:r>
            <a:r>
              <a:rPr lang="en-US" altLang="ko-KR">
                <a:latin typeface="굴림" pitchFamily="50" charset="-127"/>
              </a:rPr>
              <a:t>3</a:t>
            </a:r>
            <a:r>
              <a:rPr lang="ko-KR" altLang="en-US">
                <a:latin typeface="굴림" pitchFamily="50" charset="-127"/>
              </a:rPr>
              <a:t>년이상인 사람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3"/>
          <p:cNvGraphicFramePr>
            <a:graphicFrameLocks noGrp="1" noChangeAspect="1"/>
          </p:cNvGraphicFramePr>
          <p:nvPr>
            <p:ph type="body" idx="1"/>
          </p:nvPr>
        </p:nvGraphicFramePr>
        <p:xfrm>
          <a:off x="1524000" y="1981200"/>
          <a:ext cx="6477000" cy="399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차트" r:id="rId3" imgW="5724861" imgH="3343656" progId="Excel.Chart.8">
                  <p:embed/>
                </p:oleObj>
              </mc:Choice>
              <mc:Fallback>
                <p:oleObj name="차트" r:id="rId3" imgW="5724861" imgH="3343656" progId="Excel.Char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981200"/>
                        <a:ext cx="6477000" cy="3994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Text Box 4"/>
          <p:cNvSpPr txBox="1">
            <a:spLocks noChangeArrowheads="1"/>
          </p:cNvSpPr>
          <p:nvPr/>
        </p:nvSpPr>
        <p:spPr bwMode="auto">
          <a:xfrm>
            <a:off x="1219200" y="1143000"/>
            <a:ext cx="52816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ko-KR" altLang="en-US">
                <a:latin typeface="굴림" pitchFamily="50" charset="-127"/>
              </a:rPr>
              <a:t>데이터선택 </a:t>
            </a:r>
            <a:r>
              <a:rPr lang="en-US" altLang="ko-KR">
                <a:latin typeface="굴림" pitchFamily="50" charset="-127"/>
              </a:rPr>
              <a:t>=&gt;</a:t>
            </a:r>
            <a:r>
              <a:rPr lang="ko-KR" altLang="en-US">
                <a:latin typeface="굴림" pitchFamily="50" charset="-127"/>
              </a:rPr>
              <a:t>삽입</a:t>
            </a:r>
            <a:r>
              <a:rPr lang="en-US" altLang="ko-KR">
                <a:latin typeface="굴림" pitchFamily="50" charset="-127"/>
              </a:rPr>
              <a:t>=&gt;</a:t>
            </a:r>
            <a:r>
              <a:rPr lang="ko-KR" altLang="en-US">
                <a:latin typeface="굴림" pitchFamily="50" charset="-127"/>
              </a:rPr>
              <a:t>세로막대형</a:t>
            </a:r>
            <a:endParaRPr lang="en-US" altLang="ko-KR">
              <a:latin typeface="굴림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상대도수 분할표</a:t>
            </a:r>
          </a:p>
        </p:txBody>
      </p:sp>
      <p:sp>
        <p:nvSpPr>
          <p:cNvPr id="11267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ko-KR"/>
              <a:t> </a:t>
            </a:r>
            <a:endParaRPr lang="ko-KR" altLang="en-US"/>
          </a:p>
        </p:txBody>
      </p:sp>
      <p:graphicFrame>
        <p:nvGraphicFramePr>
          <p:cNvPr id="4" name="Group 65"/>
          <p:cNvGraphicFramePr>
            <a:graphicFrameLocks/>
          </p:cNvGraphicFramePr>
          <p:nvPr/>
        </p:nvGraphicFramePr>
        <p:xfrm>
          <a:off x="1187450" y="1125538"/>
          <a:ext cx="6934200" cy="2187576"/>
        </p:xfrm>
        <a:graphic>
          <a:graphicData uri="http://schemas.openxmlformats.org/drawingml/2006/table">
            <a:tbl>
              <a:tblPr/>
              <a:tblGrid>
                <a:gridCol w="1385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58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ko-KR" altLang="ko-K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흡연자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금연자</a:t>
                      </a: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금연자</a:t>
                      </a: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II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합계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폐암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0.57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정상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0.43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합계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0.37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1.00</a:t>
                      </a:r>
                      <a:endParaRPr kumimoji="1" lang="ko-KR" altLang="ko-K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Group 65"/>
          <p:cNvGraphicFramePr>
            <a:graphicFrameLocks/>
          </p:cNvGraphicFramePr>
          <p:nvPr/>
        </p:nvGraphicFramePr>
        <p:xfrm>
          <a:off x="1692275" y="3716338"/>
          <a:ext cx="5403850" cy="2089151"/>
        </p:xfrm>
        <a:graphic>
          <a:graphicData uri="http://schemas.openxmlformats.org/drawingml/2006/table">
            <a:tbl>
              <a:tblPr/>
              <a:tblGrid>
                <a:gridCol w="1349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1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1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13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90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ko-KR" altLang="ko-K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32" marR="91432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흡연자</a:t>
                      </a:r>
                    </a:p>
                  </a:txBody>
                  <a:tcPr marL="91432" marR="91432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금연자</a:t>
                      </a: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I</a:t>
                      </a:r>
                    </a:p>
                  </a:txBody>
                  <a:tcPr marL="91432" marR="91432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금연자</a:t>
                      </a: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II</a:t>
                      </a:r>
                    </a:p>
                  </a:txBody>
                  <a:tcPr marL="91432" marR="91432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57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폐암</a:t>
                      </a:r>
                    </a:p>
                  </a:txBody>
                  <a:tcPr marL="91432" marR="91432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0.62</a:t>
                      </a:r>
                    </a:p>
                  </a:txBody>
                  <a:tcPr marL="91432" marR="91432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0.52</a:t>
                      </a:r>
                    </a:p>
                  </a:txBody>
                  <a:tcPr marL="91432" marR="91432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0.56</a:t>
                      </a:r>
                    </a:p>
                  </a:txBody>
                  <a:tcPr marL="91432" marR="91432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1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정상</a:t>
                      </a:r>
                    </a:p>
                  </a:txBody>
                  <a:tcPr marL="91432" marR="91432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0.38</a:t>
                      </a:r>
                    </a:p>
                  </a:txBody>
                  <a:tcPr marL="91432" marR="91432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0.48</a:t>
                      </a:r>
                    </a:p>
                  </a:txBody>
                  <a:tcPr marL="91432" marR="91432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0.44</a:t>
                      </a:r>
                    </a:p>
                  </a:txBody>
                  <a:tcPr marL="91432" marR="91432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1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합계</a:t>
                      </a:r>
                    </a:p>
                  </a:txBody>
                  <a:tcPr marL="91432" marR="91432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1.00</a:t>
                      </a:r>
                    </a:p>
                  </a:txBody>
                  <a:tcPr marL="91432" marR="91432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1.00</a:t>
                      </a:r>
                    </a:p>
                  </a:txBody>
                  <a:tcPr marL="91432" marR="91432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1.00</a:t>
                      </a:r>
                    </a:p>
                  </a:txBody>
                  <a:tcPr marL="91432" marR="91432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2. </a:t>
            </a:r>
            <a:r>
              <a:rPr lang="ko-KR" altLang="en-US"/>
              <a:t>산점도</a:t>
            </a:r>
            <a:r>
              <a:rPr lang="en-US" altLang="ko-KR"/>
              <a:t>(Scatter Diagram)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295400"/>
            <a:ext cx="7772400" cy="4989513"/>
          </a:xfrm>
        </p:spPr>
        <p:txBody>
          <a:bodyPr/>
          <a:lstStyle/>
          <a:p>
            <a:pPr eaLnBrk="1" hangingPunct="1"/>
            <a:r>
              <a:rPr lang="ko-KR" altLang="en-US"/>
              <a:t>산점도</a:t>
            </a:r>
            <a:r>
              <a:rPr lang="en-US" altLang="ko-KR"/>
              <a:t>: </a:t>
            </a:r>
            <a:r>
              <a:rPr lang="ko-KR" altLang="en-US"/>
              <a:t>두 연속형 변수에 대한 요약 그림으로 두 변수간의 관계 파악</a:t>
            </a:r>
          </a:p>
          <a:p>
            <a:pPr lvl="1" eaLnBrk="1" hangingPunct="1"/>
            <a:r>
              <a:rPr lang="ko-KR" altLang="en-US"/>
              <a:t>관측값이 짝을 이루어서 주어짐</a:t>
            </a:r>
            <a:r>
              <a:rPr lang="en-US" altLang="ko-KR"/>
              <a:t>: (x,y)</a:t>
            </a:r>
          </a:p>
          <a:p>
            <a:pPr lvl="2" eaLnBrk="1" hangingPunct="1"/>
            <a:r>
              <a:rPr lang="ko-KR" altLang="en-US"/>
              <a:t>두 변수간의 관계가 있을까</a:t>
            </a:r>
            <a:r>
              <a:rPr lang="en-US" altLang="ko-KR"/>
              <a:t>?</a:t>
            </a:r>
          </a:p>
          <a:p>
            <a:pPr lvl="2" eaLnBrk="1" hangingPunct="1"/>
            <a:r>
              <a:rPr lang="ko-KR" altLang="en-US"/>
              <a:t>있으면 어떤 관계일까</a:t>
            </a:r>
            <a:r>
              <a:rPr lang="en-US" altLang="ko-KR"/>
              <a:t>?</a:t>
            </a:r>
          </a:p>
          <a:p>
            <a:pPr lvl="1" eaLnBrk="1" hangingPunct="1"/>
            <a:r>
              <a:rPr lang="ko-KR" altLang="en-US"/>
              <a:t>산점도</a:t>
            </a:r>
            <a:r>
              <a:rPr lang="en-US" altLang="ko-KR"/>
              <a:t>: </a:t>
            </a:r>
            <a:r>
              <a:rPr lang="ko-KR" altLang="en-US"/>
              <a:t>변수 </a:t>
            </a:r>
            <a:r>
              <a:rPr lang="en-US" altLang="ko-KR"/>
              <a:t>x</a:t>
            </a:r>
            <a:r>
              <a:rPr lang="ko-KR" altLang="en-US"/>
              <a:t>를 수평축</a:t>
            </a:r>
            <a:r>
              <a:rPr lang="en-US" altLang="ko-KR"/>
              <a:t>, </a:t>
            </a:r>
            <a:r>
              <a:rPr lang="ko-KR" altLang="en-US"/>
              <a:t>변수 </a:t>
            </a:r>
            <a:r>
              <a:rPr lang="en-US" altLang="ko-KR"/>
              <a:t>y</a:t>
            </a:r>
            <a:r>
              <a:rPr lang="ko-KR" altLang="en-US"/>
              <a:t>를 수직축에 놓은 후 관측값의 짝을 좌표 위에 표시</a:t>
            </a:r>
          </a:p>
          <a:p>
            <a:pPr lvl="1" eaLnBrk="1" hangingPunct="1"/>
            <a:r>
              <a:rPr lang="ko-KR" altLang="en-US" b="1">
                <a:hlinkClick r:id="rId2" action="ppaction://hlinksldjump"/>
              </a:rPr>
              <a:t>예제</a:t>
            </a:r>
            <a:r>
              <a:rPr lang="en-US" altLang="ko-KR" b="1">
                <a:hlinkClick r:id="rId2" action="ppaction://hlinksldjump"/>
              </a:rPr>
              <a:t>)</a:t>
            </a:r>
            <a:endParaRPr lang="en-US" altLang="ko-KR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z="3200"/>
              <a:t>광고비</a:t>
            </a:r>
            <a:r>
              <a:rPr lang="en-US" altLang="ko-KR" sz="3200"/>
              <a:t>(x)</a:t>
            </a:r>
            <a:r>
              <a:rPr lang="ko-KR" altLang="en-US" sz="3200"/>
              <a:t>와 판매량</a:t>
            </a:r>
            <a:r>
              <a:rPr lang="en-US" altLang="ko-KR" sz="3200"/>
              <a:t>(y)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989513"/>
          </a:xfrm>
        </p:spPr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r>
              <a:rPr lang="en-US" altLang="ko-KR" dirty="0"/>
              <a:t>  </a:t>
            </a:r>
          </a:p>
          <a:p>
            <a:pPr marL="609600" indent="-609600" eaLnBrk="1" hangingPunct="1">
              <a:buFont typeface="Wingdings" pitchFamily="2" charset="2"/>
              <a:buNone/>
            </a:pPr>
            <a:endParaRPr lang="en-US" altLang="ko-KR" sz="2800" dirty="0"/>
          </a:p>
          <a:p>
            <a:pPr marL="609600" indent="-609600" eaLnBrk="1" hangingPunct="1">
              <a:buFont typeface="Wingdings" pitchFamily="2" charset="2"/>
              <a:buNone/>
            </a:pPr>
            <a:endParaRPr lang="en-US" altLang="ko-KR" sz="2800" dirty="0"/>
          </a:p>
          <a:p>
            <a:pPr marL="609600" indent="-609600" eaLnBrk="1" hangingPunct="1">
              <a:buFont typeface="Wingdings" pitchFamily="2" charset="2"/>
              <a:buNone/>
            </a:pPr>
            <a:endParaRPr lang="en-US" altLang="ko-KR" sz="2800" dirty="0"/>
          </a:p>
          <a:p>
            <a:pPr marL="609600" indent="-609600" eaLnBrk="1" hangingPunct="1">
              <a:buFont typeface="Wingdings" pitchFamily="2" charset="2"/>
              <a:buNone/>
            </a:pPr>
            <a:endParaRPr lang="en-US" altLang="ko-KR" sz="2800" dirty="0"/>
          </a:p>
          <a:p>
            <a:pPr marL="609600" indent="-609600" eaLnBrk="1" hangingPunct="1">
              <a:buFont typeface="Wingdings" pitchFamily="2" charset="2"/>
              <a:buNone/>
            </a:pPr>
            <a:endParaRPr lang="en-US" altLang="ko-KR" sz="2800" dirty="0"/>
          </a:p>
          <a:p>
            <a:pPr marL="609600" indent="-609600" eaLnBrk="1" hangingPunct="1">
              <a:buFont typeface="Wingdings" pitchFamily="2" charset="2"/>
              <a:buNone/>
            </a:pPr>
            <a:endParaRPr lang="en-US" altLang="ko-KR" sz="2800" dirty="0"/>
          </a:p>
          <a:p>
            <a:pPr marL="609600" indent="-609600" eaLnBrk="1" hangingPunct="1">
              <a:buFont typeface="Wingdings" pitchFamily="2" charset="2"/>
              <a:buNone/>
            </a:pPr>
            <a:endParaRPr lang="en-US" altLang="ko-KR" sz="2800" dirty="0"/>
          </a:p>
          <a:p>
            <a:pPr marL="609600" indent="-609600" eaLnBrk="1" hangingPunct="1">
              <a:buFont typeface="Wingdings" pitchFamily="2" charset="2"/>
              <a:buNone/>
            </a:pPr>
            <a:r>
              <a:rPr lang="ko-KR" altLang="en-US" sz="2800" dirty="0"/>
              <a:t>삽입</a:t>
            </a:r>
            <a:r>
              <a:rPr lang="en-US" altLang="ko-KR" sz="2800" dirty="0"/>
              <a:t>=&gt;</a:t>
            </a:r>
            <a:r>
              <a:rPr lang="ko-KR" altLang="en-US" sz="2800" dirty="0"/>
              <a:t>차트</a:t>
            </a:r>
            <a:r>
              <a:rPr lang="en-US" altLang="ko-KR" sz="2800" dirty="0"/>
              <a:t>=&gt;</a:t>
            </a:r>
            <a:r>
              <a:rPr lang="ko-KR" altLang="en-US" sz="2800" b="1" dirty="0">
                <a:hlinkClick r:id="rId2" action="ppaction://hlinksldjump"/>
              </a:rPr>
              <a:t>분산형</a:t>
            </a:r>
            <a:endParaRPr lang="ko-KR" altLang="en-US" sz="2800" b="1" dirty="0"/>
          </a:p>
          <a:p>
            <a:pPr marL="609600" indent="-609600" eaLnBrk="1" hangingPunct="1">
              <a:buFont typeface="Wingdings" pitchFamily="2" charset="2"/>
              <a:buNone/>
            </a:pPr>
            <a:endParaRPr lang="ko-KR" altLang="en-US" sz="2800" dirty="0"/>
          </a:p>
          <a:p>
            <a:pPr marL="609600" indent="-609600" eaLnBrk="1" hangingPunct="1">
              <a:buFont typeface="Wingdings" pitchFamily="2" charset="2"/>
              <a:buNone/>
            </a:pPr>
            <a:endParaRPr lang="en-US" altLang="ko-KR" sz="28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ADB5059-9C18-4E8C-9F95-73933A8FC5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726467"/>
              </p:ext>
            </p:extLst>
          </p:nvPr>
        </p:nvGraphicFramePr>
        <p:xfrm>
          <a:off x="685800" y="1255395"/>
          <a:ext cx="3528393" cy="4128135"/>
        </p:xfrm>
        <a:graphic>
          <a:graphicData uri="http://schemas.openxmlformats.org/drawingml/2006/table">
            <a:tbl>
              <a:tblPr/>
              <a:tblGrid>
                <a:gridCol w="1176131">
                  <a:extLst>
                    <a:ext uri="{9D8B030D-6E8A-4147-A177-3AD203B41FA5}">
                      <a16:colId xmlns:a16="http://schemas.microsoft.com/office/drawing/2014/main" val="3464837238"/>
                    </a:ext>
                  </a:extLst>
                </a:gridCol>
                <a:gridCol w="1176131">
                  <a:extLst>
                    <a:ext uri="{9D8B030D-6E8A-4147-A177-3AD203B41FA5}">
                      <a16:colId xmlns:a16="http://schemas.microsoft.com/office/drawing/2014/main" val="1341525556"/>
                    </a:ext>
                  </a:extLst>
                </a:gridCol>
                <a:gridCol w="1176131">
                  <a:extLst>
                    <a:ext uri="{9D8B030D-6E8A-4147-A177-3AD203B41FA5}">
                      <a16:colId xmlns:a16="http://schemas.microsoft.com/office/drawing/2014/main" val="437731672"/>
                    </a:ext>
                  </a:extLst>
                </a:gridCol>
              </a:tblGrid>
              <a:tr h="268638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회사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광고비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판매량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7922603"/>
                  </a:ext>
                </a:extLst>
              </a:tr>
              <a:tr h="26863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2.5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4219315"/>
                  </a:ext>
                </a:extLst>
              </a:tr>
              <a:tr h="26863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1.6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2.6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1547443"/>
                  </a:ext>
                </a:extLst>
              </a:tr>
              <a:tr h="26863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2.5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2.7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8129753"/>
                  </a:ext>
                </a:extLst>
              </a:tr>
              <a:tr h="26863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9280059"/>
                  </a:ext>
                </a:extLst>
              </a:tr>
              <a:tr h="26863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5.3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0401024"/>
                  </a:ext>
                </a:extLst>
              </a:tr>
              <a:tr h="26863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4.6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9.1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5165318"/>
                  </a:ext>
                </a:extLst>
              </a:tr>
              <a:tr h="26863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14.8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8897171"/>
                  </a:ext>
                </a:extLst>
              </a:tr>
              <a:tr h="26863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5.7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17.5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2667705"/>
                  </a:ext>
                </a:extLst>
              </a:tr>
              <a:tr h="26863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9393162"/>
                  </a:ext>
                </a:extLst>
              </a:tr>
              <a:tr h="26863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66313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3"/>
          <p:cNvGraphicFramePr>
            <a:graphicFrameLocks noGrp="1" noChangeAspect="1"/>
          </p:cNvGraphicFramePr>
          <p:nvPr>
            <p:ph type="body" idx="1"/>
          </p:nvPr>
        </p:nvGraphicFramePr>
        <p:xfrm>
          <a:off x="1466850" y="1752600"/>
          <a:ext cx="6210300" cy="383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차트" r:id="rId3" imgW="5724861" imgH="3343656" progId="Excel.Chart.8">
                  <p:embed/>
                </p:oleObj>
              </mc:Choice>
              <mc:Fallback>
                <p:oleObj name="차트" r:id="rId3" imgW="5724861" imgH="3343656" progId="Excel.Char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6850" y="1752600"/>
                        <a:ext cx="6210300" cy="3830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" name="Text Box 4"/>
          <p:cNvSpPr txBox="1">
            <a:spLocks noChangeArrowheads="1"/>
          </p:cNvSpPr>
          <p:nvPr/>
        </p:nvSpPr>
        <p:spPr bwMode="auto">
          <a:xfrm>
            <a:off x="1447800" y="304800"/>
            <a:ext cx="5791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ko-KR" altLang="en-US" sz="3200">
                <a:solidFill>
                  <a:schemeClr val="folHlink"/>
                </a:solidFill>
                <a:latin typeface="굴림" pitchFamily="50" charset="-127"/>
              </a:rPr>
              <a:t>광고비와 판매량의 산점도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3. </a:t>
            </a:r>
            <a:r>
              <a:rPr lang="ko-KR" altLang="en-US"/>
              <a:t>상관계수</a:t>
            </a:r>
            <a:r>
              <a:rPr lang="en-US" altLang="ko-KR"/>
              <a:t>(Correlation)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04925"/>
            <a:ext cx="7772400" cy="4827588"/>
          </a:xfrm>
        </p:spPr>
        <p:txBody>
          <a:bodyPr/>
          <a:lstStyle/>
          <a:p>
            <a:pPr eaLnBrk="1" hangingPunct="1"/>
            <a:r>
              <a:rPr lang="ko-KR" altLang="en-US" sz="2800"/>
              <a:t>두 연속 변수의 관계에 대한 수치 요약</a:t>
            </a:r>
          </a:p>
          <a:p>
            <a:pPr eaLnBrk="1" hangingPunct="1"/>
            <a:r>
              <a:rPr lang="ko-KR" altLang="en-US" sz="2800"/>
              <a:t>산점도에서 점들이 얼마나 직선에 가까운 가를 나타내는 측도</a:t>
            </a:r>
          </a:p>
          <a:p>
            <a:pPr eaLnBrk="1" hangingPunct="1"/>
            <a:r>
              <a:rPr lang="ko-KR" altLang="en-US" sz="2800"/>
              <a:t>두 변수 사이의 선형관계 정도에 대한 측도</a:t>
            </a:r>
          </a:p>
          <a:p>
            <a:pPr eaLnBrk="1" hangingPunct="1"/>
            <a:endParaRPr lang="ko-KR" altLang="en-US" sz="2800"/>
          </a:p>
          <a:p>
            <a:pPr eaLnBrk="1" hangingPunct="1">
              <a:buFont typeface="Wingdings" pitchFamily="2" charset="2"/>
              <a:buNone/>
            </a:pPr>
            <a:r>
              <a:rPr lang="ko-KR" altLang="en-US" sz="2400"/>
              <a:t> 예</a:t>
            </a:r>
            <a:r>
              <a:rPr lang="en-US" altLang="ko-KR" sz="2400"/>
              <a:t>)  1) </a:t>
            </a:r>
            <a:r>
              <a:rPr lang="ko-KR" altLang="en-US" sz="2400"/>
              <a:t>배기가스와 발암 물질과의 관계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 sz="2400"/>
              <a:t>       </a:t>
            </a:r>
            <a:r>
              <a:rPr lang="en-US" altLang="ko-KR" sz="2400"/>
              <a:t>2) </a:t>
            </a:r>
            <a:r>
              <a:rPr lang="ko-KR" altLang="en-US" sz="2400"/>
              <a:t>수능 성적과 학업성취도와의 관계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 sz="2400"/>
              <a:t>       </a:t>
            </a:r>
            <a:r>
              <a:rPr lang="en-US" altLang="ko-KR" sz="2400"/>
              <a:t>3) </a:t>
            </a:r>
            <a:r>
              <a:rPr lang="ko-KR" altLang="en-US" sz="2400"/>
              <a:t>수학과 음악 성적의 관계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 sz="2400"/>
              <a:t>       </a:t>
            </a:r>
            <a:r>
              <a:rPr lang="en-US" altLang="ko-KR" sz="2400"/>
              <a:t>4) </a:t>
            </a:r>
            <a:r>
              <a:rPr lang="ko-KR" altLang="en-US" sz="2400"/>
              <a:t>키와 몸무게의 관계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81000"/>
            <a:ext cx="4800600" cy="533400"/>
          </a:xfrm>
        </p:spPr>
        <p:txBody>
          <a:bodyPr/>
          <a:lstStyle/>
          <a:p>
            <a:pPr eaLnBrk="1" hangingPunct="1"/>
            <a:r>
              <a:rPr lang="ko-KR" altLang="en-US"/>
              <a:t>공분산</a:t>
            </a:r>
            <a:r>
              <a:rPr lang="en-US" altLang="ko-KR"/>
              <a:t>(Covariance)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74676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ko-KR" altLang="en-US"/>
              <a:t>두 변수 </a:t>
            </a:r>
            <a:r>
              <a:rPr lang="en-US" altLang="ko-KR"/>
              <a:t>X, Y</a:t>
            </a:r>
            <a:r>
              <a:rPr lang="ko-KR" altLang="en-US"/>
              <a:t>의 변화 관계를 나타내는 척도 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/>
              <a:t> </a:t>
            </a:r>
            <a:r>
              <a:rPr lang="en-US" altLang="ko-KR"/>
              <a:t>n</a:t>
            </a:r>
            <a:r>
              <a:rPr lang="ko-KR" altLang="en-US"/>
              <a:t>개의 관측값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/>
              <a:t> 동일한 자료가 측정단위의 변화에 따라 공분산 값이 달라진다</a:t>
            </a:r>
            <a:r>
              <a:rPr lang="en-US" altLang="ko-KR"/>
              <a:t>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/>
              <a:t>      (x</a:t>
            </a:r>
            <a:r>
              <a:rPr lang="en-US" altLang="ko-KR" baseline="-25000"/>
              <a:t>1</a:t>
            </a:r>
            <a:r>
              <a:rPr lang="en-US" altLang="ko-KR"/>
              <a:t>,y</a:t>
            </a:r>
            <a:r>
              <a:rPr lang="en-US" altLang="ko-KR" baseline="-25000"/>
              <a:t>1</a:t>
            </a:r>
            <a:r>
              <a:rPr lang="en-US" altLang="ko-KR"/>
              <a:t>), (x</a:t>
            </a:r>
            <a:r>
              <a:rPr lang="en-US" altLang="ko-KR" baseline="-25000"/>
              <a:t>2</a:t>
            </a:r>
            <a:r>
              <a:rPr lang="en-US" altLang="ko-KR"/>
              <a:t>,y</a:t>
            </a:r>
            <a:r>
              <a:rPr lang="en-US" altLang="ko-KR" baseline="-25000"/>
              <a:t>2</a:t>
            </a:r>
            <a:r>
              <a:rPr lang="en-US" altLang="ko-KR"/>
              <a:t>), </a:t>
            </a:r>
            <a:r>
              <a:rPr lang="en-US" altLang="ko-KR">
                <a:latin typeface="Times New Roman" pitchFamily="18" charset="0"/>
              </a:rPr>
              <a:t>…</a:t>
            </a:r>
            <a:r>
              <a:rPr lang="en-US" altLang="ko-KR"/>
              <a:t>., (x</a:t>
            </a:r>
            <a:r>
              <a:rPr lang="en-US" altLang="ko-KR" baseline="-25000"/>
              <a:t>n</a:t>
            </a:r>
            <a:r>
              <a:rPr lang="en-US" altLang="ko-KR"/>
              <a:t>,y</a:t>
            </a:r>
            <a:r>
              <a:rPr lang="en-US" altLang="ko-KR" baseline="-25000"/>
              <a:t>n</a:t>
            </a:r>
            <a:r>
              <a:rPr lang="en-US" altLang="ko-KR"/>
              <a:t>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ko-KR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/>
              <a:t>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/>
              <a:t>  </a:t>
            </a:r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/>
        </p:nvGraphicFramePr>
        <p:xfrm>
          <a:off x="1752600" y="4343400"/>
          <a:ext cx="4862513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Equation" r:id="rId3" imgW="1676160" imgH="647640" progId="Equation.3">
                  <p:embed/>
                </p:oleObj>
              </mc:Choice>
              <mc:Fallback>
                <p:oleObj name="Equation" r:id="rId3" imgW="1676160" imgH="647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343400"/>
                        <a:ext cx="4862513" cy="128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28600"/>
            <a:ext cx="3505200" cy="533400"/>
          </a:xfrm>
        </p:spPr>
        <p:txBody>
          <a:bodyPr/>
          <a:lstStyle/>
          <a:p>
            <a:pPr eaLnBrk="1" hangingPunct="1"/>
            <a:r>
              <a:rPr lang="en-US" altLang="ko-KR" sz="2800"/>
              <a:t>EXCEL </a:t>
            </a:r>
            <a:r>
              <a:rPr lang="ko-KR" altLang="en-US" sz="2800"/>
              <a:t>실습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066800"/>
            <a:ext cx="84582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ko-KR" altLang="en-US" sz="2800" dirty="0"/>
              <a:t>키</a:t>
            </a:r>
            <a:r>
              <a:rPr lang="en-US" altLang="ko-KR" sz="2800" dirty="0"/>
              <a:t>(</a:t>
            </a:r>
            <a:r>
              <a:rPr lang="ko-KR" altLang="en-US" sz="2800" dirty="0" err="1"/>
              <a:t>츠</a:t>
            </a:r>
            <a:r>
              <a:rPr lang="en-US" altLang="ko-KR" sz="2800" dirty="0"/>
              <a:t>)</a:t>
            </a:r>
            <a:r>
              <a:rPr lang="ko-KR" altLang="en-US" sz="2800" dirty="0"/>
              <a:t>와 몸무게</a:t>
            </a:r>
            <a:r>
              <a:rPr lang="en-US" altLang="ko-KR" sz="2800" dirty="0"/>
              <a:t>(kg)</a:t>
            </a:r>
            <a:r>
              <a:rPr lang="ko-KR" altLang="en-US" sz="2800" dirty="0"/>
              <a:t>의 공분산</a:t>
            </a:r>
            <a:r>
              <a:rPr lang="en-US" altLang="ko-KR" sz="2800" dirty="0"/>
              <a:t>=&gt;</a:t>
            </a:r>
            <a:r>
              <a:rPr lang="ko-KR" altLang="en-US" sz="2800" dirty="0"/>
              <a:t>수식</a:t>
            </a:r>
            <a:r>
              <a:rPr lang="en-US" altLang="ko-KR" sz="2800" dirty="0"/>
              <a:t>=&gt;</a:t>
            </a:r>
            <a:r>
              <a:rPr lang="ko-KR" altLang="en-US" sz="2800" dirty="0"/>
              <a:t>함수삽입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ko-KR" altLang="en-US" sz="2800" dirty="0"/>
              <a:t>  </a:t>
            </a:r>
            <a:r>
              <a:rPr lang="en-US" altLang="ko-KR" sz="2800" dirty="0"/>
              <a:t>=&gt;COVARIANCE.S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/>
              <a:t>  =&gt;</a:t>
            </a:r>
            <a:r>
              <a:rPr lang="ko-KR" altLang="en-US" sz="2800" dirty="0"/>
              <a:t>결과는 </a:t>
            </a:r>
            <a:r>
              <a:rPr lang="ko-KR" altLang="en-US" sz="2800" dirty="0" err="1"/>
              <a:t>표본공분산</a:t>
            </a:r>
            <a:endParaRPr lang="ko-KR" altLang="en-US" sz="28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/>
              <a:t>  =&gt;</a:t>
            </a:r>
            <a:r>
              <a:rPr lang="ko-KR" altLang="en-US" sz="2800" dirty="0" err="1"/>
              <a:t>모집단공분산</a:t>
            </a:r>
            <a:r>
              <a:rPr lang="en-US" altLang="ko-KR" sz="2800" dirty="0"/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/>
              <a:t>      COVARIANCE.P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/>
              <a:t>  =&gt; </a:t>
            </a:r>
            <a:r>
              <a:rPr lang="ko-KR" altLang="en-US" sz="2800" dirty="0"/>
              <a:t>키의 측정단위가 </a:t>
            </a:r>
            <a:endParaRPr lang="en-US" altLang="ko-KR" sz="28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/>
              <a:t>      </a:t>
            </a:r>
            <a:r>
              <a:rPr lang="ko-KR" altLang="en-US" sz="2800" dirty="0"/>
              <a:t>인치</a:t>
            </a:r>
            <a:r>
              <a:rPr lang="en-US" altLang="ko-KR" sz="2800" dirty="0"/>
              <a:t>(in)</a:t>
            </a:r>
            <a:r>
              <a:rPr lang="ko-KR" altLang="en-US" sz="2800" dirty="0"/>
              <a:t>이면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ko-KR" altLang="en-US" sz="2800" dirty="0"/>
              <a:t> </a:t>
            </a:r>
            <a:r>
              <a:rPr lang="en-US" altLang="ko-KR" sz="2800" dirty="0"/>
              <a:t>     </a:t>
            </a:r>
            <a:r>
              <a:rPr lang="ko-KR" altLang="en-US" sz="2800" dirty="0"/>
              <a:t>공분산 값이 달라진다</a:t>
            </a:r>
            <a:r>
              <a:rPr lang="en-US" altLang="ko-KR" sz="2800" dirty="0"/>
              <a:t>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/>
              <a:t>  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B17B5AC-62AC-47B4-9A21-9AE627A91C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236432"/>
              </p:ext>
            </p:extLst>
          </p:nvPr>
        </p:nvGraphicFramePr>
        <p:xfrm>
          <a:off x="5220072" y="1844824"/>
          <a:ext cx="3771528" cy="45089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54489">
                  <a:extLst>
                    <a:ext uri="{9D8B030D-6E8A-4147-A177-3AD203B41FA5}">
                      <a16:colId xmlns:a16="http://schemas.microsoft.com/office/drawing/2014/main" val="3516431419"/>
                    </a:ext>
                  </a:extLst>
                </a:gridCol>
                <a:gridCol w="1517039">
                  <a:extLst>
                    <a:ext uri="{9D8B030D-6E8A-4147-A177-3AD203B41FA5}">
                      <a16:colId xmlns:a16="http://schemas.microsoft.com/office/drawing/2014/main" val="996515209"/>
                    </a:ext>
                  </a:extLst>
                </a:gridCol>
              </a:tblGrid>
              <a:tr h="426776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2400" u="none" strike="noStrike" dirty="0">
                          <a:effectLst/>
                        </a:rPr>
                        <a:t>키</a:t>
                      </a:r>
                      <a:endParaRPr lang="ko-KR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2400" u="none" strike="noStrike">
                          <a:effectLst/>
                        </a:rPr>
                        <a:t>몸무게</a:t>
                      </a:r>
                      <a:endParaRPr lang="ko-KR" altLang="en-US" sz="2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553661340"/>
                  </a:ext>
                </a:extLst>
              </a:tr>
              <a:tr h="408219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 dirty="0">
                          <a:effectLst/>
                        </a:rPr>
                        <a:t>169.6</a:t>
                      </a:r>
                      <a:endParaRPr lang="en-US" altLang="ko-KR" sz="24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>
                          <a:effectLst/>
                        </a:rPr>
                        <a:t>62.2</a:t>
                      </a:r>
                      <a:endParaRPr lang="en-US" altLang="ko-KR" sz="24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934602090"/>
                  </a:ext>
                </a:extLst>
              </a:tr>
              <a:tr h="408219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 dirty="0">
                          <a:effectLst/>
                        </a:rPr>
                        <a:t>166.8</a:t>
                      </a:r>
                      <a:endParaRPr lang="en-US" altLang="ko-KR" sz="24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>
                          <a:effectLst/>
                        </a:rPr>
                        <a:t>58.2</a:t>
                      </a:r>
                      <a:endParaRPr lang="en-US" altLang="ko-KR" sz="24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995213658"/>
                  </a:ext>
                </a:extLst>
              </a:tr>
              <a:tr h="408219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 dirty="0">
                          <a:effectLst/>
                        </a:rPr>
                        <a:t>157.1</a:t>
                      </a:r>
                      <a:endParaRPr lang="en-US" altLang="ko-KR" sz="24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>
                          <a:effectLst/>
                        </a:rPr>
                        <a:t>56</a:t>
                      </a:r>
                      <a:endParaRPr lang="en-US" altLang="ko-KR" sz="24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215190694"/>
                  </a:ext>
                </a:extLst>
              </a:tr>
              <a:tr h="408219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 dirty="0">
                          <a:effectLst/>
                        </a:rPr>
                        <a:t>181.1</a:t>
                      </a:r>
                      <a:endParaRPr lang="en-US" altLang="ko-KR" sz="24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 dirty="0">
                          <a:effectLst/>
                        </a:rPr>
                        <a:t>64.5</a:t>
                      </a:r>
                      <a:endParaRPr lang="en-US" altLang="ko-KR" sz="24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954132520"/>
                  </a:ext>
                </a:extLst>
              </a:tr>
              <a:tr h="408219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>
                          <a:effectLst/>
                        </a:rPr>
                        <a:t>158.4</a:t>
                      </a:r>
                      <a:endParaRPr lang="en-US" altLang="ko-KR" sz="24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 dirty="0">
                          <a:effectLst/>
                        </a:rPr>
                        <a:t>53</a:t>
                      </a:r>
                      <a:endParaRPr lang="en-US" altLang="ko-KR" sz="24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123933603"/>
                  </a:ext>
                </a:extLst>
              </a:tr>
              <a:tr h="408219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>
                          <a:effectLst/>
                        </a:rPr>
                        <a:t>165.6</a:t>
                      </a:r>
                      <a:endParaRPr lang="en-US" altLang="ko-KR" sz="24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 dirty="0">
                          <a:effectLst/>
                        </a:rPr>
                        <a:t>52.4</a:t>
                      </a:r>
                      <a:endParaRPr lang="en-US" altLang="ko-KR" sz="24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711638606"/>
                  </a:ext>
                </a:extLst>
              </a:tr>
              <a:tr h="408219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>
                          <a:effectLst/>
                        </a:rPr>
                        <a:t>166.7</a:t>
                      </a:r>
                      <a:endParaRPr lang="en-US" altLang="ko-KR" sz="24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 dirty="0">
                          <a:effectLst/>
                        </a:rPr>
                        <a:t>56.8</a:t>
                      </a:r>
                      <a:endParaRPr lang="en-US" altLang="ko-KR" sz="24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764511722"/>
                  </a:ext>
                </a:extLst>
              </a:tr>
              <a:tr h="408219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>
                          <a:effectLst/>
                        </a:rPr>
                        <a:t>156.5</a:t>
                      </a:r>
                      <a:endParaRPr lang="en-US" altLang="ko-KR" sz="24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 dirty="0">
                          <a:effectLst/>
                        </a:rPr>
                        <a:t>49.2</a:t>
                      </a:r>
                      <a:endParaRPr lang="en-US" altLang="ko-KR" sz="24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624617663"/>
                  </a:ext>
                </a:extLst>
              </a:tr>
              <a:tr h="408219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>
                          <a:effectLst/>
                        </a:rPr>
                        <a:t>168.1</a:t>
                      </a:r>
                      <a:endParaRPr lang="en-US" altLang="ko-KR" sz="24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 dirty="0">
                          <a:effectLst/>
                        </a:rPr>
                        <a:t>55.6</a:t>
                      </a:r>
                      <a:endParaRPr lang="en-US" altLang="ko-KR" sz="24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777109403"/>
                  </a:ext>
                </a:extLst>
              </a:tr>
              <a:tr h="408219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>
                          <a:effectLst/>
                        </a:rPr>
                        <a:t>165.3</a:t>
                      </a:r>
                      <a:endParaRPr lang="en-US" altLang="ko-KR" sz="24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 dirty="0">
                          <a:effectLst/>
                        </a:rPr>
                        <a:t>60.8</a:t>
                      </a:r>
                      <a:endParaRPr lang="en-US" altLang="ko-KR" sz="24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683913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045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ko-KR" altLang="en-US" sz="2800" dirty="0"/>
              <a:t>측정단위에 관계없이 일정한 값을 준다</a:t>
            </a:r>
            <a:r>
              <a:rPr lang="en-US" altLang="ko-KR" sz="2800" dirty="0"/>
              <a:t>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ko-KR" sz="28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/>
              <a:t>   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/>
              <a:t>         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ko-KR" sz="28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/>
              <a:t>                 = X</a:t>
            </a:r>
            <a:r>
              <a:rPr lang="ko-KR" altLang="en-US" sz="2800" dirty="0"/>
              <a:t>의 표본분산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ko-KR" altLang="en-US" sz="2800" dirty="0"/>
              <a:t>                 </a:t>
            </a:r>
            <a:r>
              <a:rPr lang="en-US" altLang="ko-KR" sz="2800" dirty="0"/>
              <a:t>= Y</a:t>
            </a:r>
            <a:r>
              <a:rPr lang="ko-KR" altLang="en-US" sz="2800" dirty="0"/>
              <a:t>의 표본분산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ko-KR" altLang="en-US" sz="2800" dirty="0"/>
              <a:t>                 </a:t>
            </a:r>
            <a:r>
              <a:rPr lang="en-US" altLang="ko-KR" sz="2800" dirty="0"/>
              <a:t>= X,Y</a:t>
            </a:r>
            <a:r>
              <a:rPr lang="ko-KR" altLang="en-US" sz="2800" dirty="0"/>
              <a:t>의 </a:t>
            </a:r>
            <a:r>
              <a:rPr lang="ko-KR" altLang="en-US" sz="2800" dirty="0" err="1"/>
              <a:t>표본공분산</a:t>
            </a:r>
            <a:endParaRPr lang="ko-KR" altLang="en-US" sz="28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ko-KR" altLang="en-US" sz="2800" dirty="0"/>
              <a:t>    </a:t>
            </a:r>
          </a:p>
        </p:txBody>
      </p:sp>
      <p:graphicFrame>
        <p:nvGraphicFramePr>
          <p:cNvPr id="4098" name="Object 5"/>
          <p:cNvGraphicFramePr>
            <a:graphicFrameLocks noChangeAspect="1"/>
          </p:cNvGraphicFramePr>
          <p:nvPr/>
        </p:nvGraphicFramePr>
        <p:xfrm>
          <a:off x="1981200" y="2057400"/>
          <a:ext cx="335280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8" name="Equation" r:id="rId3" imgW="1587240" imgH="545760" progId="Equation.3">
                  <p:embed/>
                </p:oleObj>
              </mc:Choice>
              <mc:Fallback>
                <p:oleObj name="Equation" r:id="rId3" imgW="1587240" imgH="5457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057400"/>
                        <a:ext cx="3352800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6"/>
          <p:cNvGraphicFramePr>
            <a:graphicFrameLocks noChangeAspect="1"/>
          </p:cNvGraphicFramePr>
          <p:nvPr/>
        </p:nvGraphicFramePr>
        <p:xfrm>
          <a:off x="2209800" y="4572000"/>
          <a:ext cx="407988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9" name="Equation" r:id="rId5" imgW="228600" imgH="266400" progId="Equation.3">
                  <p:embed/>
                </p:oleObj>
              </mc:Choice>
              <mc:Fallback>
                <p:oleObj name="Equation" r:id="rId5" imgW="228600" imgH="266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572000"/>
                        <a:ext cx="407988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7"/>
          <p:cNvGraphicFramePr>
            <a:graphicFrameLocks noChangeAspect="1"/>
          </p:cNvGraphicFramePr>
          <p:nvPr/>
        </p:nvGraphicFramePr>
        <p:xfrm>
          <a:off x="2209800" y="3581400"/>
          <a:ext cx="4333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0" name="Equation" r:id="rId7" imgW="228600" imgH="241200" progId="Equation.3">
                  <p:embed/>
                </p:oleObj>
              </mc:Choice>
              <mc:Fallback>
                <p:oleObj name="Equation" r:id="rId7" imgW="228600" imgH="241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581400"/>
                        <a:ext cx="4333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8"/>
          <p:cNvGraphicFramePr>
            <a:graphicFrameLocks noChangeAspect="1"/>
          </p:cNvGraphicFramePr>
          <p:nvPr/>
        </p:nvGraphicFramePr>
        <p:xfrm>
          <a:off x="2209800" y="4038600"/>
          <a:ext cx="482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1" name="Equation" r:id="rId9" imgW="241200" imgH="266400" progId="Equation.3">
                  <p:embed/>
                </p:oleObj>
              </mc:Choice>
              <mc:Fallback>
                <p:oleObj name="Equation" r:id="rId9" imgW="241200" imgH="266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038600"/>
                        <a:ext cx="482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3" name="Rectangle 9"/>
          <p:cNvSpPr>
            <a:spLocks noChangeArrowheads="1"/>
          </p:cNvSpPr>
          <p:nvPr/>
        </p:nvSpPr>
        <p:spPr bwMode="auto">
          <a:xfrm>
            <a:off x="990600" y="304800"/>
            <a:ext cx="7654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ko-KR" altLang="en-US" sz="2800">
                <a:solidFill>
                  <a:schemeClr val="folHlink"/>
                </a:solidFill>
                <a:latin typeface="굴림" pitchFamily="50" charset="-127"/>
              </a:rPr>
              <a:t>표본상관계수 </a:t>
            </a:r>
            <a:r>
              <a:rPr lang="en-US" altLang="ko-KR" sz="2800">
                <a:solidFill>
                  <a:schemeClr val="folHlink"/>
                </a:solidFill>
                <a:latin typeface="굴림" pitchFamily="50" charset="-127"/>
              </a:rPr>
              <a:t>(sample correlation coefficient)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ko-KR"/>
              <a:t> </a:t>
            </a:r>
            <a:r>
              <a:rPr lang="ko-KR" altLang="en-US"/>
              <a:t>두 변수 </a:t>
            </a:r>
            <a:r>
              <a:rPr lang="en-US" altLang="ko-KR"/>
              <a:t>X, Y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/>
              <a:t>  n</a:t>
            </a:r>
            <a:r>
              <a:rPr lang="ko-KR" altLang="en-US"/>
              <a:t>개의 관찰값 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/>
              <a:t>  </a:t>
            </a:r>
            <a:r>
              <a:rPr lang="en-US" altLang="ko-KR"/>
              <a:t>(X</a:t>
            </a:r>
            <a:r>
              <a:rPr lang="en-US" altLang="ko-KR" baseline="-25000"/>
              <a:t>1</a:t>
            </a:r>
            <a:r>
              <a:rPr lang="en-US" altLang="ko-KR"/>
              <a:t>,Y</a:t>
            </a:r>
            <a:r>
              <a:rPr lang="en-US" altLang="ko-KR" baseline="-25000"/>
              <a:t>1</a:t>
            </a:r>
            <a:r>
              <a:rPr lang="en-US" altLang="ko-KR"/>
              <a:t>), (X</a:t>
            </a:r>
            <a:r>
              <a:rPr lang="en-US" altLang="ko-KR" baseline="-25000"/>
              <a:t>2</a:t>
            </a:r>
            <a:r>
              <a:rPr lang="en-US" altLang="ko-KR"/>
              <a:t>,Y</a:t>
            </a:r>
            <a:r>
              <a:rPr lang="en-US" altLang="ko-KR" baseline="-25000"/>
              <a:t>2</a:t>
            </a:r>
            <a:r>
              <a:rPr lang="en-US" altLang="ko-KR"/>
              <a:t>), </a:t>
            </a:r>
            <a:r>
              <a:rPr lang="en-US" altLang="ko-KR">
                <a:latin typeface="Times New Roman" pitchFamily="18" charset="0"/>
              </a:rPr>
              <a:t>…</a:t>
            </a:r>
            <a:r>
              <a:rPr lang="en-US" altLang="ko-KR"/>
              <a:t>., (X</a:t>
            </a:r>
            <a:r>
              <a:rPr lang="en-US" altLang="ko-KR" baseline="-25000"/>
              <a:t>n</a:t>
            </a:r>
            <a:r>
              <a:rPr lang="en-US" altLang="ko-KR"/>
              <a:t>,Y</a:t>
            </a:r>
            <a:r>
              <a:rPr lang="en-US" altLang="ko-KR" baseline="-25000"/>
              <a:t>n</a:t>
            </a:r>
            <a:r>
              <a:rPr lang="en-US" altLang="ko-KR"/>
              <a:t>)</a:t>
            </a:r>
          </a:p>
          <a:p>
            <a:pPr eaLnBrk="1" hangingPunct="1">
              <a:buFont typeface="Wingdings" pitchFamily="2" charset="2"/>
              <a:buNone/>
            </a:pPr>
            <a:endParaRPr lang="en-US" altLang="ko-KR"/>
          </a:p>
          <a:p>
            <a:pPr eaLnBrk="1" hangingPunct="1">
              <a:buFont typeface="Wingdings" pitchFamily="2" charset="2"/>
              <a:buNone/>
            </a:pPr>
            <a:r>
              <a:rPr lang="en-US" altLang="ko-KR"/>
              <a:t>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/>
              <a:t>  </a:t>
            </a:r>
          </a:p>
        </p:txBody>
      </p:sp>
      <p:graphicFrame>
        <p:nvGraphicFramePr>
          <p:cNvPr id="5122" name="Object 4"/>
          <p:cNvGraphicFramePr>
            <a:graphicFrameLocks noChangeAspect="1"/>
          </p:cNvGraphicFramePr>
          <p:nvPr/>
        </p:nvGraphicFramePr>
        <p:xfrm>
          <a:off x="762000" y="3429000"/>
          <a:ext cx="7620000" cy="189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" name="Equation" r:id="rId3" imgW="2450880" imgH="888840" progId="Equation.3">
                  <p:embed/>
                </p:oleObj>
              </mc:Choice>
              <mc:Fallback>
                <p:oleObj name="Equation" r:id="rId3" imgW="2450880" imgH="8888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429000"/>
                        <a:ext cx="7620000" cy="189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" name="Rectangle 6"/>
          <p:cNvSpPr>
            <a:spLocks noChangeArrowheads="1"/>
          </p:cNvSpPr>
          <p:nvPr/>
        </p:nvSpPr>
        <p:spPr bwMode="auto">
          <a:xfrm>
            <a:off x="1295400" y="304800"/>
            <a:ext cx="3733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ko-KR" altLang="en-US" sz="3200">
                <a:solidFill>
                  <a:schemeClr val="folHlink"/>
                </a:solidFill>
                <a:latin typeface="굴림" pitchFamily="50" charset="-127"/>
              </a:rPr>
              <a:t>표본상관계수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5410200" cy="685800"/>
          </a:xfrm>
        </p:spPr>
        <p:txBody>
          <a:bodyPr/>
          <a:lstStyle/>
          <a:p>
            <a:pPr eaLnBrk="1" hangingPunct="1"/>
            <a:r>
              <a:rPr lang="ko-KR" altLang="en-US"/>
              <a:t>표본상관계수의 성질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  1) -1</a:t>
            </a:r>
            <a:r>
              <a:rPr lang="en-US" altLang="ko-KR" dirty="0">
                <a:ea typeface="바탕" pitchFamily="18" charset="-127"/>
              </a:rPr>
              <a:t>≤</a:t>
            </a:r>
            <a:r>
              <a:rPr lang="en-US" altLang="ko-KR" dirty="0"/>
              <a:t> r(X,Y) </a:t>
            </a:r>
            <a:r>
              <a:rPr lang="en-US" altLang="ko-KR" dirty="0">
                <a:ea typeface="바탕" pitchFamily="18" charset="-127"/>
              </a:rPr>
              <a:t>≤</a:t>
            </a:r>
            <a:r>
              <a:rPr lang="en-US" altLang="ko-KR" dirty="0"/>
              <a:t> 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  2) </a:t>
            </a:r>
            <a:r>
              <a:rPr lang="ko-KR" altLang="en-US" dirty="0"/>
              <a:t>두 변수가 관계가 없으면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 dirty="0"/>
              <a:t>       </a:t>
            </a:r>
            <a:r>
              <a:rPr lang="en-US" altLang="ko-KR" dirty="0"/>
              <a:t>r(X,Y)=0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  3) </a:t>
            </a:r>
            <a:r>
              <a:rPr lang="ko-KR" altLang="en-US" dirty="0"/>
              <a:t>두 변수가 양의 직선관계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 dirty="0"/>
              <a:t>       </a:t>
            </a:r>
            <a:r>
              <a:rPr lang="en-US" altLang="ko-KR" dirty="0"/>
              <a:t>r(X,Y)=1,  (</a:t>
            </a:r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섭씨와 화씨의 관계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 dirty="0"/>
              <a:t>    </a:t>
            </a:r>
            <a:r>
              <a:rPr lang="en-US" altLang="ko-KR" dirty="0"/>
              <a:t>4) </a:t>
            </a:r>
            <a:r>
              <a:rPr lang="ko-KR" altLang="en-US" dirty="0"/>
              <a:t>두 변수가 음의 직선관계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 dirty="0"/>
              <a:t>       </a:t>
            </a:r>
            <a:r>
              <a:rPr lang="en-US" altLang="ko-KR" dirty="0"/>
              <a:t>r(X,Y)=-1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  </a:t>
            </a:r>
            <a:endParaRPr lang="ko-KR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/>
              <a:t>표본상관계수와 산점도의 대응비교</a:t>
            </a:r>
          </a:p>
        </p:txBody>
      </p:sp>
      <p:pic>
        <p:nvPicPr>
          <p:cNvPr id="17411" name="내용 개체 틀 3" descr="099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28688" y="1714500"/>
            <a:ext cx="7245350" cy="4143375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04800"/>
            <a:ext cx="3200400" cy="457200"/>
          </a:xfrm>
        </p:spPr>
        <p:txBody>
          <a:bodyPr/>
          <a:lstStyle/>
          <a:p>
            <a:pPr eaLnBrk="1" hangingPunct="1"/>
            <a:r>
              <a:rPr lang="en-US" altLang="ko-KR" sz="2800"/>
              <a:t>EXCEL </a:t>
            </a:r>
            <a:r>
              <a:rPr lang="ko-KR" altLang="en-US" sz="2800"/>
              <a:t>실습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Char char="-"/>
            </a:pPr>
            <a:r>
              <a:rPr lang="ko-KR" altLang="en-US" sz="2800" dirty="0"/>
              <a:t>키와 몸무게의 상관계수 </a:t>
            </a:r>
            <a:r>
              <a:rPr lang="en-US" altLang="ko-KR" sz="2800" dirty="0"/>
              <a:t>=&gt;</a:t>
            </a:r>
            <a:r>
              <a:rPr lang="ko-KR" altLang="en-US" sz="2800" dirty="0"/>
              <a:t>함수</a:t>
            </a:r>
            <a:r>
              <a:rPr lang="en-US" altLang="ko-KR" sz="2800" dirty="0"/>
              <a:t>=&gt;</a:t>
            </a:r>
            <a:r>
              <a:rPr lang="ko-KR" altLang="en-US" sz="2800" dirty="0"/>
              <a:t>통계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ko-KR" sz="2800" dirty="0"/>
              <a:t>=&gt;CORREL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ko-KR" sz="2800" dirty="0"/>
              <a:t>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47CB105-2834-42F3-9636-27198D2997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208461"/>
              </p:ext>
            </p:extLst>
          </p:nvPr>
        </p:nvGraphicFramePr>
        <p:xfrm>
          <a:off x="2483768" y="1916832"/>
          <a:ext cx="3771528" cy="45089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54489">
                  <a:extLst>
                    <a:ext uri="{9D8B030D-6E8A-4147-A177-3AD203B41FA5}">
                      <a16:colId xmlns:a16="http://schemas.microsoft.com/office/drawing/2014/main" val="3516431419"/>
                    </a:ext>
                  </a:extLst>
                </a:gridCol>
                <a:gridCol w="1517039">
                  <a:extLst>
                    <a:ext uri="{9D8B030D-6E8A-4147-A177-3AD203B41FA5}">
                      <a16:colId xmlns:a16="http://schemas.microsoft.com/office/drawing/2014/main" val="996515209"/>
                    </a:ext>
                  </a:extLst>
                </a:gridCol>
              </a:tblGrid>
              <a:tr h="426776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2400" u="none" strike="noStrike" dirty="0">
                          <a:effectLst/>
                        </a:rPr>
                        <a:t>키</a:t>
                      </a:r>
                      <a:endParaRPr lang="ko-KR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2400" u="none" strike="noStrike">
                          <a:effectLst/>
                        </a:rPr>
                        <a:t>몸무게</a:t>
                      </a:r>
                      <a:endParaRPr lang="ko-KR" altLang="en-US" sz="2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553661340"/>
                  </a:ext>
                </a:extLst>
              </a:tr>
              <a:tr h="408219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 dirty="0">
                          <a:effectLst/>
                        </a:rPr>
                        <a:t>169.6</a:t>
                      </a:r>
                      <a:endParaRPr lang="en-US" altLang="ko-KR" sz="24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>
                          <a:effectLst/>
                        </a:rPr>
                        <a:t>62.2</a:t>
                      </a:r>
                      <a:endParaRPr lang="en-US" altLang="ko-KR" sz="24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934602090"/>
                  </a:ext>
                </a:extLst>
              </a:tr>
              <a:tr h="408219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 dirty="0">
                          <a:effectLst/>
                        </a:rPr>
                        <a:t>166.8</a:t>
                      </a:r>
                      <a:endParaRPr lang="en-US" altLang="ko-KR" sz="24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>
                          <a:effectLst/>
                        </a:rPr>
                        <a:t>58.2</a:t>
                      </a:r>
                      <a:endParaRPr lang="en-US" altLang="ko-KR" sz="24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995213658"/>
                  </a:ext>
                </a:extLst>
              </a:tr>
              <a:tr h="408219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 dirty="0">
                          <a:effectLst/>
                        </a:rPr>
                        <a:t>157.1</a:t>
                      </a:r>
                      <a:endParaRPr lang="en-US" altLang="ko-KR" sz="24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>
                          <a:effectLst/>
                        </a:rPr>
                        <a:t>56</a:t>
                      </a:r>
                      <a:endParaRPr lang="en-US" altLang="ko-KR" sz="24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215190694"/>
                  </a:ext>
                </a:extLst>
              </a:tr>
              <a:tr h="408219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 dirty="0">
                          <a:effectLst/>
                        </a:rPr>
                        <a:t>181.1</a:t>
                      </a:r>
                      <a:endParaRPr lang="en-US" altLang="ko-KR" sz="24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 dirty="0">
                          <a:effectLst/>
                        </a:rPr>
                        <a:t>64.5</a:t>
                      </a:r>
                      <a:endParaRPr lang="en-US" altLang="ko-KR" sz="24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954132520"/>
                  </a:ext>
                </a:extLst>
              </a:tr>
              <a:tr h="408219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>
                          <a:effectLst/>
                        </a:rPr>
                        <a:t>158.4</a:t>
                      </a:r>
                      <a:endParaRPr lang="en-US" altLang="ko-KR" sz="24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 dirty="0">
                          <a:effectLst/>
                        </a:rPr>
                        <a:t>53</a:t>
                      </a:r>
                      <a:endParaRPr lang="en-US" altLang="ko-KR" sz="24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123933603"/>
                  </a:ext>
                </a:extLst>
              </a:tr>
              <a:tr h="408219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>
                          <a:effectLst/>
                        </a:rPr>
                        <a:t>165.6</a:t>
                      </a:r>
                      <a:endParaRPr lang="en-US" altLang="ko-KR" sz="24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 dirty="0">
                          <a:effectLst/>
                        </a:rPr>
                        <a:t>52.4</a:t>
                      </a:r>
                      <a:endParaRPr lang="en-US" altLang="ko-KR" sz="24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711638606"/>
                  </a:ext>
                </a:extLst>
              </a:tr>
              <a:tr h="408219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>
                          <a:effectLst/>
                        </a:rPr>
                        <a:t>166.7</a:t>
                      </a:r>
                      <a:endParaRPr lang="en-US" altLang="ko-KR" sz="24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 dirty="0">
                          <a:effectLst/>
                        </a:rPr>
                        <a:t>56.8</a:t>
                      </a:r>
                      <a:endParaRPr lang="en-US" altLang="ko-KR" sz="24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764511722"/>
                  </a:ext>
                </a:extLst>
              </a:tr>
              <a:tr h="408219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>
                          <a:effectLst/>
                        </a:rPr>
                        <a:t>156.5</a:t>
                      </a:r>
                      <a:endParaRPr lang="en-US" altLang="ko-KR" sz="24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 dirty="0">
                          <a:effectLst/>
                        </a:rPr>
                        <a:t>49.2</a:t>
                      </a:r>
                      <a:endParaRPr lang="en-US" altLang="ko-KR" sz="24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624617663"/>
                  </a:ext>
                </a:extLst>
              </a:tr>
              <a:tr h="408219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>
                          <a:effectLst/>
                        </a:rPr>
                        <a:t>168.1</a:t>
                      </a:r>
                      <a:endParaRPr lang="en-US" altLang="ko-KR" sz="24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 dirty="0">
                          <a:effectLst/>
                        </a:rPr>
                        <a:t>55.6</a:t>
                      </a:r>
                      <a:endParaRPr lang="en-US" altLang="ko-KR" sz="24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777109403"/>
                  </a:ext>
                </a:extLst>
              </a:tr>
              <a:tr h="408219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>
                          <a:effectLst/>
                        </a:rPr>
                        <a:t>165.3</a:t>
                      </a:r>
                      <a:endParaRPr lang="en-US" altLang="ko-KR" sz="24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2400" u="none" strike="noStrike" dirty="0">
                          <a:effectLst/>
                        </a:rPr>
                        <a:t>60.8</a:t>
                      </a:r>
                      <a:endParaRPr lang="en-US" altLang="ko-KR" sz="24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6839131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7772400" cy="3352800"/>
          </a:xfrm>
        </p:spPr>
        <p:txBody>
          <a:bodyPr/>
          <a:lstStyle/>
          <a:p>
            <a:pPr eaLnBrk="1" hangingPunct="1">
              <a:buFontTx/>
              <a:buChar char="-"/>
            </a:pPr>
            <a:r>
              <a:rPr lang="ko-KR" altLang="en-US" sz="2800" dirty="0"/>
              <a:t>키와 몸무게의 </a:t>
            </a:r>
            <a:r>
              <a:rPr lang="ko-KR" altLang="en-US" sz="2800" dirty="0" err="1"/>
              <a:t>산점도를</a:t>
            </a:r>
            <a:r>
              <a:rPr lang="ko-KR" altLang="en-US" sz="2800" dirty="0"/>
              <a:t> 그려라</a:t>
            </a:r>
            <a:endParaRPr lang="en-US" altLang="ko-KR" sz="2800" dirty="0"/>
          </a:p>
          <a:p>
            <a:pPr lvl="1" eaLnBrk="1" hangingPunct="1">
              <a:buFontTx/>
              <a:buChar char="-"/>
            </a:pPr>
            <a:r>
              <a:rPr lang="en-US" altLang="ko-KR" sz="2400" dirty="0"/>
              <a:t>Y</a:t>
            </a:r>
            <a:r>
              <a:rPr lang="ko-KR" altLang="en-US" sz="2400" dirty="0"/>
              <a:t>축 눈금</a:t>
            </a:r>
            <a:r>
              <a:rPr lang="en-US" altLang="ko-KR" sz="2400" dirty="0"/>
              <a:t> </a:t>
            </a:r>
            <a:r>
              <a:rPr lang="ko-KR" altLang="en-US" sz="2400" dirty="0"/>
              <a:t>최소</a:t>
            </a:r>
            <a:r>
              <a:rPr lang="en-US" altLang="ko-KR" sz="2400" dirty="0"/>
              <a:t>:40 </a:t>
            </a:r>
            <a:r>
              <a:rPr lang="ko-KR" altLang="en-US" sz="2400" dirty="0"/>
              <a:t>최대 </a:t>
            </a:r>
            <a:r>
              <a:rPr lang="en-US" altLang="ko-KR" sz="2400" dirty="0"/>
              <a:t>70</a:t>
            </a:r>
            <a:r>
              <a:rPr lang="ko-KR" altLang="en-US" sz="2400" dirty="0"/>
              <a:t>으로 변경</a:t>
            </a:r>
            <a:r>
              <a:rPr lang="en-US" altLang="ko-KR" sz="2400" dirty="0"/>
              <a:t>: </a:t>
            </a:r>
          </a:p>
          <a:p>
            <a:pPr lvl="2" eaLnBrk="1" hangingPunct="1">
              <a:buFontTx/>
              <a:buChar char="-"/>
            </a:pPr>
            <a:r>
              <a:rPr lang="en-US" altLang="ko-KR" sz="2000" dirty="0"/>
              <a:t>Y</a:t>
            </a:r>
            <a:r>
              <a:rPr lang="ko-KR" altLang="en-US" sz="2000" dirty="0"/>
              <a:t>축에 커져</a:t>
            </a:r>
            <a:r>
              <a:rPr lang="en-US" altLang="ko-KR" sz="2000" dirty="0"/>
              <a:t>=&gt;</a:t>
            </a:r>
            <a:r>
              <a:rPr lang="ko-KR" altLang="en-US" sz="2000" dirty="0" err="1"/>
              <a:t>축서식</a:t>
            </a:r>
            <a:r>
              <a:rPr lang="en-US" altLang="ko-KR" sz="2000" dirty="0"/>
              <a:t>=&gt;</a:t>
            </a:r>
            <a:r>
              <a:rPr lang="ko-KR" altLang="en-US" sz="2000" dirty="0" err="1"/>
              <a:t>축옵션</a:t>
            </a:r>
            <a:r>
              <a:rPr lang="en-US" altLang="ko-KR" sz="2000" dirty="0"/>
              <a:t>=&gt;</a:t>
            </a:r>
            <a:r>
              <a:rPr lang="ko-KR" altLang="en-US" sz="2000" dirty="0"/>
              <a:t>최소</a:t>
            </a:r>
            <a:r>
              <a:rPr lang="en-US" altLang="ko-KR" sz="2000" dirty="0"/>
              <a:t>/</a:t>
            </a:r>
            <a:r>
              <a:rPr lang="ko-KR" altLang="en-US" sz="2000" dirty="0"/>
              <a:t>최대</a:t>
            </a:r>
            <a:r>
              <a:rPr lang="en-US" altLang="ko-KR" sz="2000" dirty="0"/>
              <a:t>:</a:t>
            </a:r>
            <a:r>
              <a:rPr lang="ko-KR" altLang="en-US" sz="2000" dirty="0"/>
              <a:t>고정 </a:t>
            </a:r>
            <a:endParaRPr lang="en-US" altLang="ko-KR" sz="2000" dirty="0"/>
          </a:p>
          <a:p>
            <a:pPr eaLnBrk="1" hangingPunct="1">
              <a:buFontTx/>
              <a:buChar char="-"/>
            </a:pPr>
            <a:r>
              <a:rPr lang="ko-KR" altLang="en-US" sz="2800" dirty="0"/>
              <a:t>광고비와 판매량의 상관계수를 구하라</a:t>
            </a:r>
            <a:r>
              <a:rPr lang="en-US" altLang="ko-KR" sz="2800" dirty="0"/>
              <a:t>.</a:t>
            </a:r>
          </a:p>
          <a:p>
            <a:pPr eaLnBrk="1" hangingPunct="1">
              <a:buFontTx/>
              <a:buChar char="-"/>
            </a:pPr>
            <a:endParaRPr lang="en-US" altLang="ko-KR" sz="2800" dirty="0"/>
          </a:p>
          <a:p>
            <a:pPr eaLnBrk="1" hangingPunct="1">
              <a:buFontTx/>
              <a:buChar char="-"/>
            </a:pPr>
            <a:r>
              <a:rPr lang="en-US" altLang="ko-KR" sz="2800" dirty="0"/>
              <a:t> </a:t>
            </a:r>
          </a:p>
        </p:txBody>
      </p:sp>
      <p:sp>
        <p:nvSpPr>
          <p:cNvPr id="19459" name="Rectangle 4"/>
          <p:cNvSpPr>
            <a:spLocks noChangeArrowheads="1"/>
          </p:cNvSpPr>
          <p:nvPr/>
        </p:nvSpPr>
        <p:spPr bwMode="auto">
          <a:xfrm>
            <a:off x="1524000" y="304800"/>
            <a:ext cx="24066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ko-KR" sz="3200">
                <a:solidFill>
                  <a:schemeClr val="folHlink"/>
                </a:solidFill>
                <a:latin typeface="굴림" pitchFamily="50" charset="-127"/>
              </a:rPr>
              <a:t>EXCEL </a:t>
            </a:r>
            <a:r>
              <a:rPr lang="ko-KR" altLang="en-US" sz="3200">
                <a:solidFill>
                  <a:schemeClr val="folHlink"/>
                </a:solidFill>
                <a:latin typeface="굴림" pitchFamily="50" charset="-127"/>
              </a:rPr>
              <a:t>실습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4"/>
          <p:cNvSpPr>
            <a:spLocks noChangeArrowheads="1"/>
          </p:cNvSpPr>
          <p:nvPr/>
        </p:nvSpPr>
        <p:spPr bwMode="auto">
          <a:xfrm>
            <a:off x="838200" y="-18246"/>
            <a:ext cx="83227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ko-KR" sz="3200" dirty="0"/>
              <a:t>HW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729A24C-33CC-4493-AF06-62A6DA02B4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079" y="88429"/>
            <a:ext cx="4908738" cy="302354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4243E1C-661D-4E68-94B0-B1166DE7647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3"/>
          <a:stretch/>
        </p:blipFill>
        <p:spPr>
          <a:xfrm>
            <a:off x="1699078" y="3111971"/>
            <a:ext cx="5537217" cy="34954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4F89F0A-45BC-46CF-A482-137FDF7070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3543941"/>
            <a:ext cx="7344816" cy="331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263955"/>
      </p:ext>
    </p:extLst>
  </p:cSld>
  <p:clrMapOvr>
    <a:masterClrMapping/>
  </p:clrMapOvr>
</p:sld>
</file>

<file path=ppt/theme/theme1.xml><?xml version="1.0" encoding="utf-8"?>
<a:theme xmlns:a="http://schemas.openxmlformats.org/drawingml/2006/main" name="조화">
  <a:themeElements>
    <a:clrScheme name="조화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조화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조화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조화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조화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조화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조화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조화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조화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Office\Templates\디자인\조화.pot</Template>
  <TotalTime>1141</TotalTime>
  <Words>640</Words>
  <Application>Microsoft Office PowerPoint</Application>
  <PresentationFormat>화면 슬라이드 쇼(4:3)</PresentationFormat>
  <Paragraphs>231</Paragraphs>
  <Slides>18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18</vt:i4>
      </vt:variant>
    </vt:vector>
  </HeadingPairs>
  <TitlesOfParts>
    <vt:vector size="27" baseType="lpstr">
      <vt:lpstr>굴림</vt:lpstr>
      <vt:lpstr>맑은 고딕</vt:lpstr>
      <vt:lpstr>바탕</vt:lpstr>
      <vt:lpstr>Tahoma</vt:lpstr>
      <vt:lpstr>Times New Roman</vt:lpstr>
      <vt:lpstr>Wingdings</vt:lpstr>
      <vt:lpstr>조화</vt:lpstr>
      <vt:lpstr>차트</vt:lpstr>
      <vt:lpstr>Equation</vt:lpstr>
      <vt:lpstr>제4장 두 변수 자료의 요약</vt:lpstr>
      <vt:lpstr>1. 두 범주형 변수의 요약: 분할표</vt:lpstr>
      <vt:lpstr>PowerPoint 프레젠테이션</vt:lpstr>
      <vt:lpstr>PowerPoint 프레젠테이션</vt:lpstr>
      <vt:lpstr>상대도수 분할표</vt:lpstr>
      <vt:lpstr>2. 산점도(Scatter Diagram)</vt:lpstr>
      <vt:lpstr>광고비(x)와 판매량(y)</vt:lpstr>
      <vt:lpstr>PowerPoint 프레젠테이션</vt:lpstr>
      <vt:lpstr>3. 상관계수(Correlation)</vt:lpstr>
      <vt:lpstr>공분산(Covariance)</vt:lpstr>
      <vt:lpstr>EXCEL 실습</vt:lpstr>
      <vt:lpstr>PowerPoint 프레젠테이션</vt:lpstr>
      <vt:lpstr>PowerPoint 프레젠테이션</vt:lpstr>
      <vt:lpstr>표본상관계수의 성질</vt:lpstr>
      <vt:lpstr>표본상관계수와 산점도의 대응비교</vt:lpstr>
      <vt:lpstr>EXCEL 실습</vt:lpstr>
      <vt:lpstr>PowerPoint 프레젠테이션</vt:lpstr>
      <vt:lpstr>PowerPoint 프레젠테이션</vt:lpstr>
    </vt:vector>
  </TitlesOfParts>
  <Company>한성대학교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확률 및 통계  Probability and Statistics</dc:title>
  <dc:creator>엄종석</dc:creator>
  <cp:lastModifiedBy>Windows 사용자</cp:lastModifiedBy>
  <cp:revision>39</cp:revision>
  <dcterms:created xsi:type="dcterms:W3CDTF">2002-03-06T11:06:54Z</dcterms:created>
  <dcterms:modified xsi:type="dcterms:W3CDTF">2026-03-17T06:17:22Z</dcterms:modified>
</cp:coreProperties>
</file>