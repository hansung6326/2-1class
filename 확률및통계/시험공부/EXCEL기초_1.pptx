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41" autoAdjust="0"/>
    <p:restoredTop sz="90929"/>
  </p:normalViewPr>
  <p:slideViewPr>
    <p:cSldViewPr>
      <p:cViewPr varScale="1">
        <p:scale>
          <a:sx n="94" d="100"/>
          <a:sy n="94" d="100"/>
        </p:scale>
        <p:origin x="96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A15BF73-70F6-40CB-8A34-48956399FEC0}" type="datetimeFigureOut">
              <a:rPr lang="ko-KR" altLang="en-US"/>
              <a:pPr>
                <a:defRPr/>
              </a:pPr>
              <a:t>2026-03-05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DB067B4-859B-4772-B86A-69653AF006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6954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623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5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645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838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709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894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880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496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737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56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88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853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189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72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E8B38-A3BD-4A59-B4D0-3574B95BD30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110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E9BAF-14BC-4D70-82C5-3FF9BBA2F1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532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4A885-5623-46C4-9ADA-7A8C674837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01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035298-C136-4177-924D-682BFBA5883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19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1D735-846B-4670-8B47-F06FEED170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963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8B4E4-6D01-4B05-995F-080E04D025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646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807B6-C5DD-41A8-97BB-A927BE25F5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983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50AA6-84CF-43A6-9E13-73FD79613C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689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52F0A-3DF4-4209-B6D3-C62A09D9421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567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EB828-74F6-4ED8-984C-ED24303D01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9931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CB62D1-AADC-4A11-AF91-B0AC459987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715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23BD9A-1EFF-4D1A-A687-998F727A77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33516"/>
            <a:ext cx="7772400" cy="762000"/>
          </a:xfrm>
        </p:spPr>
        <p:txBody>
          <a:bodyPr/>
          <a:lstStyle/>
          <a:p>
            <a:pPr algn="l" eaLnBrk="1" hangingPunct="1"/>
            <a:r>
              <a:rPr lang="en-US" altLang="ko-KR" sz="3200" dirty="0"/>
              <a:t>EXCEL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5516"/>
            <a:ext cx="8134672" cy="4648200"/>
          </a:xfrm>
        </p:spPr>
        <p:txBody>
          <a:bodyPr/>
          <a:lstStyle/>
          <a:p>
            <a:r>
              <a:rPr lang="en-US" altLang="ko-KR" sz="2800" dirty="0"/>
              <a:t>Microsoft </a:t>
            </a:r>
            <a:r>
              <a:rPr lang="ko-KR" altLang="en-US" sz="2800" dirty="0"/>
              <a:t>사의 </a:t>
            </a:r>
            <a:r>
              <a:rPr lang="en-US" altLang="ko-KR" sz="2800" dirty="0"/>
              <a:t>Office</a:t>
            </a:r>
            <a:r>
              <a:rPr lang="ko-KR" altLang="en-US" sz="2800" dirty="0"/>
              <a:t>에 포함된 응용프로그램</a:t>
            </a:r>
            <a:endParaRPr lang="en-US" altLang="ko-KR" sz="2800" dirty="0"/>
          </a:p>
          <a:p>
            <a:r>
              <a:rPr lang="ko-KR" altLang="en-US" sz="2800" dirty="0"/>
              <a:t>워크시트</a:t>
            </a:r>
            <a:r>
              <a:rPr lang="en-US" altLang="ko-KR" sz="2800" dirty="0"/>
              <a:t>(</a:t>
            </a:r>
            <a:r>
              <a:rPr lang="en-US" altLang="ko-KR" sz="2800" dirty="0" err="1"/>
              <a:t>WorkSheet</a:t>
            </a:r>
            <a:r>
              <a:rPr lang="en-US" altLang="ko-KR" sz="2800" dirty="0"/>
              <a:t>)</a:t>
            </a:r>
            <a:r>
              <a:rPr lang="ko-KR" altLang="en-US" sz="2800" dirty="0"/>
              <a:t>를 이용한 작업</a:t>
            </a:r>
            <a:endParaRPr lang="en-US" altLang="ko-KR" sz="2800" dirty="0"/>
          </a:p>
          <a:p>
            <a:r>
              <a:rPr lang="ko-KR" altLang="en-US" sz="2800" dirty="0"/>
              <a:t>차트제작</a:t>
            </a:r>
          </a:p>
          <a:p>
            <a:r>
              <a:rPr lang="ko-KR" altLang="en-US" sz="2800" dirty="0"/>
              <a:t>편리한 수식계산</a:t>
            </a:r>
          </a:p>
          <a:p>
            <a:r>
              <a:rPr lang="ko-KR" altLang="en-US" sz="2800" dirty="0"/>
              <a:t>함수를 이용한 자료분석</a:t>
            </a:r>
          </a:p>
          <a:p>
            <a:r>
              <a:rPr lang="ko-KR" altLang="en-US" sz="2800" dirty="0"/>
              <a:t>독자적인 응용프로그램 개발기능</a:t>
            </a:r>
            <a:r>
              <a:rPr lang="en-US" altLang="ko-KR" sz="2800" dirty="0"/>
              <a:t>(</a:t>
            </a:r>
            <a:r>
              <a:rPr lang="ko-KR" altLang="en-US" sz="2800" dirty="0"/>
              <a:t>매크로</a:t>
            </a:r>
            <a:r>
              <a:rPr lang="en-US" altLang="ko-KR" sz="2800" dirty="0"/>
              <a:t>, macro)</a:t>
            </a:r>
          </a:p>
          <a:p>
            <a:r>
              <a:rPr lang="ko-KR" altLang="en-US" sz="2800" dirty="0"/>
              <a:t>엑셀을 웹에 연결</a:t>
            </a:r>
          </a:p>
          <a:p>
            <a:r>
              <a:rPr lang="ko-KR" altLang="en-US" sz="2800" dirty="0"/>
              <a:t>그림이나 클립아트 등 다양한 개체를 삽입</a:t>
            </a:r>
          </a:p>
          <a:p>
            <a:r>
              <a:rPr lang="ko-KR" altLang="en-US" sz="2800" dirty="0"/>
              <a:t>데이터베이스 기능</a:t>
            </a:r>
          </a:p>
          <a:p>
            <a:pPr eaLnBrk="1" hangingPunct="1"/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4682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33516"/>
            <a:ext cx="7772400" cy="762000"/>
          </a:xfrm>
        </p:spPr>
        <p:txBody>
          <a:bodyPr/>
          <a:lstStyle/>
          <a:p>
            <a:pPr algn="l" eaLnBrk="1" hangingPunct="1"/>
            <a:r>
              <a:rPr lang="en-US" altLang="ko-KR" sz="3200" dirty="0"/>
              <a:t>EXCEL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5516"/>
            <a:ext cx="8134672" cy="4648200"/>
          </a:xfrm>
        </p:spPr>
        <p:txBody>
          <a:bodyPr/>
          <a:lstStyle/>
          <a:p>
            <a:r>
              <a:rPr lang="en-US" altLang="ko-KR" sz="2800" dirty="0"/>
              <a:t>Microsoft </a:t>
            </a:r>
            <a:r>
              <a:rPr lang="ko-KR" altLang="en-US" sz="2800" dirty="0"/>
              <a:t>사의 </a:t>
            </a:r>
            <a:r>
              <a:rPr lang="en-US" altLang="ko-KR" sz="2800" dirty="0"/>
              <a:t>Office</a:t>
            </a:r>
            <a:r>
              <a:rPr lang="ko-KR" altLang="en-US" sz="2800" dirty="0"/>
              <a:t>에 포함된 응용프로그램</a:t>
            </a:r>
            <a:endParaRPr lang="en-US" altLang="ko-KR" sz="2800" dirty="0"/>
          </a:p>
          <a:p>
            <a:r>
              <a:rPr lang="ko-KR" altLang="en-US" sz="2800" dirty="0"/>
              <a:t>워크시트</a:t>
            </a:r>
            <a:r>
              <a:rPr lang="en-US" altLang="ko-KR" sz="2800" dirty="0"/>
              <a:t>(</a:t>
            </a:r>
            <a:r>
              <a:rPr lang="en-US" altLang="ko-KR" sz="2800" dirty="0" err="1"/>
              <a:t>WorkSheet</a:t>
            </a:r>
            <a:r>
              <a:rPr lang="en-US" altLang="ko-KR" sz="2800" dirty="0"/>
              <a:t>)</a:t>
            </a:r>
            <a:r>
              <a:rPr lang="ko-KR" altLang="en-US" sz="2800" dirty="0"/>
              <a:t>를 이용한 작업</a:t>
            </a:r>
            <a:endParaRPr lang="en-US" altLang="ko-KR" sz="2800" dirty="0"/>
          </a:p>
          <a:p>
            <a:r>
              <a:rPr lang="ko-KR" altLang="en-US" sz="2800" dirty="0"/>
              <a:t>차트제작</a:t>
            </a:r>
          </a:p>
          <a:p>
            <a:r>
              <a:rPr lang="ko-KR" altLang="en-US" sz="2800" dirty="0"/>
              <a:t>편리한 수식계산</a:t>
            </a:r>
          </a:p>
          <a:p>
            <a:r>
              <a:rPr lang="ko-KR" altLang="en-US" sz="2800" dirty="0"/>
              <a:t>함수를 이용한 자료분석</a:t>
            </a:r>
          </a:p>
          <a:p>
            <a:r>
              <a:rPr lang="ko-KR" altLang="en-US" sz="2800" dirty="0"/>
              <a:t>독자적인 응용프로그램 개발기능</a:t>
            </a:r>
            <a:r>
              <a:rPr lang="en-US" altLang="ko-KR" sz="2800" dirty="0"/>
              <a:t>(</a:t>
            </a:r>
            <a:r>
              <a:rPr lang="ko-KR" altLang="en-US" sz="2800" dirty="0"/>
              <a:t>매크로</a:t>
            </a:r>
            <a:r>
              <a:rPr lang="en-US" altLang="ko-KR" sz="2800" dirty="0"/>
              <a:t>, macro)</a:t>
            </a:r>
          </a:p>
          <a:p>
            <a:r>
              <a:rPr lang="ko-KR" altLang="en-US" sz="2800" dirty="0"/>
              <a:t>엑셀을 웹에 연결</a:t>
            </a:r>
          </a:p>
          <a:p>
            <a:r>
              <a:rPr lang="ko-KR" altLang="en-US" sz="2800" dirty="0"/>
              <a:t>그림이나 클립아트 등 다양한 개체를 삽입</a:t>
            </a:r>
          </a:p>
          <a:p>
            <a:r>
              <a:rPr lang="ko-KR" altLang="en-US" sz="2800" dirty="0"/>
              <a:t>데이터베이스 기능</a:t>
            </a:r>
          </a:p>
          <a:p>
            <a:pPr eaLnBrk="1" hangingPunct="1"/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9996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33516"/>
            <a:ext cx="7772400" cy="762000"/>
          </a:xfrm>
        </p:spPr>
        <p:txBody>
          <a:bodyPr/>
          <a:lstStyle/>
          <a:p>
            <a:pPr algn="l" eaLnBrk="1" hangingPunct="1"/>
            <a:r>
              <a:rPr lang="en-US" altLang="ko-KR" sz="3200" dirty="0"/>
              <a:t>EXCEL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E3B0F0-7D9E-46EE-80BD-A8E029A37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4744"/>
            <a:ext cx="7596336" cy="531430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CC9D37F-8BDE-409D-8DF3-48F3802E2FE7}"/>
              </a:ext>
            </a:extLst>
          </p:cNvPr>
          <p:cNvSpPr/>
          <p:nvPr/>
        </p:nvSpPr>
        <p:spPr>
          <a:xfrm>
            <a:off x="6228184" y="6556811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https://wikidocs.net/230266 </a:t>
            </a:r>
            <a:r>
              <a:rPr lang="ko-KR" altLang="en-US" sz="1200" dirty="0"/>
              <a:t>인용</a:t>
            </a:r>
          </a:p>
        </p:txBody>
      </p:sp>
    </p:spTree>
    <p:extLst>
      <p:ext uri="{BB962C8B-B14F-4D97-AF65-F5344CB8AC3E}">
        <p14:creationId xmlns:p14="http://schemas.microsoft.com/office/powerpoint/2010/main" val="134508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33516"/>
            <a:ext cx="7772400" cy="762000"/>
          </a:xfrm>
        </p:spPr>
        <p:txBody>
          <a:bodyPr/>
          <a:lstStyle/>
          <a:p>
            <a:pPr algn="l" eaLnBrk="1" hangingPunct="1"/>
            <a:r>
              <a:rPr lang="en-US" altLang="ko-KR" sz="3200" dirty="0"/>
              <a:t>EXCEL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5516"/>
            <a:ext cx="8134672" cy="4648200"/>
          </a:xfrm>
        </p:spPr>
        <p:txBody>
          <a:bodyPr/>
          <a:lstStyle/>
          <a:p>
            <a:pPr eaLnBrk="1" hangingPunct="1"/>
            <a:r>
              <a:rPr lang="ko-KR" altLang="en-US" sz="2400" dirty="0"/>
              <a:t>통합문서</a:t>
            </a:r>
            <a:r>
              <a:rPr lang="en-US" altLang="ko-KR" sz="2400" dirty="0"/>
              <a:t>(</a:t>
            </a:r>
            <a:r>
              <a:rPr lang="ko-KR" altLang="en-US" sz="2400" dirty="0"/>
              <a:t>워크북</a:t>
            </a:r>
            <a:r>
              <a:rPr lang="en-US" altLang="ko-KR" sz="2400" dirty="0"/>
              <a:t>, workbook)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lvl="1" eaLnBrk="1" hangingPunct="1"/>
            <a:r>
              <a:rPr lang="ko-KR" altLang="en-US" sz="2000" dirty="0"/>
              <a:t>엑셀에서 자료를 입력</a:t>
            </a:r>
            <a:r>
              <a:rPr lang="en-US" altLang="ko-KR" sz="2000" dirty="0"/>
              <a:t>, </a:t>
            </a:r>
            <a:r>
              <a:rPr lang="ko-KR" altLang="en-US" sz="2000" dirty="0"/>
              <a:t>수정</a:t>
            </a:r>
            <a:r>
              <a:rPr lang="en-US" altLang="ko-KR" sz="2000" dirty="0"/>
              <a:t>, </a:t>
            </a:r>
            <a:r>
              <a:rPr lang="ko-KR" altLang="en-US" sz="2000" dirty="0"/>
              <a:t>추가</a:t>
            </a:r>
            <a:r>
              <a:rPr lang="en-US" altLang="ko-KR" sz="2000" dirty="0"/>
              <a:t>, </a:t>
            </a:r>
            <a:r>
              <a:rPr lang="ko-KR" altLang="en-US" sz="2000" dirty="0"/>
              <a:t>저장하여 만든 파일로 한 개 이상 시트</a:t>
            </a:r>
            <a:r>
              <a:rPr lang="en-US" altLang="ko-KR" sz="2000" dirty="0"/>
              <a:t>(sheet)</a:t>
            </a:r>
            <a:r>
              <a:rPr lang="ko-KR" altLang="en-US" sz="2000" dirty="0"/>
              <a:t>로 구성</a:t>
            </a:r>
            <a:endParaRPr lang="en-US" altLang="ko-KR" sz="2000" dirty="0"/>
          </a:p>
          <a:p>
            <a:pPr lvl="1" eaLnBrk="1" hangingPunct="1"/>
            <a:r>
              <a:rPr lang="ko-KR" altLang="en-US" sz="2000" dirty="0"/>
              <a:t>일반적인 엑셀 파일이다</a:t>
            </a:r>
            <a:r>
              <a:rPr lang="en-US" altLang="ko-KR" sz="2000" dirty="0"/>
              <a:t>. </a:t>
            </a:r>
            <a:r>
              <a:rPr lang="ko-KR" altLang="en-US" sz="2000" dirty="0"/>
              <a:t>파일 확장자는 </a:t>
            </a:r>
            <a:r>
              <a:rPr lang="en-US" altLang="ko-KR" sz="2000" dirty="0"/>
              <a:t>.xlsx</a:t>
            </a:r>
          </a:p>
          <a:p>
            <a:pPr eaLnBrk="1" hangingPunct="1"/>
            <a:r>
              <a:rPr lang="ko-KR" altLang="en-US" sz="2400" dirty="0"/>
              <a:t>시트</a:t>
            </a:r>
            <a:r>
              <a:rPr lang="en-US" altLang="ko-KR" sz="2400" dirty="0"/>
              <a:t>(sheet)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lvl="1" eaLnBrk="1" hangingPunct="1"/>
            <a:r>
              <a:rPr lang="ko-KR" altLang="en-US" sz="2000" dirty="0"/>
              <a:t>엑셀에서 최소 저장 단위인 셀</a:t>
            </a:r>
            <a:r>
              <a:rPr lang="en-US" altLang="ko-KR" sz="2000" dirty="0"/>
              <a:t>(cell)</a:t>
            </a:r>
            <a:r>
              <a:rPr lang="ko-KR" altLang="en-US" sz="2000" dirty="0"/>
              <a:t>이 모여서 이루어진 데이터들 집합체이며 엑셀의 저장 단위</a:t>
            </a:r>
            <a:endParaRPr lang="en-US" altLang="ko-KR" sz="2000" dirty="0"/>
          </a:p>
          <a:p>
            <a:r>
              <a:rPr lang="ko-KR" altLang="en-US" sz="2400" dirty="0"/>
              <a:t>셀</a:t>
            </a:r>
            <a:endParaRPr lang="en-US" altLang="ko-KR" sz="2400" dirty="0"/>
          </a:p>
          <a:p>
            <a:pPr lvl="1"/>
            <a:r>
              <a:rPr lang="ko-KR" altLang="en-US" sz="2000" dirty="0" err="1"/>
              <a:t>셀번지</a:t>
            </a:r>
            <a:r>
              <a:rPr lang="en-US" altLang="ko-KR" sz="2000" dirty="0"/>
              <a:t>: </a:t>
            </a:r>
            <a:r>
              <a:rPr lang="ko-KR" altLang="en-US" sz="2000" dirty="0"/>
              <a:t>현재 셀은 그 위치가 행과 열 형태로 셀 번지를 갖음</a:t>
            </a:r>
            <a:endParaRPr lang="en-US" altLang="ko-KR" sz="2000" dirty="0"/>
          </a:p>
          <a:p>
            <a:pPr lvl="2"/>
            <a:r>
              <a:rPr lang="ko-KR" altLang="en-US" sz="1600" dirty="0" err="1"/>
              <a:t>셀번지는</a:t>
            </a:r>
            <a:r>
              <a:rPr lang="ko-KR" altLang="en-US" sz="1600" dirty="0"/>
              <a:t> 열</a:t>
            </a:r>
            <a:r>
              <a:rPr lang="en-US" altLang="ko-KR" sz="1600" dirty="0"/>
              <a:t>(column)</a:t>
            </a:r>
            <a:r>
              <a:rPr lang="ko-KR" altLang="en-US" sz="1600" dirty="0"/>
              <a:t>이름과 행</a:t>
            </a:r>
            <a:r>
              <a:rPr lang="en-US" altLang="ko-KR" sz="1600" dirty="0"/>
              <a:t>(row)</a:t>
            </a:r>
            <a:r>
              <a:rPr lang="ko-KR" altLang="en-US" sz="1600" dirty="0"/>
              <a:t>이름이 결합되어 표현</a:t>
            </a:r>
            <a:r>
              <a:rPr lang="en-US" altLang="ko-KR" sz="1600" dirty="0"/>
              <a:t>:A1 </a:t>
            </a:r>
            <a:r>
              <a:rPr lang="ko-KR" altLang="en-US" sz="1600" dirty="0"/>
              <a:t>참조 스타일</a:t>
            </a:r>
            <a:endParaRPr lang="en-US" altLang="ko-KR" sz="1600" dirty="0"/>
          </a:p>
          <a:p>
            <a:pPr lvl="2"/>
            <a:r>
              <a:rPr lang="ko-KR" altLang="en-US" sz="1600" dirty="0"/>
              <a:t>이름상자에 표시됨</a:t>
            </a:r>
            <a:endParaRPr lang="en-US" altLang="ko-KR" sz="1600" dirty="0"/>
          </a:p>
          <a:p>
            <a:pPr lvl="1"/>
            <a:r>
              <a:rPr lang="ko-KR" altLang="en-US" sz="2000" dirty="0"/>
              <a:t>셀에 값을 입력하면 그 값은 크게 숫자</a:t>
            </a:r>
            <a:r>
              <a:rPr lang="en-US" altLang="ko-KR" sz="2000" dirty="0"/>
              <a:t>, </a:t>
            </a:r>
            <a:r>
              <a:rPr lang="ko-KR" altLang="en-US" sz="2000" dirty="0"/>
              <a:t>문자로 분류</a:t>
            </a:r>
            <a:endParaRPr lang="en-US" altLang="ko-KR" sz="2000" dirty="0"/>
          </a:p>
          <a:p>
            <a:pPr lvl="2"/>
            <a:r>
              <a:rPr lang="ko-KR" altLang="en-US" sz="1600" dirty="0"/>
              <a:t>분류 방법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입력값이</a:t>
            </a:r>
            <a:r>
              <a:rPr lang="ko-KR" altLang="en-US" sz="1600" dirty="0"/>
              <a:t> 오른쪽 맞춤이면 숫자로 왼쪽 맞춤이면 문자로 인식</a:t>
            </a:r>
            <a:r>
              <a:rPr lang="en-US" altLang="ko-KR" sz="1600" dirty="0"/>
              <a:t>.</a:t>
            </a:r>
          </a:p>
          <a:p>
            <a:pPr eaLnBrk="1" hangingPunct="1"/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88390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40420" y="0"/>
            <a:ext cx="7772400" cy="588108"/>
          </a:xfrm>
        </p:spPr>
        <p:txBody>
          <a:bodyPr/>
          <a:lstStyle/>
          <a:p>
            <a:pPr algn="l" eaLnBrk="1" hangingPunct="1"/>
            <a:r>
              <a:rPr lang="ko-KR" altLang="en-US" sz="3200" dirty="0" err="1"/>
              <a:t>셀연산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3827" y="619222"/>
            <a:ext cx="8216346" cy="46482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셀에 수식을 입력하여 연산</a:t>
            </a:r>
            <a:r>
              <a:rPr lang="en-US" altLang="ko-KR" sz="2800" dirty="0"/>
              <a:t>:</a:t>
            </a:r>
            <a:r>
              <a:rPr lang="ko-KR" altLang="en-US" sz="2800" dirty="0"/>
              <a:t> 셀에서 연산 실행은 </a:t>
            </a:r>
            <a:r>
              <a:rPr lang="ko-KR" altLang="en-US" sz="2800" u="sng" dirty="0">
                <a:solidFill>
                  <a:srgbClr val="FF0000"/>
                </a:solidFill>
              </a:rPr>
              <a:t>맨 처음 등호</a:t>
            </a:r>
            <a:r>
              <a:rPr lang="en-US" altLang="ko-KR" sz="2800" u="sng" dirty="0">
                <a:solidFill>
                  <a:srgbClr val="FF0000"/>
                </a:solidFill>
              </a:rPr>
              <a:t>(=)</a:t>
            </a:r>
            <a:r>
              <a:rPr lang="ko-KR" altLang="en-US" sz="2800" u="sng" dirty="0">
                <a:solidFill>
                  <a:srgbClr val="FF0000"/>
                </a:solidFill>
              </a:rPr>
              <a:t>를 입력</a:t>
            </a:r>
            <a:r>
              <a:rPr lang="ko-KR" altLang="en-US" sz="2800" dirty="0"/>
              <a:t>하고 이후 식을 입력</a:t>
            </a:r>
            <a:endParaRPr lang="en-US" altLang="ko-KR" sz="2800" dirty="0"/>
          </a:p>
          <a:p>
            <a:pPr eaLnBrk="1" hangingPunct="1"/>
            <a:r>
              <a:rPr lang="ko-KR" altLang="en-US" sz="2800" dirty="0"/>
              <a:t>연산자 종류</a:t>
            </a:r>
            <a:endParaRPr lang="en-US" altLang="ko-KR" sz="2800" dirty="0"/>
          </a:p>
          <a:p>
            <a:pPr lvl="1" eaLnBrk="1" hangingPunct="1"/>
            <a:r>
              <a:rPr lang="ko-KR" altLang="en-US" sz="2300" dirty="0"/>
              <a:t>산술 연산자</a:t>
            </a:r>
            <a:r>
              <a:rPr lang="en-US" altLang="ko-KR" sz="2300" dirty="0"/>
              <a:t>, </a:t>
            </a:r>
            <a:r>
              <a:rPr lang="ko-KR" altLang="en-US" sz="2300" dirty="0"/>
              <a:t>비교 연산자</a:t>
            </a:r>
            <a:r>
              <a:rPr lang="en-US" altLang="ko-KR" sz="2300" dirty="0"/>
              <a:t>, </a:t>
            </a:r>
            <a:r>
              <a:rPr lang="ko-KR" altLang="en-US" sz="2300" dirty="0"/>
              <a:t>텍스트 연산자</a:t>
            </a:r>
            <a:r>
              <a:rPr lang="en-US" altLang="ko-KR" sz="2300" dirty="0"/>
              <a:t>, </a:t>
            </a:r>
            <a:r>
              <a:rPr lang="ko-KR" altLang="en-US" sz="2300" dirty="0"/>
              <a:t>참조 연산자</a:t>
            </a:r>
            <a:endParaRPr lang="en-US" altLang="ko-KR" sz="23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750A3C-7844-44D9-B32B-12BF1E800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20" y="2630928"/>
            <a:ext cx="3096883" cy="397011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54F494-47FD-404E-BF81-4D101DDD40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696" y="2633210"/>
            <a:ext cx="3620005" cy="369621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F113A08-6FB9-4F1D-864F-D09A113E9328}"/>
              </a:ext>
            </a:extLst>
          </p:cNvPr>
          <p:cNvSpPr/>
          <p:nvPr/>
        </p:nvSpPr>
        <p:spPr>
          <a:xfrm>
            <a:off x="3822639" y="6289973"/>
            <a:ext cx="53213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24292F"/>
                </a:solidFill>
                <a:latin typeface="+mn-lt"/>
              </a:rPr>
              <a:t>- 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두 개 이상 논리값을 비교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. 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결과는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TRUE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와 </a:t>
            </a:r>
            <a:r>
              <a:rPr lang="en-US" altLang="ko-KR" sz="1600" b="1" dirty="0">
                <a:solidFill>
                  <a:srgbClr val="24292F"/>
                </a:solidFill>
                <a:latin typeface="Noto Sans KR"/>
              </a:rPr>
              <a:t>FALSE </a:t>
            </a:r>
            <a:r>
              <a:rPr lang="ko-KR" altLang="en-US" sz="1600" b="1" dirty="0">
                <a:solidFill>
                  <a:srgbClr val="24292F"/>
                </a:solidFill>
                <a:latin typeface="Noto Sans KR"/>
              </a:rPr>
              <a:t>중 하나</a:t>
            </a:r>
            <a:endParaRPr lang="en-US" altLang="ko-KR" sz="1600" b="1" dirty="0">
              <a:solidFill>
                <a:srgbClr val="24292F"/>
              </a:solidFill>
              <a:latin typeface="Noto Sans KR"/>
            </a:endParaRPr>
          </a:p>
          <a:p>
            <a:r>
              <a:rPr lang="en-US" altLang="ko-KR" sz="1600" b="1" dirty="0"/>
              <a:t>- </a:t>
            </a:r>
            <a:r>
              <a:rPr lang="ko-KR" altLang="en-US" sz="1600" b="1" dirty="0"/>
              <a:t>피연산자는 셀 번지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숫자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문자 등을 사용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AC41A0-F190-4B4E-9F7A-B3C44D4B0F23}"/>
              </a:ext>
            </a:extLst>
          </p:cNvPr>
          <p:cNvSpPr/>
          <p:nvPr/>
        </p:nvSpPr>
        <p:spPr>
          <a:xfrm>
            <a:off x="6300192" y="73900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https://wikidocs.net/230266 </a:t>
            </a:r>
            <a:r>
              <a:rPr lang="ko-KR" altLang="en-US" sz="1200" dirty="0"/>
              <a:t>인용</a:t>
            </a:r>
          </a:p>
        </p:txBody>
      </p:sp>
    </p:spTree>
    <p:extLst>
      <p:ext uri="{BB962C8B-B14F-4D97-AF65-F5344CB8AC3E}">
        <p14:creationId xmlns:p14="http://schemas.microsoft.com/office/powerpoint/2010/main" val="53566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3304" y="188640"/>
            <a:ext cx="7772400" cy="340733"/>
          </a:xfrm>
        </p:spPr>
        <p:txBody>
          <a:bodyPr/>
          <a:lstStyle/>
          <a:p>
            <a:pPr algn="l" eaLnBrk="1" hangingPunct="1"/>
            <a:r>
              <a:rPr lang="ko-KR" altLang="en-US" sz="3200" dirty="0" err="1"/>
              <a:t>셀연산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474" y="692696"/>
            <a:ext cx="8134672" cy="46482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텍스트 연산자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여러 텍스트를 결합에 사용</a:t>
            </a:r>
            <a:endParaRPr lang="en-US" altLang="ko-KR" sz="2400" dirty="0"/>
          </a:p>
          <a:p>
            <a:pPr lvl="1" eaLnBrk="1" hangingPunct="1"/>
            <a:r>
              <a:rPr lang="ko-KR" altLang="en-US" sz="2400" dirty="0"/>
              <a:t>텍스트 연산자 기호는 </a:t>
            </a:r>
            <a:r>
              <a:rPr lang="en-US" altLang="ko-KR" sz="2400" dirty="0"/>
              <a:t>&amp;</a:t>
            </a:r>
          </a:p>
          <a:p>
            <a:pPr lvl="1" eaLnBrk="1" hangingPunct="1"/>
            <a:endParaRPr lang="en-US" altLang="ko-KR" sz="2400" dirty="0"/>
          </a:p>
          <a:p>
            <a:pPr lvl="1" eaLnBrk="1" hangingPunct="1"/>
            <a:endParaRPr lang="en-US" altLang="ko-KR" sz="2400" dirty="0"/>
          </a:p>
          <a:p>
            <a:pPr lvl="1" eaLnBrk="1" hangingPunct="1"/>
            <a:endParaRPr lang="en-US" altLang="ko-KR" sz="2400" dirty="0"/>
          </a:p>
          <a:p>
            <a:pPr eaLnBrk="1" hangingPunct="1"/>
            <a:r>
              <a:rPr lang="ko-KR" altLang="en-US" sz="2800" dirty="0"/>
              <a:t>참조 연산자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여러 셀을 참조하여 연산 실행에서 사용</a:t>
            </a:r>
            <a:r>
              <a:rPr lang="en-US" altLang="ko-KR" sz="2400" dirty="0"/>
              <a:t> </a:t>
            </a:r>
          </a:p>
          <a:p>
            <a:pPr lvl="1" eaLnBrk="1" hangingPunct="1"/>
            <a:r>
              <a:rPr lang="ko-KR" altLang="en-US" sz="2400" dirty="0"/>
              <a:t>참조 연산자는 콜론</a:t>
            </a:r>
            <a:r>
              <a:rPr lang="en-US" altLang="ko-KR" sz="2400" dirty="0"/>
              <a:t>(:)</a:t>
            </a:r>
            <a:r>
              <a:rPr lang="ko-KR" altLang="en-US" sz="2400" dirty="0"/>
              <a:t>와 </a:t>
            </a:r>
            <a:r>
              <a:rPr lang="ko-KR" altLang="en-US" sz="2400" dirty="0" err="1"/>
              <a:t>컴마</a:t>
            </a:r>
            <a:r>
              <a:rPr lang="en-US" altLang="ko-KR" sz="2400" dirty="0"/>
              <a:t>(,)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3A4A44-0FB9-4720-A75C-55CA13563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4" y="2348880"/>
            <a:ext cx="7772400" cy="9043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78728C-5AF9-4613-B2B3-D79173042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4" y="5035872"/>
            <a:ext cx="7772400" cy="120593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500DBC-D3C6-404C-A312-BEE3407D33B8}"/>
              </a:ext>
            </a:extLst>
          </p:cNvPr>
          <p:cNvSpPr/>
          <p:nvPr/>
        </p:nvSpPr>
        <p:spPr>
          <a:xfrm>
            <a:off x="6156176" y="6513448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https://wikidocs.net/230266 </a:t>
            </a:r>
            <a:r>
              <a:rPr lang="ko-KR" altLang="en-US" sz="1200" dirty="0"/>
              <a:t>인용</a:t>
            </a:r>
          </a:p>
        </p:txBody>
      </p:sp>
    </p:spTree>
    <p:extLst>
      <p:ext uri="{BB962C8B-B14F-4D97-AF65-F5344CB8AC3E}">
        <p14:creationId xmlns:p14="http://schemas.microsoft.com/office/powerpoint/2010/main" val="180731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684" y="0"/>
            <a:ext cx="7772400" cy="762000"/>
          </a:xfrm>
        </p:spPr>
        <p:txBody>
          <a:bodyPr/>
          <a:lstStyle/>
          <a:p>
            <a:pPr algn="l" eaLnBrk="1" hangingPunct="1"/>
            <a:r>
              <a:rPr lang="ko-KR" altLang="en-US" sz="3200" dirty="0"/>
              <a:t>셀 채우기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823085"/>
            <a:ext cx="8280920" cy="46482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자동으로 데이터의 감소</a:t>
            </a:r>
            <a:r>
              <a:rPr lang="en-US" altLang="ko-KR" sz="2800" dirty="0"/>
              <a:t>/</a:t>
            </a:r>
            <a:r>
              <a:rPr lang="ko-KR" altLang="en-US" sz="2800" dirty="0"/>
              <a:t>증가 값을 계산하여 인접된 셀에 적용</a:t>
            </a:r>
            <a:endParaRPr lang="en-US" altLang="ko-KR" sz="2800" dirty="0"/>
          </a:p>
          <a:p>
            <a:pPr lvl="1" eaLnBrk="1" hangingPunct="1"/>
            <a:r>
              <a:rPr lang="ko-KR" altLang="en-US" sz="2400" b="1" dirty="0"/>
              <a:t>채우기 핸들</a:t>
            </a:r>
            <a:r>
              <a:rPr lang="ko-KR" altLang="en-US" sz="2400" dirty="0"/>
              <a:t>에 마우스 포인터를 놓고 </a:t>
            </a:r>
            <a:r>
              <a:rPr lang="en-US" altLang="ko-KR" sz="2400" dirty="0"/>
              <a:t>“</a:t>
            </a:r>
            <a:r>
              <a:rPr lang="ko-KR" altLang="en-US" sz="2400" dirty="0"/>
              <a:t>마우스 끌기</a:t>
            </a:r>
            <a:r>
              <a:rPr lang="en-US" altLang="ko-KR" sz="2400" dirty="0"/>
              <a:t>”</a:t>
            </a:r>
            <a:r>
              <a:rPr lang="ko-KR" altLang="en-US" sz="2400" dirty="0"/>
              <a:t>나 </a:t>
            </a:r>
            <a:r>
              <a:rPr lang="en-US" altLang="ko-KR" sz="2400" dirty="0"/>
              <a:t>“</a:t>
            </a:r>
            <a:r>
              <a:rPr lang="ko-KR" altLang="en-US" sz="2400" dirty="0"/>
              <a:t>더블 클릭</a:t>
            </a:r>
            <a:r>
              <a:rPr lang="en-US" altLang="ko-KR" sz="2400" dirty="0"/>
              <a:t>”</a:t>
            </a:r>
            <a:r>
              <a:rPr lang="ko-KR" altLang="en-US" sz="2400" dirty="0"/>
              <a:t>을 실행</a:t>
            </a:r>
            <a:endParaRPr lang="en-US" altLang="ko-KR" sz="2400" dirty="0"/>
          </a:p>
          <a:p>
            <a:pPr lvl="1"/>
            <a:r>
              <a:rPr lang="ko-KR" altLang="en-US" sz="2400" dirty="0"/>
              <a:t>숫자</a:t>
            </a:r>
            <a:r>
              <a:rPr lang="en-US" altLang="ko-KR" sz="2400" dirty="0"/>
              <a:t>, </a:t>
            </a:r>
            <a:r>
              <a:rPr lang="ko-KR" altLang="en-US" sz="2400" dirty="0"/>
              <a:t>날짜</a:t>
            </a:r>
            <a:r>
              <a:rPr lang="en-US" altLang="ko-KR" sz="2400" dirty="0"/>
              <a:t>, </a:t>
            </a:r>
            <a:r>
              <a:rPr lang="ko-KR" altLang="en-US" sz="2400" dirty="0"/>
              <a:t>기타 항목 연속 데이터 채우기</a:t>
            </a:r>
            <a:endParaRPr lang="en-US" altLang="ko-KR" sz="2400" dirty="0"/>
          </a:p>
          <a:p>
            <a:r>
              <a:rPr lang="ko-KR" altLang="en-US" sz="2800" dirty="0"/>
              <a:t>연속 데이터 채우기</a:t>
            </a:r>
            <a:endParaRPr lang="en-US" altLang="ko-KR" sz="2800" dirty="0"/>
          </a:p>
          <a:p>
            <a:pPr lvl="1"/>
            <a:r>
              <a:rPr lang="ko-KR" altLang="en-US" sz="2400" b="1" dirty="0"/>
              <a:t>연속 데이터</a:t>
            </a:r>
            <a:r>
              <a:rPr lang="ko-KR" altLang="en-US" sz="2400" dirty="0"/>
              <a:t>는 왼쪽</a:t>
            </a:r>
            <a:r>
              <a:rPr lang="en-US" altLang="ko-KR" sz="2400" dirty="0"/>
              <a:t>, </a:t>
            </a:r>
            <a:r>
              <a:rPr lang="ko-KR" altLang="en-US" sz="2400" dirty="0"/>
              <a:t>오른쪽</a:t>
            </a:r>
            <a:r>
              <a:rPr lang="en-US" altLang="ko-KR" sz="2400" dirty="0"/>
              <a:t>, </a:t>
            </a:r>
            <a:r>
              <a:rPr lang="ko-KR" altLang="en-US" sz="2400" dirty="0"/>
              <a:t>위 쪽</a:t>
            </a:r>
            <a:r>
              <a:rPr lang="en-US" altLang="ko-KR" sz="2400" dirty="0"/>
              <a:t>, </a:t>
            </a:r>
            <a:r>
              <a:rPr lang="ko-KR" altLang="en-US" sz="2400" dirty="0"/>
              <a:t>아래 쪽 방향으로 채우기를 적용</a:t>
            </a:r>
            <a:endParaRPr lang="en-US" altLang="ko-KR" sz="2400" dirty="0"/>
          </a:p>
          <a:p>
            <a:pPr lvl="1"/>
            <a:r>
              <a:rPr lang="ko-KR" altLang="en-US" sz="2400" b="1" dirty="0"/>
              <a:t>연속 데이터</a:t>
            </a:r>
            <a:r>
              <a:rPr lang="ko-KR" altLang="en-US" sz="2400" dirty="0"/>
              <a:t> 설정은 첫 셀에 시작 값을 입력하고 채우기가 적용될 방향으로 일정한 차이 값을 입력</a:t>
            </a:r>
            <a:endParaRPr lang="en-US" altLang="ko-KR" sz="2400" dirty="0"/>
          </a:p>
          <a:p>
            <a:pPr lvl="1"/>
            <a:r>
              <a:rPr lang="ko-KR" altLang="en-US" sz="2400" dirty="0"/>
              <a:t>두 셀 값의 차가 연속 데이터의 증</a:t>
            </a:r>
            <a:r>
              <a:rPr lang="en-US" altLang="ko-KR" sz="2400" dirty="0"/>
              <a:t>·</a:t>
            </a:r>
            <a:r>
              <a:rPr lang="ko-KR" altLang="en-US" sz="2400" dirty="0" err="1"/>
              <a:t>감값이</a:t>
            </a:r>
            <a:r>
              <a:rPr lang="ko-KR" altLang="en-US" sz="2400" dirty="0"/>
              <a:t> 됨</a:t>
            </a:r>
            <a:endParaRPr lang="en-US" altLang="ko-KR" sz="2400" dirty="0"/>
          </a:p>
          <a:p>
            <a:pPr lvl="1"/>
            <a:r>
              <a:rPr lang="ko-KR" altLang="en-US" sz="2400" dirty="0"/>
              <a:t>시작 값이 있는 셀과 증감치를 적용할 셀을 선택</a:t>
            </a:r>
            <a:endParaRPr lang="en-US" altLang="ko-KR" sz="2400" dirty="0"/>
          </a:p>
          <a:p>
            <a:pPr lvl="1"/>
            <a:r>
              <a:rPr lang="ko-KR" altLang="en-US" sz="2400" dirty="0"/>
              <a:t>선택된 셀의 채우기 핸들 포인터에서 연속 데이터 채우기가 적용될 방향의 범위까지 마우스로 드래그</a:t>
            </a:r>
            <a:endParaRPr lang="en-US" altLang="ko-KR" sz="2400" dirty="0"/>
          </a:p>
          <a:p>
            <a:pPr lvl="2"/>
            <a:endParaRPr lang="ko-KR" altLang="en-US" sz="2000" dirty="0"/>
          </a:p>
          <a:p>
            <a:pPr lvl="1" eaLnBrk="1" hangingPunct="1"/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E71A53-DAF7-4479-AA79-E704FC9AE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0"/>
            <a:ext cx="2753109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9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88640"/>
            <a:ext cx="7772400" cy="603196"/>
          </a:xfrm>
        </p:spPr>
        <p:txBody>
          <a:bodyPr/>
          <a:lstStyle/>
          <a:p>
            <a:pPr algn="l" eaLnBrk="1" hangingPunct="1"/>
            <a:r>
              <a:rPr lang="ko-KR" altLang="en-US" sz="3200"/>
              <a:t>참조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664" y="908720"/>
            <a:ext cx="8134672" cy="46482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워크시트의 셀이나 셀 범위를 셀의 주소로 지정하고</a:t>
            </a:r>
            <a:r>
              <a:rPr lang="en-US" altLang="ko-KR" sz="2800" dirty="0"/>
              <a:t>, </a:t>
            </a:r>
            <a:r>
              <a:rPr lang="ko-KR" altLang="en-US" sz="2800" dirty="0"/>
              <a:t>수식에서 셀의 주소에 있는 데이터를 불러와서 사용할 수 있게 함</a:t>
            </a:r>
            <a:r>
              <a:rPr lang="en-US" altLang="ko-KR" sz="2800" dirty="0"/>
              <a:t>.</a:t>
            </a:r>
          </a:p>
          <a:p>
            <a:pPr eaLnBrk="1" hangingPunct="1"/>
            <a:r>
              <a:rPr lang="ko-KR" altLang="en-US" sz="2800" dirty="0"/>
              <a:t>방법</a:t>
            </a:r>
            <a:r>
              <a:rPr lang="en-US" altLang="ko-KR" sz="2800" dirty="0"/>
              <a:t>: </a:t>
            </a:r>
            <a:r>
              <a:rPr lang="ko-KR" altLang="en-US" sz="2800" dirty="0" err="1"/>
              <a:t>상대참조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절대참조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혼합참조</a:t>
            </a:r>
            <a:endParaRPr lang="en-US" altLang="ko-KR" sz="2800" dirty="0"/>
          </a:p>
          <a:p>
            <a:pPr lvl="1"/>
            <a:r>
              <a:rPr lang="ko-KR" altLang="en-US" sz="2400" b="1" dirty="0"/>
              <a:t>상대 참조</a:t>
            </a:r>
            <a:r>
              <a:rPr lang="ko-KR" altLang="en-US" sz="2400" dirty="0"/>
              <a:t>는 참조할 셀 범위가 상대적인 셀 주소</a:t>
            </a:r>
            <a:endParaRPr lang="en-US" altLang="ko-KR" sz="2400" dirty="0"/>
          </a:p>
          <a:p>
            <a:pPr lvl="2"/>
            <a:r>
              <a:rPr lang="ko-KR" altLang="en-US" sz="2000" dirty="0"/>
              <a:t>현재 셀을 기준으로 좌</a:t>
            </a:r>
            <a:r>
              <a:rPr lang="en-US" altLang="ko-KR" sz="2000" dirty="0"/>
              <a:t>, </a:t>
            </a:r>
            <a:r>
              <a:rPr lang="ko-KR" altLang="en-US" sz="2000" dirty="0"/>
              <a:t>우로 몇 번째 앞</a:t>
            </a:r>
            <a:r>
              <a:rPr lang="en-US" altLang="ko-KR" sz="2000" dirty="0"/>
              <a:t>, </a:t>
            </a:r>
            <a:r>
              <a:rPr lang="ko-KR" altLang="en-US" sz="2000" dirty="0"/>
              <a:t>뒤 몇 번째에 해당되는지를 참조</a:t>
            </a:r>
            <a:endParaRPr lang="en-US" altLang="ko-KR" sz="2000" dirty="0"/>
          </a:p>
          <a:p>
            <a:pPr lvl="2"/>
            <a:r>
              <a:rPr lang="ko-KR" altLang="en-US" sz="2000" b="1" dirty="0"/>
              <a:t>상대 참조</a:t>
            </a:r>
            <a:r>
              <a:rPr lang="ko-KR" altLang="en-US" sz="2000" dirty="0"/>
              <a:t> 값을 자동 채우기하면 셀 주소가 증가 또는 감소한다</a:t>
            </a:r>
            <a:r>
              <a:rPr lang="en-US" altLang="ko-KR" sz="2000" dirty="0"/>
              <a:t>. </a:t>
            </a:r>
            <a:r>
              <a:rPr lang="ko-KR" altLang="en-US" sz="2000" dirty="0" err="1"/>
              <a:t>상대참조는</a:t>
            </a:r>
            <a:r>
              <a:rPr lang="ko-KR" altLang="en-US" sz="2000" dirty="0"/>
              <a:t> </a:t>
            </a:r>
            <a:r>
              <a:rPr lang="en-US" altLang="ko-KR" sz="2000" dirty="0"/>
              <a:t>A1</a:t>
            </a:r>
            <a:r>
              <a:rPr lang="ko-KR" altLang="en-US" sz="2000" dirty="0"/>
              <a:t>과 같이 설정한다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400" b="1" dirty="0"/>
              <a:t>절대 참조</a:t>
            </a:r>
            <a:r>
              <a:rPr lang="ko-KR" altLang="en-US" sz="2400" dirty="0"/>
              <a:t>는 셀 범위가 절대로 변하지 않는 셀 주소</a:t>
            </a:r>
            <a:endParaRPr lang="en-US" altLang="ko-KR" sz="2400" dirty="0"/>
          </a:p>
          <a:p>
            <a:pPr lvl="2"/>
            <a:r>
              <a:rPr lang="ko-KR" altLang="en-US" sz="2000" dirty="0"/>
              <a:t>셀의 절대적인 위치 참조로</a:t>
            </a:r>
            <a:r>
              <a:rPr lang="en-US" altLang="ko-KR" sz="2000" dirty="0"/>
              <a:t>,</a:t>
            </a:r>
            <a:r>
              <a:rPr lang="ko-KR" altLang="en-US" sz="2000" dirty="0"/>
              <a:t> 자동 채우기나 연속 데이터를 실행할 때 참조하는 셀 위치가 변하지 않음</a:t>
            </a:r>
            <a:r>
              <a:rPr lang="en-US" altLang="ko-KR" sz="2000" dirty="0"/>
              <a:t> </a:t>
            </a:r>
          </a:p>
          <a:p>
            <a:pPr lvl="2"/>
            <a:r>
              <a:rPr lang="ko-KR" altLang="en-US" sz="2000" b="1" dirty="0"/>
              <a:t>절대 참조</a:t>
            </a:r>
            <a:r>
              <a:rPr lang="ko-KR" altLang="en-US" sz="2000" dirty="0"/>
              <a:t> 설정은 셀 행과 열 앞에 </a:t>
            </a:r>
            <a:r>
              <a:rPr lang="en-US" altLang="ko-KR" sz="2000" dirty="0"/>
              <a:t>$ </a:t>
            </a:r>
            <a:r>
              <a:rPr lang="ko-KR" altLang="en-US" sz="2000" dirty="0"/>
              <a:t>기호를 붙인다</a:t>
            </a:r>
            <a:r>
              <a:rPr lang="en-US" altLang="ko-KR" sz="2000" dirty="0"/>
              <a:t>. </a:t>
            </a:r>
            <a:r>
              <a:rPr lang="ko-KR" altLang="en-US" sz="2000" dirty="0"/>
              <a:t>예를 들어 </a:t>
            </a:r>
            <a:r>
              <a:rPr lang="ko-KR" altLang="en-US" sz="2000" b="1" dirty="0"/>
              <a:t>절대 참조</a:t>
            </a:r>
            <a:r>
              <a:rPr lang="ko-KR" altLang="en-US" sz="2000" dirty="0"/>
              <a:t>는 </a:t>
            </a:r>
            <a:r>
              <a:rPr lang="en-US" altLang="ko-KR" sz="2000" dirty="0"/>
              <a:t>$A$1</a:t>
            </a:r>
            <a:r>
              <a:rPr lang="ko-KR" altLang="en-US" sz="2000" dirty="0"/>
              <a:t>과 같이 설정</a:t>
            </a:r>
            <a:r>
              <a:rPr lang="en-US" altLang="ko-KR" sz="2000" dirty="0"/>
              <a:t>.</a:t>
            </a:r>
          </a:p>
          <a:p>
            <a:pPr marL="0" indent="0" eaLnBrk="1" hangingPunct="1">
              <a:buNone/>
            </a:pPr>
            <a:endParaRPr lang="ko-KR" altLang="en-US" sz="2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CF5A80-FC17-44CB-A068-4F39DC7DEE93}"/>
              </a:ext>
            </a:extLst>
          </p:cNvPr>
          <p:cNvSpPr/>
          <p:nvPr/>
        </p:nvSpPr>
        <p:spPr>
          <a:xfrm>
            <a:off x="6228184" y="6403751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https://wikidocs.net/230266 </a:t>
            </a:r>
            <a:r>
              <a:rPr lang="ko-KR" altLang="en-US" sz="1200" dirty="0"/>
              <a:t>인용</a:t>
            </a:r>
          </a:p>
        </p:txBody>
      </p:sp>
    </p:spTree>
    <p:extLst>
      <p:ext uri="{BB962C8B-B14F-4D97-AF65-F5344CB8AC3E}">
        <p14:creationId xmlns:p14="http://schemas.microsoft.com/office/powerpoint/2010/main" val="98823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24206" y="95017"/>
            <a:ext cx="7772400" cy="531188"/>
          </a:xfrm>
        </p:spPr>
        <p:txBody>
          <a:bodyPr/>
          <a:lstStyle/>
          <a:p>
            <a:pPr algn="l" eaLnBrk="1" hangingPunct="1"/>
            <a:r>
              <a:rPr lang="ko-KR" altLang="en-US" sz="3200" dirty="0"/>
              <a:t>함수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66" y="589470"/>
            <a:ext cx="8134672" cy="46482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입력방식</a:t>
            </a:r>
            <a:r>
              <a:rPr lang="en-US" altLang="ko-KR" sz="2800" dirty="0"/>
              <a:t>: =</a:t>
            </a:r>
            <a:r>
              <a:rPr lang="ko-KR" altLang="en-US" sz="2800" dirty="0"/>
              <a:t>함수이름</a:t>
            </a:r>
            <a:r>
              <a:rPr lang="en-US" altLang="ko-KR" sz="2800" dirty="0"/>
              <a:t>(</a:t>
            </a:r>
            <a:r>
              <a:rPr lang="ko-KR" altLang="en-US" sz="2800" dirty="0"/>
              <a:t>인수</a:t>
            </a:r>
            <a:r>
              <a:rPr lang="en-US" altLang="ko-KR" sz="2800" dirty="0"/>
              <a:t>1, </a:t>
            </a:r>
            <a:r>
              <a:rPr lang="ko-KR" altLang="en-US" sz="2800" dirty="0"/>
              <a:t>인수</a:t>
            </a:r>
            <a:r>
              <a:rPr lang="en-US" altLang="ko-KR" sz="2800" dirty="0"/>
              <a:t>2,…) </a:t>
            </a:r>
            <a:r>
              <a:rPr lang="ko-KR" altLang="en-US" sz="2800" dirty="0"/>
              <a:t>혹은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인수</a:t>
            </a:r>
            <a:r>
              <a:rPr lang="en-US" altLang="ko-KR" sz="2400" dirty="0"/>
              <a:t>: </a:t>
            </a:r>
            <a:r>
              <a:rPr lang="ko-KR" altLang="en-US" sz="2400" dirty="0"/>
              <a:t>셀 주소</a:t>
            </a:r>
            <a:r>
              <a:rPr lang="en-US" altLang="ko-KR" sz="2400" dirty="0"/>
              <a:t>, </a:t>
            </a:r>
            <a:r>
              <a:rPr lang="ko-KR" altLang="en-US" sz="2400" dirty="0"/>
              <a:t>수식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함수식</a:t>
            </a:r>
            <a:r>
              <a:rPr lang="en-US" altLang="ko-KR" sz="2400" dirty="0"/>
              <a:t>, </a:t>
            </a:r>
            <a:r>
              <a:rPr lang="ko-KR" altLang="en-US" sz="2400" dirty="0"/>
              <a:t>숫자</a:t>
            </a:r>
            <a:r>
              <a:rPr lang="en-US" altLang="ko-KR" sz="2400" dirty="0"/>
              <a:t>, </a:t>
            </a:r>
            <a:r>
              <a:rPr lang="ko-KR" altLang="en-US" sz="2400" dirty="0"/>
              <a:t>문자</a:t>
            </a:r>
            <a:r>
              <a:rPr lang="en-US" altLang="ko-KR" sz="2400" dirty="0"/>
              <a:t>(“” “” </a:t>
            </a:r>
            <a:r>
              <a:rPr lang="ko-KR" altLang="en-US" sz="2400" dirty="0"/>
              <a:t>사용</a:t>
            </a:r>
            <a:r>
              <a:rPr lang="en-US" altLang="ko-KR" sz="2400" dirty="0"/>
              <a:t>)</a:t>
            </a:r>
          </a:p>
          <a:p>
            <a:pPr eaLnBrk="1" hangingPunct="1"/>
            <a:r>
              <a:rPr lang="ko-KR" altLang="en-US" sz="2800" dirty="0"/>
              <a:t>논리함수</a:t>
            </a:r>
            <a:endParaRPr lang="en-US" altLang="ko-KR" sz="2800" dirty="0"/>
          </a:p>
          <a:p>
            <a:pPr lvl="1" eaLnBrk="1" hangingPunct="1"/>
            <a:r>
              <a:rPr lang="en-US" altLang="ko-KR" sz="2400" dirty="0"/>
              <a:t>TRUE, FALSE</a:t>
            </a:r>
          </a:p>
          <a:p>
            <a:pPr lvl="2" eaLnBrk="1" hangingPunct="1"/>
            <a:r>
              <a:rPr lang="ko-KR" altLang="en-US" sz="2000" dirty="0"/>
              <a:t> 함수로 사용하기 보다는 값을 셀에 입력하여 사용</a:t>
            </a:r>
            <a:endParaRPr lang="en-US" altLang="ko-KR" sz="2000" dirty="0"/>
          </a:p>
          <a:p>
            <a:pPr lvl="1" eaLnBrk="1" hangingPunct="1"/>
            <a:r>
              <a:rPr lang="en-US" altLang="ko-KR" sz="2400" dirty="0"/>
              <a:t>AND</a:t>
            </a:r>
          </a:p>
          <a:p>
            <a:pPr lvl="2" eaLnBrk="1" hangingPunct="1"/>
            <a:r>
              <a:rPr lang="ko-KR" altLang="en-US" sz="2000" dirty="0"/>
              <a:t>인수의 논리값이 모두 </a:t>
            </a:r>
            <a:r>
              <a:rPr lang="en-US" altLang="ko-KR" sz="2000" dirty="0"/>
              <a:t>TRUE</a:t>
            </a:r>
            <a:r>
              <a:rPr lang="ko-KR" altLang="en-US" sz="2000" dirty="0"/>
              <a:t>이면 결과가 </a:t>
            </a:r>
            <a:r>
              <a:rPr lang="en-US" altLang="ko-KR" sz="2000" dirty="0"/>
              <a:t>TRUE</a:t>
            </a:r>
            <a:r>
              <a:rPr lang="ko-KR" altLang="en-US" sz="2000" dirty="0"/>
              <a:t>이고 하나라도 </a:t>
            </a:r>
            <a:r>
              <a:rPr lang="en-US" altLang="ko-KR" sz="2000" dirty="0"/>
              <a:t>FALSE </a:t>
            </a:r>
            <a:r>
              <a:rPr lang="ko-KR" altLang="en-US" sz="2000" dirty="0"/>
              <a:t>이면 결과가 </a:t>
            </a:r>
            <a:r>
              <a:rPr lang="en-US" altLang="ko-KR" sz="2000" dirty="0"/>
              <a:t>FALSE</a:t>
            </a:r>
          </a:p>
          <a:p>
            <a:pPr lvl="2" eaLnBrk="1" hangingPunct="1"/>
            <a:r>
              <a:rPr lang="en-US" altLang="ko-KR" sz="2000" dirty="0"/>
              <a:t>=AND(logical1, logical2, ...) </a:t>
            </a:r>
          </a:p>
          <a:p>
            <a:pPr lvl="1" eaLnBrk="1" hangingPunct="1"/>
            <a:r>
              <a:rPr lang="en-US" altLang="ko-KR" sz="2400" dirty="0"/>
              <a:t>OR</a:t>
            </a:r>
          </a:p>
          <a:p>
            <a:pPr lvl="2" eaLnBrk="1" hangingPunct="1"/>
            <a:r>
              <a:rPr lang="ko-KR" altLang="en-US" sz="2000" dirty="0"/>
              <a:t>인수의 논리값이 모두 </a:t>
            </a:r>
            <a:r>
              <a:rPr lang="en-US" altLang="ko-KR" sz="2000" dirty="0"/>
              <a:t>FALSE</a:t>
            </a:r>
            <a:r>
              <a:rPr lang="ko-KR" altLang="en-US" sz="2000" dirty="0"/>
              <a:t>이면 결과가 </a:t>
            </a:r>
            <a:r>
              <a:rPr lang="en-US" altLang="ko-KR" sz="2000" dirty="0"/>
              <a:t>FALSE</a:t>
            </a:r>
            <a:r>
              <a:rPr lang="ko-KR" altLang="en-US" sz="2000" dirty="0"/>
              <a:t>이고 하나라도 </a:t>
            </a:r>
            <a:r>
              <a:rPr lang="en-US" altLang="ko-KR" sz="2000" dirty="0"/>
              <a:t>TRUE </a:t>
            </a:r>
            <a:r>
              <a:rPr lang="ko-KR" altLang="en-US" sz="2000" dirty="0"/>
              <a:t>이면 결과는 </a:t>
            </a:r>
            <a:r>
              <a:rPr lang="en-US" altLang="ko-KR" sz="2000" dirty="0"/>
              <a:t>TRUE</a:t>
            </a:r>
          </a:p>
          <a:p>
            <a:pPr lvl="1" eaLnBrk="1" hangingPunct="1"/>
            <a:r>
              <a:rPr lang="en-US" altLang="ko-KR" sz="2400" dirty="0"/>
              <a:t>NOT</a:t>
            </a:r>
          </a:p>
          <a:p>
            <a:pPr lvl="2" eaLnBrk="1" hangingPunct="1"/>
            <a:r>
              <a:rPr lang="ko-KR" altLang="en-US" sz="2000" dirty="0"/>
              <a:t>인수 논리값과 결과가 반대 논리값을 돌려준다</a:t>
            </a:r>
            <a:endParaRPr lang="en-US" altLang="ko-KR" sz="2000" dirty="0"/>
          </a:p>
          <a:p>
            <a:pPr lvl="2" eaLnBrk="1" hangingPunct="1"/>
            <a:r>
              <a:rPr lang="en-US" altLang="ko-KR" sz="2000" dirty="0"/>
              <a:t>=NOT(logical)</a:t>
            </a:r>
            <a:endParaRPr lang="ko-KR" altLang="en-US" sz="2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5ABF55-40A3-479F-8907-B230D913AECB}"/>
              </a:ext>
            </a:extLst>
          </p:cNvPr>
          <p:cNvSpPr/>
          <p:nvPr/>
        </p:nvSpPr>
        <p:spPr>
          <a:xfrm>
            <a:off x="6228184" y="6485984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https://wikidocs.net/230266 </a:t>
            </a:r>
            <a:r>
              <a:rPr lang="ko-KR" altLang="en-US" sz="1200" dirty="0"/>
              <a:t>인용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09E6B6-C06B-4A1A-B698-4840F7CA0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366" y="121309"/>
            <a:ext cx="400106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24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0181EF-ACED-4A50-905A-813A149FC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84620"/>
            <a:ext cx="6716062" cy="25721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15D6BE-68F2-470B-9B03-4BD98C3B4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68" y="2656729"/>
            <a:ext cx="6582694" cy="26102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7C06D5-9CBB-406C-BE04-0A6AE60EBB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68" y="5314735"/>
            <a:ext cx="4991797" cy="154326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B65F97-DA69-40B1-8133-C15D15E00C7A}"/>
              </a:ext>
            </a:extLst>
          </p:cNvPr>
          <p:cNvSpPr/>
          <p:nvPr/>
        </p:nvSpPr>
        <p:spPr>
          <a:xfrm>
            <a:off x="6258679" y="6496341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https://wikidocs.net/230266 </a:t>
            </a:r>
            <a:r>
              <a:rPr lang="ko-KR" altLang="en-US" sz="1200" dirty="0"/>
              <a:t>인용</a:t>
            </a:r>
          </a:p>
        </p:txBody>
      </p:sp>
    </p:spTree>
    <p:extLst>
      <p:ext uri="{BB962C8B-B14F-4D97-AF65-F5344CB8AC3E}">
        <p14:creationId xmlns:p14="http://schemas.microsoft.com/office/powerpoint/2010/main" val="310504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33516"/>
            <a:ext cx="7772400" cy="315164"/>
          </a:xfrm>
        </p:spPr>
        <p:txBody>
          <a:bodyPr/>
          <a:lstStyle/>
          <a:p>
            <a:pPr algn="l" eaLnBrk="1" hangingPunct="1"/>
            <a:r>
              <a:rPr lang="en-US" altLang="ko-KR" sz="3200"/>
              <a:t>IF</a:t>
            </a:r>
            <a:r>
              <a:rPr lang="ko-KR" altLang="en-US" sz="3200" dirty="0"/>
              <a:t> 함수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440" y="901871"/>
            <a:ext cx="8134672" cy="4648200"/>
          </a:xfrm>
        </p:spPr>
        <p:txBody>
          <a:bodyPr/>
          <a:lstStyle/>
          <a:p>
            <a:pPr eaLnBrk="1" hangingPunct="1"/>
            <a:r>
              <a:rPr lang="ko-KR" altLang="en-US" sz="2400" b="1" dirty="0"/>
              <a:t>사용</a:t>
            </a:r>
            <a:r>
              <a:rPr lang="en-US" altLang="ko-KR" sz="2400" b="1" dirty="0"/>
              <a:t>: =IF(</a:t>
            </a:r>
            <a:r>
              <a:rPr lang="en-US" altLang="ko-KR" sz="2400" b="1" dirty="0" err="1"/>
              <a:t>logical_test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value_if_true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value_if_false</a:t>
            </a:r>
            <a:r>
              <a:rPr lang="en-US" altLang="ko-KR" sz="2400" b="1" dirty="0"/>
              <a:t>)</a:t>
            </a:r>
          </a:p>
          <a:p>
            <a:pPr lvl="1" eaLnBrk="1" hangingPunct="1"/>
            <a:r>
              <a:rPr lang="en-US" altLang="ko-KR" sz="2400" b="1" dirty="0" err="1"/>
              <a:t>logical_test</a:t>
            </a:r>
            <a:r>
              <a:rPr lang="ko-KR" altLang="en-US" sz="2400" dirty="0"/>
              <a:t> </a:t>
            </a:r>
            <a:r>
              <a:rPr lang="en-US" altLang="ko-KR" sz="2400" dirty="0"/>
              <a:t>: </a:t>
            </a:r>
            <a:r>
              <a:rPr lang="ko-KR" altLang="en-US" sz="2400" dirty="0"/>
              <a:t>인수 값이 </a:t>
            </a:r>
            <a:r>
              <a:rPr lang="en-US" altLang="ko-KR" sz="2400" dirty="0"/>
              <a:t>TRUE</a:t>
            </a:r>
            <a:r>
              <a:rPr lang="ko-KR" altLang="en-US" sz="2400" dirty="0"/>
              <a:t>나 </a:t>
            </a:r>
            <a:r>
              <a:rPr lang="en-US" altLang="ko-KR" sz="2400" dirty="0"/>
              <a:t>FALSE </a:t>
            </a:r>
            <a:r>
              <a:rPr lang="ko-KR" altLang="en-US" sz="2400" dirty="0"/>
              <a:t>중 하나</a:t>
            </a:r>
            <a:r>
              <a:rPr lang="en-US" altLang="ko-KR" sz="2400" dirty="0"/>
              <a:t>. </a:t>
            </a:r>
            <a:r>
              <a:rPr lang="ko-KR" altLang="en-US" sz="2400" dirty="0"/>
              <a:t>이 인수에는 대개 비교 연산자를 사용한다</a:t>
            </a:r>
            <a:r>
              <a:rPr lang="en-US" altLang="ko-KR" sz="2400" dirty="0"/>
              <a:t>.</a:t>
            </a:r>
          </a:p>
          <a:p>
            <a:pPr lvl="1" eaLnBrk="1" hangingPunct="1"/>
            <a:r>
              <a:rPr lang="en-US" altLang="ko-KR" sz="2400" b="1" dirty="0" err="1"/>
              <a:t>value_if_true</a:t>
            </a:r>
            <a:r>
              <a:rPr lang="ko-KR" altLang="en-US" sz="2400" dirty="0"/>
              <a:t> </a:t>
            </a:r>
            <a:r>
              <a:rPr lang="en-US" altLang="ko-KR" sz="2400" dirty="0"/>
              <a:t>: logical test</a:t>
            </a:r>
            <a:r>
              <a:rPr lang="ko-KR" altLang="en-US" sz="2400" dirty="0"/>
              <a:t>가 </a:t>
            </a:r>
            <a:r>
              <a:rPr lang="en-US" altLang="ko-KR" sz="2400" dirty="0"/>
              <a:t>TRUE</a:t>
            </a:r>
            <a:r>
              <a:rPr lang="ko-KR" altLang="en-US" sz="2400" dirty="0"/>
              <a:t>이면 실행함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r>
              <a:rPr lang="en-US" altLang="ko-KR" sz="2400" dirty="0" err="1"/>
              <a:t>value_if_true</a:t>
            </a:r>
            <a:r>
              <a:rPr lang="ko-KR" altLang="en-US" sz="2400" dirty="0"/>
              <a:t>는 다른 수식을 사용할 수 있음</a:t>
            </a:r>
            <a:r>
              <a:rPr lang="en-US" altLang="ko-KR" sz="2400" dirty="0"/>
              <a:t>.</a:t>
            </a:r>
          </a:p>
          <a:p>
            <a:pPr lvl="1" eaLnBrk="1" hangingPunct="1"/>
            <a:r>
              <a:rPr lang="en-US" altLang="ko-KR" sz="2400" b="1" dirty="0" err="1"/>
              <a:t>value_if_false</a:t>
            </a:r>
            <a:r>
              <a:rPr lang="ko-KR" altLang="en-US" sz="2400" dirty="0"/>
              <a:t> 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logical_test</a:t>
            </a:r>
            <a:r>
              <a:rPr lang="ko-KR" altLang="en-US" sz="2400" dirty="0"/>
              <a:t>가 </a:t>
            </a:r>
            <a:r>
              <a:rPr lang="en-US" altLang="ko-KR" sz="2400" dirty="0"/>
              <a:t>FALSE</a:t>
            </a:r>
            <a:r>
              <a:rPr lang="ko-KR" altLang="en-US" sz="2400" dirty="0"/>
              <a:t>이면 실행함</a:t>
            </a:r>
            <a:r>
              <a:rPr lang="en-US" altLang="ko-KR" sz="2400" dirty="0"/>
              <a:t>. </a:t>
            </a:r>
            <a:r>
              <a:rPr lang="en-US" altLang="ko-KR" sz="2400" dirty="0" err="1"/>
              <a:t>value_if_false</a:t>
            </a:r>
            <a:r>
              <a:rPr lang="ko-KR" altLang="en-US" sz="2400" dirty="0"/>
              <a:t>는 수식을 사용할 수 있다</a:t>
            </a:r>
            <a:r>
              <a:rPr lang="en-US" altLang="ko-KR" sz="2400" dirty="0"/>
              <a:t>.</a:t>
            </a:r>
          </a:p>
          <a:p>
            <a:pPr eaLnBrk="1" hangingPunct="1"/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</a:p>
          <a:p>
            <a:pPr lvl="1" eaLnBrk="1" hangingPunct="1"/>
            <a:endParaRPr lang="en-US" altLang="ko-KR" sz="2400" dirty="0"/>
          </a:p>
          <a:p>
            <a:pPr eaLnBrk="1" hangingPunct="1"/>
            <a:endParaRPr lang="ko-KR" alt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CC245A-2EC2-4FC1-B21C-30B46BF07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630" y="4293096"/>
            <a:ext cx="7200292" cy="1000153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19044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 panose="020B0604020202020204" pitchFamily="50" charset="-127"/>
                <a:ea typeface="SF Mono"/>
              </a:rPr>
              <a:t>=IF(A10&gt;=50,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 panose="020B0604020202020204" pitchFamily="50" charset="-127"/>
                <a:ea typeface="SF Mono"/>
              </a:rPr>
              <a:t>"장년"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 panose="020B0604020202020204" pitchFamily="50" charset="-127"/>
                <a:ea typeface="SF Mono"/>
              </a:rPr>
              <a:t>,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 panose="020B0604020202020204" pitchFamily="50" charset="-127"/>
                <a:ea typeface="SF Mono"/>
              </a:rPr>
              <a:t>"청년"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 panose="020B0604020202020204" pitchFamily="50" charset="-127"/>
                <a:ea typeface="SF Mono"/>
              </a:rPr>
              <a:t>) 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dirty="0">
                <a:solidFill>
                  <a:srgbClr val="24292F"/>
                </a:solidFill>
                <a:ea typeface="Noto Sans KR"/>
                <a:sym typeface="Wingdings" panose="05000000000000000000" pitchFamily="2" charset="2"/>
              </a:rPr>
              <a:t></a:t>
            </a:r>
            <a:r>
              <a:rPr kumimoji="0" lang="en-US" altLang="ko-KR" sz="2000" dirty="0">
                <a:solidFill>
                  <a:srgbClr val="24292F"/>
                </a:solidFill>
                <a:ea typeface="Noto Sans KR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24292F"/>
                </a:solidFill>
                <a:effectLst/>
                <a:latin typeface="Arial" panose="020B0604020202020204" pitchFamily="34" charset="0"/>
                <a:ea typeface="Noto Sans KR"/>
              </a:rPr>
              <a:t> A10 셀 값이 50보다 크면 장년, 그렇지 않으면 결과는 청년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E72838-D31C-43E5-B435-DB86899D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32" y="5293249"/>
            <a:ext cx="7720780" cy="1307929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19044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 panose="020B0604020202020204" pitchFamily="50" charset="-127"/>
                <a:ea typeface="SF Mono"/>
              </a:rPr>
              <a:t>=IF(AND(0&lt;A3, A3&lt;100),A3,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 panose="020B0604020202020204" pitchFamily="50" charset="-127"/>
                <a:ea typeface="SF Mono"/>
              </a:rPr>
              <a:t>"범위를 벗어난 값입니다."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 panose="020B0604020202020204" pitchFamily="50" charset="-127"/>
                <a:ea typeface="SF Mono"/>
              </a:rPr>
              <a:t>) 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dirty="0">
                <a:solidFill>
                  <a:srgbClr val="24292F"/>
                </a:solidFill>
                <a:ea typeface="Noto Sans KR"/>
                <a:sym typeface="Wingdings" panose="05000000000000000000" pitchFamily="2" charset="2"/>
              </a:rPr>
              <a:t>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24292F"/>
                </a:solidFill>
                <a:effectLst/>
                <a:latin typeface="Arial" panose="020B0604020202020204" pitchFamily="34" charset="0"/>
                <a:ea typeface="Noto Sans KR"/>
              </a:rPr>
              <a:t>A3 값이 0과 100 사이에 있으면 그 숫자를 표시하고 그렇지 않으면 결과는 세 번째 인수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3BC530-B2FC-4C2F-8EDE-35DC49408F6B}"/>
              </a:ext>
            </a:extLst>
          </p:cNvPr>
          <p:cNvSpPr/>
          <p:nvPr/>
        </p:nvSpPr>
        <p:spPr>
          <a:xfrm>
            <a:off x="6258679" y="6496341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https://wikidocs.net/230266 </a:t>
            </a:r>
            <a:r>
              <a:rPr lang="ko-KR" altLang="en-US" sz="1200" dirty="0"/>
              <a:t>인용</a:t>
            </a:r>
          </a:p>
        </p:txBody>
      </p:sp>
    </p:spTree>
    <p:extLst>
      <p:ext uri="{BB962C8B-B14F-4D97-AF65-F5344CB8AC3E}">
        <p14:creationId xmlns:p14="http://schemas.microsoft.com/office/powerpoint/2010/main" val="336687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97828" y="30972"/>
            <a:ext cx="7772400" cy="531188"/>
          </a:xfrm>
        </p:spPr>
        <p:txBody>
          <a:bodyPr/>
          <a:lstStyle/>
          <a:p>
            <a:pPr algn="l" eaLnBrk="1" hangingPunct="1"/>
            <a:r>
              <a:rPr lang="ko-KR" altLang="en-US" sz="3200" dirty="0"/>
              <a:t>수학</a:t>
            </a:r>
            <a:r>
              <a:rPr lang="en-US" altLang="ko-KR" sz="3200" dirty="0"/>
              <a:t>/</a:t>
            </a:r>
            <a:r>
              <a:rPr lang="ko-KR" altLang="en-US" sz="3200" dirty="0"/>
              <a:t>삼각함수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764704"/>
            <a:ext cx="8134672" cy="4648200"/>
          </a:xfrm>
        </p:spPr>
        <p:txBody>
          <a:bodyPr/>
          <a:lstStyle/>
          <a:p>
            <a:pPr eaLnBrk="1" hangingPunct="1"/>
            <a:r>
              <a:rPr lang="en-US" altLang="ko-KR" sz="2100" dirty="0"/>
              <a:t>DEGREES(radian),</a:t>
            </a:r>
            <a:r>
              <a:rPr lang="ko-KR" altLang="en-US" sz="2100" dirty="0"/>
              <a:t> </a:t>
            </a:r>
            <a:r>
              <a:rPr lang="en-US" altLang="ko-KR" sz="2100" dirty="0"/>
              <a:t>RADIANS(angle),</a:t>
            </a:r>
            <a:r>
              <a:rPr lang="ko-KR" altLang="en-US" sz="2100" dirty="0"/>
              <a:t> </a:t>
            </a:r>
            <a:endParaRPr lang="en-US" altLang="ko-KR" sz="2100" dirty="0"/>
          </a:p>
          <a:p>
            <a:pPr eaLnBrk="1" hangingPunct="1"/>
            <a:r>
              <a:rPr lang="en-US" altLang="ko-KR" sz="2100" dirty="0"/>
              <a:t>SIN(radian),</a:t>
            </a:r>
            <a:r>
              <a:rPr lang="ko-KR" altLang="en-US" sz="2100" dirty="0"/>
              <a:t> </a:t>
            </a:r>
            <a:r>
              <a:rPr lang="en-US" altLang="ko-KR" sz="2100" dirty="0"/>
              <a:t>COS(radian), ASIN(number), </a:t>
            </a:r>
          </a:p>
          <a:p>
            <a:pPr marL="0" indent="0" eaLnBrk="1" hangingPunct="1">
              <a:buNone/>
            </a:pPr>
            <a:r>
              <a:rPr lang="en-US" altLang="ko-KR" sz="2100" dirty="0"/>
              <a:t>    ACOS(number), TAN(radian), ATAN(number), </a:t>
            </a:r>
          </a:p>
          <a:p>
            <a:pPr eaLnBrk="1" hangingPunct="1"/>
            <a:r>
              <a:rPr lang="en-US" altLang="ko-KR" sz="2100" dirty="0"/>
              <a:t>COMBIN(number1, </a:t>
            </a:r>
            <a:r>
              <a:rPr lang="en-US" altLang="ko-KR" sz="2100" dirty="0" err="1"/>
              <a:t>number_chosen</a:t>
            </a:r>
            <a:r>
              <a:rPr lang="en-US" altLang="ko-KR" sz="2100" dirty="0"/>
              <a:t>), FACT(number)</a:t>
            </a:r>
          </a:p>
          <a:p>
            <a:pPr eaLnBrk="1" hangingPunct="1"/>
            <a:r>
              <a:rPr lang="en-US" altLang="ko-KR" sz="2100" dirty="0"/>
              <a:t>EXP(number), INT(number), </a:t>
            </a:r>
          </a:p>
          <a:p>
            <a:pPr eaLnBrk="1" hangingPunct="1"/>
            <a:r>
              <a:rPr lang="en-US" altLang="ko-KR" sz="2100" dirty="0"/>
              <a:t>LN(number), LOG(number, base), LOG10(number),</a:t>
            </a:r>
          </a:p>
          <a:p>
            <a:pPr eaLnBrk="1" hangingPunct="1"/>
            <a:r>
              <a:rPr lang="en-US" altLang="ko-KR" sz="2100" dirty="0"/>
              <a:t> ROUND(number, </a:t>
            </a:r>
            <a:r>
              <a:rPr lang="en-US" altLang="ko-KR" sz="2100" dirty="0" err="1"/>
              <a:t>num_digits</a:t>
            </a:r>
            <a:r>
              <a:rPr lang="en-US" altLang="ko-KR" sz="2100" dirty="0"/>
              <a:t>), </a:t>
            </a:r>
          </a:p>
          <a:p>
            <a:pPr eaLnBrk="1" hangingPunct="1"/>
            <a:r>
              <a:rPr lang="en-US" altLang="ko-KR" sz="2100" dirty="0"/>
              <a:t>SQRT(number)</a:t>
            </a:r>
          </a:p>
          <a:p>
            <a:pPr lvl="1" eaLnBrk="1" hangingPunct="1"/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F7536B-F034-4FFD-B6A6-D082D6059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915164"/>
            <a:ext cx="7574222" cy="26928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8442B9F-25C7-47E3-899D-732C76EA4230}"/>
              </a:ext>
            </a:extLst>
          </p:cNvPr>
          <p:cNvSpPr/>
          <p:nvPr/>
        </p:nvSpPr>
        <p:spPr>
          <a:xfrm>
            <a:off x="6372200" y="6564957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https://wikidocs.net/230266 </a:t>
            </a:r>
            <a:r>
              <a:rPr lang="ko-KR" altLang="en-US" sz="1200" dirty="0"/>
              <a:t>인용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091FD1-335B-457D-9272-3FE6CACA0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-2813"/>
            <a:ext cx="2590797" cy="19196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377251F-0359-4BF1-8F49-7577A9F3F1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871" y="2411330"/>
            <a:ext cx="1380714" cy="7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13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772400" cy="432048"/>
          </a:xfrm>
        </p:spPr>
        <p:txBody>
          <a:bodyPr/>
          <a:lstStyle/>
          <a:p>
            <a:pPr algn="l" eaLnBrk="1" hangingPunct="1"/>
            <a:r>
              <a:rPr lang="ko-KR" altLang="en-US" sz="3200" dirty="0"/>
              <a:t>통계함수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1550" y="764704"/>
            <a:ext cx="8134672" cy="4648200"/>
          </a:xfrm>
        </p:spPr>
        <p:txBody>
          <a:bodyPr/>
          <a:lstStyle/>
          <a:p>
            <a:pPr eaLnBrk="1" hangingPunct="1"/>
            <a:r>
              <a:rPr lang="ko-KR" altLang="en-US" sz="2400" dirty="0" err="1"/>
              <a:t>대표값</a:t>
            </a:r>
            <a:endParaRPr lang="en-US" altLang="ko-KR" sz="2400" dirty="0"/>
          </a:p>
          <a:p>
            <a:pPr lvl="1" eaLnBrk="1" hangingPunct="1"/>
            <a:r>
              <a:rPr lang="en-US" altLang="ko-KR" sz="2000" dirty="0"/>
              <a:t>AVERAGE, AVERAGEA, MEDIAN, MODE, QUATILE,…</a:t>
            </a:r>
          </a:p>
          <a:p>
            <a:pPr lvl="1" eaLnBrk="1" hangingPunct="1"/>
            <a:r>
              <a:rPr lang="ko-KR" altLang="en-US" sz="2000" dirty="0"/>
              <a:t>예</a:t>
            </a:r>
            <a:r>
              <a:rPr lang="en-US" altLang="ko-KR" sz="2000" dirty="0"/>
              <a:t>: =AVERAGE(number1, number2, …)</a:t>
            </a:r>
          </a:p>
          <a:p>
            <a:pPr eaLnBrk="1" hangingPunct="1"/>
            <a:r>
              <a:rPr lang="ko-KR" altLang="en-US" sz="2400" dirty="0"/>
              <a:t>분산도</a:t>
            </a:r>
            <a:endParaRPr lang="en-US" altLang="ko-KR" sz="2400" dirty="0"/>
          </a:p>
          <a:p>
            <a:pPr lvl="1" eaLnBrk="1" hangingPunct="1"/>
            <a:r>
              <a:rPr lang="en-US" altLang="ko-KR" sz="2000" dirty="0"/>
              <a:t>VAR,</a:t>
            </a:r>
            <a:r>
              <a:rPr lang="ko-KR" altLang="en-US" sz="2000" dirty="0"/>
              <a:t> </a:t>
            </a:r>
            <a:r>
              <a:rPr lang="en-US" altLang="ko-KR" sz="2000" dirty="0"/>
              <a:t>STDEV, MAX, MIN</a:t>
            </a:r>
          </a:p>
          <a:p>
            <a:pPr lvl="1" eaLnBrk="1" hangingPunct="1"/>
            <a:r>
              <a:rPr lang="ko-KR" altLang="en-US" sz="2000" dirty="0"/>
              <a:t>예</a:t>
            </a:r>
            <a:r>
              <a:rPr lang="en-US" altLang="ko-KR" sz="2000" dirty="0"/>
              <a:t>: =VAR(number1, number2, ...),  =STDEV(number1, number2, ...), =MAX(number1, number2, ...)</a:t>
            </a:r>
          </a:p>
          <a:p>
            <a:pPr eaLnBrk="1" hangingPunct="1"/>
            <a:r>
              <a:rPr lang="ko-KR" altLang="en-US" sz="2400" dirty="0"/>
              <a:t>두</a:t>
            </a:r>
            <a:r>
              <a:rPr lang="en-US" altLang="ko-KR" sz="2400" dirty="0"/>
              <a:t> </a:t>
            </a:r>
            <a:r>
              <a:rPr lang="ko-KR" altLang="en-US" sz="2400" dirty="0"/>
              <a:t>변수의</a:t>
            </a:r>
            <a:r>
              <a:rPr lang="en-US" altLang="ko-KR" sz="2400" dirty="0"/>
              <a:t> </a:t>
            </a:r>
            <a:r>
              <a:rPr lang="ko-KR" altLang="en-US" sz="2400" dirty="0"/>
              <a:t>관련성</a:t>
            </a:r>
            <a:endParaRPr lang="en-US" altLang="ko-KR" sz="2400" dirty="0"/>
          </a:p>
          <a:p>
            <a:pPr lvl="1" eaLnBrk="1" hangingPunct="1"/>
            <a:r>
              <a:rPr lang="en-US" altLang="ko-KR" sz="2000" dirty="0"/>
              <a:t>COVARIANCE, CORREL</a:t>
            </a:r>
          </a:p>
          <a:p>
            <a:pPr lvl="1" eaLnBrk="1" hangingPunct="1"/>
            <a:r>
              <a:rPr lang="ko-KR" altLang="en-US" sz="2000" dirty="0"/>
              <a:t>예</a:t>
            </a:r>
            <a:r>
              <a:rPr lang="en-US" altLang="ko-KR" sz="2000" dirty="0"/>
              <a:t>: =COVARIANCE.S(array1, array2 ) =CORREL(array1, array2 )</a:t>
            </a:r>
          </a:p>
          <a:p>
            <a:pPr eaLnBrk="1" hangingPunct="1"/>
            <a:r>
              <a:rPr lang="ko-KR" altLang="en-US" sz="2400" dirty="0"/>
              <a:t>개수</a:t>
            </a:r>
            <a:endParaRPr lang="en-US" altLang="ko-KR" sz="2400" dirty="0"/>
          </a:p>
          <a:p>
            <a:pPr lvl="1" eaLnBrk="1" hangingPunct="1"/>
            <a:r>
              <a:rPr lang="en-US" altLang="ko-KR" sz="2000" dirty="0"/>
              <a:t>=COUNT(value1, value2, ...) : </a:t>
            </a:r>
            <a:r>
              <a:rPr lang="ko-KR" altLang="en-US" sz="2000" dirty="0"/>
              <a:t> 인수 목록에서 숫자로 되어있는 셀의 개수를 계산</a:t>
            </a:r>
            <a:endParaRPr lang="en-US" altLang="ko-KR" sz="2000" dirty="0"/>
          </a:p>
          <a:p>
            <a:pPr eaLnBrk="1" hangingPunct="1"/>
            <a:r>
              <a:rPr lang="ko-KR" altLang="en-US" sz="2400" dirty="0"/>
              <a:t>분포함수 </a:t>
            </a:r>
            <a:r>
              <a:rPr lang="en-US" altLang="ko-KR" sz="2400" dirty="0"/>
              <a:t>: </a:t>
            </a:r>
            <a:r>
              <a:rPr lang="ko-KR" altLang="en-US" sz="2400" dirty="0"/>
              <a:t>다양한 확률분포 함수</a:t>
            </a:r>
          </a:p>
        </p:txBody>
      </p:sp>
    </p:spTree>
    <p:extLst>
      <p:ext uri="{BB962C8B-B14F-4D97-AF65-F5344CB8AC3E}">
        <p14:creationId xmlns:p14="http://schemas.microsoft.com/office/powerpoint/2010/main" val="1907360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5890" y="143143"/>
            <a:ext cx="7772400" cy="531188"/>
          </a:xfrm>
        </p:spPr>
        <p:txBody>
          <a:bodyPr/>
          <a:lstStyle/>
          <a:p>
            <a:pPr algn="l" eaLnBrk="1" hangingPunct="1"/>
            <a:r>
              <a:rPr lang="ko-KR" altLang="en-US" sz="3200" dirty="0"/>
              <a:t>분석도구 추가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54" y="684655"/>
            <a:ext cx="8775718" cy="4648200"/>
          </a:xfrm>
        </p:spPr>
        <p:txBody>
          <a:bodyPr/>
          <a:lstStyle/>
          <a:p>
            <a:pPr eaLnBrk="1" hangingPunct="1"/>
            <a:r>
              <a:rPr lang="en-US" altLang="ko-KR" sz="2400" dirty="0"/>
              <a:t>“</a:t>
            </a:r>
            <a:r>
              <a:rPr lang="ko-KR" altLang="en-US" sz="2400" dirty="0"/>
              <a:t>통계 데이터분석</a:t>
            </a:r>
            <a:r>
              <a:rPr lang="en-US" altLang="ko-KR" sz="2400" dirty="0"/>
              <a:t>”</a:t>
            </a:r>
            <a:r>
              <a:rPr lang="ko-KR" altLang="en-US" sz="2400" dirty="0"/>
              <a:t> 기능을 추가해 주어야 함</a:t>
            </a:r>
            <a:r>
              <a:rPr lang="en-US" altLang="ko-KR" sz="2400" dirty="0"/>
              <a:t>.</a:t>
            </a:r>
          </a:p>
          <a:p>
            <a:pPr eaLnBrk="1" hangingPunct="1"/>
            <a:r>
              <a:rPr lang="ko-KR" altLang="en-US" sz="2400" dirty="0"/>
              <a:t>메뉴</a:t>
            </a:r>
            <a:r>
              <a:rPr lang="en-US" altLang="ko-KR" sz="2400" dirty="0"/>
              <a:t>: </a:t>
            </a:r>
            <a:r>
              <a:rPr lang="ko-KR" altLang="en-US" sz="2400" dirty="0"/>
              <a:t>데이터 </a:t>
            </a:r>
            <a:r>
              <a:rPr lang="en-US" altLang="ko-KR" sz="2400" dirty="0">
                <a:sym typeface="Wingdings" panose="05000000000000000000" pitchFamily="2" charset="2"/>
              </a:rPr>
              <a:t> ”</a:t>
            </a:r>
            <a:r>
              <a:rPr lang="ko-KR" altLang="en-US" sz="2400" dirty="0">
                <a:sym typeface="Wingdings" panose="05000000000000000000" pitchFamily="2" charset="2"/>
              </a:rPr>
              <a:t>데이터 분석</a:t>
            </a:r>
            <a:r>
              <a:rPr lang="en-US" altLang="ko-KR" sz="2400" dirty="0">
                <a:sym typeface="Wingdings" panose="05000000000000000000" pitchFamily="2" charset="2"/>
              </a:rPr>
              <a:t>”</a:t>
            </a:r>
            <a:r>
              <a:rPr lang="ko-KR" altLang="en-US" sz="2400" dirty="0">
                <a:sym typeface="Wingdings" panose="05000000000000000000" pitchFamily="2" charset="2"/>
              </a:rPr>
              <a:t> 기능 추가해야 함</a:t>
            </a:r>
            <a:r>
              <a:rPr lang="en-US" altLang="ko-KR" sz="2400" dirty="0">
                <a:sym typeface="Wingdings" panose="05000000000000000000" pitchFamily="2" charset="2"/>
              </a:rPr>
              <a:t>.</a:t>
            </a:r>
          </a:p>
          <a:p>
            <a:pPr eaLnBrk="1" hangingPunct="1"/>
            <a:r>
              <a:rPr lang="ko-KR" altLang="en-US" sz="2400" dirty="0"/>
              <a:t> </a:t>
            </a:r>
            <a:r>
              <a:rPr lang="ko-KR" altLang="en-US" sz="2400" b="1" dirty="0"/>
              <a:t>파일 → 옵션 → 추가기능 → 관리</a:t>
            </a:r>
            <a:r>
              <a:rPr lang="ko-KR" altLang="en-US" sz="2400" dirty="0"/>
              <a:t> 메뉴에서 </a:t>
            </a:r>
            <a:r>
              <a:rPr lang="ko-KR" altLang="en-US" sz="2400" b="1" dirty="0"/>
              <a:t>이동</a:t>
            </a:r>
            <a:r>
              <a:rPr lang="ko-KR" altLang="en-US" sz="2400" dirty="0"/>
              <a:t> 버튼 클릭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6C8795-1469-4F0D-A6E8-4B6EEFB47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5372"/>
            <a:ext cx="6467587" cy="4648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C6ED88B-7EA4-4523-B167-FABF068755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45"/>
          <a:stretch/>
        </p:blipFill>
        <p:spPr>
          <a:xfrm>
            <a:off x="6563475" y="2055372"/>
            <a:ext cx="2308774" cy="28975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A0EA8D0-B0A2-404D-A285-9D3EC2C99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424" y="5006085"/>
            <a:ext cx="3023212" cy="170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023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5444</TotalTime>
  <Words>1038</Words>
  <Application>Microsoft Office PowerPoint</Application>
  <PresentationFormat>화면 슬라이드 쇼(4:3)</PresentationFormat>
  <Paragraphs>140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Arial Unicode MS</vt:lpstr>
      <vt:lpstr>Noto Sans KR</vt:lpstr>
      <vt:lpstr>SF Mono</vt:lpstr>
      <vt:lpstr>굴림</vt:lpstr>
      <vt:lpstr>맑은 고딕</vt:lpstr>
      <vt:lpstr>Arial</vt:lpstr>
      <vt:lpstr>Wingdings</vt:lpstr>
      <vt:lpstr>기본 디자인</vt:lpstr>
      <vt:lpstr>EXCEL</vt:lpstr>
      <vt:lpstr>EXCEL</vt:lpstr>
      <vt:lpstr>EXCEL</vt:lpstr>
      <vt:lpstr>EXCEL</vt:lpstr>
      <vt:lpstr>셀연산</vt:lpstr>
      <vt:lpstr>셀연산</vt:lpstr>
      <vt:lpstr>셀 채우기</vt:lpstr>
      <vt:lpstr>참조</vt:lpstr>
      <vt:lpstr>함수</vt:lpstr>
      <vt:lpstr>PowerPoint 프레젠테이션</vt:lpstr>
      <vt:lpstr>IF 함수</vt:lpstr>
      <vt:lpstr>수학/삼각함수</vt:lpstr>
      <vt:lpstr>통계함수</vt:lpstr>
      <vt:lpstr>분석도구 추가</vt:lpstr>
    </vt:vector>
  </TitlesOfParts>
  <Company>한성대학교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확률 및 통계  Probability and Statistics</dc:title>
  <dc:creator>엄종석</dc:creator>
  <cp:lastModifiedBy>Windows 사용자</cp:lastModifiedBy>
  <cp:revision>71</cp:revision>
  <dcterms:created xsi:type="dcterms:W3CDTF">2002-03-06T11:06:54Z</dcterms:created>
  <dcterms:modified xsi:type="dcterms:W3CDTF">2026-03-05T03:14:22Z</dcterms:modified>
</cp:coreProperties>
</file>