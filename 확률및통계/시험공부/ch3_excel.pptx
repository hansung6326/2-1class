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1"/>
  </p:notesMasterIdLst>
  <p:handoutMasterIdLst>
    <p:handoutMasterId r:id="rId32"/>
  </p:handoutMasterIdLst>
  <p:sldIdLst>
    <p:sldId id="256" r:id="rId2"/>
    <p:sldId id="259" r:id="rId3"/>
    <p:sldId id="276" r:id="rId4"/>
    <p:sldId id="291" r:id="rId5"/>
    <p:sldId id="292" r:id="rId6"/>
    <p:sldId id="260" r:id="rId7"/>
    <p:sldId id="277" r:id="rId8"/>
    <p:sldId id="290" r:id="rId9"/>
    <p:sldId id="278" r:id="rId10"/>
    <p:sldId id="287" r:id="rId11"/>
    <p:sldId id="288" r:id="rId12"/>
    <p:sldId id="289" r:id="rId13"/>
    <p:sldId id="286" r:id="rId14"/>
    <p:sldId id="279" r:id="rId15"/>
    <p:sldId id="280" r:id="rId16"/>
    <p:sldId id="285" r:id="rId17"/>
    <p:sldId id="295" r:id="rId18"/>
    <p:sldId id="297" r:id="rId19"/>
    <p:sldId id="298" r:id="rId20"/>
    <p:sldId id="296" r:id="rId21"/>
    <p:sldId id="281" r:id="rId22"/>
    <p:sldId id="299" r:id="rId23"/>
    <p:sldId id="293" r:id="rId24"/>
    <p:sldId id="271" r:id="rId25"/>
    <p:sldId id="300" r:id="rId26"/>
    <p:sldId id="282" r:id="rId27"/>
    <p:sldId id="294" r:id="rId28"/>
    <p:sldId id="283" r:id="rId29"/>
    <p:sldId id="284" r:id="rId30"/>
  </p:sldIdLst>
  <p:sldSz cx="9144000" cy="6858000" type="screen4x3"/>
  <p:notesSz cx="6669088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굴림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ahoma" pitchFamily="34" charset="0"/>
        <a:ea typeface="굴림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ahoma" pitchFamily="34" charset="0"/>
        <a:ea typeface="굴림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ahoma" pitchFamily="34" charset="0"/>
        <a:ea typeface="굴림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ahoma" pitchFamily="34" charset="0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159" autoAdjust="0"/>
    <p:restoredTop sz="90985" autoAdjust="0"/>
  </p:normalViewPr>
  <p:slideViewPr>
    <p:cSldViewPr>
      <p:cViewPr varScale="1">
        <p:scale>
          <a:sx n="94" d="100"/>
          <a:sy n="94" d="100"/>
        </p:scale>
        <p:origin x="78" y="3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6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D:\JSUM\LECTURE\1&#54617;&#44592;\&#54869;&#47456;&#48143;&#53685;&#44228;\EXCEL\&#44053;&#51032;&#50504;\EXCEL&#49892;&#49845;\p73_ex12_&#49892;&#49845;&#44208;&#44284;.xlsx" TargetMode="External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Sheet1!$A$2:$A$27</cx:f>
        <cx:lvl ptCount="26" formatCode="G/표준">
          <cx:pt idx="0">181</cx:pt>
          <cx:pt idx="1">170</cx:pt>
          <cx:pt idx="2">179</cx:pt>
          <cx:pt idx="3">183</cx:pt>
          <cx:pt idx="4">178</cx:pt>
          <cx:pt idx="5">171</cx:pt>
          <cx:pt idx="6">174</cx:pt>
          <cx:pt idx="7">163</cx:pt>
          <cx:pt idx="8">167</cx:pt>
          <cx:pt idx="9">163</cx:pt>
          <cx:pt idx="10">173</cx:pt>
          <cx:pt idx="11">178</cx:pt>
          <cx:pt idx="12">170</cx:pt>
          <cx:pt idx="13">167</cx:pt>
          <cx:pt idx="14">177</cx:pt>
          <cx:pt idx="15">176</cx:pt>
          <cx:pt idx="16">180</cx:pt>
          <cx:pt idx="17">169</cx:pt>
          <cx:pt idx="18">178</cx:pt>
          <cx:pt idx="19">173</cx:pt>
          <cx:pt idx="20">173</cx:pt>
          <cx:pt idx="21">171</cx:pt>
          <cx:pt idx="22">171</cx:pt>
          <cx:pt idx="23">170</cx:pt>
          <cx:pt idx="24">174</cx:pt>
          <cx:pt idx="25">180</cx:pt>
        </cx:lvl>
      </cx:numDim>
    </cx:data>
    <cx:data id="1">
      <cx:numDim type="val">
        <cx:f>Sheet1!$B$2:$B$27</cx:f>
        <cx:lvl ptCount="26" formatCode="G/표준">
          <cx:pt idx="0">161</cx:pt>
          <cx:pt idx="1">160</cx:pt>
          <cx:pt idx="2">158</cx:pt>
          <cx:pt idx="3">169</cx:pt>
          <cx:pt idx="4">162</cx:pt>
          <cx:pt idx="5">163</cx:pt>
          <cx:pt idx="6">158</cx:pt>
          <cx:pt idx="7">160</cx:pt>
          <cx:pt idx="8">160</cx:pt>
          <cx:pt idx="9">158</cx:pt>
          <cx:pt idx="10">160</cx:pt>
          <cx:pt idx="11">165</cx:pt>
          <cx:pt idx="12">170</cx:pt>
          <cx:pt idx="13">152</cx:pt>
          <cx:pt idx="14">158</cx:pt>
          <cx:pt idx="15">160</cx:pt>
          <cx:pt idx="16">160</cx:pt>
          <cx:pt idx="17">159</cx:pt>
          <cx:pt idx="18">162</cx:pt>
          <cx:pt idx="19">160</cx:pt>
          <cx:pt idx="20">167</cx:pt>
          <cx:pt idx="21">168</cx:pt>
          <cx:pt idx="22">166</cx:pt>
          <cx:pt idx="23">164</cx:pt>
        </cx:lvl>
      </cx:numDim>
    </cx:data>
  </cx:chartData>
  <cx:chart>
    <cx:title pos="t" align="ctr" overlay="0">
      <cx:tx>
        <cx:txData>
          <cx:v>신입생 키 상자그림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ko-KR" alt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Calibri" panose="020F0502020204030204"/>
              <a:ea typeface="맑은 고딕" panose="020B0503020000020004" pitchFamily="50" charset="-127"/>
            </a:rPr>
            <a:t>신입생 키 상자그림</a:t>
          </a:r>
        </a:p>
      </cx:txPr>
    </cx:title>
    <cx:plotArea>
      <cx:plotAreaRegion>
        <cx:series layoutId="boxWhisker" uniqueId="{5C15970E-7DD4-43F2-918A-B4855294F106}">
          <cx:tx>
            <cx:txData>
              <cx:f>Sheet1!$A$1</cx:f>
              <cx:v>남자</cx:v>
            </cx:txData>
          </cx:tx>
          <cx:dataLabels>
            <cx:numFmt formatCode="#,##0_);[빨강](#,##0)" sourceLinked="0"/>
            <cx:visibility seriesName="0" categoryName="0" value="1"/>
            <cx:separator>, </cx:separator>
          </cx:dataLabels>
          <cx:dataId val="0"/>
          <cx:layoutPr>
            <cx:visibility meanLine="0" meanMarker="1" nonoutliers="0" outliers="1"/>
            <cx:statistics quartileMethod="exclusive"/>
          </cx:layoutPr>
        </cx:series>
        <cx:series layoutId="boxWhisker" uniqueId="{04EDECE0-6C2A-468A-B3B0-4E539A90855C}">
          <cx:tx>
            <cx:txData>
              <cx:f>Sheet1!$B$1</cx:f>
              <cx:v>여자</cx:v>
            </cx:txData>
          </cx:tx>
          <cx:dataLabels>
            <cx:numFmt formatCode="#,##0_);[빨강](#,##0)" sourceLinked="0"/>
            <cx:visibility seriesName="0" categoryName="0" value="1"/>
            <cx:separator>, </cx:separator>
          </cx:dataLabels>
          <cx:dataId val="1"/>
          <cx:layoutPr>
            <cx:visibility meanLine="0" meanMarker="1" nonoutliers="0" outliers="1"/>
            <cx:statistics quartileMethod="exclusive"/>
          </cx:layoutPr>
        </cx:series>
      </cx:plotAreaRegion>
      <cx:axis id="0">
        <cx:catScaling gapWidth="1"/>
        <cx:title>
          <cx:tx>
            <cx:txData>
              <cx:v>성별</cx:v>
            </cx:txData>
          </cx:tx>
          <cx:txPr>
            <a:bodyPr spcFirstLastPara="1" vertOverflow="ellipsis" horzOverflow="overflow" wrap="square" lIns="0" tIns="0" rIns="0" bIns="0" anchor="ctr" anchorCtr="1"/>
            <a:lstStyle/>
            <a:p>
              <a:pPr algn="ctr" rtl="0">
                <a:defRPr/>
              </a:pPr>
              <a:r>
                <a:rPr lang="ko-KR" altLang="en-US" sz="900" b="0" i="0" u="none" strike="noStrike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Calibri" panose="020F0502020204030204"/>
                  <a:ea typeface="맑은 고딕" panose="020B0503020000020004" pitchFamily="50" charset="-127"/>
                </a:rPr>
                <a:t>성별</a:t>
              </a:r>
            </a:p>
          </cx:txPr>
        </cx:title>
        <cx:tickLabels/>
      </cx:axis>
      <cx:axis id="1">
        <cx:valScaling max="190" min="150"/>
        <cx:title>
          <cx:tx>
            <cx:txData>
              <cx:v>키</cx:v>
            </cx:txData>
          </cx:tx>
          <cx:txPr>
            <a:bodyPr spcFirstLastPara="1" vertOverflow="ellipsis" horzOverflow="overflow" wrap="square" lIns="0" tIns="0" rIns="0" bIns="0" anchor="ctr" anchorCtr="1"/>
            <a:lstStyle/>
            <a:p>
              <a:pPr algn="ctr" rtl="0">
                <a:defRPr/>
              </a:pPr>
              <a:r>
                <a:rPr lang="ko-KR" altLang="en-US" sz="900" b="0" i="0" u="none" strike="noStrike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Calibri" panose="020F0502020204030204"/>
                  <a:ea typeface="맑은 고딕" panose="020B0503020000020004" pitchFamily="50" charset="-127"/>
                </a:rPr>
                <a:t>키</a:t>
              </a:r>
            </a:p>
          </cx:txPr>
        </cx:title>
        <cx:majorGridlines/>
        <cx:tickLabels/>
      </cx:axis>
    </cx:plotArea>
    <cx:legend pos="t" align="ctr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7" Type="http://schemas.openxmlformats.org/officeDocument/2006/relationships/image" Target="../media/image29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3B1E4BA3-204B-4D85-8E4E-9BB65294284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714200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EA9446-2885-4E41-98D8-DA90FA960CDE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01725" y="1241425"/>
            <a:ext cx="4465638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66750" y="4776788"/>
            <a:ext cx="5335588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77825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05D3A3-314E-48E7-8DE9-34D9747DDB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914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05D3A3-314E-48E7-8DE9-34D9747DDB47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680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ko-KR" altLang="en-US">
                  <a:ea typeface="굴림" pitchFamily="50" charset="-127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ko-KR" altLang="en-US">
                  <a:ea typeface="굴림" pitchFamily="50" charset="-127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ko-KR" altLang="en-US">
                  <a:ea typeface="굴림" pitchFamily="50" charset="-127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ko-KR" altLang="en-US">
                  <a:ea typeface="굴림" pitchFamily="50" charset="-127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ea typeface="굴림" pitchFamily="50" charset="-127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ea typeface="굴림" pitchFamily="50" charset="-127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ea typeface="굴림" pitchFamily="50" charset="-127"/>
              </a:endParaRPr>
            </a:p>
          </p:txBody>
        </p:sp>
      </p:grpSp>
      <p:sp>
        <p:nvSpPr>
          <p:cNvPr id="4711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711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E9C8CEAB-F611-485C-9A10-3BAD7D9F84D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01417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B57AF5-432A-4F82-B723-85731D0F9F4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29085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A99C1B-1A70-40FB-9A8B-8F1E9E58A9D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3221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182688" y="1219200"/>
            <a:ext cx="3810000" cy="49133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45088" y="1219200"/>
            <a:ext cx="3810000" cy="49133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7AFBFD-7C8C-4C83-AF6C-729E16CA17D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28030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6939D1-CCB8-4277-A4B7-A4A30DB3EDA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6530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F603AF-166B-4038-B4D4-BF355C36D63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40607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5BBFFF-E90C-4960-9215-E553C16068B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4356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DDC971-14EA-417A-A973-55131395F33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5374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E6EE77-FD44-4429-ABCE-292810E6402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70462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1940D4-537B-4CCF-81AC-7B6B47F69EE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29518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4B677F-AF8C-4D88-9791-EB9DF7BFE0D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031630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22066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182688" y="1219200"/>
            <a:ext cx="3810000" cy="49133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45088" y="1219200"/>
            <a:ext cx="3810000" cy="49133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4F591A-6596-49B0-AD58-C45DEA87532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93270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제목, 텍스트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22066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182688" y="1219200"/>
            <a:ext cx="3810000" cy="49133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5145088" y="1219200"/>
            <a:ext cx="3810000" cy="23796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5145088" y="3751263"/>
            <a:ext cx="3810000" cy="2381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EA3F2-8085-4EC5-8F69-9EDEEADC69E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10302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5123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1219200"/>
            <a:ext cx="7772400" cy="4913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609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609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609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AFD0CFAA-61CD-4D7C-9FC8-F02CBF8D7B6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7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ko.wikipedia.org/wiki/%EB%B0%B1%EB%B6%84%EC%9C%A8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2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0.PNG"/><Relationship Id="rId4" Type="http://schemas.microsoft.com/office/2014/relationships/chartEx" Target="../charts/chartEx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image" Target="../media/image27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oleObject" Target="../embeddings/oleObject15.bin"/><Relationship Id="rId17" Type="http://schemas.openxmlformats.org/officeDocument/2006/relationships/image" Target="../media/image29.w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17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5" Type="http://schemas.openxmlformats.org/officeDocument/2006/relationships/image" Target="../media/image28.wmf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13.bin"/><Relationship Id="rId14" Type="http://schemas.openxmlformats.org/officeDocument/2006/relationships/oleObject" Target="../embeddings/oleObject16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ko-KR" altLang="en-US" dirty="0"/>
              <a:t>제 </a:t>
            </a:r>
            <a:r>
              <a:rPr lang="en-US" altLang="ko-KR" dirty="0"/>
              <a:t>3</a:t>
            </a:r>
            <a:r>
              <a:rPr lang="ko-KR" altLang="en-US" dirty="0"/>
              <a:t>장</a:t>
            </a:r>
            <a:r>
              <a:rPr lang="en-US" altLang="ko-KR" dirty="0"/>
              <a:t>. </a:t>
            </a:r>
            <a:r>
              <a:rPr lang="ko-KR" altLang="en-US" dirty="0"/>
              <a:t>수치</a:t>
            </a:r>
            <a:r>
              <a:rPr lang="en-US" altLang="ko-KR" dirty="0"/>
              <a:t>(</a:t>
            </a:r>
            <a:r>
              <a:rPr lang="ko-KR" altLang="en-US" dirty="0"/>
              <a:t>통계량</a:t>
            </a:r>
            <a:r>
              <a:rPr lang="en-US" altLang="ko-KR" dirty="0"/>
              <a:t>)</a:t>
            </a:r>
            <a:r>
              <a:rPr lang="ko-KR" altLang="en-US" dirty="0"/>
              <a:t>를 통한 </a:t>
            </a:r>
            <a:br>
              <a:rPr lang="ko-KR" altLang="en-US" dirty="0"/>
            </a:br>
            <a:r>
              <a:rPr lang="ko-KR" altLang="en-US" dirty="0"/>
              <a:t>연속형 자료의 요약</a:t>
            </a:r>
            <a:br>
              <a:rPr lang="ko-KR" altLang="en-US" dirty="0"/>
            </a:br>
            <a:r>
              <a:rPr lang="en-US" altLang="ko-KR" sz="1600" dirty="0"/>
              <a:t>jsum@hansung.ac.kr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8458200" cy="609600"/>
          </a:xfrm>
        </p:spPr>
        <p:txBody>
          <a:bodyPr/>
          <a:lstStyle/>
          <a:p>
            <a:pPr marL="838200" indent="-838200" eaLnBrk="1" hangingPunct="1"/>
            <a:r>
              <a:rPr lang="en-US" altLang="ko-KR" sz="3200"/>
              <a:t>1. </a:t>
            </a:r>
            <a:r>
              <a:rPr lang="ko-KR" altLang="en-US" sz="3200"/>
              <a:t>중심위치의 측도 </a:t>
            </a:r>
            <a:r>
              <a:rPr lang="en-US" altLang="ko-KR" sz="3200"/>
              <a:t>(</a:t>
            </a:r>
            <a:r>
              <a:rPr lang="en-US" altLang="ko-KR" sz="2400"/>
              <a:t>Measure of Center)</a:t>
            </a: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495800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Clr>
                <a:schemeClr val="tx1"/>
              </a:buClr>
            </a:pPr>
            <a:r>
              <a:rPr lang="ko-KR" altLang="en-US" sz="2800"/>
              <a:t>평균</a:t>
            </a:r>
            <a:r>
              <a:rPr lang="en-US" altLang="ko-KR" sz="2800"/>
              <a:t>(mean)</a:t>
            </a:r>
          </a:p>
          <a:p>
            <a:pPr marL="609600" indent="-609600" eaLnBrk="1" hangingPunct="1">
              <a:lnSpc>
                <a:spcPct val="90000"/>
              </a:lnSpc>
              <a:buClr>
                <a:schemeClr val="tx1"/>
              </a:buClr>
            </a:pPr>
            <a:r>
              <a:rPr lang="ko-KR" altLang="en-US" sz="2800"/>
              <a:t>중앙값</a:t>
            </a:r>
            <a:r>
              <a:rPr lang="en-US" altLang="ko-KR" sz="2800"/>
              <a:t>(median) : </a:t>
            </a:r>
            <a:r>
              <a:rPr lang="ko-KR" altLang="en-US" sz="2800"/>
              <a:t>관측값을 크기 순으로 배열했을 때 가운데 값</a:t>
            </a:r>
          </a:p>
          <a:p>
            <a:pPr marL="990600" lvl="1" indent="-533400"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ko-KR" altLang="en-US" sz="2400"/>
              <a:t>자료의 개수</a:t>
            </a:r>
            <a:r>
              <a:rPr lang="en-US" altLang="ko-KR" sz="2400"/>
              <a:t>(n) </a:t>
            </a:r>
            <a:r>
              <a:rPr lang="ko-KR" altLang="en-US" sz="2400"/>
              <a:t>홀수 일 때</a:t>
            </a:r>
          </a:p>
          <a:p>
            <a:pPr marL="1371600" lvl="2" indent="-457200" eaLnBrk="1" hangingPunct="1">
              <a:lnSpc>
                <a:spcPct val="90000"/>
              </a:lnSpc>
            </a:pPr>
            <a:r>
              <a:rPr lang="ko-KR" altLang="en-US" sz="1800"/>
              <a:t>           </a:t>
            </a:r>
            <a:r>
              <a:rPr lang="ko-KR" altLang="en-US" sz="2000"/>
              <a:t>번째 관측값</a:t>
            </a:r>
          </a:p>
          <a:p>
            <a:pPr marL="1371600" lvl="2" indent="-457200" eaLnBrk="1" hangingPunct="1">
              <a:lnSpc>
                <a:spcPct val="90000"/>
              </a:lnSpc>
            </a:pPr>
            <a:endParaRPr lang="ko-KR" altLang="en-US" sz="2000"/>
          </a:p>
          <a:p>
            <a:pPr marL="990600" lvl="1" indent="-533400"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ko-KR" altLang="en-US" sz="2400"/>
              <a:t>자료의 개수</a:t>
            </a:r>
            <a:r>
              <a:rPr lang="en-US" altLang="ko-KR" sz="2400"/>
              <a:t>(n) </a:t>
            </a:r>
            <a:r>
              <a:rPr lang="ko-KR" altLang="en-US" sz="2400"/>
              <a:t>짝수 일 때</a:t>
            </a:r>
          </a:p>
          <a:p>
            <a:pPr marL="990600" lvl="1" indent="-533400"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ko-KR" altLang="en-US" sz="2400"/>
          </a:p>
          <a:p>
            <a:pPr marL="1371600" lvl="2" indent="-457200" eaLnBrk="1" hangingPunct="1">
              <a:lnSpc>
                <a:spcPct val="90000"/>
              </a:lnSpc>
            </a:pPr>
            <a:r>
              <a:rPr lang="ko-KR" altLang="en-US" sz="2000"/>
              <a:t>      번째 관측값과          번째 관측값의 평균</a:t>
            </a:r>
          </a:p>
          <a:p>
            <a:pPr marL="1371600" lvl="2" indent="-457200" eaLnBrk="1" hangingPunct="1">
              <a:lnSpc>
                <a:spcPct val="90000"/>
              </a:lnSpc>
            </a:pPr>
            <a:endParaRPr lang="ko-KR" altLang="en-US" sz="2000"/>
          </a:p>
          <a:p>
            <a:pPr marL="609600" indent="-609600" eaLnBrk="1" hangingPunct="1">
              <a:lnSpc>
                <a:spcPct val="90000"/>
              </a:lnSpc>
              <a:buClr>
                <a:schemeClr val="tx1"/>
              </a:buClr>
            </a:pPr>
            <a:r>
              <a:rPr lang="ko-KR" altLang="en-US" sz="2800"/>
              <a:t>최빈값</a:t>
            </a:r>
            <a:r>
              <a:rPr lang="en-US" altLang="ko-KR" sz="2800"/>
              <a:t>(mode) :</a:t>
            </a:r>
            <a:r>
              <a:rPr lang="ko-KR" altLang="en-US" sz="2800"/>
              <a:t>가장 자주 나오는 값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2057400" y="3276600"/>
          <a:ext cx="8382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" name="Equation" r:id="rId3" imgW="507960" imgH="444240" progId="Equation.3">
                  <p:embed/>
                </p:oleObj>
              </mc:Choice>
              <mc:Fallback>
                <p:oleObj name="Equation" r:id="rId3" imgW="507960" imgH="4442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276600"/>
                        <a:ext cx="838200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5"/>
          <p:cNvGraphicFramePr>
            <a:graphicFrameLocks noChangeAspect="1"/>
          </p:cNvGraphicFramePr>
          <p:nvPr/>
        </p:nvGraphicFramePr>
        <p:xfrm>
          <a:off x="2209800" y="4572000"/>
          <a:ext cx="37941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" name="Equation" r:id="rId5" imgW="164880" imgH="444240" progId="Equation.3">
                  <p:embed/>
                </p:oleObj>
              </mc:Choice>
              <mc:Fallback>
                <p:oleObj name="Equation" r:id="rId5" imgW="164880" imgH="4442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572000"/>
                        <a:ext cx="379413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 noChangeAspect="1"/>
          </p:cNvGraphicFramePr>
          <p:nvPr/>
        </p:nvGraphicFramePr>
        <p:xfrm>
          <a:off x="4419600" y="4648200"/>
          <a:ext cx="65246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" name="Equation" r:id="rId7" imgW="380880" imgH="444240" progId="Equation.3">
                  <p:embed/>
                </p:oleObj>
              </mc:Choice>
              <mc:Fallback>
                <p:oleObj name="Equation" r:id="rId7" imgW="380880" imgH="4442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4648200"/>
                        <a:ext cx="652463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ko-KR" altLang="en-US" sz="2800" dirty="0">
                <a:solidFill>
                  <a:schemeClr val="tx2"/>
                </a:solidFill>
              </a:rPr>
              <a:t>예제</a:t>
            </a:r>
            <a:r>
              <a:rPr lang="en-US" altLang="ko-KR" sz="2800" dirty="0">
                <a:solidFill>
                  <a:schemeClr val="tx2"/>
                </a:solidFill>
              </a:rPr>
              <a:t>) </a:t>
            </a:r>
            <a:r>
              <a:rPr lang="en-US" altLang="ko-KR" sz="2800" dirty="0"/>
              <a:t>6</a:t>
            </a:r>
            <a:r>
              <a:rPr lang="ko-KR" altLang="en-US" sz="2800" dirty="0"/>
              <a:t>명의 성적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ko-KR" altLang="en-US" sz="2800" dirty="0"/>
              <a:t> </a:t>
            </a:r>
            <a:r>
              <a:rPr lang="en-US" altLang="ko-KR" sz="2800" dirty="0"/>
              <a:t>89(5), 74(2), 91(6), 88(4), 72(1), 84(3)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/>
              <a:t>     </a:t>
            </a:r>
            <a:r>
              <a:rPr lang="ko-KR" altLang="en-US" sz="2800" dirty="0"/>
              <a:t>평균</a:t>
            </a:r>
            <a:r>
              <a:rPr lang="en-US" altLang="ko-KR" sz="2800" dirty="0"/>
              <a:t>=83,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/>
              <a:t>     </a:t>
            </a:r>
            <a:r>
              <a:rPr lang="ko-KR" altLang="en-US" sz="2800" dirty="0"/>
              <a:t>중앙값</a:t>
            </a:r>
            <a:r>
              <a:rPr lang="en-US" altLang="ko-KR" sz="2800" dirty="0"/>
              <a:t>=(3</a:t>
            </a:r>
            <a:r>
              <a:rPr lang="ko-KR" altLang="en-US" sz="2800" dirty="0"/>
              <a:t>번째 성적</a:t>
            </a:r>
            <a:r>
              <a:rPr lang="en-US" altLang="ko-KR" sz="2800" dirty="0"/>
              <a:t>+4</a:t>
            </a:r>
            <a:r>
              <a:rPr lang="ko-KR" altLang="en-US" sz="2800" dirty="0"/>
              <a:t>번째 성적</a:t>
            </a:r>
            <a:r>
              <a:rPr lang="en-US" altLang="ko-KR" sz="2800" dirty="0"/>
              <a:t>)/2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/>
              <a:t>              = (84+88)=86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ko-KR" sz="28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>
                <a:solidFill>
                  <a:schemeClr val="tx2"/>
                </a:solidFill>
              </a:rPr>
              <a:t>p52 </a:t>
            </a:r>
            <a:r>
              <a:rPr lang="ko-KR" altLang="en-US" sz="2800" dirty="0">
                <a:solidFill>
                  <a:schemeClr val="tx2"/>
                </a:solidFill>
              </a:rPr>
              <a:t>예제</a:t>
            </a:r>
            <a:r>
              <a:rPr lang="en-US" altLang="ko-KR" sz="2800" dirty="0">
                <a:solidFill>
                  <a:schemeClr val="tx2"/>
                </a:solidFill>
              </a:rPr>
              <a:t>4) </a:t>
            </a:r>
            <a:r>
              <a:rPr lang="en-US" altLang="ko-KR" sz="2800" dirty="0"/>
              <a:t>6</a:t>
            </a:r>
            <a:r>
              <a:rPr lang="ko-KR" altLang="en-US" sz="2800" dirty="0"/>
              <a:t>명의 성적</a:t>
            </a:r>
            <a:r>
              <a:rPr lang="en-US" altLang="ko-KR" sz="2800" dirty="0"/>
              <a:t>/</a:t>
            </a:r>
            <a:r>
              <a:rPr lang="ko-KR" altLang="en-US" sz="2800" dirty="0"/>
              <a:t>한 명의 성적 변동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ko-KR" altLang="en-US" sz="2800" dirty="0"/>
              <a:t> </a:t>
            </a:r>
            <a:r>
              <a:rPr lang="en-US" altLang="ko-KR" sz="2800" dirty="0"/>
              <a:t>89(5), </a:t>
            </a:r>
            <a:r>
              <a:rPr lang="en-US" altLang="ko-KR" sz="2800" dirty="0">
                <a:solidFill>
                  <a:srgbClr val="FF0000"/>
                </a:solidFill>
              </a:rPr>
              <a:t>50</a:t>
            </a:r>
            <a:r>
              <a:rPr lang="en-US" altLang="ko-KR" sz="2800" dirty="0"/>
              <a:t>(</a:t>
            </a:r>
            <a:r>
              <a:rPr lang="en-US" altLang="ko-KR" sz="2800" dirty="0">
                <a:solidFill>
                  <a:srgbClr val="FF0000"/>
                </a:solidFill>
              </a:rPr>
              <a:t>1</a:t>
            </a:r>
            <a:r>
              <a:rPr lang="en-US" altLang="ko-KR" sz="2800" dirty="0"/>
              <a:t>), 91(6), 88(4), 72(</a:t>
            </a:r>
            <a:r>
              <a:rPr lang="en-US" altLang="ko-KR" sz="2800" dirty="0">
                <a:solidFill>
                  <a:srgbClr val="FF0000"/>
                </a:solidFill>
              </a:rPr>
              <a:t>2</a:t>
            </a:r>
            <a:r>
              <a:rPr lang="en-US" altLang="ko-KR" sz="2800" dirty="0"/>
              <a:t>), 84(3)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/>
              <a:t>     </a:t>
            </a:r>
            <a:r>
              <a:rPr lang="ko-KR" altLang="en-US" sz="2800" dirty="0"/>
              <a:t>평균</a:t>
            </a:r>
            <a:r>
              <a:rPr lang="en-US" altLang="ko-KR" sz="2800" dirty="0"/>
              <a:t>=79,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/>
              <a:t>     </a:t>
            </a:r>
            <a:r>
              <a:rPr lang="ko-KR" altLang="en-US" sz="2800" dirty="0"/>
              <a:t>중앙값</a:t>
            </a:r>
            <a:r>
              <a:rPr lang="en-US" altLang="ko-KR" sz="2800" dirty="0"/>
              <a:t>=(3</a:t>
            </a:r>
            <a:r>
              <a:rPr lang="ko-KR" altLang="en-US" sz="2800" dirty="0"/>
              <a:t>번째 성적</a:t>
            </a:r>
            <a:r>
              <a:rPr lang="en-US" altLang="ko-KR" sz="2800" dirty="0"/>
              <a:t>+4</a:t>
            </a:r>
            <a:r>
              <a:rPr lang="ko-KR" altLang="en-US" sz="2800" dirty="0"/>
              <a:t>번째 성적</a:t>
            </a:r>
            <a:r>
              <a:rPr lang="en-US" altLang="ko-KR" sz="2800" dirty="0"/>
              <a:t>)/2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/>
              <a:t>              = (84+88)=86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/>
              <a:t>=&gt; </a:t>
            </a:r>
            <a:r>
              <a:rPr lang="ko-KR" altLang="en-US" sz="2800" dirty="0"/>
              <a:t>평균은 극단적인 값에 영향을 받는다</a:t>
            </a:r>
            <a:endParaRPr lang="en-US" altLang="ko-KR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/>
          <p:cNvSpPr>
            <a:spLocks noGrp="1"/>
          </p:cNvSpPr>
          <p:nvPr>
            <p:ph type="title"/>
          </p:nvPr>
        </p:nvSpPr>
        <p:spPr>
          <a:xfrm>
            <a:off x="1143000" y="500063"/>
            <a:ext cx="7793038" cy="623887"/>
          </a:xfrm>
        </p:spPr>
        <p:txBody>
          <a:bodyPr/>
          <a:lstStyle/>
          <a:p>
            <a:pPr eaLnBrk="1" hangingPunct="1"/>
            <a:r>
              <a:rPr lang="ko-KR" altLang="en-US"/>
              <a:t>중심위치의 측도</a:t>
            </a:r>
          </a:p>
        </p:txBody>
      </p:sp>
      <p:pic>
        <p:nvPicPr>
          <p:cNvPr id="9219" name="내용 개체 틀 3" descr="053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00125" y="1571625"/>
            <a:ext cx="6557963" cy="4214813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B3093C-ACD5-4939-B385-A1FD6D3D591E}"/>
              </a:ext>
            </a:extLst>
          </p:cNvPr>
          <p:cNvSpPr txBox="1"/>
          <p:nvPr/>
        </p:nvSpPr>
        <p:spPr>
          <a:xfrm>
            <a:off x="1907704" y="6165304"/>
            <a:ext cx="56166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출저</a:t>
            </a:r>
            <a:r>
              <a:rPr lang="en-US" altLang="ko-KR" sz="1100" dirty="0"/>
              <a:t>: (</a:t>
            </a:r>
            <a:r>
              <a:rPr lang="ko-KR" altLang="en-US" sz="1100" dirty="0"/>
              <a:t>부교재</a:t>
            </a:r>
            <a:r>
              <a:rPr lang="en-US" altLang="ko-KR" sz="1100" dirty="0"/>
              <a:t>)</a:t>
            </a:r>
            <a:r>
              <a:rPr lang="ko-KR" altLang="en-US" sz="1100" dirty="0"/>
              <a:t>엑셀을 이용한 통계학</a:t>
            </a:r>
            <a:r>
              <a:rPr lang="en-US" altLang="ko-KR" sz="1100" dirty="0"/>
              <a:t>, </a:t>
            </a:r>
            <a:r>
              <a:rPr lang="ko-KR" altLang="en-US" sz="1100" dirty="0"/>
              <a:t>자유아카데미</a:t>
            </a:r>
            <a:r>
              <a:rPr lang="en-US" altLang="ko-KR" sz="1100" dirty="0"/>
              <a:t>, </a:t>
            </a:r>
            <a:r>
              <a:rPr lang="ko-KR" altLang="en-US" sz="1100" dirty="0"/>
              <a:t>김진경 외 </a:t>
            </a:r>
            <a:r>
              <a:rPr lang="en-US" altLang="ko-KR" sz="1100" dirty="0"/>
              <a:t>5</a:t>
            </a:r>
            <a:r>
              <a:rPr lang="ko-KR" altLang="en-US" sz="1100" dirty="0"/>
              <a:t>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/>
          <p:cNvSpPr>
            <a:spLocks noGrp="1"/>
          </p:cNvSpPr>
          <p:nvPr>
            <p:ph type="title"/>
          </p:nvPr>
        </p:nvSpPr>
        <p:spPr>
          <a:xfrm>
            <a:off x="1143000" y="571500"/>
            <a:ext cx="7793038" cy="552450"/>
          </a:xfrm>
        </p:spPr>
        <p:txBody>
          <a:bodyPr/>
          <a:lstStyle/>
          <a:p>
            <a:pPr eaLnBrk="1" hangingPunct="1"/>
            <a:r>
              <a:rPr lang="en-US" altLang="ko-KR" sz="3200"/>
              <a:t>2. </a:t>
            </a:r>
            <a:r>
              <a:rPr lang="ko-KR" altLang="en-US" sz="3200"/>
              <a:t>퍼진 정도의 측도</a:t>
            </a:r>
          </a:p>
        </p:txBody>
      </p:sp>
      <p:pic>
        <p:nvPicPr>
          <p:cNvPr id="10243" name="내용 개체 틀 3" descr="059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43063" y="2786063"/>
            <a:ext cx="5330825" cy="2641600"/>
          </a:xfrm>
        </p:spPr>
      </p:pic>
      <p:sp>
        <p:nvSpPr>
          <p:cNvPr id="10244" name="TextBox 4"/>
          <p:cNvSpPr txBox="1">
            <a:spLocks noChangeArrowheads="1"/>
          </p:cNvSpPr>
          <p:nvPr/>
        </p:nvSpPr>
        <p:spPr bwMode="auto">
          <a:xfrm>
            <a:off x="1357313" y="1714500"/>
            <a:ext cx="6000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charset="-127"/>
              </a:defRPr>
            </a:lvl9pPr>
          </a:lstStyle>
          <a:p>
            <a:pPr eaLnBrk="1" hangingPunct="1"/>
            <a:r>
              <a:rPr lang="ko-KR" altLang="en-US"/>
              <a:t>중심위치는 같으나 퍼진 정도가 다른 분포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6F04FF-09BB-4E63-8D06-660B65281430}"/>
              </a:ext>
            </a:extLst>
          </p:cNvPr>
          <p:cNvSpPr txBox="1"/>
          <p:nvPr/>
        </p:nvSpPr>
        <p:spPr>
          <a:xfrm>
            <a:off x="4427984" y="2809876"/>
            <a:ext cx="1656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분산이 작은 경우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CE326B-8A4D-484A-898E-526ECF880B49}"/>
              </a:ext>
            </a:extLst>
          </p:cNvPr>
          <p:cNvSpPr txBox="1"/>
          <p:nvPr/>
        </p:nvSpPr>
        <p:spPr>
          <a:xfrm>
            <a:off x="1907704" y="3952974"/>
            <a:ext cx="1656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분산이 큰 경우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A12736D6-67E2-4705-A693-525ECA1F198A}"/>
              </a:ext>
            </a:extLst>
          </p:cNvPr>
          <p:cNvCxnSpPr/>
          <p:nvPr/>
        </p:nvCxnSpPr>
        <p:spPr bwMode="auto">
          <a:xfrm flipH="1">
            <a:off x="4572000" y="3117653"/>
            <a:ext cx="828092" cy="31134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5840AF8A-361C-452F-B7E8-207E5E6ACEE9}"/>
              </a:ext>
            </a:extLst>
          </p:cNvPr>
          <p:cNvCxnSpPr/>
          <p:nvPr/>
        </p:nvCxnSpPr>
        <p:spPr bwMode="auto">
          <a:xfrm>
            <a:off x="2483768" y="4260751"/>
            <a:ext cx="432048" cy="3203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FBE8272-5AF7-487E-83D4-2173C9ACA347}"/>
              </a:ext>
            </a:extLst>
          </p:cNvPr>
          <p:cNvSpPr txBox="1"/>
          <p:nvPr/>
        </p:nvSpPr>
        <p:spPr>
          <a:xfrm>
            <a:off x="1907704" y="6165304"/>
            <a:ext cx="56166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출저</a:t>
            </a:r>
            <a:r>
              <a:rPr lang="en-US" altLang="ko-KR" sz="1100" dirty="0"/>
              <a:t>: (</a:t>
            </a:r>
            <a:r>
              <a:rPr lang="ko-KR" altLang="en-US" sz="1100" dirty="0"/>
              <a:t>부교재</a:t>
            </a:r>
            <a:r>
              <a:rPr lang="en-US" altLang="ko-KR" sz="1100" dirty="0"/>
              <a:t>)</a:t>
            </a:r>
            <a:r>
              <a:rPr lang="ko-KR" altLang="en-US" sz="1100" dirty="0"/>
              <a:t>엑셀을 이용한 통계학</a:t>
            </a:r>
            <a:r>
              <a:rPr lang="en-US" altLang="ko-KR" sz="1100" dirty="0"/>
              <a:t>, </a:t>
            </a:r>
            <a:r>
              <a:rPr lang="ko-KR" altLang="en-US" sz="1100" dirty="0"/>
              <a:t>자유아카데미</a:t>
            </a:r>
            <a:r>
              <a:rPr lang="en-US" altLang="ko-KR" sz="1100" dirty="0"/>
              <a:t>, </a:t>
            </a:r>
            <a:r>
              <a:rPr lang="ko-KR" altLang="en-US" sz="1100" dirty="0"/>
              <a:t>김진경 외 </a:t>
            </a:r>
            <a:r>
              <a:rPr lang="en-US" altLang="ko-KR" sz="1100" dirty="0"/>
              <a:t>5</a:t>
            </a:r>
            <a:r>
              <a:rPr lang="ko-KR" altLang="en-US" sz="1100" dirty="0"/>
              <a:t>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524000"/>
            <a:ext cx="7467600" cy="4495800"/>
          </a:xfrm>
        </p:spPr>
        <p:txBody>
          <a:bodyPr/>
          <a:lstStyle/>
          <a:p>
            <a:pPr marL="609600" indent="-609600" eaLnBrk="1" hangingPunct="1">
              <a:buFont typeface="Wingdings" pitchFamily="2" charset="2"/>
              <a:buNone/>
            </a:pPr>
            <a:r>
              <a:rPr lang="en-US" altLang="ko-KR"/>
              <a:t>1) </a:t>
            </a:r>
            <a:r>
              <a:rPr lang="ko-KR" altLang="en-US"/>
              <a:t>분산</a:t>
            </a:r>
            <a:r>
              <a:rPr lang="en-US" altLang="ko-KR"/>
              <a:t>(Variance)</a:t>
            </a:r>
            <a:r>
              <a:rPr lang="ko-KR" altLang="en-US"/>
              <a:t>과 표준편차 </a:t>
            </a:r>
            <a:r>
              <a:rPr lang="en-US" altLang="ko-KR"/>
              <a:t>(Standard Deviation): </a:t>
            </a:r>
            <a:r>
              <a:rPr lang="ko-KR" altLang="en-US"/>
              <a:t>관측값이 자료의 중심 위치로부터 떨어진 정도</a:t>
            </a:r>
            <a:r>
              <a:rPr lang="en-US" altLang="ko-KR"/>
              <a:t>.</a:t>
            </a:r>
          </a:p>
          <a:p>
            <a:pPr marL="609600" indent="-609600" eaLnBrk="1" hangingPunct="1">
              <a:buFontTx/>
              <a:buAutoNum type="arabicParenR"/>
            </a:pPr>
            <a:endParaRPr lang="en-US" altLang="ko-KR"/>
          </a:p>
          <a:p>
            <a:pPr marL="609600" indent="-609600" eaLnBrk="1" hangingPunct="1">
              <a:buFontTx/>
              <a:buNone/>
            </a:pPr>
            <a:r>
              <a:rPr lang="en-US" altLang="ko-KR"/>
              <a:t> </a:t>
            </a:r>
          </a:p>
        </p:txBody>
      </p:sp>
      <p:sp>
        <p:nvSpPr>
          <p:cNvPr id="2056" name="Rectangle 11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8001000" cy="914400"/>
          </a:xfrm>
          <a:noFill/>
        </p:spPr>
        <p:txBody>
          <a:bodyPr anchor="ctr"/>
          <a:lstStyle/>
          <a:p>
            <a:pPr marL="838200" indent="-838200" eaLnBrk="1" hangingPunct="1"/>
            <a:r>
              <a:rPr lang="en-US" altLang="ko-KR" sz="3200"/>
              <a:t>2. </a:t>
            </a:r>
            <a:r>
              <a:rPr lang="ko-KR" altLang="en-US" sz="3200"/>
              <a:t>퍼진 정도의 측도</a:t>
            </a:r>
            <a:r>
              <a:rPr lang="en-US" altLang="ko-KR" sz="2800"/>
              <a:t>(Measure of Dispersion)</a:t>
            </a:r>
          </a:p>
        </p:txBody>
      </p:sp>
      <p:graphicFrame>
        <p:nvGraphicFramePr>
          <p:cNvPr id="2050" name="Object 12"/>
          <p:cNvGraphicFramePr>
            <a:graphicFrameLocks noChangeAspect="1"/>
          </p:cNvGraphicFramePr>
          <p:nvPr/>
        </p:nvGraphicFramePr>
        <p:xfrm>
          <a:off x="4500563" y="4071938"/>
          <a:ext cx="3581400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7" name="Equation" r:id="rId3" imgW="2070000" imgH="647640" progId="Equation.3">
                  <p:embed/>
                </p:oleObj>
              </mc:Choice>
              <mc:Fallback>
                <p:oleObj name="Equation" r:id="rId3" imgW="2070000" imgH="6476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4071938"/>
                        <a:ext cx="3581400" cy="112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13"/>
          <p:cNvGraphicFramePr>
            <a:graphicFrameLocks noChangeAspect="1"/>
          </p:cNvGraphicFramePr>
          <p:nvPr/>
        </p:nvGraphicFramePr>
        <p:xfrm>
          <a:off x="1214438" y="3286125"/>
          <a:ext cx="314325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8" name="Equation" r:id="rId5" imgW="1600200" imgH="253800" progId="Equation.3">
                  <p:embed/>
                </p:oleObj>
              </mc:Choice>
              <mc:Fallback>
                <p:oleObj name="Equation" r:id="rId5" imgW="1600200" imgH="2538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3286125"/>
                        <a:ext cx="314325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16"/>
          <p:cNvGraphicFramePr>
            <a:graphicFrameLocks noChangeAspect="1"/>
          </p:cNvGraphicFramePr>
          <p:nvPr/>
        </p:nvGraphicFramePr>
        <p:xfrm>
          <a:off x="4572000" y="5486400"/>
          <a:ext cx="2209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9" name="Equation" r:id="rId7" imgW="1371600" imgH="228600" progId="Equation.3">
                  <p:embed/>
                </p:oleObj>
              </mc:Choice>
              <mc:Fallback>
                <p:oleObj name="Equation" r:id="rId7" imgW="1371600" imgH="2286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486400"/>
                        <a:ext cx="2209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" name="Object 17"/>
          <p:cNvGraphicFramePr>
            <a:graphicFrameLocks noChangeAspect="1"/>
          </p:cNvGraphicFramePr>
          <p:nvPr/>
        </p:nvGraphicFramePr>
        <p:xfrm>
          <a:off x="857250" y="4000500"/>
          <a:ext cx="3095625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0" name="Equation" r:id="rId9" imgW="1955520" imgH="647640" progId="Equation.3">
                  <p:embed/>
                </p:oleObj>
              </mc:Choice>
              <mc:Fallback>
                <p:oleObj name="Equation" r:id="rId9" imgW="1955520" imgH="6476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4000500"/>
                        <a:ext cx="3095625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4" name="Object 18"/>
          <p:cNvGraphicFramePr>
            <a:graphicFrameLocks noChangeAspect="1"/>
          </p:cNvGraphicFramePr>
          <p:nvPr/>
        </p:nvGraphicFramePr>
        <p:xfrm>
          <a:off x="1905000" y="5410200"/>
          <a:ext cx="169862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1" name="Equation" r:id="rId11" imgW="1054080" imgH="228600" progId="Equation.3">
                  <p:embed/>
                </p:oleObj>
              </mc:Choice>
              <mc:Fallback>
                <p:oleObj name="Equation" r:id="rId11" imgW="1054080" imgH="2286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410200"/>
                        <a:ext cx="1698625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512" y="476672"/>
            <a:ext cx="8496944" cy="51054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2) </a:t>
            </a:r>
            <a:r>
              <a:rPr lang="ko-KR" altLang="en-US" sz="2800" dirty="0"/>
              <a:t>백분위수</a:t>
            </a:r>
            <a:r>
              <a:rPr lang="en-US" altLang="ko-KR" sz="2800" dirty="0"/>
              <a:t>(Percentile) </a:t>
            </a:r>
            <a:r>
              <a:rPr lang="ko-KR" altLang="en-US" sz="2800" dirty="0"/>
              <a:t>와 </a:t>
            </a:r>
            <a:r>
              <a:rPr lang="ko-KR" altLang="en-US" sz="2800" dirty="0" err="1"/>
              <a:t>사분위수범위</a:t>
            </a:r>
            <a:r>
              <a:rPr lang="en-US" altLang="ko-KR" sz="2800" dirty="0"/>
              <a:t>(interquartile range)</a:t>
            </a:r>
          </a:p>
          <a:p>
            <a:pPr eaLnBrk="1" hangingPunct="1">
              <a:buFont typeface="Wingdings" pitchFamily="2" charset="2"/>
              <a:buNone/>
            </a:pPr>
            <a:endParaRPr lang="en-US" altLang="ko-KR" dirty="0"/>
          </a:p>
          <a:p>
            <a:pPr eaLnBrk="1" hangingPunct="1">
              <a:buFont typeface="Wingdings" pitchFamily="2" charset="2"/>
              <a:buNone/>
            </a:pPr>
            <a:r>
              <a:rPr lang="en-US" altLang="ko-KR" sz="2800" dirty="0"/>
              <a:t>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sz="2800" dirty="0"/>
              <a:t>    </a:t>
            </a:r>
            <a:r>
              <a:rPr lang="ko-KR" altLang="en-US" sz="2400" dirty="0"/>
              <a:t>최소</a:t>
            </a:r>
            <a:r>
              <a:rPr lang="en-US" altLang="ko-KR" sz="2400" dirty="0"/>
              <a:t>(0%)</a:t>
            </a:r>
            <a:r>
              <a:rPr lang="ko-KR" altLang="en-US" sz="2400" dirty="0"/>
              <a:t>        </a:t>
            </a:r>
            <a:r>
              <a:rPr lang="en-US" altLang="ko-KR" sz="2400" dirty="0"/>
              <a:t>25%      50%     75%      </a:t>
            </a:r>
            <a:r>
              <a:rPr lang="ko-KR" altLang="en-US" sz="2400" dirty="0"/>
              <a:t>최대</a:t>
            </a:r>
            <a:r>
              <a:rPr lang="en-US" altLang="ko-KR" sz="2400" dirty="0"/>
              <a:t>(100%)</a:t>
            </a:r>
            <a:endParaRPr lang="ko-KR" altLang="en-US" sz="2400" dirty="0"/>
          </a:p>
          <a:p>
            <a:pPr eaLnBrk="1" hangingPunct="1"/>
            <a:endParaRPr lang="ko-KR" altLang="en-US" dirty="0"/>
          </a:p>
          <a:p>
            <a:pPr eaLnBrk="1" hangingPunct="1"/>
            <a:r>
              <a:rPr lang="ko-KR" altLang="en-US" sz="2400" dirty="0"/>
              <a:t>크기가 있는 값들로 이뤄진 자료를 순서대로 나열했을 때 </a:t>
            </a:r>
            <a:r>
              <a:rPr lang="ko-KR" altLang="en-US" sz="2400" dirty="0">
                <a:hlinkClick r:id="rId2" tooltip="백분율"/>
              </a:rPr>
              <a:t>백분율</a:t>
            </a:r>
            <a:r>
              <a:rPr lang="ko-KR" altLang="en-US" sz="2400" dirty="0"/>
              <a:t>로 나타낸 특정 위치의 값</a:t>
            </a:r>
            <a:endParaRPr lang="en-US" altLang="ko-KR" sz="2400" dirty="0"/>
          </a:p>
          <a:p>
            <a:pPr eaLnBrk="1" hangingPunct="1"/>
            <a:r>
              <a:rPr lang="ko-KR" altLang="en-US" sz="2400" dirty="0"/>
              <a:t>중앙값</a:t>
            </a:r>
            <a:r>
              <a:rPr lang="en-US" altLang="ko-KR" sz="2400" dirty="0"/>
              <a:t>=50%</a:t>
            </a:r>
            <a:r>
              <a:rPr lang="ko-KR" altLang="en-US" sz="2400" dirty="0"/>
              <a:t>백분위수</a:t>
            </a:r>
            <a:endParaRPr lang="en-US" altLang="ko-KR" sz="2400" dirty="0"/>
          </a:p>
          <a:p>
            <a:pPr eaLnBrk="1" hangingPunct="1"/>
            <a:r>
              <a:rPr lang="ko-KR" altLang="en-US" sz="2400" dirty="0"/>
              <a:t>데이터를 </a:t>
            </a:r>
            <a:r>
              <a:rPr lang="en-US" altLang="ko-KR" sz="2400" dirty="0"/>
              <a:t>4</a:t>
            </a:r>
            <a:r>
              <a:rPr lang="ko-KR" altLang="en-US" sz="2400" dirty="0"/>
              <a:t>등분 하였을 때 적은 것으로부터 </a:t>
            </a:r>
            <a:r>
              <a:rPr lang="en-US" altLang="ko-KR" sz="2400" dirty="0"/>
              <a:t>¼(25%), ½(50%), ¾(75%) </a:t>
            </a:r>
            <a:r>
              <a:rPr lang="ko-KR" altLang="en-US" sz="2400" dirty="0"/>
              <a:t>자리의 값</a:t>
            </a:r>
          </a:p>
        </p:txBody>
      </p:sp>
      <p:sp>
        <p:nvSpPr>
          <p:cNvPr id="11267" name="Line 3"/>
          <p:cNvSpPr>
            <a:spLocks noChangeShapeType="1"/>
          </p:cNvSpPr>
          <p:nvPr/>
        </p:nvSpPr>
        <p:spPr bwMode="auto">
          <a:xfrm>
            <a:off x="1676400" y="2204864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268" name="Line 4"/>
          <p:cNvSpPr>
            <a:spLocks noChangeShapeType="1"/>
          </p:cNvSpPr>
          <p:nvPr/>
        </p:nvSpPr>
        <p:spPr bwMode="auto">
          <a:xfrm>
            <a:off x="1676400" y="213529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269" name="Line 5"/>
          <p:cNvSpPr>
            <a:spLocks noChangeShapeType="1"/>
          </p:cNvSpPr>
          <p:nvPr/>
        </p:nvSpPr>
        <p:spPr bwMode="auto">
          <a:xfrm>
            <a:off x="6629400" y="2125351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270" name="Line 6"/>
          <p:cNvSpPr>
            <a:spLocks noChangeShapeType="1"/>
          </p:cNvSpPr>
          <p:nvPr/>
        </p:nvSpPr>
        <p:spPr bwMode="auto">
          <a:xfrm>
            <a:off x="4152900" y="213529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271" name="Line 7"/>
          <p:cNvSpPr>
            <a:spLocks noChangeShapeType="1"/>
          </p:cNvSpPr>
          <p:nvPr/>
        </p:nvSpPr>
        <p:spPr bwMode="auto">
          <a:xfrm>
            <a:off x="2915816" y="213529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272" name="Line 8"/>
          <p:cNvSpPr>
            <a:spLocks noChangeShapeType="1"/>
          </p:cNvSpPr>
          <p:nvPr/>
        </p:nvSpPr>
        <p:spPr bwMode="auto">
          <a:xfrm>
            <a:off x="5364088" y="2125351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12775" y="650875"/>
            <a:ext cx="7918450" cy="555625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2) </a:t>
            </a:r>
            <a:r>
              <a:rPr lang="ko-KR" altLang="en-US" dirty="0"/>
              <a:t>백분위수</a:t>
            </a:r>
            <a:r>
              <a:rPr lang="en-US" altLang="ko-KR" dirty="0"/>
              <a:t>(Percentile) </a:t>
            </a:r>
            <a:r>
              <a:rPr lang="ko-KR" altLang="en-US" dirty="0"/>
              <a:t>와 사분위수범위</a:t>
            </a:r>
            <a:r>
              <a:rPr lang="en-US" altLang="ko-KR" dirty="0"/>
              <a:t>(interquartile range)</a:t>
            </a:r>
          </a:p>
          <a:p>
            <a:pPr eaLnBrk="1" hangingPunct="1">
              <a:buFont typeface="Wingdings" pitchFamily="2" charset="2"/>
              <a:buNone/>
            </a:pPr>
            <a:endParaRPr lang="en-US" altLang="ko-KR" sz="1800" dirty="0"/>
          </a:p>
          <a:p>
            <a:pPr eaLnBrk="1" hangingPunct="1"/>
            <a:r>
              <a:rPr lang="ko-KR" altLang="en-US" dirty="0"/>
              <a:t>제 </a:t>
            </a:r>
            <a:r>
              <a:rPr lang="en-US" altLang="ko-KR" dirty="0"/>
              <a:t>100xp </a:t>
            </a:r>
            <a:r>
              <a:rPr lang="ko-KR" altLang="en-US" dirty="0"/>
              <a:t>백분위수</a:t>
            </a:r>
            <a:r>
              <a:rPr lang="en-US" altLang="ko-KR" dirty="0"/>
              <a:t>(the 100xpth percentile, </a:t>
            </a:r>
            <a:r>
              <a:rPr lang="ko-KR" altLang="en-US" dirty="0"/>
              <a:t>여기서 </a:t>
            </a:r>
            <a:r>
              <a:rPr lang="en-US" altLang="ko-KR" dirty="0"/>
              <a:t>0&lt;p&lt;1)</a:t>
            </a:r>
          </a:p>
          <a:p>
            <a:pPr lvl="1" eaLnBrk="1" hangingPunct="1"/>
            <a:r>
              <a:rPr lang="ko-KR" altLang="en-US" dirty="0"/>
              <a:t>전체 </a:t>
            </a:r>
            <a:r>
              <a:rPr lang="ko-KR" altLang="en-US" dirty="0" err="1"/>
              <a:t>관측값을</a:t>
            </a:r>
            <a:r>
              <a:rPr lang="ko-KR" altLang="en-US" dirty="0"/>
              <a:t> </a:t>
            </a:r>
            <a:r>
              <a:rPr lang="en-US" altLang="ko-KR" dirty="0"/>
              <a:t>(100xp)%</a:t>
            </a:r>
            <a:r>
              <a:rPr lang="ko-KR" altLang="en-US" dirty="0"/>
              <a:t>와 </a:t>
            </a:r>
            <a:r>
              <a:rPr lang="en-US" altLang="ko-KR" dirty="0"/>
              <a:t>100x(1-p)%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나눌 수 있는 값</a:t>
            </a:r>
          </a:p>
          <a:p>
            <a:pPr lvl="1" eaLnBrk="1" hangingPunct="1"/>
            <a:r>
              <a:rPr lang="ko-KR" altLang="en-US" dirty="0"/>
              <a:t>자료수가 </a:t>
            </a:r>
            <a:r>
              <a:rPr lang="en-US" altLang="ko-KR" b="1" dirty="0"/>
              <a:t>n</a:t>
            </a:r>
            <a:r>
              <a:rPr lang="ko-KR" altLang="en-US" dirty="0" err="1"/>
              <a:t>일때</a:t>
            </a:r>
            <a:r>
              <a:rPr lang="en-US" altLang="ko-KR" dirty="0"/>
              <a:t>, </a:t>
            </a:r>
            <a:r>
              <a:rPr lang="ko-KR" altLang="en-US" dirty="0"/>
              <a:t>그 값보다 작거나 같은 </a:t>
            </a:r>
            <a:r>
              <a:rPr lang="ko-KR" altLang="en-US" dirty="0" err="1"/>
              <a:t>관측값의</a:t>
            </a:r>
            <a:r>
              <a:rPr lang="ko-KR" altLang="en-US" dirty="0"/>
              <a:t> 수가 </a:t>
            </a:r>
            <a:r>
              <a:rPr lang="en-US" altLang="ko-KR" sz="3200" dirty="0" err="1"/>
              <a:t>np</a:t>
            </a:r>
            <a:r>
              <a:rPr lang="ko-KR" altLang="en-US" dirty="0"/>
              <a:t>개 이상</a:t>
            </a:r>
            <a:r>
              <a:rPr lang="en-US" altLang="ko-KR" dirty="0"/>
              <a:t>, </a:t>
            </a:r>
            <a:r>
              <a:rPr lang="ko-KR" altLang="en-US" dirty="0"/>
              <a:t>크거나 같은 </a:t>
            </a:r>
            <a:r>
              <a:rPr lang="ko-KR" altLang="en-US" dirty="0" err="1"/>
              <a:t>관측값이</a:t>
            </a:r>
            <a:r>
              <a:rPr lang="ko-KR" altLang="en-US" dirty="0"/>
              <a:t> </a:t>
            </a:r>
            <a:r>
              <a:rPr lang="en-US" altLang="ko-KR" sz="3200" dirty="0"/>
              <a:t>n(1-p)</a:t>
            </a:r>
            <a:r>
              <a:rPr lang="ko-KR" altLang="en-US" dirty="0"/>
              <a:t>개 이상인 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11188" y="404813"/>
            <a:ext cx="7467600" cy="554513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altLang="ko-KR" sz="2800" dirty="0"/>
              <a:t>(100xp)%</a:t>
            </a:r>
            <a:r>
              <a:rPr lang="ko-KR" altLang="en-US" sz="2800" dirty="0"/>
              <a:t>백분위수 구하는 법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ko-KR" altLang="en-US" sz="28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ko-KR" altLang="en-US" sz="2800" dirty="0"/>
              <a:t>		</a:t>
            </a:r>
            <a:r>
              <a:rPr lang="en-US" altLang="ko-KR" sz="2800" dirty="0"/>
              <a:t>1. </a:t>
            </a:r>
            <a:r>
              <a:rPr lang="ko-KR" altLang="en-US" sz="2800" dirty="0" err="1"/>
              <a:t>관측값을</a:t>
            </a:r>
            <a:r>
              <a:rPr lang="ko-KR" altLang="en-US" sz="2800" dirty="0"/>
              <a:t> 크기 순으로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ko-KR" altLang="en-US" sz="28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ko-KR" altLang="en-US" sz="2800" dirty="0"/>
              <a:t>		</a:t>
            </a:r>
            <a:r>
              <a:rPr lang="en-US" altLang="ko-KR" sz="2800" dirty="0"/>
              <a:t>2. </a:t>
            </a:r>
            <a:r>
              <a:rPr lang="en-US" altLang="ko-KR" sz="2800" dirty="0" err="1"/>
              <a:t>np</a:t>
            </a:r>
            <a:r>
              <a:rPr lang="ko-KR" altLang="en-US" sz="2800" dirty="0"/>
              <a:t>를 구한다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ko-KR" altLang="en-US" sz="28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ko-KR" altLang="en-US" sz="2800" dirty="0"/>
              <a:t>     	  </a:t>
            </a:r>
            <a:r>
              <a:rPr lang="en-US" altLang="ko-KR" sz="2800" dirty="0"/>
              <a:t>1) </a:t>
            </a:r>
            <a:r>
              <a:rPr lang="en-US" altLang="ko-KR" sz="2800" dirty="0" err="1"/>
              <a:t>np</a:t>
            </a:r>
            <a:r>
              <a:rPr lang="ko-KR" altLang="en-US" sz="2800" dirty="0"/>
              <a:t>가 정수이면 </a:t>
            </a:r>
            <a:r>
              <a:rPr lang="en-US" altLang="ko-KR" sz="2800" dirty="0" err="1"/>
              <a:t>np</a:t>
            </a:r>
            <a:r>
              <a:rPr lang="en-US" altLang="ko-KR" sz="2800" dirty="0"/>
              <a:t> </a:t>
            </a:r>
            <a:r>
              <a:rPr lang="ko-KR" altLang="en-US" sz="2800" dirty="0"/>
              <a:t>번째와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ko-KR" altLang="en-US" sz="2800" dirty="0"/>
              <a:t>              </a:t>
            </a:r>
            <a:r>
              <a:rPr lang="en-US" altLang="ko-KR" sz="2800" dirty="0"/>
              <a:t>np+1	</a:t>
            </a:r>
            <a:r>
              <a:rPr lang="ko-KR" altLang="en-US" sz="2800" dirty="0"/>
              <a:t>번째 </a:t>
            </a:r>
            <a:r>
              <a:rPr lang="ko-KR" altLang="en-US" sz="2800" dirty="0" err="1"/>
              <a:t>관측값의</a:t>
            </a:r>
            <a:r>
              <a:rPr lang="ko-KR" altLang="en-US" sz="2800" dirty="0"/>
              <a:t> 평균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ko-KR" altLang="en-US" sz="28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ko-KR" altLang="en-US" sz="2800" dirty="0"/>
              <a:t>		  </a:t>
            </a:r>
            <a:r>
              <a:rPr lang="en-US" altLang="ko-KR" sz="2800" dirty="0"/>
              <a:t>2) </a:t>
            </a:r>
            <a:r>
              <a:rPr lang="en-US" altLang="ko-KR" sz="2800" dirty="0" err="1"/>
              <a:t>np</a:t>
            </a:r>
            <a:r>
              <a:rPr lang="ko-KR" altLang="en-US" sz="2800" dirty="0"/>
              <a:t>가 정수가 아니면 </a:t>
            </a:r>
            <a:r>
              <a:rPr lang="en-US" altLang="ko-KR" sz="2800" dirty="0" err="1"/>
              <a:t>np</a:t>
            </a:r>
            <a:r>
              <a:rPr lang="ko-KR" altLang="en-US" sz="2800" dirty="0"/>
              <a:t>정수부분에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ko-KR" altLang="en-US" sz="2800" dirty="0"/>
              <a:t>             </a:t>
            </a:r>
            <a:r>
              <a:rPr lang="en-US" altLang="ko-KR" sz="2800" dirty="0"/>
              <a:t>1 </a:t>
            </a:r>
            <a:r>
              <a:rPr lang="ko-KR" altLang="en-US" sz="2800" dirty="0"/>
              <a:t>을 더한 위치의 값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ko-KR" altLang="en-US" sz="2800" dirty="0"/>
              <a:t>예제</a:t>
            </a:r>
            <a:r>
              <a:rPr lang="en-US" altLang="ko-KR" sz="2800" dirty="0"/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dirty="0">
                <a:solidFill>
                  <a:schemeClr val="tx2"/>
                </a:solidFill>
              </a:rPr>
              <a:t>예제</a:t>
            </a:r>
            <a:r>
              <a:rPr lang="en-US" altLang="ko-KR" dirty="0">
                <a:solidFill>
                  <a:schemeClr val="tx2"/>
                </a:solidFill>
              </a:rPr>
              <a:t>) </a:t>
            </a:r>
            <a:r>
              <a:rPr lang="en-US" altLang="ko-KR" dirty="0"/>
              <a:t>n=6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dirty="0"/>
              <a:t>       </a:t>
            </a:r>
            <a:r>
              <a:rPr lang="ko-KR" altLang="en-US" dirty="0"/>
              <a:t>자료</a:t>
            </a:r>
            <a:r>
              <a:rPr lang="en-US" altLang="ko-KR" dirty="0"/>
              <a:t>: 72, 74, 84, 88, 89, 91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altLang="ko-KR" dirty="0"/>
              <a:t>25% </a:t>
            </a:r>
            <a:r>
              <a:rPr lang="ko-KR" altLang="en-US" dirty="0"/>
              <a:t>백분위수</a:t>
            </a:r>
            <a:r>
              <a:rPr lang="en-US" altLang="ko-KR" dirty="0"/>
              <a:t>(100x0.25% </a:t>
            </a:r>
            <a:r>
              <a:rPr lang="ko-KR" altLang="en-US" dirty="0"/>
              <a:t>백분위수</a:t>
            </a:r>
            <a:r>
              <a:rPr lang="en-US" altLang="ko-KR" dirty="0"/>
              <a:t>)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endParaRPr lang="en-US" altLang="ko-KR" dirty="0"/>
          </a:p>
          <a:p>
            <a:pPr lvl="1" eaLnBrk="1" hangingPunct="1">
              <a:buClr>
                <a:schemeClr val="tx1"/>
              </a:buClr>
              <a:buFontTx/>
              <a:buChar char="•"/>
            </a:pPr>
            <a:r>
              <a:rPr lang="en-US" altLang="ko-KR" dirty="0"/>
              <a:t>n=6, p=0.25=&gt; np=1.5</a:t>
            </a:r>
          </a:p>
          <a:p>
            <a:pPr lvl="1" eaLnBrk="1" hangingPunct="1">
              <a:buClr>
                <a:schemeClr val="tx1"/>
              </a:buClr>
              <a:buFontTx/>
              <a:buChar char="•"/>
            </a:pPr>
            <a:r>
              <a:rPr lang="en-US" altLang="ko-KR" dirty="0"/>
              <a:t>1.5</a:t>
            </a:r>
            <a:r>
              <a:rPr lang="ko-KR" altLang="en-US" dirty="0"/>
              <a:t>는 정수가 아니므로 </a:t>
            </a:r>
            <a:r>
              <a:rPr lang="en-US" altLang="ko-KR" dirty="0">
                <a:solidFill>
                  <a:srgbClr val="FF0000"/>
                </a:solidFill>
              </a:rPr>
              <a:t>(INT(1.5)+1)</a:t>
            </a:r>
            <a:r>
              <a:rPr lang="en-US" altLang="ko-KR" dirty="0"/>
              <a:t>=2</a:t>
            </a:r>
            <a:r>
              <a:rPr lang="ko-KR" altLang="en-US" dirty="0"/>
              <a:t>번째 </a:t>
            </a:r>
            <a:r>
              <a:rPr lang="ko-KR" altLang="en-US" dirty="0" err="1"/>
              <a:t>관측값이</a:t>
            </a:r>
            <a:r>
              <a:rPr lang="ko-KR" altLang="en-US" dirty="0"/>
              <a:t> </a:t>
            </a:r>
            <a:r>
              <a:rPr lang="en-US" altLang="ko-KR" dirty="0"/>
              <a:t>25% </a:t>
            </a:r>
            <a:r>
              <a:rPr lang="ko-KR" altLang="en-US" dirty="0"/>
              <a:t>백분위수 </a:t>
            </a:r>
          </a:p>
          <a:p>
            <a:pPr lvl="1" eaLnBrk="1" hangingPunct="1">
              <a:buClr>
                <a:schemeClr val="tx1"/>
              </a:buClr>
              <a:buFontTx/>
              <a:buChar char="•"/>
            </a:pPr>
            <a:r>
              <a:rPr lang="en-US" altLang="ko-KR" dirty="0"/>
              <a:t>2</a:t>
            </a:r>
            <a:r>
              <a:rPr lang="ko-KR" altLang="en-US" dirty="0"/>
              <a:t>번째 </a:t>
            </a:r>
            <a:r>
              <a:rPr lang="ko-KR" altLang="en-US" dirty="0" err="1"/>
              <a:t>관측값</a:t>
            </a:r>
            <a:r>
              <a:rPr lang="en-US" altLang="ko-KR" dirty="0"/>
              <a:t>=&gt; 74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endParaRPr lang="en-US" altLang="ko-K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dirty="0"/>
              <a:t>예제</a:t>
            </a:r>
            <a:r>
              <a:rPr lang="en-US" altLang="ko-KR" dirty="0"/>
              <a:t>) n=6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dirty="0"/>
              <a:t>       </a:t>
            </a:r>
            <a:r>
              <a:rPr lang="ko-KR" altLang="en-US" dirty="0"/>
              <a:t>자료</a:t>
            </a:r>
            <a:r>
              <a:rPr lang="en-US" altLang="ko-KR" dirty="0"/>
              <a:t>: 72, 74, 84, 88, 89, 91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endParaRPr lang="en-US" altLang="ko-KR" dirty="0"/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altLang="ko-KR" dirty="0"/>
              <a:t>75% </a:t>
            </a:r>
            <a:r>
              <a:rPr lang="ko-KR" altLang="en-US" dirty="0"/>
              <a:t>백분위수</a:t>
            </a:r>
            <a:r>
              <a:rPr lang="en-US" altLang="ko-KR" dirty="0"/>
              <a:t>(100x0.75%)</a:t>
            </a:r>
          </a:p>
          <a:p>
            <a:pPr lvl="1" eaLnBrk="1" hangingPunct="1">
              <a:buClr>
                <a:schemeClr val="tx1"/>
              </a:buClr>
              <a:buFontTx/>
              <a:buChar char="•"/>
            </a:pPr>
            <a:r>
              <a:rPr lang="en-US" altLang="ko-KR" dirty="0"/>
              <a:t>np=6 x 0.75=4.5</a:t>
            </a:r>
          </a:p>
          <a:p>
            <a:pPr lvl="1" eaLnBrk="1" hangingPunct="1">
              <a:buClr>
                <a:schemeClr val="tx1"/>
              </a:buClr>
              <a:buFontTx/>
              <a:buChar char="•"/>
            </a:pPr>
            <a:r>
              <a:rPr lang="en-US" altLang="ko-KR" dirty="0"/>
              <a:t>4.5</a:t>
            </a:r>
            <a:r>
              <a:rPr lang="ko-KR" altLang="en-US" dirty="0"/>
              <a:t>는 정수가 아니므로 </a:t>
            </a:r>
            <a:r>
              <a:rPr lang="en-US" altLang="ko-KR" dirty="0">
                <a:solidFill>
                  <a:srgbClr val="FF0000"/>
                </a:solidFill>
              </a:rPr>
              <a:t>(INT(4.5)+1)</a:t>
            </a:r>
            <a:r>
              <a:rPr lang="en-US" altLang="ko-KR" dirty="0"/>
              <a:t>=5</a:t>
            </a:r>
            <a:r>
              <a:rPr lang="ko-KR" altLang="en-US" dirty="0"/>
              <a:t>번째 </a:t>
            </a:r>
            <a:r>
              <a:rPr lang="ko-KR" altLang="en-US" dirty="0" err="1"/>
              <a:t>관측값이</a:t>
            </a:r>
            <a:r>
              <a:rPr lang="ko-KR" altLang="en-US" dirty="0"/>
              <a:t> </a:t>
            </a:r>
            <a:r>
              <a:rPr lang="en-US" altLang="ko-KR" dirty="0"/>
              <a:t>75% </a:t>
            </a:r>
            <a:r>
              <a:rPr lang="ko-KR" altLang="en-US" dirty="0"/>
              <a:t>백분위수 </a:t>
            </a:r>
          </a:p>
          <a:p>
            <a:pPr lvl="1" eaLnBrk="1" hangingPunct="1">
              <a:buClr>
                <a:schemeClr val="tx1"/>
              </a:buClr>
              <a:buFontTx/>
              <a:buChar char="•"/>
            </a:pPr>
            <a:r>
              <a:rPr lang="en-US" altLang="ko-KR" dirty="0"/>
              <a:t>=&gt; 5</a:t>
            </a:r>
            <a:r>
              <a:rPr lang="ko-KR" altLang="en-US" dirty="0"/>
              <a:t>번째 </a:t>
            </a:r>
            <a:r>
              <a:rPr lang="ko-KR" altLang="en-US" dirty="0" err="1"/>
              <a:t>관찰값</a:t>
            </a:r>
            <a:r>
              <a:rPr lang="en-US" altLang="ko-KR" dirty="0"/>
              <a:t>=&gt;89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endParaRPr lang="en-US" altLang="ko-K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dirty="0"/>
              <a:t>예제</a:t>
            </a:r>
            <a:r>
              <a:rPr lang="en-US" altLang="ko-KR" dirty="0"/>
              <a:t>) n=6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dirty="0"/>
              <a:t>       </a:t>
            </a:r>
            <a:r>
              <a:rPr lang="ko-KR" altLang="en-US" dirty="0"/>
              <a:t>자료</a:t>
            </a:r>
            <a:r>
              <a:rPr lang="en-US" altLang="ko-KR" dirty="0"/>
              <a:t>: 72, 74, 84, 88, 89, 91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endParaRPr lang="en-US" altLang="ko-KR" dirty="0"/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altLang="ko-KR" dirty="0"/>
              <a:t>50% </a:t>
            </a:r>
            <a:r>
              <a:rPr lang="ko-KR" altLang="en-US" dirty="0"/>
              <a:t>백분위수</a:t>
            </a:r>
            <a:r>
              <a:rPr lang="en-US" altLang="ko-KR" dirty="0"/>
              <a:t>(100x0.5%)</a:t>
            </a:r>
          </a:p>
          <a:p>
            <a:pPr lvl="1" eaLnBrk="1" hangingPunct="1">
              <a:buClr>
                <a:schemeClr val="tx1"/>
              </a:buClr>
              <a:buFontTx/>
              <a:buChar char="•"/>
            </a:pPr>
            <a:r>
              <a:rPr lang="en-US" altLang="ko-KR" dirty="0"/>
              <a:t>np=6 x 0.5=3 =&gt;</a:t>
            </a:r>
            <a:r>
              <a:rPr lang="ko-KR" altLang="en-US" dirty="0"/>
              <a:t>정수</a:t>
            </a:r>
          </a:p>
          <a:p>
            <a:pPr lvl="1" eaLnBrk="1" hangingPunct="1">
              <a:buClr>
                <a:schemeClr val="tx1"/>
              </a:buClr>
              <a:buFontTx/>
              <a:buChar char="•"/>
            </a:pPr>
            <a:r>
              <a:rPr lang="ko-KR" altLang="en-US" dirty="0"/>
              <a:t>정수인 경우                                 </a:t>
            </a:r>
          </a:p>
          <a:p>
            <a:pPr lvl="2" eaLnBrk="1" hangingPunct="1">
              <a:buClr>
                <a:schemeClr val="tx1"/>
              </a:buClr>
              <a:buFontTx/>
              <a:buChar char="•"/>
            </a:pPr>
            <a:r>
              <a:rPr lang="en-US" altLang="ko-KR" dirty="0">
                <a:solidFill>
                  <a:srgbClr val="FF0000"/>
                </a:solidFill>
              </a:rPr>
              <a:t>(np</a:t>
            </a:r>
            <a:r>
              <a:rPr lang="ko-KR" altLang="en-US" dirty="0">
                <a:solidFill>
                  <a:srgbClr val="FF0000"/>
                </a:solidFill>
              </a:rPr>
              <a:t>번째 </a:t>
            </a:r>
            <a:r>
              <a:rPr lang="ko-KR" altLang="en-US" dirty="0" err="1">
                <a:solidFill>
                  <a:srgbClr val="FF0000"/>
                </a:solidFill>
              </a:rPr>
              <a:t>관측값</a:t>
            </a:r>
            <a:r>
              <a:rPr lang="en-US" altLang="ko-KR" dirty="0">
                <a:solidFill>
                  <a:srgbClr val="FF0000"/>
                </a:solidFill>
              </a:rPr>
              <a:t>+(np+1)</a:t>
            </a:r>
            <a:r>
              <a:rPr lang="ko-KR" altLang="en-US" dirty="0" err="1">
                <a:solidFill>
                  <a:srgbClr val="FF0000"/>
                </a:solidFill>
              </a:rPr>
              <a:t>번째관측값</a:t>
            </a:r>
            <a:r>
              <a:rPr lang="en-US" altLang="ko-KR" dirty="0">
                <a:solidFill>
                  <a:srgbClr val="FF0000"/>
                </a:solidFill>
              </a:rPr>
              <a:t>)/2</a:t>
            </a:r>
          </a:p>
          <a:p>
            <a:pPr lvl="2" eaLnBrk="1" hangingPunct="1">
              <a:buClr>
                <a:schemeClr val="tx1"/>
              </a:buClr>
              <a:buFontTx/>
              <a:buChar char="•"/>
            </a:pPr>
            <a:r>
              <a:rPr lang="en-US" altLang="ko-KR" dirty="0"/>
              <a:t>=&gt;(3</a:t>
            </a:r>
            <a:r>
              <a:rPr lang="ko-KR" altLang="en-US" dirty="0"/>
              <a:t>번째</a:t>
            </a:r>
            <a:r>
              <a:rPr lang="en-US" altLang="ko-KR" dirty="0"/>
              <a:t>+4</a:t>
            </a:r>
            <a:r>
              <a:rPr lang="ko-KR" altLang="en-US" dirty="0"/>
              <a:t>번째</a:t>
            </a:r>
            <a:r>
              <a:rPr lang="en-US" altLang="ko-KR" dirty="0"/>
              <a:t>)/2 =(84+88)/2=86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11188" y="404813"/>
            <a:ext cx="7467600" cy="554513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ko-KR" altLang="en-US" sz="2800" dirty="0" err="1"/>
              <a:t>사분위수범위</a:t>
            </a:r>
            <a:r>
              <a:rPr lang="en-US" altLang="ko-KR" sz="2800" dirty="0"/>
              <a:t>(IQR)=Q3-Q1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ko-KR" sz="28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2800" dirty="0"/>
              <a:t>    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2400" dirty="0"/>
              <a:t>      </a:t>
            </a:r>
            <a:r>
              <a:rPr lang="ko-KR" altLang="en-US" sz="2400" dirty="0"/>
              <a:t>최소       </a:t>
            </a:r>
            <a:r>
              <a:rPr lang="en-US" altLang="ko-KR" sz="2400" dirty="0"/>
              <a:t>25%     50%      75%      </a:t>
            </a:r>
            <a:r>
              <a:rPr lang="ko-KR" altLang="en-US" sz="2400" dirty="0"/>
              <a:t>최대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ko-KR" altLang="en-US" sz="24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dirty="0"/>
              <a:t>p67 </a:t>
            </a:r>
            <a:r>
              <a:rPr lang="ko-KR" altLang="en-US" dirty="0"/>
              <a:t>예제</a:t>
            </a:r>
            <a:r>
              <a:rPr lang="en-US" altLang="ko-KR" dirty="0"/>
              <a:t>8) n=6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dirty="0"/>
              <a:t>       </a:t>
            </a:r>
            <a:r>
              <a:rPr lang="ko-KR" altLang="en-US" dirty="0"/>
              <a:t>자료</a:t>
            </a:r>
            <a:r>
              <a:rPr lang="en-US" altLang="ko-KR" dirty="0"/>
              <a:t>: 72, 74, 84, 88, 89, 91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altLang="ko-KR" dirty="0"/>
              <a:t>25% </a:t>
            </a:r>
            <a:r>
              <a:rPr lang="ko-KR" altLang="en-US" dirty="0"/>
              <a:t>백분위수</a:t>
            </a:r>
            <a:r>
              <a:rPr lang="en-US" altLang="ko-KR" dirty="0"/>
              <a:t>=</a:t>
            </a:r>
            <a:r>
              <a:rPr lang="en-US" altLang="ko-KR" dirty="0">
                <a:solidFill>
                  <a:srgbClr val="FF0000"/>
                </a:solidFill>
              </a:rPr>
              <a:t>Q1</a:t>
            </a:r>
            <a:r>
              <a:rPr lang="en-US" altLang="ko-KR" dirty="0"/>
              <a:t>=74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altLang="ko-KR" dirty="0"/>
              <a:t>75% </a:t>
            </a:r>
            <a:r>
              <a:rPr lang="ko-KR" altLang="en-US" dirty="0"/>
              <a:t>백분위수</a:t>
            </a:r>
            <a:r>
              <a:rPr lang="en-US" altLang="ko-KR" dirty="0"/>
              <a:t>=</a:t>
            </a:r>
            <a:r>
              <a:rPr lang="en-US" altLang="ko-KR" dirty="0">
                <a:solidFill>
                  <a:srgbClr val="FF0000"/>
                </a:solidFill>
              </a:rPr>
              <a:t>Q3</a:t>
            </a:r>
            <a:r>
              <a:rPr lang="en-US" altLang="ko-KR" dirty="0"/>
              <a:t>=89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altLang="ko-KR" dirty="0"/>
              <a:t>IQR=89-74=15</a:t>
            </a:r>
            <a:endParaRPr lang="en-US" altLang="ko-KR" sz="2800" dirty="0"/>
          </a:p>
        </p:txBody>
      </p:sp>
      <p:sp>
        <p:nvSpPr>
          <p:cNvPr id="17411" name="Line 3"/>
          <p:cNvSpPr>
            <a:spLocks noChangeShapeType="1"/>
          </p:cNvSpPr>
          <p:nvPr/>
        </p:nvSpPr>
        <p:spPr bwMode="auto">
          <a:xfrm>
            <a:off x="1692275" y="1412875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7412" name="Line 4"/>
          <p:cNvSpPr>
            <a:spLocks noChangeShapeType="1"/>
          </p:cNvSpPr>
          <p:nvPr/>
        </p:nvSpPr>
        <p:spPr bwMode="auto">
          <a:xfrm>
            <a:off x="1692275" y="1341438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7413" name="Line 5"/>
          <p:cNvSpPr>
            <a:spLocks noChangeShapeType="1"/>
          </p:cNvSpPr>
          <p:nvPr/>
        </p:nvSpPr>
        <p:spPr bwMode="auto">
          <a:xfrm>
            <a:off x="6659563" y="1341438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7414" name="Line 6"/>
          <p:cNvSpPr>
            <a:spLocks noChangeShapeType="1"/>
          </p:cNvSpPr>
          <p:nvPr/>
        </p:nvSpPr>
        <p:spPr bwMode="auto">
          <a:xfrm>
            <a:off x="4067175" y="1341438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7415" name="Line 7"/>
          <p:cNvSpPr>
            <a:spLocks noChangeShapeType="1"/>
          </p:cNvSpPr>
          <p:nvPr/>
        </p:nvSpPr>
        <p:spPr bwMode="auto">
          <a:xfrm>
            <a:off x="2916238" y="1341438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7416" name="Line 8"/>
          <p:cNvSpPr>
            <a:spLocks noChangeShapeType="1"/>
          </p:cNvSpPr>
          <p:nvPr/>
        </p:nvSpPr>
        <p:spPr bwMode="auto">
          <a:xfrm>
            <a:off x="5292725" y="1341438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7417" name="Line 9"/>
          <p:cNvSpPr>
            <a:spLocks noChangeShapeType="1"/>
          </p:cNvSpPr>
          <p:nvPr/>
        </p:nvSpPr>
        <p:spPr bwMode="auto">
          <a:xfrm>
            <a:off x="2916238" y="1052513"/>
            <a:ext cx="24384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pic>
        <p:nvPicPr>
          <p:cNvPr id="17418" name="그림 11" descr="064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75" y="3565525"/>
            <a:ext cx="3525838" cy="299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8D2BA0F-5BF4-4983-A6D5-190F8DFFFB36}"/>
              </a:ext>
            </a:extLst>
          </p:cNvPr>
          <p:cNvSpPr txBox="1"/>
          <p:nvPr/>
        </p:nvSpPr>
        <p:spPr>
          <a:xfrm>
            <a:off x="467544" y="6296353"/>
            <a:ext cx="56166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출저</a:t>
            </a:r>
            <a:r>
              <a:rPr lang="en-US" altLang="ko-KR" sz="1100" dirty="0"/>
              <a:t>: (</a:t>
            </a:r>
            <a:r>
              <a:rPr lang="ko-KR" altLang="en-US" sz="1100" dirty="0"/>
              <a:t>부교재</a:t>
            </a:r>
            <a:r>
              <a:rPr lang="en-US" altLang="ko-KR" sz="1100" dirty="0"/>
              <a:t>)</a:t>
            </a:r>
            <a:r>
              <a:rPr lang="ko-KR" altLang="en-US" sz="1100" dirty="0"/>
              <a:t>엑셀을 이용한 통계학</a:t>
            </a:r>
            <a:r>
              <a:rPr lang="en-US" altLang="ko-KR" sz="1100" dirty="0"/>
              <a:t>, </a:t>
            </a:r>
            <a:r>
              <a:rPr lang="ko-KR" altLang="en-US" sz="1100" dirty="0"/>
              <a:t>자유아카데미</a:t>
            </a:r>
            <a:r>
              <a:rPr lang="en-US" altLang="ko-KR" sz="1100" dirty="0"/>
              <a:t>, </a:t>
            </a:r>
            <a:r>
              <a:rPr lang="ko-KR" altLang="en-US" sz="1100" dirty="0"/>
              <a:t>김진경 외 </a:t>
            </a:r>
            <a:r>
              <a:rPr lang="en-US" altLang="ko-KR" sz="1100" dirty="0"/>
              <a:t>5</a:t>
            </a:r>
            <a:r>
              <a:rPr lang="ko-KR" altLang="en-US" sz="1100" dirty="0"/>
              <a:t>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0872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ko-KR" altLang="en-US" dirty="0"/>
              <a:t>목적지까지 전철 소요시간</a:t>
            </a:r>
            <a:r>
              <a:rPr lang="en-US" altLang="ko-KR" dirty="0"/>
              <a:t>42 40 38 37 43 39 78 38 45 44 40 38 41 35 31 44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dirty="0"/>
              <a:t>중앙값을 구하라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dirty="0"/>
              <a:t>30%</a:t>
            </a:r>
            <a:r>
              <a:rPr lang="ko-KR" altLang="en-US" dirty="0"/>
              <a:t>백분위수를 구하라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dirty="0" err="1"/>
              <a:t>사분위수범위를</a:t>
            </a:r>
            <a:r>
              <a:rPr lang="ko-KR" altLang="en-US" dirty="0"/>
              <a:t> 구하라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dirty="0"/>
              <a:t>EXCEL</a:t>
            </a:r>
            <a:r>
              <a:rPr lang="ko-KR" altLang="en-US" dirty="0"/>
              <a:t>에 데이터 입력</a:t>
            </a:r>
          </a:p>
          <a:p>
            <a:pPr eaLnBrk="1" hangingPunct="1">
              <a:lnSpc>
                <a:spcPct val="90000"/>
              </a:lnSpc>
            </a:pPr>
            <a:r>
              <a:rPr lang="ko-KR" altLang="en-US" dirty="0"/>
              <a:t>정렬</a:t>
            </a:r>
            <a:r>
              <a:rPr lang="en-US" altLang="ko-KR" dirty="0"/>
              <a:t>=&gt;</a:t>
            </a:r>
            <a:r>
              <a:rPr lang="ko-KR" altLang="en-US" dirty="0"/>
              <a:t>필요한 크기에 있는 값 선택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5CBB14-3995-4E94-8FF6-FCA5FA447F46}"/>
              </a:ext>
            </a:extLst>
          </p:cNvPr>
          <p:cNvSpPr txBox="1"/>
          <p:nvPr/>
        </p:nvSpPr>
        <p:spPr>
          <a:xfrm>
            <a:off x="2699792" y="188640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EXCEL </a:t>
            </a:r>
            <a:r>
              <a:rPr lang="ko-KR" altLang="en-US" dirty="0"/>
              <a:t>실습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692150"/>
            <a:ext cx="7773988" cy="5403850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변동계수</a:t>
            </a:r>
          </a:p>
          <a:p>
            <a:pPr lvl="1" eaLnBrk="1" hangingPunct="1"/>
            <a:r>
              <a:rPr lang="ko-KR" altLang="en-US" sz="2400" dirty="0"/>
              <a:t>상대적 퍼진 정도를 나타냄</a:t>
            </a:r>
          </a:p>
          <a:p>
            <a:pPr lvl="1" eaLnBrk="1" hangingPunct="1"/>
            <a:r>
              <a:rPr lang="ko-KR" altLang="en-US" sz="2400" dirty="0"/>
              <a:t>단위에 영향을 받지 않음</a:t>
            </a:r>
          </a:p>
          <a:p>
            <a:pPr lvl="1" eaLnBrk="1" hangingPunct="1"/>
            <a:endParaRPr lang="ko-KR" altLang="en-US" sz="2400" dirty="0"/>
          </a:p>
          <a:p>
            <a:pPr lvl="1" eaLnBrk="1" hangingPunct="1"/>
            <a:endParaRPr lang="ko-KR" altLang="en-US" sz="2400" dirty="0"/>
          </a:p>
          <a:p>
            <a:pPr lvl="1" eaLnBrk="1" hangingPunct="1"/>
            <a:endParaRPr lang="ko-KR" altLang="en-US" sz="2400" dirty="0"/>
          </a:p>
          <a:p>
            <a:pPr lvl="1" eaLnBrk="1" hangingPunct="1"/>
            <a:endParaRPr lang="ko-KR" altLang="en-US" sz="2400" dirty="0"/>
          </a:p>
        </p:txBody>
      </p:sp>
      <p:graphicFrame>
        <p:nvGraphicFramePr>
          <p:cNvPr id="3074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1524000" y="2341563"/>
          <a:ext cx="4648200" cy="1087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Equation" r:id="rId3" imgW="1752480" imgH="419040" progId="Equation.3">
                  <p:embed/>
                </p:oleObj>
              </mc:Choice>
              <mc:Fallback>
                <p:oleObj name="Equation" r:id="rId3" imgW="1752480" imgH="419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341563"/>
                        <a:ext cx="4648200" cy="1087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692150"/>
            <a:ext cx="7773988" cy="5403850"/>
          </a:xfrm>
        </p:spPr>
        <p:txBody>
          <a:bodyPr/>
          <a:lstStyle/>
          <a:p>
            <a:pPr marL="914400" lvl="1" indent="-457200" eaLnBrk="1" hangingPunct="1">
              <a:buFont typeface="Wingdings" pitchFamily="2" charset="2"/>
              <a:buNone/>
            </a:pPr>
            <a:r>
              <a:rPr lang="en-US" altLang="ko-KR" sz="2400" dirty="0"/>
              <a:t>A, B </a:t>
            </a:r>
            <a:r>
              <a:rPr lang="ko-KR" altLang="en-US" sz="2400" dirty="0"/>
              <a:t>두 회사 주식가격</a:t>
            </a:r>
          </a:p>
          <a:p>
            <a:pPr marL="914400" lvl="1" indent="-457200" eaLnBrk="1" hangingPunct="1">
              <a:buFont typeface="Wingdings" pitchFamily="2" charset="2"/>
              <a:buNone/>
            </a:pPr>
            <a:r>
              <a:rPr lang="ko-KR" altLang="en-US" sz="2400" dirty="0"/>
              <a:t>날짜	</a:t>
            </a:r>
            <a:r>
              <a:rPr lang="en-US" altLang="ko-KR" sz="2400" dirty="0"/>
              <a:t>A</a:t>
            </a:r>
            <a:r>
              <a:rPr lang="ko-KR" altLang="en-US" sz="2400" dirty="0"/>
              <a:t>회사		</a:t>
            </a:r>
            <a:r>
              <a:rPr lang="en-US" altLang="ko-KR" sz="2400" dirty="0"/>
              <a:t>B</a:t>
            </a:r>
            <a:r>
              <a:rPr lang="ko-KR" altLang="en-US" sz="2400" dirty="0"/>
              <a:t>회사</a:t>
            </a:r>
          </a:p>
          <a:p>
            <a:pPr marL="914400" lvl="1" indent="-457200" eaLnBrk="1" hangingPunct="1">
              <a:buFont typeface="Wingdings" pitchFamily="2" charset="2"/>
              <a:buNone/>
            </a:pPr>
            <a:r>
              <a:rPr lang="en-US" altLang="ko-KR" sz="2400" dirty="0"/>
              <a:t>1		76300		6400</a:t>
            </a:r>
          </a:p>
          <a:p>
            <a:pPr marL="914400" lvl="1" indent="-457200" eaLnBrk="1" hangingPunct="1">
              <a:buFont typeface="Wingdings" pitchFamily="2" charset="2"/>
              <a:buNone/>
            </a:pPr>
            <a:r>
              <a:rPr lang="en-US" altLang="ko-KR" sz="2400" dirty="0"/>
              <a:t>2		77400		7000</a:t>
            </a:r>
          </a:p>
          <a:p>
            <a:pPr marL="914400" lvl="1" indent="-457200" eaLnBrk="1" hangingPunct="1">
              <a:buFont typeface="Wingdings" pitchFamily="2" charset="2"/>
              <a:buNone/>
            </a:pPr>
            <a:r>
              <a:rPr lang="en-US" altLang="ko-KR" sz="2400" dirty="0"/>
              <a:t>3		77900		7400</a:t>
            </a:r>
          </a:p>
          <a:p>
            <a:pPr marL="914400" lvl="1" indent="-457200" eaLnBrk="1" hangingPunct="1">
              <a:buFont typeface="Wingdings" pitchFamily="2" charset="2"/>
              <a:buNone/>
            </a:pPr>
            <a:r>
              <a:rPr lang="en-US" altLang="ko-KR" sz="2400" dirty="0"/>
              <a:t>4		77200		6900		</a:t>
            </a:r>
          </a:p>
          <a:p>
            <a:pPr marL="914400" lvl="1" indent="-457200" eaLnBrk="1" hangingPunct="1">
              <a:buFont typeface="Wingdings" pitchFamily="2" charset="2"/>
              <a:buNone/>
            </a:pPr>
            <a:r>
              <a:rPr lang="en-US" altLang="ko-KR" sz="2400" dirty="0"/>
              <a:t>5		76900		7300		</a:t>
            </a:r>
          </a:p>
          <a:p>
            <a:pPr marL="914400" lvl="1" indent="-457200" eaLnBrk="1" hangingPunct="1">
              <a:buFont typeface="Wingdings" pitchFamily="2" charset="2"/>
              <a:buNone/>
            </a:pPr>
            <a:r>
              <a:rPr lang="en-US" altLang="ko-KR" sz="2400" dirty="0"/>
              <a:t>6		78800		7600	</a:t>
            </a:r>
          </a:p>
          <a:p>
            <a:pPr marL="914400" lvl="1" indent="-457200" eaLnBrk="1" hangingPunct="1">
              <a:buFont typeface="Wingdings" pitchFamily="2" charset="2"/>
              <a:buNone/>
            </a:pPr>
            <a:r>
              <a:rPr lang="en-US" altLang="ko-KR" sz="2400" dirty="0"/>
              <a:t>                              </a:t>
            </a:r>
            <a:r>
              <a:rPr lang="ko-KR" altLang="en-US" sz="2400" dirty="0">
                <a:solidFill>
                  <a:srgbClr val="FF0000"/>
                </a:solidFill>
              </a:rPr>
              <a:t>변동계수</a:t>
            </a:r>
            <a:r>
              <a:rPr lang="en-US" altLang="ko-KR" sz="2400" dirty="0">
                <a:solidFill>
                  <a:srgbClr val="FF0000"/>
                </a:solidFill>
              </a:rPr>
              <a:t>=</a:t>
            </a:r>
            <a:r>
              <a:rPr lang="ko-KR" altLang="en-US" sz="2400" dirty="0">
                <a:solidFill>
                  <a:srgbClr val="FF0000"/>
                </a:solidFill>
              </a:rPr>
              <a:t>표준편차</a:t>
            </a:r>
            <a:r>
              <a:rPr lang="en-US" altLang="ko-KR" sz="2400" dirty="0">
                <a:solidFill>
                  <a:srgbClr val="FF0000"/>
                </a:solidFill>
              </a:rPr>
              <a:t>/</a:t>
            </a:r>
            <a:r>
              <a:rPr lang="ko-KR" altLang="en-US" sz="2400" dirty="0">
                <a:solidFill>
                  <a:srgbClr val="FF0000"/>
                </a:solidFill>
              </a:rPr>
              <a:t>표본평균</a:t>
            </a:r>
          </a:p>
          <a:p>
            <a:pPr marL="914400" lvl="1" indent="-457200" eaLnBrk="1" hangingPunct="1">
              <a:buFont typeface="Wingdings" pitchFamily="2" charset="2"/>
              <a:buNone/>
            </a:pPr>
            <a:r>
              <a:rPr lang="en-US" altLang="ko-KR" sz="2400" dirty="0"/>
              <a:t>A</a:t>
            </a:r>
            <a:r>
              <a:rPr lang="ko-KR" altLang="en-US" sz="2400" dirty="0"/>
              <a:t>회사 주식평균 및 표준편차</a:t>
            </a:r>
            <a:r>
              <a:rPr lang="en-US" altLang="ko-KR" sz="2400" dirty="0"/>
              <a:t>: 77417, 861     </a:t>
            </a:r>
            <a:r>
              <a:rPr lang="en-US" altLang="ko-KR" sz="2400" dirty="0">
                <a:solidFill>
                  <a:srgbClr val="FF0000"/>
                </a:solidFill>
              </a:rPr>
              <a:t>1.11</a:t>
            </a:r>
          </a:p>
          <a:p>
            <a:pPr marL="914400" lvl="1" indent="-457200" eaLnBrk="1" hangingPunct="1">
              <a:buFont typeface="Wingdings" pitchFamily="2" charset="2"/>
              <a:buNone/>
            </a:pPr>
            <a:r>
              <a:rPr lang="en-US" altLang="ko-KR" sz="2400" dirty="0"/>
              <a:t>B</a:t>
            </a:r>
            <a:r>
              <a:rPr lang="ko-KR" altLang="en-US" sz="2400" dirty="0"/>
              <a:t>회사 주식평균 및 표준편차</a:t>
            </a:r>
            <a:r>
              <a:rPr lang="en-US" altLang="ko-KR" sz="2400" dirty="0"/>
              <a:t>:  7100,  429     </a:t>
            </a:r>
            <a:r>
              <a:rPr lang="en-US" altLang="ko-KR" sz="2400" dirty="0">
                <a:solidFill>
                  <a:srgbClr val="FF0000"/>
                </a:solidFill>
              </a:rPr>
              <a:t>6.04</a:t>
            </a:r>
          </a:p>
          <a:p>
            <a:pPr marL="914400" lvl="1" indent="-457200" eaLnBrk="1" hangingPunct="1">
              <a:buFont typeface="Wingdings" pitchFamily="2" charset="2"/>
              <a:buNone/>
            </a:pPr>
            <a:r>
              <a:rPr lang="en-US" altLang="ko-KR" sz="2400" dirty="0"/>
              <a:t>=&gt; B</a:t>
            </a:r>
            <a:r>
              <a:rPr lang="ko-KR" altLang="en-US" sz="2400" dirty="0"/>
              <a:t>주식의 단위가격당 변동성이 더 크다</a:t>
            </a:r>
            <a:r>
              <a:rPr lang="en-US" altLang="ko-KR" sz="2400" dirty="0"/>
              <a:t>.</a:t>
            </a:r>
          </a:p>
        </p:txBody>
      </p:sp>
      <p:sp>
        <p:nvSpPr>
          <p:cNvPr id="19459" name="Line 5"/>
          <p:cNvSpPr>
            <a:spLocks noChangeShapeType="1"/>
          </p:cNvSpPr>
          <p:nvPr/>
        </p:nvSpPr>
        <p:spPr bwMode="auto">
          <a:xfrm>
            <a:off x="838200" y="1600200"/>
            <a:ext cx="533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9460" name="Line 6"/>
          <p:cNvSpPr>
            <a:spLocks noChangeShapeType="1"/>
          </p:cNvSpPr>
          <p:nvPr/>
        </p:nvSpPr>
        <p:spPr bwMode="auto">
          <a:xfrm>
            <a:off x="1981200" y="1219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9461" name="Line 7"/>
          <p:cNvSpPr>
            <a:spLocks noChangeShapeType="1"/>
          </p:cNvSpPr>
          <p:nvPr/>
        </p:nvSpPr>
        <p:spPr bwMode="auto">
          <a:xfrm>
            <a:off x="3962400" y="1219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첨도 및 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908720"/>
            <a:ext cx="8703568" cy="5223793"/>
          </a:xfrm>
        </p:spPr>
        <p:txBody>
          <a:bodyPr/>
          <a:lstStyle/>
          <a:p>
            <a:r>
              <a:rPr lang="ko-KR" altLang="en-US" dirty="0"/>
              <a:t>왜도</a:t>
            </a:r>
            <a:r>
              <a:rPr lang="en-US" altLang="ko-KR" dirty="0"/>
              <a:t>(</a:t>
            </a:r>
            <a:r>
              <a:rPr lang="en-US" altLang="ko-KR" dirty="0" err="1"/>
              <a:t>skewness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자료의</a:t>
            </a:r>
            <a:r>
              <a:rPr lang="en-US" altLang="ko-KR" dirty="0"/>
              <a:t> </a:t>
            </a:r>
            <a:r>
              <a:rPr lang="ko-KR" altLang="en-US" dirty="0"/>
              <a:t>분포가 대칭인지 아닌지를 측정하는 측도</a:t>
            </a:r>
            <a:endParaRPr lang="en-US" altLang="ko-KR" dirty="0"/>
          </a:p>
          <a:p>
            <a:pPr lvl="2"/>
            <a:r>
              <a:rPr lang="ko-KR" altLang="en-US" dirty="0"/>
              <a:t>대칭이면 왜도</a:t>
            </a:r>
            <a:r>
              <a:rPr lang="en-US" altLang="ko-KR" dirty="0"/>
              <a:t>=0;</a:t>
            </a:r>
          </a:p>
          <a:p>
            <a:pPr lvl="2"/>
            <a:r>
              <a:rPr lang="en-US" altLang="ko-KR" dirty="0"/>
              <a:t>Skewed to the right </a:t>
            </a:r>
            <a:r>
              <a:rPr lang="ko-KR" altLang="en-US" dirty="0"/>
              <a:t>왜도 </a:t>
            </a:r>
            <a:r>
              <a:rPr lang="en-US" altLang="ko-KR" dirty="0"/>
              <a:t>&gt;0</a:t>
            </a:r>
          </a:p>
          <a:p>
            <a:pPr lvl="2"/>
            <a:r>
              <a:rPr lang="en-US" altLang="ko-KR" dirty="0"/>
              <a:t>Skewed to the left </a:t>
            </a:r>
            <a:r>
              <a:rPr lang="ko-KR" altLang="en-US" dirty="0"/>
              <a:t>왜도 </a:t>
            </a:r>
            <a:r>
              <a:rPr lang="en-US" altLang="ko-KR" dirty="0"/>
              <a:t>&lt;0</a:t>
            </a:r>
          </a:p>
          <a:p>
            <a:pPr lvl="2"/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3588010"/>
            <a:ext cx="4283968" cy="257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7508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C1964170-F4E2-4A6B-825F-6D283BCD2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580" y="836712"/>
            <a:ext cx="7560840" cy="59101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834C4CB-F6A9-49DE-9EB8-2DE76ABCBCBD}"/>
              </a:ext>
            </a:extLst>
          </p:cNvPr>
          <p:cNvSpPr txBox="1"/>
          <p:nvPr/>
        </p:nvSpPr>
        <p:spPr>
          <a:xfrm>
            <a:off x="5292080" y="260648"/>
            <a:ext cx="32043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출처</a:t>
            </a:r>
            <a:r>
              <a:rPr lang="en-US" altLang="ko-KR" sz="1200" dirty="0"/>
              <a:t>: https:wikidocs.net/153147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86608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1DB4322-70CE-4362-B503-F676BE7A61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8" y="406906"/>
            <a:ext cx="5053682" cy="468052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83C770C-1C11-4E63-AFD1-921ADDB77AC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4439"/>
          <a:stretch/>
        </p:blipFill>
        <p:spPr>
          <a:xfrm>
            <a:off x="5085164" y="188640"/>
            <a:ext cx="4058835" cy="64087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A41FFA-BFD8-4696-B72B-B556BB98B2C9}"/>
              </a:ext>
            </a:extLst>
          </p:cNvPr>
          <p:cNvSpPr txBox="1"/>
          <p:nvPr/>
        </p:nvSpPr>
        <p:spPr>
          <a:xfrm>
            <a:off x="683568" y="6174095"/>
            <a:ext cx="32043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출처</a:t>
            </a:r>
            <a:r>
              <a:rPr lang="en-US" altLang="ko-KR" sz="1200" dirty="0"/>
              <a:t>: https:wikidocs.net/153147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5933547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0216" y="116632"/>
            <a:ext cx="8703568" cy="5223793"/>
          </a:xfrm>
        </p:spPr>
        <p:txBody>
          <a:bodyPr/>
          <a:lstStyle/>
          <a:p>
            <a:r>
              <a:rPr lang="ko-KR" altLang="en-US" dirty="0"/>
              <a:t>첨도</a:t>
            </a:r>
            <a:r>
              <a:rPr lang="en-US" altLang="ko-KR" dirty="0"/>
              <a:t>(kurtosis)</a:t>
            </a:r>
          </a:p>
          <a:p>
            <a:pPr lvl="1"/>
            <a:r>
              <a:rPr lang="ko-KR" altLang="en-US" dirty="0"/>
              <a:t>자료가</a:t>
            </a:r>
            <a:r>
              <a:rPr lang="en-US" altLang="ko-KR" dirty="0"/>
              <a:t> </a:t>
            </a:r>
            <a:r>
              <a:rPr lang="ko-KR" altLang="en-US" dirty="0"/>
              <a:t>어느 정도 뾰족한지를 나타내는 척도</a:t>
            </a:r>
            <a:endParaRPr lang="en-US" altLang="ko-KR" dirty="0"/>
          </a:p>
          <a:p>
            <a:pPr lvl="2"/>
            <a:r>
              <a:rPr lang="ko-KR" altLang="en-US" dirty="0"/>
              <a:t>자료가 표준정규분포이면 첨도</a:t>
            </a:r>
            <a:r>
              <a:rPr lang="en-US" altLang="ko-KR" dirty="0"/>
              <a:t>=0</a:t>
            </a:r>
          </a:p>
          <a:p>
            <a:pPr lvl="2"/>
            <a:r>
              <a:rPr lang="ko-KR" altLang="en-US" dirty="0"/>
              <a:t>자료가 표준정규분포보다 뾰족하면 첨도</a:t>
            </a:r>
            <a:r>
              <a:rPr lang="en-US" altLang="ko-KR" dirty="0"/>
              <a:t>&gt;0</a:t>
            </a:r>
          </a:p>
          <a:p>
            <a:pPr lvl="2"/>
            <a:r>
              <a:rPr lang="ko-KR" altLang="en-US" dirty="0"/>
              <a:t>자료가 표준정규분포보다 완만하면 첨도</a:t>
            </a:r>
            <a:r>
              <a:rPr lang="en-US" altLang="ko-KR" dirty="0"/>
              <a:t>&lt;0</a:t>
            </a:r>
          </a:p>
          <a:p>
            <a:pPr lvl="2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B7D8CE9-FEC4-4634-973E-9A560F4E79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101" y="2467835"/>
            <a:ext cx="7113515" cy="108012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8AC7717-26DD-4471-9C37-F4D1DAA6A1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3532361"/>
            <a:ext cx="6770503" cy="334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0011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17538"/>
            <a:ext cx="7793037" cy="141287"/>
          </a:xfrm>
        </p:spPr>
        <p:txBody>
          <a:bodyPr/>
          <a:lstStyle/>
          <a:p>
            <a:pPr eaLnBrk="1" hangingPunct="1"/>
            <a:r>
              <a:rPr lang="en-US" altLang="ko-KR" sz="3200"/>
              <a:t>EXCEL </a:t>
            </a:r>
            <a:r>
              <a:rPr lang="ko-KR" altLang="en-US" sz="3200"/>
              <a:t>실습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143000"/>
            <a:ext cx="7772400" cy="4529138"/>
          </a:xfrm>
        </p:spPr>
        <p:txBody>
          <a:bodyPr/>
          <a:lstStyle/>
          <a:p>
            <a:pPr eaLnBrk="1" hangingPunct="1"/>
            <a:r>
              <a:rPr lang="ko-KR" altLang="en-US" dirty="0"/>
              <a:t>음료수 한 병에 대한 부피</a:t>
            </a:r>
          </a:p>
          <a:p>
            <a:pPr lvl="1" eaLnBrk="1" hangingPunct="1"/>
            <a:r>
              <a:rPr lang="ko-KR" altLang="en-US" dirty="0"/>
              <a:t>데이터 </a:t>
            </a:r>
            <a:r>
              <a:rPr lang="en-US" altLang="ko-KR" dirty="0"/>
              <a:t>ch2_ex13.xlsx</a:t>
            </a:r>
          </a:p>
          <a:p>
            <a:pPr lvl="1" eaLnBrk="1" hangingPunct="1"/>
            <a:r>
              <a:rPr lang="ko-KR" altLang="en-US" dirty="0" err="1"/>
              <a:t>대표값과</a:t>
            </a:r>
            <a:r>
              <a:rPr lang="ko-KR" altLang="en-US" dirty="0"/>
              <a:t> 퍼진 정도 값을 구하라</a:t>
            </a:r>
          </a:p>
          <a:p>
            <a:pPr lvl="2" eaLnBrk="1" hangingPunct="1"/>
            <a:r>
              <a:rPr lang="ko-KR" altLang="en-US" dirty="0"/>
              <a:t>데이터</a:t>
            </a:r>
            <a:r>
              <a:rPr lang="en-US" altLang="ko-KR" dirty="0"/>
              <a:t>=&gt;</a:t>
            </a:r>
            <a:r>
              <a:rPr lang="ko-KR" altLang="en-US" dirty="0"/>
              <a:t>데이터분석</a:t>
            </a:r>
            <a:r>
              <a:rPr lang="en-US" altLang="ko-KR" dirty="0"/>
              <a:t>=&gt;</a:t>
            </a:r>
            <a:r>
              <a:rPr lang="ko-KR" altLang="en-US" dirty="0"/>
              <a:t>기술통계</a:t>
            </a:r>
          </a:p>
          <a:p>
            <a:pPr lvl="2" eaLnBrk="1" hangingPunct="1"/>
            <a:r>
              <a:rPr lang="ko-KR" altLang="en-US" dirty="0"/>
              <a:t>수식</a:t>
            </a:r>
            <a:r>
              <a:rPr lang="en-US" altLang="ko-KR" dirty="0"/>
              <a:t>=&gt;</a:t>
            </a:r>
            <a:r>
              <a:rPr lang="ko-KR" altLang="en-US" dirty="0"/>
              <a:t>함수</a:t>
            </a:r>
            <a:r>
              <a:rPr lang="en-US" altLang="ko-KR" dirty="0"/>
              <a:t>=&gt;</a:t>
            </a:r>
            <a:r>
              <a:rPr lang="ko-KR" altLang="en-US" dirty="0"/>
              <a:t>통계</a:t>
            </a:r>
            <a:r>
              <a:rPr lang="en-US" altLang="ko-KR" dirty="0"/>
              <a:t>=&gt;AVERAGE, MEDIAN, VAR, STDEV.P, STDEV.S, MAX, MIN, QUARTILE.INC </a:t>
            </a:r>
            <a:r>
              <a:rPr lang="ko-KR" altLang="en-US" dirty="0"/>
              <a:t>사용</a:t>
            </a:r>
          </a:p>
          <a:p>
            <a:pPr lvl="2" eaLnBrk="1" hangingPunct="1"/>
            <a:r>
              <a:rPr lang="ko-KR" altLang="en-US" dirty="0"/>
              <a:t>대화상자의 </a:t>
            </a:r>
            <a:r>
              <a:rPr lang="en-US" altLang="ko-KR" dirty="0"/>
              <a:t>Value</a:t>
            </a:r>
            <a:r>
              <a:rPr lang="ko-KR" altLang="en-US" dirty="0"/>
              <a:t>에 데이터 범위지정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533400"/>
            <a:ext cx="7772400" cy="584835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3. </a:t>
            </a:r>
            <a:r>
              <a:rPr lang="ko-KR" altLang="en-US" dirty="0"/>
              <a:t>상자그림</a:t>
            </a:r>
            <a:r>
              <a:rPr lang="en-US" altLang="ko-KR" dirty="0"/>
              <a:t>(BOX-PLOT)</a:t>
            </a:r>
          </a:p>
          <a:p>
            <a:pPr eaLnBrk="1" hangingPunct="1">
              <a:buFont typeface="Wingdings" pitchFamily="2" charset="2"/>
              <a:buNone/>
            </a:pPr>
            <a:endParaRPr lang="en-US" altLang="ko-KR" sz="28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1658033-9112-4C4A-96A0-F1FF0B4B5D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47" y="1665778"/>
            <a:ext cx="8972635" cy="3173119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7104705-8AB7-46AC-AF31-4EAB6DFCD6F5}"/>
              </a:ext>
            </a:extLst>
          </p:cNvPr>
          <p:cNvSpPr/>
          <p:nvPr/>
        </p:nvSpPr>
        <p:spPr>
          <a:xfrm>
            <a:off x="710972" y="5445224"/>
            <a:ext cx="4043094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ko-KR" altLang="en-US" dirty="0" err="1"/>
              <a:t>사분위수범위</a:t>
            </a:r>
            <a:r>
              <a:rPr lang="en-US" altLang="ko-KR" dirty="0"/>
              <a:t>(IQR)=Q3-Q1</a:t>
            </a:r>
          </a:p>
        </p:txBody>
      </p:sp>
    </p:spTree>
    <p:extLst>
      <p:ext uri="{BB962C8B-B14F-4D97-AF65-F5344CB8AC3E}">
        <p14:creationId xmlns:p14="http://schemas.microsoft.com/office/powerpoint/2010/main" val="18963717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extBox 2"/>
          <p:cNvSpPr txBox="1">
            <a:spLocks noChangeArrowheads="1"/>
          </p:cNvSpPr>
          <p:nvPr/>
        </p:nvSpPr>
        <p:spPr bwMode="auto">
          <a:xfrm>
            <a:off x="1238995" y="116632"/>
            <a:ext cx="6000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charset="-127"/>
              </a:defRPr>
            </a:lvl9pPr>
          </a:lstStyle>
          <a:p>
            <a:pPr eaLnBrk="1" hangingPunct="1"/>
            <a:r>
              <a:rPr lang="en-US" altLang="ko-KR" dirty="0"/>
              <a:t>P73 </a:t>
            </a:r>
            <a:r>
              <a:rPr lang="ko-KR" altLang="en-US" dirty="0"/>
              <a:t>예제</a:t>
            </a:r>
            <a:r>
              <a:rPr lang="en-US" altLang="ko-KR" dirty="0"/>
              <a:t>12) </a:t>
            </a:r>
            <a:r>
              <a:rPr lang="ko-KR" altLang="en-US" dirty="0"/>
              <a:t>남녀를 구분한 키에 대한 자료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A742790-FB77-432E-8861-9136CA9C6B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555942"/>
            <a:ext cx="7308304" cy="25236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CBD480-902C-4A53-BC59-87AB4084CB8B}"/>
              </a:ext>
            </a:extLst>
          </p:cNvPr>
          <p:cNvSpPr txBox="1"/>
          <p:nvPr/>
        </p:nvSpPr>
        <p:spPr>
          <a:xfrm>
            <a:off x="1907704" y="6467142"/>
            <a:ext cx="56166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출저</a:t>
            </a:r>
            <a:r>
              <a:rPr lang="en-US" altLang="ko-KR" sz="1100" dirty="0"/>
              <a:t>: (</a:t>
            </a:r>
            <a:r>
              <a:rPr lang="ko-KR" altLang="en-US" sz="1100" dirty="0"/>
              <a:t>부교재</a:t>
            </a:r>
            <a:r>
              <a:rPr lang="en-US" altLang="ko-KR" sz="1100" dirty="0"/>
              <a:t>)</a:t>
            </a:r>
            <a:r>
              <a:rPr lang="ko-KR" altLang="en-US" sz="1100" dirty="0"/>
              <a:t>엑셀을 이용한 통계학</a:t>
            </a:r>
            <a:r>
              <a:rPr lang="en-US" altLang="ko-KR" sz="1100" dirty="0"/>
              <a:t>, </a:t>
            </a:r>
            <a:r>
              <a:rPr lang="ko-KR" altLang="en-US" sz="1100" dirty="0"/>
              <a:t>자유아카데미</a:t>
            </a:r>
            <a:r>
              <a:rPr lang="en-US" altLang="ko-KR" sz="1100" dirty="0"/>
              <a:t>, </a:t>
            </a:r>
            <a:r>
              <a:rPr lang="ko-KR" altLang="en-US" sz="1100" dirty="0"/>
              <a:t>김진경 외 </a:t>
            </a:r>
            <a:r>
              <a:rPr lang="en-US" altLang="ko-KR" sz="1100" dirty="0"/>
              <a:t>5</a:t>
            </a:r>
            <a:r>
              <a:rPr lang="ko-KR" altLang="en-US" sz="1100" dirty="0"/>
              <a:t>명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8" name="차트 7">
                <a:extLst>
                  <a:ext uri="{FF2B5EF4-FFF2-40B4-BE49-F238E27FC236}">
                    <a16:creationId xmlns:a16="http://schemas.microsoft.com/office/drawing/2014/main" id="{43773E46-19FD-40F9-8618-77F10AA2899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993511410"/>
                  </p:ext>
                </p:extLst>
              </p:nvPr>
            </p:nvGraphicFramePr>
            <p:xfrm>
              <a:off x="1835696" y="3079544"/>
              <a:ext cx="4536504" cy="34458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8" name="차트 7">
                <a:extLst>
                  <a:ext uri="{FF2B5EF4-FFF2-40B4-BE49-F238E27FC236}">
                    <a16:creationId xmlns:a16="http://schemas.microsoft.com/office/drawing/2014/main" id="{43773E46-19FD-40F9-8618-77F10AA289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35696" y="3079544"/>
                <a:ext cx="4536504" cy="3445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11560" y="404664"/>
            <a:ext cx="7793038" cy="217587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P73 </a:t>
            </a:r>
            <a:r>
              <a:rPr lang="ko-KR" altLang="en-US" sz="2800" dirty="0"/>
              <a:t>예제</a:t>
            </a:r>
            <a:r>
              <a:rPr lang="en-US" altLang="ko-KR" sz="2800" dirty="0"/>
              <a:t>12) </a:t>
            </a:r>
            <a:r>
              <a:rPr lang="ko-KR" altLang="en-US" sz="2800" dirty="0"/>
              <a:t>남녀를 구분한 키에 대한 자료</a:t>
            </a:r>
          </a:p>
        </p:txBody>
      </p:sp>
      <p:sp>
        <p:nvSpPr>
          <p:cNvPr id="2355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32198" y="692696"/>
            <a:ext cx="7772400" cy="4754562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p73_ex12.xlsx </a:t>
            </a:r>
            <a:r>
              <a:rPr lang="ko-KR" altLang="en-US" sz="2800" dirty="0"/>
              <a:t>데이터에서 데이터 선택</a:t>
            </a:r>
            <a:endParaRPr lang="en-US" altLang="ko-KR" sz="2800" dirty="0"/>
          </a:p>
          <a:p>
            <a:pPr eaLnBrk="1" hangingPunct="1"/>
            <a:r>
              <a:rPr lang="ko-KR" altLang="en-US" sz="2800" dirty="0"/>
              <a:t>삽입</a:t>
            </a:r>
            <a:r>
              <a:rPr lang="en-US" altLang="ko-KR" sz="2800" dirty="0"/>
              <a:t>=&gt;</a:t>
            </a:r>
            <a:r>
              <a:rPr lang="ko-KR" altLang="en-US" sz="2800" dirty="0"/>
              <a:t>차트</a:t>
            </a:r>
            <a:r>
              <a:rPr lang="en-US" altLang="ko-KR" sz="2800" dirty="0"/>
              <a:t>=&gt;</a:t>
            </a:r>
            <a:r>
              <a:rPr lang="ko-KR" altLang="en-US" sz="2800" dirty="0"/>
              <a:t>통계차트 삽입</a:t>
            </a:r>
            <a:r>
              <a:rPr lang="en-US" altLang="ko-KR" sz="2800" dirty="0"/>
              <a:t>=&gt;</a:t>
            </a:r>
            <a:r>
              <a:rPr lang="ko-KR" altLang="en-US" sz="2800" dirty="0"/>
              <a:t>상자수염</a:t>
            </a:r>
            <a:endParaRPr lang="en-US" altLang="ko-KR" sz="2800" dirty="0"/>
          </a:p>
          <a:p>
            <a:pPr eaLnBrk="1" hangingPunct="1"/>
            <a:r>
              <a:rPr lang="en-US" altLang="ko-KR" sz="2800" dirty="0"/>
              <a:t>y</a:t>
            </a:r>
            <a:r>
              <a:rPr lang="ko-KR" altLang="en-US" sz="2800" dirty="0"/>
              <a:t>축 선택</a:t>
            </a:r>
            <a:r>
              <a:rPr lang="en-US" altLang="ko-KR" sz="2800" dirty="0"/>
              <a:t>=&gt;</a:t>
            </a:r>
            <a:r>
              <a:rPr lang="ko-KR" altLang="en-US" sz="2800" dirty="0"/>
              <a:t>축서식에서 </a:t>
            </a:r>
            <a:r>
              <a:rPr lang="ko-KR" altLang="en-US" sz="2800" dirty="0" err="1"/>
              <a:t>축옵션</a:t>
            </a:r>
            <a:r>
              <a:rPr lang="en-US" altLang="ko-KR" sz="2800" dirty="0"/>
              <a:t>=&gt;</a:t>
            </a:r>
            <a:r>
              <a:rPr lang="ko-KR" altLang="en-US" sz="2800" dirty="0"/>
              <a:t>최소</a:t>
            </a:r>
            <a:r>
              <a:rPr lang="en-US" altLang="ko-KR" sz="2800" dirty="0"/>
              <a:t>(150), </a:t>
            </a:r>
            <a:r>
              <a:rPr lang="ko-KR" altLang="en-US" sz="2800" dirty="0"/>
              <a:t>최대값</a:t>
            </a:r>
            <a:r>
              <a:rPr lang="en-US" altLang="ko-KR" sz="2800" dirty="0"/>
              <a:t>(190)</a:t>
            </a:r>
            <a:r>
              <a:rPr lang="ko-KR" altLang="en-US" sz="2800" dirty="0"/>
              <a:t>으로 설정</a:t>
            </a:r>
            <a:endParaRPr lang="en-US" altLang="ko-KR" sz="2800" dirty="0"/>
          </a:p>
          <a:p>
            <a:pPr lvl="1" eaLnBrk="1" hangingPunct="1"/>
            <a:r>
              <a:rPr lang="ko-KR" altLang="en-US" sz="2400" dirty="0"/>
              <a:t>평균은 </a:t>
            </a:r>
            <a:r>
              <a:rPr lang="en-US" altLang="ko-KR" sz="2400" dirty="0"/>
              <a:t>x</a:t>
            </a:r>
            <a:r>
              <a:rPr lang="ko-KR" altLang="en-US" sz="2400" dirty="0"/>
              <a:t>로 표시됨</a:t>
            </a:r>
            <a:r>
              <a:rPr lang="en-US" altLang="ko-KR" sz="2400" dirty="0"/>
              <a:t>. Q1, Median, Q3, </a:t>
            </a:r>
            <a:r>
              <a:rPr lang="ko-KR" altLang="en-US" sz="2400" dirty="0"/>
              <a:t>최대</a:t>
            </a:r>
            <a:r>
              <a:rPr lang="en-US" altLang="ko-KR" sz="2400" dirty="0"/>
              <a:t>, </a:t>
            </a:r>
            <a:r>
              <a:rPr lang="ko-KR" altLang="en-US" sz="2400" dirty="0"/>
              <a:t>최소</a:t>
            </a:r>
            <a:endParaRPr lang="en-US" altLang="ko-KR" sz="2400" dirty="0"/>
          </a:p>
          <a:p>
            <a:pPr lvl="1" eaLnBrk="1" hangingPunct="1"/>
            <a:r>
              <a:rPr lang="en-US" altLang="ko-KR" sz="2400" dirty="0"/>
              <a:t>IQR:  1.5*(178-170), 1.5*(164.75-159.25)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E2974DE-0866-4AE5-94FC-3250DC3E4B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3685775"/>
            <a:ext cx="3215979" cy="31722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FEAAC83-BA9F-4E47-AD4D-3EA329AB66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3619727"/>
            <a:ext cx="3089428" cy="321996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149350" y="619125"/>
            <a:ext cx="7793038" cy="74613"/>
          </a:xfrm>
        </p:spPr>
        <p:txBody>
          <a:bodyPr/>
          <a:lstStyle/>
          <a:p>
            <a:pPr eaLnBrk="1" hangingPunct="1"/>
            <a:r>
              <a:rPr lang="en-US" altLang="ko-KR"/>
              <a:t>Excel </a:t>
            </a:r>
            <a:r>
              <a:rPr lang="ko-KR" altLang="en-US"/>
              <a:t>실습</a:t>
            </a:r>
          </a:p>
        </p:txBody>
      </p:sp>
      <p:sp>
        <p:nvSpPr>
          <p:cNvPr id="2355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341438"/>
            <a:ext cx="7772400" cy="475456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ko-KR" altLang="en-US" dirty="0"/>
              <a:t>데이터 </a:t>
            </a:r>
            <a:r>
              <a:rPr lang="en-US" altLang="ko-KR" dirty="0"/>
              <a:t>ch2_ex13.xlsx(</a:t>
            </a:r>
            <a:r>
              <a:rPr lang="ko-KR" altLang="en-US" dirty="0"/>
              <a:t>음료수 양 측정</a:t>
            </a:r>
            <a:r>
              <a:rPr lang="en-US" altLang="ko-KR" dirty="0"/>
              <a:t>)</a:t>
            </a:r>
            <a:r>
              <a:rPr lang="ko-KR" altLang="en-US" dirty="0"/>
              <a:t>에서  상자그림을 그려라</a:t>
            </a:r>
            <a:r>
              <a:rPr lang="en-US" altLang="ko-KR" dirty="0"/>
              <a:t>. </a:t>
            </a:r>
            <a:r>
              <a:rPr lang="ko-KR" altLang="en-US" dirty="0"/>
              <a:t>상자그림을 보고 분포모양을 설명하라</a:t>
            </a:r>
            <a:r>
              <a:rPr lang="en-US" altLang="ko-KR" dirty="0"/>
              <a:t>. outlier(</a:t>
            </a:r>
            <a:r>
              <a:rPr lang="ko-KR" altLang="en-US" dirty="0"/>
              <a:t>이상치</a:t>
            </a:r>
            <a:r>
              <a:rPr lang="en-US" altLang="ko-KR" dirty="0"/>
              <a:t>)</a:t>
            </a:r>
            <a:r>
              <a:rPr lang="ko-KR" altLang="en-US" dirty="0"/>
              <a:t>를 찾아라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51535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476250"/>
            <a:ext cx="7772400" cy="515938"/>
          </a:xfrm>
        </p:spPr>
        <p:txBody>
          <a:bodyPr/>
          <a:lstStyle/>
          <a:p>
            <a:pPr eaLnBrk="1" hangingPunct="1"/>
            <a:r>
              <a:rPr lang="en-US" altLang="ko-KR" sz="3200"/>
              <a:t>4. </a:t>
            </a:r>
            <a:r>
              <a:rPr lang="ko-KR" altLang="en-US" sz="3200"/>
              <a:t>돗수분포표에서 자료의 요약</a:t>
            </a:r>
          </a:p>
        </p:txBody>
      </p:sp>
      <p:sp>
        <p:nvSpPr>
          <p:cNvPr id="41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143000"/>
            <a:ext cx="7631113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ko-KR" altLang="en-US" sz="2800"/>
              <a:t>자료가 돗수분포표 형태이고 </a:t>
            </a:r>
            <a:r>
              <a:rPr lang="ko-KR" altLang="en-US" sz="2800">
                <a:solidFill>
                  <a:srgbClr val="FF0000"/>
                </a:solidFill>
              </a:rPr>
              <a:t>원 자료가 주어지지 않았을 때</a:t>
            </a:r>
            <a:r>
              <a:rPr lang="en-US" altLang="ko-KR" sz="2800"/>
              <a:t>=&gt;</a:t>
            </a:r>
            <a:r>
              <a:rPr lang="ko-KR" altLang="en-US" sz="2800"/>
              <a:t>계급구간의 중간값 사용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2400"/>
              <a:t>계급의 개수</a:t>
            </a:r>
            <a:r>
              <a:rPr lang="en-US" altLang="ko-KR" sz="2400"/>
              <a:t>: k, </a:t>
            </a:r>
            <a:r>
              <a:rPr lang="ko-KR" altLang="en-US" sz="2400"/>
              <a:t>계급의 중간값</a:t>
            </a:r>
            <a:r>
              <a:rPr lang="en-US" altLang="ko-KR" sz="2400"/>
              <a:t>: </a:t>
            </a:r>
          </a:p>
          <a:p>
            <a:pPr lvl="1" eaLnBrk="1" hangingPunct="1">
              <a:lnSpc>
                <a:spcPct val="90000"/>
              </a:lnSpc>
            </a:pPr>
            <a:endParaRPr lang="en-US" altLang="ko-KR" sz="2400"/>
          </a:p>
          <a:p>
            <a:pPr lvl="1" eaLnBrk="1" hangingPunct="1">
              <a:lnSpc>
                <a:spcPct val="90000"/>
              </a:lnSpc>
            </a:pPr>
            <a:r>
              <a:rPr lang="ko-KR" altLang="en-US" sz="2400"/>
              <a:t>계급의 돗수</a:t>
            </a:r>
            <a:r>
              <a:rPr lang="en-US" altLang="ko-KR" sz="2400"/>
              <a:t>:      , </a:t>
            </a:r>
            <a:r>
              <a:rPr lang="ko-KR" altLang="en-US" sz="2400"/>
              <a:t>자료의 갯수</a:t>
            </a:r>
            <a:r>
              <a:rPr lang="en-US" altLang="ko-KR" sz="2400"/>
              <a:t>: </a:t>
            </a:r>
          </a:p>
          <a:p>
            <a:pPr eaLnBrk="1" hangingPunct="1">
              <a:lnSpc>
                <a:spcPct val="90000"/>
              </a:lnSpc>
            </a:pPr>
            <a:endParaRPr lang="en-US" altLang="ko-KR" sz="2800"/>
          </a:p>
          <a:p>
            <a:pPr eaLnBrk="1" hangingPunct="1">
              <a:lnSpc>
                <a:spcPct val="90000"/>
              </a:lnSpc>
            </a:pPr>
            <a:r>
              <a:rPr lang="ko-KR" altLang="en-US" sz="2800"/>
              <a:t>표본평균</a:t>
            </a:r>
          </a:p>
          <a:p>
            <a:pPr eaLnBrk="1" hangingPunct="1">
              <a:lnSpc>
                <a:spcPct val="90000"/>
              </a:lnSpc>
            </a:pPr>
            <a:endParaRPr lang="ko-KR" altLang="en-US" sz="2800"/>
          </a:p>
          <a:p>
            <a:pPr eaLnBrk="1" hangingPunct="1">
              <a:lnSpc>
                <a:spcPct val="90000"/>
              </a:lnSpc>
            </a:pPr>
            <a:r>
              <a:rPr lang="ko-KR" altLang="en-US" sz="2800"/>
              <a:t>분산</a:t>
            </a:r>
          </a:p>
          <a:p>
            <a:pPr eaLnBrk="1" hangingPunct="1">
              <a:lnSpc>
                <a:spcPct val="90000"/>
              </a:lnSpc>
            </a:pPr>
            <a:endParaRPr lang="ko-KR" altLang="en-US" sz="2800"/>
          </a:p>
          <a:p>
            <a:pPr eaLnBrk="1" hangingPunct="1">
              <a:lnSpc>
                <a:spcPct val="90000"/>
              </a:lnSpc>
            </a:pPr>
            <a:r>
              <a:rPr lang="ko-KR" altLang="en-US" sz="2800"/>
              <a:t>표준편차   </a:t>
            </a:r>
          </a:p>
        </p:txBody>
      </p:sp>
      <p:graphicFrame>
        <p:nvGraphicFramePr>
          <p:cNvPr id="4098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6019800" y="1905000"/>
          <a:ext cx="420688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" name="Equation" r:id="rId3" imgW="190440" imgH="228600" progId="Equation.3">
                  <p:embed/>
                </p:oleObj>
              </mc:Choice>
              <mc:Fallback>
                <p:oleObj name="Equation" r:id="rId3" imgW="19044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1905000"/>
                        <a:ext cx="420688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6524625" y="3767138"/>
          <a:ext cx="1049338" cy="236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3" name="Equation" r:id="rId5" imgW="114120" imgH="215640" progId="Equation.3">
                  <p:embed/>
                </p:oleObj>
              </mc:Choice>
              <mc:Fallback>
                <p:oleObj name="Equation" r:id="rId5" imgW="114120" imgH="215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4625" y="3767138"/>
                        <a:ext cx="1049338" cy="236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8"/>
          <p:cNvGraphicFramePr>
            <a:graphicFrameLocks noChangeAspect="1"/>
          </p:cNvGraphicFramePr>
          <p:nvPr/>
        </p:nvGraphicFramePr>
        <p:xfrm>
          <a:off x="3419475" y="2781300"/>
          <a:ext cx="33496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4" name="Equation" r:id="rId7" imgW="152280" imgH="228600" progId="Equation.3">
                  <p:embed/>
                </p:oleObj>
              </mc:Choice>
              <mc:Fallback>
                <p:oleObj name="Equation" r:id="rId7" imgW="15228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2781300"/>
                        <a:ext cx="334963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9"/>
          <p:cNvGraphicFramePr>
            <a:graphicFrameLocks noChangeAspect="1"/>
          </p:cNvGraphicFramePr>
          <p:nvPr/>
        </p:nvGraphicFramePr>
        <p:xfrm>
          <a:off x="3132138" y="3573463"/>
          <a:ext cx="3598862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5" name="Equation" r:id="rId9" imgW="1981080" imgH="393480" progId="Equation.3">
                  <p:embed/>
                </p:oleObj>
              </mc:Choice>
              <mc:Fallback>
                <p:oleObj name="Equation" r:id="rId9" imgW="1981080" imgH="3934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3573463"/>
                        <a:ext cx="3598862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Object 10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6" name="Equation" r:id="rId11" imgW="114120" imgH="215640" progId="Equation.3">
                  <p:embed/>
                </p:oleObj>
              </mc:Choice>
              <mc:Fallback>
                <p:oleObj name="Equation" r:id="rId11" imgW="114120" imgH="2156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" name="Object 11"/>
          <p:cNvGraphicFramePr>
            <a:graphicFrameLocks noChangeAspect="1"/>
          </p:cNvGraphicFramePr>
          <p:nvPr/>
        </p:nvGraphicFramePr>
        <p:xfrm>
          <a:off x="3203575" y="4508500"/>
          <a:ext cx="2814638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7" name="Equation" r:id="rId12" imgW="1549080" imgH="431640" progId="Equation.3">
                  <p:embed/>
                </p:oleObj>
              </mc:Choice>
              <mc:Fallback>
                <p:oleObj name="Equation" r:id="rId12" imgW="1549080" imgH="4316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4508500"/>
                        <a:ext cx="2814638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4" name="Object 12"/>
          <p:cNvGraphicFramePr>
            <a:graphicFrameLocks noChangeAspect="1"/>
          </p:cNvGraphicFramePr>
          <p:nvPr/>
        </p:nvGraphicFramePr>
        <p:xfrm>
          <a:off x="3276600" y="5445125"/>
          <a:ext cx="39370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8" name="Equation" r:id="rId14" imgW="164880" imgH="241200" progId="Equation.3">
                  <p:embed/>
                </p:oleObj>
              </mc:Choice>
              <mc:Fallback>
                <p:oleObj name="Equation" r:id="rId14" imgW="164880" imgH="241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445125"/>
                        <a:ext cx="393700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5" name="Object 13"/>
          <p:cNvGraphicFramePr>
            <a:graphicFrameLocks noChangeAspect="1"/>
          </p:cNvGraphicFramePr>
          <p:nvPr/>
        </p:nvGraphicFramePr>
        <p:xfrm>
          <a:off x="6156325" y="2636838"/>
          <a:ext cx="1079500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9" name="Equation" r:id="rId16" imgW="583920" imgH="431640" progId="Equation.3">
                  <p:embed/>
                </p:oleObj>
              </mc:Choice>
              <mc:Fallback>
                <p:oleObj name="Equation" r:id="rId16" imgW="583920" imgH="4316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2636838"/>
                        <a:ext cx="1079500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그림 1" descr="076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1928813"/>
            <a:ext cx="6000750" cy="410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직사각형 2"/>
          <p:cNvSpPr>
            <a:spLocks noChangeArrowheads="1"/>
          </p:cNvSpPr>
          <p:nvPr/>
        </p:nvSpPr>
        <p:spPr bwMode="auto">
          <a:xfrm>
            <a:off x="1000125" y="357188"/>
            <a:ext cx="58388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ko-KR" sz="3200"/>
              <a:t>4. </a:t>
            </a:r>
            <a:r>
              <a:rPr lang="ko-KR" altLang="en-US" sz="3200"/>
              <a:t>돗수분포표에서 자료의 요약</a:t>
            </a:r>
          </a:p>
        </p:txBody>
      </p:sp>
      <p:sp>
        <p:nvSpPr>
          <p:cNvPr id="24580" name="TextBox 3"/>
          <p:cNvSpPr txBox="1">
            <a:spLocks noChangeArrowheads="1"/>
          </p:cNvSpPr>
          <p:nvPr/>
        </p:nvSpPr>
        <p:spPr bwMode="auto">
          <a:xfrm>
            <a:off x="857250" y="1000125"/>
            <a:ext cx="72151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charset="-127"/>
              </a:defRPr>
            </a:lvl9pPr>
          </a:lstStyle>
          <a:p>
            <a:pPr eaLnBrk="1" hangingPunct="1"/>
            <a:r>
              <a:rPr lang="en-US" altLang="ko-KR" sz="2800" dirty="0"/>
              <a:t>P76 </a:t>
            </a:r>
            <a:r>
              <a:rPr lang="ko-KR" altLang="en-US" sz="2800" dirty="0"/>
              <a:t>예제</a:t>
            </a:r>
            <a:r>
              <a:rPr lang="en-US" altLang="ko-KR" sz="2800" dirty="0"/>
              <a:t>13) </a:t>
            </a:r>
            <a:r>
              <a:rPr lang="ko-KR" altLang="en-US" sz="2800" dirty="0"/>
              <a:t>신입생</a:t>
            </a:r>
            <a:r>
              <a:rPr lang="en-US" altLang="ko-KR" sz="2800" dirty="0"/>
              <a:t> 51</a:t>
            </a:r>
            <a:r>
              <a:rPr lang="ko-KR" altLang="en-US" sz="2800" dirty="0"/>
              <a:t>명의 키</a:t>
            </a:r>
            <a:r>
              <a:rPr lang="en-US" altLang="ko-KR" sz="2800" dirty="0"/>
              <a:t>, ch2_ex7.xlsx</a:t>
            </a:r>
            <a:endParaRPr lang="ko-KR" alt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667ACD-BD93-4E40-A71A-A95D2CCF2FF4}"/>
              </a:ext>
            </a:extLst>
          </p:cNvPr>
          <p:cNvSpPr txBox="1"/>
          <p:nvPr/>
        </p:nvSpPr>
        <p:spPr>
          <a:xfrm>
            <a:off x="1907704" y="6165304"/>
            <a:ext cx="56166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출저</a:t>
            </a:r>
            <a:r>
              <a:rPr lang="en-US" altLang="ko-KR" sz="1100" dirty="0"/>
              <a:t>: (</a:t>
            </a:r>
            <a:r>
              <a:rPr lang="ko-KR" altLang="en-US" sz="1100" dirty="0"/>
              <a:t>부교재</a:t>
            </a:r>
            <a:r>
              <a:rPr lang="en-US" altLang="ko-KR" sz="1100" dirty="0"/>
              <a:t>)</a:t>
            </a:r>
            <a:r>
              <a:rPr lang="ko-KR" altLang="en-US" sz="1100" dirty="0"/>
              <a:t>엑셀을 이용한 통계학</a:t>
            </a:r>
            <a:r>
              <a:rPr lang="en-US" altLang="ko-KR" sz="1100" dirty="0"/>
              <a:t>, </a:t>
            </a:r>
            <a:r>
              <a:rPr lang="ko-KR" altLang="en-US" sz="1100" dirty="0"/>
              <a:t>자유아카데미</a:t>
            </a:r>
            <a:r>
              <a:rPr lang="en-US" altLang="ko-KR" sz="1100" dirty="0"/>
              <a:t>, </a:t>
            </a:r>
            <a:r>
              <a:rPr lang="ko-KR" altLang="en-US" sz="1100" dirty="0"/>
              <a:t>김진경 외 </a:t>
            </a:r>
            <a:r>
              <a:rPr lang="en-US" altLang="ko-KR" sz="1100" dirty="0"/>
              <a:t>5</a:t>
            </a:r>
            <a:r>
              <a:rPr lang="ko-KR" altLang="en-US" sz="1100" dirty="0"/>
              <a:t>명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/>
              <a:t>EXCEL </a:t>
            </a:r>
            <a:r>
              <a:rPr lang="ko-KR" altLang="en-US"/>
              <a:t>실습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68413"/>
            <a:ext cx="7772400" cy="4827587"/>
          </a:xfrm>
        </p:spPr>
        <p:txBody>
          <a:bodyPr/>
          <a:lstStyle/>
          <a:p>
            <a:pPr eaLnBrk="1" hangingPunct="1"/>
            <a:r>
              <a:rPr lang="en-US" altLang="ko-KR"/>
              <a:t>ch2_ex7.xls </a:t>
            </a:r>
            <a:r>
              <a:rPr lang="ko-KR" altLang="en-US"/>
              <a:t>자료를 이용하여 만든 돗수분포표로</a:t>
            </a:r>
            <a:r>
              <a:rPr lang="en-US" altLang="ko-KR"/>
              <a:t>(</a:t>
            </a:r>
            <a:r>
              <a:rPr lang="ko-KR" altLang="en-US"/>
              <a:t>앞장</a:t>
            </a:r>
            <a:r>
              <a:rPr lang="en-US" altLang="ko-KR"/>
              <a:t>)</a:t>
            </a:r>
            <a:r>
              <a:rPr lang="ko-KR" altLang="en-US"/>
              <a:t> 부터 구한 평균과 분산을 원 데이터로 부터 구한 값과 비교하라</a:t>
            </a:r>
            <a:r>
              <a:rPr lang="en-US" altLang="ko-KR"/>
              <a:t>.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HW2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3A7BB4E-180D-49AB-8359-36FA79F9B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8768"/>
            <a:ext cx="9144000" cy="346813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B52F4EC-A6B5-485E-B571-0D89DB93FD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688" y="4324593"/>
            <a:ext cx="5685822" cy="16264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241C0F-C458-43D6-931A-290CB4F6D07A}"/>
              </a:ext>
            </a:extLst>
          </p:cNvPr>
          <p:cNvSpPr txBox="1"/>
          <p:nvPr/>
        </p:nvSpPr>
        <p:spPr>
          <a:xfrm>
            <a:off x="1907704" y="6258708"/>
            <a:ext cx="56166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출저</a:t>
            </a:r>
            <a:r>
              <a:rPr lang="en-US" altLang="ko-KR" sz="1100" dirty="0"/>
              <a:t>: (</a:t>
            </a:r>
            <a:r>
              <a:rPr lang="ko-KR" altLang="en-US" sz="1100" dirty="0"/>
              <a:t>부교재</a:t>
            </a:r>
            <a:r>
              <a:rPr lang="en-US" altLang="ko-KR" sz="1100" dirty="0"/>
              <a:t>)</a:t>
            </a:r>
            <a:r>
              <a:rPr lang="ko-KR" altLang="en-US" sz="1100" dirty="0"/>
              <a:t>엑셀을 이용한 통계학</a:t>
            </a:r>
            <a:r>
              <a:rPr lang="en-US" altLang="ko-KR" sz="1100" dirty="0"/>
              <a:t>, </a:t>
            </a:r>
            <a:r>
              <a:rPr lang="ko-KR" altLang="en-US" sz="1100" dirty="0"/>
              <a:t>자유아카데미</a:t>
            </a:r>
            <a:r>
              <a:rPr lang="en-US" altLang="ko-KR" sz="1100" dirty="0"/>
              <a:t>, </a:t>
            </a:r>
            <a:r>
              <a:rPr lang="ko-KR" altLang="en-US" sz="1100" dirty="0"/>
              <a:t>김진경 외 </a:t>
            </a:r>
            <a:r>
              <a:rPr lang="en-US" altLang="ko-KR" sz="1100" dirty="0"/>
              <a:t>5</a:t>
            </a:r>
            <a:r>
              <a:rPr lang="ko-KR" altLang="en-US" sz="1100" dirty="0"/>
              <a:t>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조화">
  <a:themeElements>
    <a:clrScheme name="조화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조화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조화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조화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조화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조화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조화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조화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조화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Office\Templates\디자인\조화.pot</Template>
  <TotalTime>3172</TotalTime>
  <Words>1202</Words>
  <Application>Microsoft Office PowerPoint</Application>
  <PresentationFormat>화면 슬라이드 쇼(4:3)</PresentationFormat>
  <Paragraphs>171</Paragraphs>
  <Slides>29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6" baseType="lpstr">
      <vt:lpstr>굴림</vt:lpstr>
      <vt:lpstr>맑은 고딕</vt:lpstr>
      <vt:lpstr>Calibri</vt:lpstr>
      <vt:lpstr>Tahoma</vt:lpstr>
      <vt:lpstr>Wingdings</vt:lpstr>
      <vt:lpstr>조화</vt:lpstr>
      <vt:lpstr>Equation</vt:lpstr>
      <vt:lpstr>제 3장. 수치(통계량)를 통한  연속형 자료의 요약 jsum@hansung.ac.kr</vt:lpstr>
      <vt:lpstr>1. 중심위치의 측도 (Measure of Center)</vt:lpstr>
      <vt:lpstr>PowerPoint 프레젠테이션</vt:lpstr>
      <vt:lpstr>중심위치의 측도</vt:lpstr>
      <vt:lpstr>2. 퍼진 정도의 측도</vt:lpstr>
      <vt:lpstr>2. 퍼진 정도의 측도(Measure of Dispersion)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첨도 및 왜도</vt:lpstr>
      <vt:lpstr>PowerPoint 프레젠테이션</vt:lpstr>
      <vt:lpstr>PowerPoint 프레젠테이션</vt:lpstr>
      <vt:lpstr>PowerPoint 프레젠테이션</vt:lpstr>
      <vt:lpstr>EXCEL 실습</vt:lpstr>
      <vt:lpstr>PowerPoint 프레젠테이션</vt:lpstr>
      <vt:lpstr>PowerPoint 프레젠테이션</vt:lpstr>
      <vt:lpstr>P73 예제12) 남녀를 구분한 키에 대한 자료</vt:lpstr>
      <vt:lpstr>Excel 실습</vt:lpstr>
      <vt:lpstr>4. 돗수분포표에서 자료의 요약</vt:lpstr>
      <vt:lpstr>PowerPoint 프레젠테이션</vt:lpstr>
      <vt:lpstr>EXCEL 실습</vt:lpstr>
      <vt:lpstr>HW2</vt:lpstr>
    </vt:vector>
  </TitlesOfParts>
  <Company>한성대학교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Ch2. 자료의 정리</dc:title>
  <dc:creator>엄종석</dc:creator>
  <cp:lastModifiedBy>Windows 사용자</cp:lastModifiedBy>
  <cp:revision>87</cp:revision>
  <dcterms:created xsi:type="dcterms:W3CDTF">2002-03-13T07:32:49Z</dcterms:created>
  <dcterms:modified xsi:type="dcterms:W3CDTF">2026-03-22T05:50:09Z</dcterms:modified>
</cp:coreProperties>
</file>