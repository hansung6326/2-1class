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303" r:id="rId6"/>
    <p:sldId id="304" r:id="rId7"/>
    <p:sldId id="260" r:id="rId8"/>
    <p:sldId id="273" r:id="rId9"/>
    <p:sldId id="274" r:id="rId10"/>
    <p:sldId id="291" r:id="rId11"/>
    <p:sldId id="284" r:id="rId12"/>
    <p:sldId id="272" r:id="rId13"/>
    <p:sldId id="261" r:id="rId14"/>
    <p:sldId id="262" r:id="rId15"/>
    <p:sldId id="295" r:id="rId16"/>
    <p:sldId id="264" r:id="rId17"/>
    <p:sldId id="285" r:id="rId18"/>
    <p:sldId id="275" r:id="rId19"/>
    <p:sldId id="298" r:id="rId20"/>
    <p:sldId id="276" r:id="rId21"/>
    <p:sldId id="278" r:id="rId22"/>
    <p:sldId id="299" r:id="rId23"/>
    <p:sldId id="300" r:id="rId24"/>
    <p:sldId id="267" r:id="rId25"/>
    <p:sldId id="268" r:id="rId26"/>
    <p:sldId id="280" r:id="rId27"/>
    <p:sldId id="305" r:id="rId28"/>
    <p:sldId id="306" r:id="rId29"/>
    <p:sldId id="269" r:id="rId30"/>
    <p:sldId id="296" r:id="rId31"/>
    <p:sldId id="270" r:id="rId32"/>
    <p:sldId id="290" r:id="rId33"/>
    <p:sldId id="271" r:id="rId34"/>
    <p:sldId id="289" r:id="rId35"/>
    <p:sldId id="279" r:id="rId36"/>
    <p:sldId id="281" r:id="rId37"/>
    <p:sldId id="282" r:id="rId38"/>
    <p:sldId id="283" r:id="rId39"/>
    <p:sldId id="286" r:id="rId40"/>
    <p:sldId id="287" r:id="rId41"/>
    <p:sldId id="301" r:id="rId42"/>
    <p:sldId id="292" r:id="rId43"/>
    <p:sldId id="302" r:id="rId44"/>
    <p:sldId id="294" r:id="rId4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2706" autoAdjust="0"/>
  </p:normalViewPr>
  <p:slideViewPr>
    <p:cSldViewPr>
      <p:cViewPr varScale="1">
        <p:scale>
          <a:sx n="97" d="100"/>
          <a:sy n="97" d="100"/>
        </p:scale>
        <p:origin x="102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86635AF-5653-449B-B1D4-B4AA2C669A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37594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EDEEA3EF-B1EC-4F00-9E0D-D8EC9F043EDA}" type="slidenum">
              <a:rPr lang="en-US" altLang="ko-KR" sz="1200" smtClean="0"/>
              <a:pPr eaLnBrk="1" hangingPunct="1"/>
              <a:t>1</a:t>
            </a:fld>
            <a:endParaRPr lang="en-US" altLang="ko-KR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579431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A5CC9839-934F-4BA4-A05F-F3B4ADA2791E}" type="slidenum">
              <a:rPr lang="en-US" altLang="ko-KR" sz="1200" smtClean="0"/>
              <a:pPr eaLnBrk="1" hangingPunct="1"/>
              <a:t>2</a:t>
            </a:fld>
            <a:endParaRPr lang="en-US" altLang="ko-KR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87937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5EC52E83-9CE1-4FA6-9827-070898E32684}" type="slidenum">
              <a:rPr lang="en-US" altLang="ko-KR" sz="1200" smtClean="0"/>
              <a:pPr eaLnBrk="1" hangingPunct="1"/>
              <a:t>3</a:t>
            </a:fld>
            <a:endParaRPr lang="en-US" altLang="ko-KR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54322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1B887E57-ABF7-4C84-80AD-DCB1733D0BEB}" type="slidenum">
              <a:rPr lang="en-US" altLang="ko-KR" sz="1200" smtClean="0"/>
              <a:pPr eaLnBrk="1" hangingPunct="1"/>
              <a:t>4</a:t>
            </a:fld>
            <a:endParaRPr lang="en-US" altLang="ko-KR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49453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9410C656-EA32-4BC5-AAC7-D312DD9C27A4}" type="slidenum">
              <a:rPr lang="en-US" altLang="ko-KR" sz="1200" smtClean="0"/>
              <a:pPr eaLnBrk="1" hangingPunct="1"/>
              <a:t>7</a:t>
            </a:fld>
            <a:endParaRPr lang="en-US" altLang="ko-KR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713182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854C24C4-7BE3-4276-995D-66315E78DA14}" type="slidenum">
              <a:rPr lang="en-US" altLang="ko-KR" sz="1200" smtClean="0"/>
              <a:pPr eaLnBrk="1" hangingPunct="1"/>
              <a:t>8</a:t>
            </a:fld>
            <a:endParaRPr lang="en-US" altLang="ko-KR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02321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2F99EBAB-E08B-48B4-9BF8-24D6173EF305}" type="slidenum">
              <a:rPr lang="en-US" altLang="ko-KR" sz="1200" smtClean="0"/>
              <a:pPr eaLnBrk="1" hangingPunct="1"/>
              <a:t>9</a:t>
            </a:fld>
            <a:endParaRPr lang="en-US" altLang="ko-KR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29791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A04D4AEF-58FC-4746-94F9-3EA34A5E5C1C}" type="slidenum">
              <a:rPr lang="en-US" altLang="ko-KR" sz="1200" smtClean="0"/>
              <a:pPr eaLnBrk="1" hangingPunct="1"/>
              <a:t>10</a:t>
            </a:fld>
            <a:endParaRPr lang="en-US" altLang="ko-KR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084465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018B0812-9293-4BD6-AC9A-C84B82E2C9D2}" type="slidenum">
              <a:rPr lang="en-US" altLang="ko-KR" sz="1200" smtClean="0"/>
              <a:pPr eaLnBrk="1" hangingPunct="1"/>
              <a:t>11</a:t>
            </a:fld>
            <a:endParaRPr lang="en-US" altLang="ko-KR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69251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082A5955-C133-48E6-9DEC-0781D1F6AADD}" type="slidenum">
              <a:rPr lang="en-US" altLang="ko-KR" sz="1200" smtClean="0"/>
              <a:pPr eaLnBrk="1" hangingPunct="1"/>
              <a:t>12</a:t>
            </a:fld>
            <a:endParaRPr lang="en-US" altLang="ko-KR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12027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D3B034BA-9189-4AB5-9C3D-17C86DD20061}" type="slidenum">
              <a:rPr lang="en-US" altLang="ko-KR" sz="1200" smtClean="0"/>
              <a:pPr eaLnBrk="1" hangingPunct="1"/>
              <a:t>13</a:t>
            </a:fld>
            <a:endParaRPr lang="en-US" altLang="ko-KR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34671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2ADB8A98-D16A-4EE7-983B-FC5FBAB11F6E}" type="slidenum">
              <a:rPr lang="en-US" altLang="ko-KR" sz="1200" smtClean="0"/>
              <a:pPr eaLnBrk="1" hangingPunct="1"/>
              <a:t>14</a:t>
            </a:fld>
            <a:endParaRPr lang="en-US" altLang="ko-KR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943666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FB9F9C9A-AAD5-4967-B640-059A6F683E8C}" type="slidenum">
              <a:rPr lang="en-US" altLang="ko-KR" sz="1200" smtClean="0"/>
              <a:pPr eaLnBrk="1" hangingPunct="1"/>
              <a:t>16</a:t>
            </a:fld>
            <a:endParaRPr lang="en-US" altLang="ko-KR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311573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98B5A08A-5941-484F-AC90-AB89FC9EA0CE}" type="slidenum">
              <a:rPr lang="en-US" altLang="ko-KR" sz="1200" smtClean="0"/>
              <a:pPr eaLnBrk="1" hangingPunct="1"/>
              <a:t>17</a:t>
            </a:fld>
            <a:endParaRPr lang="en-US" altLang="ko-KR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302940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5931955E-9A32-4FE9-8311-381A8ACCEBF1}" type="slidenum">
              <a:rPr lang="en-US" altLang="ko-KR" sz="1200" smtClean="0"/>
              <a:pPr eaLnBrk="1" hangingPunct="1"/>
              <a:t>18</a:t>
            </a:fld>
            <a:endParaRPr lang="en-US" altLang="ko-KR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6688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803D1961-8B93-4C72-8E36-BD0ACF2F08CD}" type="slidenum">
              <a:rPr lang="en-US" altLang="ko-KR" sz="1200" smtClean="0"/>
              <a:pPr eaLnBrk="1" hangingPunct="1"/>
              <a:t>20</a:t>
            </a:fld>
            <a:endParaRPr lang="en-US" altLang="ko-KR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52831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F69B2220-C2F3-4A02-B2A9-065C53AE928B}" type="slidenum">
              <a:rPr lang="en-US" altLang="ko-KR" sz="1200" smtClean="0"/>
              <a:pPr eaLnBrk="1" hangingPunct="1"/>
              <a:t>21</a:t>
            </a:fld>
            <a:endParaRPr lang="en-US" altLang="ko-KR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06536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2EF2C32D-E633-4915-9EB8-1B7065D521F3}" type="slidenum">
              <a:rPr lang="en-US" altLang="ko-KR" sz="1200" smtClean="0"/>
              <a:pPr eaLnBrk="1" hangingPunct="1"/>
              <a:t>22</a:t>
            </a:fld>
            <a:endParaRPr lang="en-US" altLang="ko-KR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3B695000-3CD9-43EA-9154-73DE3F173FB2}" type="slidenum">
              <a:rPr lang="en-US" altLang="ko-KR" sz="1200" smtClean="0"/>
              <a:pPr eaLnBrk="1" hangingPunct="1"/>
              <a:t>23</a:t>
            </a:fld>
            <a:endParaRPr lang="en-US" altLang="ko-KR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980DD470-341D-49CE-ADDC-5F75954EDE56}" type="slidenum">
              <a:rPr lang="en-US" altLang="ko-KR" sz="1200" smtClean="0"/>
              <a:pPr eaLnBrk="1" hangingPunct="1"/>
              <a:t>24</a:t>
            </a:fld>
            <a:endParaRPr lang="en-US" altLang="ko-KR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1160279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F67AD83D-A4D8-4404-867B-8033D1586BE2}" type="slidenum">
              <a:rPr lang="en-US" altLang="ko-KR" sz="1200" smtClean="0"/>
              <a:pPr eaLnBrk="1" hangingPunct="1"/>
              <a:t>25</a:t>
            </a:fld>
            <a:endParaRPr lang="en-US" altLang="ko-KR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662589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55BA021D-D5B0-4E66-8E3C-AD511BF5E15A}" type="slidenum">
              <a:rPr lang="en-US" altLang="ko-KR" sz="1200" smtClean="0"/>
              <a:pPr eaLnBrk="1" hangingPunct="1"/>
              <a:t>26</a:t>
            </a:fld>
            <a:endParaRPr lang="en-US" altLang="ko-KR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536959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55BA021D-D5B0-4E66-8E3C-AD511BF5E15A}" type="slidenum">
              <a:rPr lang="en-US" altLang="ko-KR" sz="1200" smtClean="0"/>
              <a:pPr eaLnBrk="1" hangingPunct="1"/>
              <a:t>27</a:t>
            </a:fld>
            <a:endParaRPr lang="en-US" altLang="ko-KR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9442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0903A5F9-BCF7-444D-BB9A-AC5215C37286}" type="slidenum">
              <a:rPr lang="en-US" altLang="ko-KR" sz="1200" smtClean="0"/>
              <a:pPr eaLnBrk="1" hangingPunct="1"/>
              <a:t>28</a:t>
            </a:fld>
            <a:endParaRPr lang="en-US" altLang="ko-KR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9227748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0903A5F9-BCF7-444D-BB9A-AC5215C37286}" type="slidenum">
              <a:rPr lang="en-US" altLang="ko-KR" sz="1200" smtClean="0"/>
              <a:pPr eaLnBrk="1" hangingPunct="1"/>
              <a:t>29</a:t>
            </a:fld>
            <a:endParaRPr lang="en-US" altLang="ko-KR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815501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58E417D0-5E41-4CE5-9560-C17A67C094D0}" type="slidenum">
              <a:rPr lang="en-US" altLang="ko-KR" sz="1200" smtClean="0"/>
              <a:pPr eaLnBrk="1" hangingPunct="1"/>
              <a:t>31</a:t>
            </a:fld>
            <a:endParaRPr lang="en-US" altLang="ko-KR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3510195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F1FB1768-2ACC-42E1-A9FC-A9AEF830BE51}" type="slidenum">
              <a:rPr lang="en-US" altLang="ko-KR" sz="1200" smtClean="0"/>
              <a:pPr eaLnBrk="1" hangingPunct="1"/>
              <a:t>32</a:t>
            </a:fld>
            <a:endParaRPr lang="en-US" altLang="ko-KR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2035984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0DE9709D-7E17-4DD0-A847-A3B82FE66B66}" type="slidenum">
              <a:rPr lang="en-US" altLang="ko-KR" sz="1200" smtClean="0"/>
              <a:pPr eaLnBrk="1" hangingPunct="1"/>
              <a:t>33</a:t>
            </a:fld>
            <a:endParaRPr lang="en-US" altLang="ko-KR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421794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7E203FB3-BD66-4679-9B56-6F97C871734C}" type="slidenum">
              <a:rPr lang="en-US" altLang="ko-KR" sz="1200" smtClean="0"/>
              <a:pPr eaLnBrk="1" hangingPunct="1"/>
              <a:t>34</a:t>
            </a:fld>
            <a:endParaRPr lang="en-US" altLang="ko-KR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70266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7B3D9566-7D20-412B-80F8-2FD5FB1E8F18}" type="slidenum">
              <a:rPr lang="en-US" altLang="ko-KR" sz="1200" smtClean="0"/>
              <a:pPr eaLnBrk="1" hangingPunct="1"/>
              <a:t>35</a:t>
            </a:fld>
            <a:endParaRPr lang="en-US" altLang="ko-KR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570116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37AC9238-7AA6-488E-AC04-4DDC71370CC8}" type="slidenum">
              <a:rPr lang="en-US" altLang="ko-KR" sz="1200" smtClean="0"/>
              <a:pPr eaLnBrk="1" hangingPunct="1"/>
              <a:t>36</a:t>
            </a:fld>
            <a:endParaRPr lang="en-US" altLang="ko-KR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2113142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140FA6E6-3AD0-4BF2-A1FE-39687A2A77A8}" type="slidenum">
              <a:rPr lang="en-US" altLang="ko-KR" sz="1200" smtClean="0"/>
              <a:pPr eaLnBrk="1" hangingPunct="1"/>
              <a:t>37</a:t>
            </a:fld>
            <a:endParaRPr lang="en-US" altLang="ko-KR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121924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0157D670-44E8-4932-B209-6362AE4799A8}" type="slidenum">
              <a:rPr lang="en-US" altLang="ko-KR" sz="1200" smtClean="0"/>
              <a:pPr eaLnBrk="1" hangingPunct="1"/>
              <a:t>38</a:t>
            </a:fld>
            <a:endParaRPr lang="en-US" altLang="ko-KR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692482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289B1ACA-CA74-4ED5-AD6C-65CA8D7C0DA6}" type="slidenum">
              <a:rPr lang="en-US" altLang="ko-KR" sz="1200" smtClean="0"/>
              <a:pPr eaLnBrk="1" hangingPunct="1"/>
              <a:t>39</a:t>
            </a:fld>
            <a:endParaRPr lang="en-US" altLang="ko-KR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37630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A1347805-0DB2-4EA2-A56A-2EDF1DA55BFA}" type="slidenum">
              <a:rPr lang="en-US" altLang="ko-KR" sz="1200" smtClean="0"/>
              <a:pPr eaLnBrk="1" hangingPunct="1"/>
              <a:t>40</a:t>
            </a:fld>
            <a:endParaRPr lang="en-US" altLang="ko-KR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7931307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DD91A65E-CD58-4339-AE19-5DE2B2C690B5}" type="slidenum">
              <a:rPr lang="en-US" altLang="ko-KR" sz="1200" smtClean="0"/>
              <a:pPr eaLnBrk="1" hangingPunct="1"/>
              <a:t>41</a:t>
            </a:fld>
            <a:endParaRPr lang="en-US" altLang="ko-KR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3B7F5005-37D6-4005-9285-8F20ABACD983}" type="slidenum">
              <a:rPr lang="en-US" altLang="ko-KR" sz="1200" smtClean="0"/>
              <a:pPr eaLnBrk="1" hangingPunct="1"/>
              <a:t>42</a:t>
            </a:fld>
            <a:endParaRPr lang="en-US" altLang="ko-KR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9E909A84-B899-4998-862D-69CD1B47395A}" type="slidenum">
              <a:rPr lang="en-US" altLang="ko-KR" sz="1200" smtClean="0"/>
              <a:pPr eaLnBrk="1" hangingPunct="1"/>
              <a:t>43</a:t>
            </a:fld>
            <a:endParaRPr lang="en-US" altLang="ko-KR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8D562BDC-A4A7-4FA8-B57A-F9014335CADF}" type="slidenum">
              <a:rPr lang="en-US" altLang="ko-KR" sz="1200" smtClean="0"/>
              <a:pPr eaLnBrk="1" hangingPunct="1"/>
              <a:t>44</a:t>
            </a:fld>
            <a:endParaRPr lang="en-US" altLang="ko-KR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89367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78943-638A-47AA-9FDE-EA5BBF8E54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39649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5CD5E-B79A-4905-B723-CF79729E52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173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21F7FB-C6A8-43C4-AB30-3AD7DCD4940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035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EBD4F-52F9-4A3A-AFAC-0AF08612A8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816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8F65C-4B71-4CCE-BACD-669BC51E85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9406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99A55-2EA2-47BF-A88D-59C4B3C5940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707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8C8A1-0FAC-467F-A530-015E1A7C8D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243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4845-9D8F-4076-BF0A-4A3A417ADF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663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05D46-3E81-4666-96D8-926357473B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259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7F5DC9-7C2D-4FFE-8C4B-A84BF1A25F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054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78EBA-F514-4C31-B70A-BFCAA1B6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949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3ADC553-CAFD-4AE9-82E3-83DCD513BA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book/9637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kidocs.net/19857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book/9637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0.wmf"/><Relationship Id="rId18" Type="http://schemas.openxmlformats.org/officeDocument/2006/relationships/image" Target="../media/image20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1.w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7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26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3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dirty="0"/>
              <a:t>제 </a:t>
            </a:r>
            <a:r>
              <a:rPr lang="en-US" altLang="ko-KR" dirty="0"/>
              <a:t>8 </a:t>
            </a:r>
            <a:r>
              <a:rPr lang="ko-KR" altLang="en-US" dirty="0"/>
              <a:t>장  연속형 변수의 확률분포</a:t>
            </a:r>
            <a:br>
              <a:rPr lang="en-US" altLang="ko-KR" dirty="0"/>
            </a:br>
            <a:r>
              <a:rPr lang="ko-KR" altLang="en-US" dirty="0"/>
              <a:t>정규분포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1. </a:t>
            </a:r>
            <a:r>
              <a:rPr lang="ko-KR" altLang="en-US"/>
              <a:t>서론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확률변수의 취하는 값이 셀 수 없는 연속적인 값을 갖을 때의 확률분포</a:t>
            </a:r>
            <a:endParaRPr lang="en-US" altLang="ko-KR" dirty="0"/>
          </a:p>
          <a:p>
            <a:pPr marL="0" indent="0" eaLnBrk="1" hangingPunct="1">
              <a:buNone/>
            </a:pPr>
            <a:r>
              <a:rPr lang="en-US" altLang="ko-KR" dirty="0"/>
              <a:t>   =&gt; </a:t>
            </a:r>
            <a:r>
              <a:rPr lang="ko-KR" altLang="en-US" dirty="0"/>
              <a:t>연속형 변수의 확률분포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</a:t>
            </a:r>
            <a:r>
              <a:rPr lang="en-US" altLang="ko-KR" dirty="0"/>
              <a:t>=&gt; </a:t>
            </a:r>
            <a:r>
              <a:rPr lang="ko-KR" altLang="en-US" dirty="0"/>
              <a:t>연속확률분포</a:t>
            </a:r>
          </a:p>
          <a:p>
            <a:pPr eaLnBrk="1" hangingPunct="1">
              <a:buFont typeface="Wingdings" pitchFamily="2" charset="2"/>
              <a:buNone/>
            </a:pPr>
            <a:endParaRPr lang="ko-KR" altLang="en-US" dirty="0"/>
          </a:p>
          <a:p>
            <a:pPr eaLnBrk="1" hangingPunct="1"/>
            <a:r>
              <a:rPr lang="ko-KR" altLang="en-US" dirty="0"/>
              <a:t>정규분포는 대부분의 경우에 적합 되는 연속확률분포이다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 dirty="0"/>
              <a:t>2. </a:t>
            </a:r>
            <a:r>
              <a:rPr lang="ko-KR" altLang="en-US" dirty="0"/>
              <a:t>연속확률분포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 </a:t>
            </a:r>
            <a:r>
              <a:rPr lang="ko-KR" altLang="en-US" sz="2800" dirty="0"/>
              <a:t>연속형 확률변수</a:t>
            </a:r>
            <a:r>
              <a:rPr lang="en-US" altLang="ko-KR" sz="2800" dirty="0"/>
              <a:t>: </a:t>
            </a:r>
            <a:r>
              <a:rPr lang="ko-KR" altLang="en-US" sz="2800" dirty="0"/>
              <a:t>어떤 </a:t>
            </a:r>
            <a:r>
              <a:rPr lang="ko-KR" altLang="en-US" sz="2800" dirty="0" err="1"/>
              <a:t>구간내에서</a:t>
            </a:r>
            <a:r>
              <a:rPr lang="ko-KR" altLang="en-US" sz="2800" dirty="0"/>
              <a:t> 확률변수가 취할 수 있는 값이 무한히 많을 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  </a:t>
            </a:r>
            <a:r>
              <a:rPr lang="en-US" altLang="ko-KR" sz="2800" dirty="0"/>
              <a:t>- </a:t>
            </a:r>
            <a:r>
              <a:rPr lang="en-US" altLang="ko-KR" sz="2800" u="sng" dirty="0"/>
              <a:t>impossible</a:t>
            </a:r>
            <a:r>
              <a:rPr lang="en-US" altLang="ko-KR" sz="2800" dirty="0"/>
              <a:t> to assign a probability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to each value(infinitely many) with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sum to be 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=&gt; relative frequency(density) histogram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=&gt; </a:t>
            </a:r>
            <a:r>
              <a:rPr lang="ko-KR" altLang="en-US" sz="2800" dirty="0"/>
              <a:t>확률은 어느 구간의 면적으로 정의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  </a:t>
            </a:r>
            <a:r>
              <a:rPr lang="en-US" altLang="ko-KR" sz="2800" dirty="0"/>
              <a:t>=&gt; </a:t>
            </a:r>
            <a:r>
              <a:rPr lang="ko-KR" altLang="en-US" sz="2800" dirty="0"/>
              <a:t>한 점에서의 면적은 </a:t>
            </a:r>
            <a:r>
              <a:rPr lang="en-US" altLang="ko-KR" sz="2800" dirty="0"/>
              <a:t>0</a:t>
            </a:r>
            <a:r>
              <a:rPr lang="ko-KR" altLang="en-US" sz="2800" dirty="0"/>
              <a:t>이므로 확률은 </a:t>
            </a:r>
            <a:r>
              <a:rPr lang="en-US" altLang="ko-KR" sz="2800" dirty="0"/>
              <a:t>0.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=&gt; </a:t>
            </a:r>
            <a:r>
              <a:rPr lang="ko-KR" altLang="en-US" sz="2800" dirty="0"/>
              <a:t>각 각의 점에서는 상대 밀도를 표시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800" dirty="0"/>
              <a:t>   </a:t>
            </a:r>
            <a:r>
              <a:rPr lang="en-US" altLang="ko-KR" sz="2800" dirty="0"/>
              <a:t>=&gt; probability density function </a:t>
            </a:r>
            <a:r>
              <a:rPr lang="en-US" altLang="ko-KR" sz="2800" i="1" dirty="0"/>
              <a:t>f(x)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     (</a:t>
            </a:r>
            <a:r>
              <a:rPr lang="ko-KR" altLang="en-US" sz="2800" dirty="0"/>
              <a:t>확률밀도함수</a:t>
            </a:r>
            <a:r>
              <a:rPr lang="en-US" altLang="ko-KR" sz="2800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304800"/>
            <a:ext cx="7772400" cy="4953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</a:t>
            </a:r>
            <a:r>
              <a:rPr lang="en-US" altLang="ko-KR" sz="2800" dirty="0"/>
              <a:t>(1) </a:t>
            </a:r>
            <a:r>
              <a:rPr lang="ko-KR" altLang="en-US" sz="2800" dirty="0" err="1"/>
              <a:t>확률합은</a:t>
            </a:r>
            <a:r>
              <a:rPr lang="ko-KR" altLang="en-US" sz="2800" dirty="0"/>
              <a:t> </a:t>
            </a:r>
            <a:r>
              <a:rPr lang="en-US" altLang="ko-KR" sz="2800" dirty="0"/>
              <a:t>1 =&gt;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 (2) </a:t>
            </a:r>
            <a:r>
              <a:rPr lang="ko-KR" altLang="en-US" sz="2800" dirty="0"/>
              <a:t>어느 구간의 확률은 면적으로 표시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(3) </a:t>
            </a:r>
            <a:r>
              <a:rPr lang="ko-KR" altLang="en-US" sz="2800" dirty="0"/>
              <a:t>확률밀도함수 </a:t>
            </a:r>
            <a:r>
              <a:rPr lang="en-US" altLang="ko-KR" sz="2800" i="1" dirty="0"/>
              <a:t>f(x)</a:t>
            </a:r>
            <a:r>
              <a:rPr lang="ko-KR" altLang="en-US" sz="2800" dirty="0"/>
              <a:t>는 </a:t>
            </a:r>
            <a:r>
              <a:rPr lang="en-US" altLang="ko-KR" sz="2800" dirty="0"/>
              <a:t>x</a:t>
            </a:r>
            <a:r>
              <a:rPr lang="ko-KR" altLang="en-US" sz="2800" dirty="0"/>
              <a:t>에서의 상대밀도를 표시함</a:t>
            </a:r>
            <a:r>
              <a:rPr lang="en-US" altLang="ko-KR" sz="28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</a:t>
            </a:r>
          </a:p>
        </p:txBody>
      </p:sp>
      <p:sp>
        <p:nvSpPr>
          <p:cNvPr id="1030" name="Line 3"/>
          <p:cNvSpPr>
            <a:spLocks noChangeShapeType="1"/>
          </p:cNvSpPr>
          <p:nvPr/>
        </p:nvSpPr>
        <p:spPr bwMode="auto">
          <a:xfrm>
            <a:off x="1143000" y="54102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1" name="Freeform 4"/>
          <p:cNvSpPr>
            <a:spLocks/>
          </p:cNvSpPr>
          <p:nvPr/>
        </p:nvSpPr>
        <p:spPr bwMode="auto">
          <a:xfrm>
            <a:off x="1752600" y="3416300"/>
            <a:ext cx="5638800" cy="1536700"/>
          </a:xfrm>
          <a:custGeom>
            <a:avLst/>
            <a:gdLst>
              <a:gd name="T0" fmla="*/ 0 w 3552"/>
              <a:gd name="T1" fmla="*/ 2147483647 h 968"/>
              <a:gd name="T2" fmla="*/ 2147483647 w 3552"/>
              <a:gd name="T3" fmla="*/ 2147483647 h 968"/>
              <a:gd name="T4" fmla="*/ 2147483647 w 3552"/>
              <a:gd name="T5" fmla="*/ 2147483647 h 968"/>
              <a:gd name="T6" fmla="*/ 0 60000 65536"/>
              <a:gd name="T7" fmla="*/ 0 60000 65536"/>
              <a:gd name="T8" fmla="*/ 0 60000 65536"/>
              <a:gd name="T9" fmla="*/ 0 w 3552"/>
              <a:gd name="T10" fmla="*/ 0 h 968"/>
              <a:gd name="T11" fmla="*/ 3552 w 3552"/>
              <a:gd name="T12" fmla="*/ 968 h 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52" h="968">
                <a:moveTo>
                  <a:pt x="0" y="920"/>
                </a:moveTo>
                <a:cubicBezTo>
                  <a:pt x="568" y="460"/>
                  <a:pt x="1136" y="0"/>
                  <a:pt x="1728" y="8"/>
                </a:cubicBezTo>
                <a:cubicBezTo>
                  <a:pt x="2320" y="16"/>
                  <a:pt x="3248" y="808"/>
                  <a:pt x="3552" y="9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2" name="Line 5"/>
          <p:cNvSpPr>
            <a:spLocks noChangeShapeType="1"/>
          </p:cNvSpPr>
          <p:nvPr/>
        </p:nvSpPr>
        <p:spPr bwMode="auto">
          <a:xfrm>
            <a:off x="3505200" y="36576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3" name="Line 6"/>
          <p:cNvSpPr>
            <a:spLocks noChangeShapeType="1"/>
          </p:cNvSpPr>
          <p:nvPr/>
        </p:nvSpPr>
        <p:spPr bwMode="auto">
          <a:xfrm>
            <a:off x="4876800" y="35052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4" name="Line 7"/>
          <p:cNvSpPr>
            <a:spLocks noChangeShapeType="1"/>
          </p:cNvSpPr>
          <p:nvPr/>
        </p:nvSpPr>
        <p:spPr bwMode="auto">
          <a:xfrm flipH="1">
            <a:off x="3505200" y="35814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5" name="Line 8"/>
          <p:cNvSpPr>
            <a:spLocks noChangeShapeType="1"/>
          </p:cNvSpPr>
          <p:nvPr/>
        </p:nvSpPr>
        <p:spPr bwMode="auto">
          <a:xfrm flipH="1">
            <a:off x="3505200" y="3505200"/>
            <a:ext cx="45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6" name="Line 9"/>
          <p:cNvSpPr>
            <a:spLocks noChangeShapeType="1"/>
          </p:cNvSpPr>
          <p:nvPr/>
        </p:nvSpPr>
        <p:spPr bwMode="auto">
          <a:xfrm flipH="1">
            <a:off x="3505200" y="3352800"/>
            <a:ext cx="7620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7" name="Line 10"/>
          <p:cNvSpPr>
            <a:spLocks noChangeShapeType="1"/>
          </p:cNvSpPr>
          <p:nvPr/>
        </p:nvSpPr>
        <p:spPr bwMode="auto">
          <a:xfrm flipH="1">
            <a:off x="3505200" y="3352800"/>
            <a:ext cx="10668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8" name="Line 11"/>
          <p:cNvSpPr>
            <a:spLocks noChangeShapeType="1"/>
          </p:cNvSpPr>
          <p:nvPr/>
        </p:nvSpPr>
        <p:spPr bwMode="auto">
          <a:xfrm flipH="1">
            <a:off x="3733800" y="3352800"/>
            <a:ext cx="99060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9" name="Line 12"/>
          <p:cNvSpPr>
            <a:spLocks noChangeShapeType="1"/>
          </p:cNvSpPr>
          <p:nvPr/>
        </p:nvSpPr>
        <p:spPr bwMode="auto">
          <a:xfrm flipH="1">
            <a:off x="3962400" y="3733800"/>
            <a:ext cx="9144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40" name="Line 13"/>
          <p:cNvSpPr>
            <a:spLocks noChangeShapeType="1"/>
          </p:cNvSpPr>
          <p:nvPr/>
        </p:nvSpPr>
        <p:spPr bwMode="auto">
          <a:xfrm flipH="1">
            <a:off x="4191000" y="4267200"/>
            <a:ext cx="685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41" name="Line 14"/>
          <p:cNvSpPr>
            <a:spLocks noChangeShapeType="1"/>
          </p:cNvSpPr>
          <p:nvPr/>
        </p:nvSpPr>
        <p:spPr bwMode="auto">
          <a:xfrm flipH="1">
            <a:off x="4572000" y="47244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42" name="Text Box 15"/>
          <p:cNvSpPr txBox="1">
            <a:spLocks noChangeArrowheads="1"/>
          </p:cNvSpPr>
          <p:nvPr/>
        </p:nvSpPr>
        <p:spPr bwMode="auto">
          <a:xfrm>
            <a:off x="3276600" y="5562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a</a:t>
            </a:r>
          </a:p>
        </p:txBody>
      </p:sp>
      <p:sp>
        <p:nvSpPr>
          <p:cNvPr id="1043" name="Text Box 16"/>
          <p:cNvSpPr txBox="1">
            <a:spLocks noChangeArrowheads="1"/>
          </p:cNvSpPr>
          <p:nvPr/>
        </p:nvSpPr>
        <p:spPr bwMode="auto">
          <a:xfrm>
            <a:off x="4724400" y="5486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b</a:t>
            </a:r>
          </a:p>
        </p:txBody>
      </p:sp>
      <p:graphicFrame>
        <p:nvGraphicFramePr>
          <p:cNvPr id="1026" name="Object 17"/>
          <p:cNvGraphicFramePr>
            <a:graphicFrameLocks noChangeAspect="1"/>
          </p:cNvGraphicFramePr>
          <p:nvPr/>
        </p:nvGraphicFramePr>
        <p:xfrm>
          <a:off x="3352800" y="1978025"/>
          <a:ext cx="388620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" name="수식" r:id="rId4" imgW="1523880" imgH="482400" progId="Equation.3">
                  <p:embed/>
                </p:oleObj>
              </mc:Choice>
              <mc:Fallback>
                <p:oleObj name="수식" r:id="rId4" imgW="1523880" imgH="4824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978025"/>
                        <a:ext cx="3886200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18"/>
          <p:cNvGraphicFramePr>
            <a:graphicFrameLocks noChangeAspect="1"/>
          </p:cNvGraphicFramePr>
          <p:nvPr/>
        </p:nvGraphicFramePr>
        <p:xfrm>
          <a:off x="1524000" y="3251200"/>
          <a:ext cx="7620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" name="Equation" r:id="rId6" imgW="342720" imgH="203040" progId="Equation.3">
                  <p:embed/>
                </p:oleObj>
              </mc:Choice>
              <mc:Fallback>
                <p:oleObj name="Equation" r:id="rId6" imgW="342720" imgH="2030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51200"/>
                        <a:ext cx="7620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" name="Line 19"/>
          <p:cNvSpPr>
            <a:spLocks noChangeShapeType="1"/>
          </p:cNvSpPr>
          <p:nvPr/>
        </p:nvSpPr>
        <p:spPr bwMode="auto">
          <a:xfrm>
            <a:off x="2286000" y="35052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028" name="Object 20"/>
          <p:cNvGraphicFramePr>
            <a:graphicFrameLocks noChangeAspect="1"/>
          </p:cNvGraphicFramePr>
          <p:nvPr/>
        </p:nvGraphicFramePr>
        <p:xfrm>
          <a:off x="4052888" y="304800"/>
          <a:ext cx="34813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" name="수식" r:id="rId8" imgW="1904760" imgH="469800" progId="Equation.3">
                  <p:embed/>
                </p:oleObj>
              </mc:Choice>
              <mc:Fallback>
                <p:oleObj name="수식" r:id="rId8" imgW="1904760" imgH="469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2888" y="304800"/>
                        <a:ext cx="34813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0A189-9333-482E-80F9-71290B68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연속확률분포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DFD08DA-2879-41F5-ACF6-2D80ACEFA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0" r="4017"/>
          <a:stretch/>
        </p:blipFill>
        <p:spPr>
          <a:xfrm>
            <a:off x="-15063" y="1628800"/>
            <a:ext cx="8907543" cy="41764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32055D-58B9-48F0-9E16-B5FDB9837B78}"/>
              </a:ext>
            </a:extLst>
          </p:cNvPr>
          <p:cNvSpPr txBox="1"/>
          <p:nvPr/>
        </p:nvSpPr>
        <p:spPr>
          <a:xfrm>
            <a:off x="107504" y="5605209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t </a:t>
            </a:r>
            <a:r>
              <a:rPr lang="ko-KR" altLang="en-US" sz="2000" dirty="0"/>
              <a:t>분포</a:t>
            </a:r>
            <a:r>
              <a:rPr lang="en-US" altLang="ko-KR" sz="2000" dirty="0"/>
              <a:t>, Chi-square </a:t>
            </a:r>
            <a:r>
              <a:rPr lang="ko-KR" altLang="en-US" sz="2000" dirty="0"/>
              <a:t>분포</a:t>
            </a:r>
            <a:r>
              <a:rPr lang="en-US" altLang="ko-KR" sz="2000" dirty="0"/>
              <a:t>, F </a:t>
            </a:r>
            <a:r>
              <a:rPr lang="ko-KR" altLang="en-US" sz="2000" dirty="0"/>
              <a:t>분포</a:t>
            </a:r>
          </a:p>
        </p:txBody>
      </p:sp>
      <p:sp>
        <p:nvSpPr>
          <p:cNvPr id="3" name="직사각형 2">
            <a:hlinkClick r:id="rId3"/>
            <a:extLst>
              <a:ext uri="{FF2B5EF4-FFF2-40B4-BE49-F238E27FC236}">
                <a16:creationId xmlns:a16="http://schemas.microsoft.com/office/drawing/2014/main" id="{915F0DCE-58E4-4EFA-8C4B-D38E03003503}"/>
              </a:ext>
            </a:extLst>
          </p:cNvPr>
          <p:cNvSpPr/>
          <p:nvPr/>
        </p:nvSpPr>
        <p:spPr>
          <a:xfrm>
            <a:off x="3995936" y="6320353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06. </a:t>
            </a:r>
            <a:r>
              <a:rPr lang="ko-KR" altLang="en-US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연속 확률 분포 </a:t>
            </a:r>
            <a:r>
              <a:rPr lang="en-US" altLang="ko-KR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(</a:t>
            </a:r>
            <a:r>
              <a:rPr lang="ko-KR" altLang="en-US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통계를 위한</a:t>
            </a:r>
            <a:r>
              <a:rPr lang="en-US" altLang="ko-KR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</a:t>
            </a:r>
            <a:r>
              <a:rPr lang="ko-KR" altLang="en-US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확률 다루기 기초 </a:t>
            </a:r>
            <a:r>
              <a:rPr lang="en-US" altLang="ko-KR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(wikidocs.net)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91020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0A189-9333-482E-80F9-71290B68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533400"/>
          </a:xfrm>
        </p:spPr>
        <p:txBody>
          <a:bodyPr/>
          <a:lstStyle/>
          <a:p>
            <a:r>
              <a:rPr lang="ko-KR" altLang="en-US" dirty="0"/>
              <a:t>균등분포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FB8762B-15EE-4327-8153-26A10149B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2736"/>
            <a:ext cx="8953035" cy="5112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D26409-FDFE-4851-B381-741AC8A65DD6}"/>
              </a:ext>
            </a:extLst>
          </p:cNvPr>
          <p:cNvSpPr txBox="1"/>
          <p:nvPr/>
        </p:nvSpPr>
        <p:spPr>
          <a:xfrm>
            <a:off x="6588224" y="1556792"/>
            <a:ext cx="12961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800" dirty="0"/>
              <a:t>상대밀도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55C7149-AC77-481C-B3C9-E10F9290C4E9}"/>
              </a:ext>
            </a:extLst>
          </p:cNvPr>
          <p:cNvCxnSpPr>
            <a:cxnSpLocks/>
          </p:cNvCxnSpPr>
          <p:nvPr/>
        </p:nvCxnSpPr>
        <p:spPr>
          <a:xfrm flipH="1" flipV="1">
            <a:off x="5364088" y="1298104"/>
            <a:ext cx="1224136" cy="411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8256A4-50A8-4DC0-AE87-70B6B92663E1}"/>
              </a:ext>
            </a:extLst>
          </p:cNvPr>
          <p:cNvSpPr/>
          <p:nvPr/>
        </p:nvSpPr>
        <p:spPr>
          <a:xfrm>
            <a:off x="4139952" y="6393083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06. </a:t>
            </a:r>
            <a:r>
              <a:rPr lang="ko-KR" altLang="en-US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연속 확률 분포 </a:t>
            </a:r>
            <a:r>
              <a:rPr lang="en-US" altLang="ko-KR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(</a:t>
            </a:r>
            <a:r>
              <a:rPr lang="ko-KR" altLang="en-US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통계를 위한</a:t>
            </a:r>
            <a:r>
              <a:rPr lang="en-US" altLang="ko-KR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</a:t>
            </a:r>
            <a:r>
              <a:rPr lang="ko-KR" altLang="en-US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확률 다루기 기초 </a:t>
            </a:r>
            <a:r>
              <a:rPr lang="en-US" altLang="ko-KR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(wikidocs.net)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9471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332656"/>
            <a:ext cx="8029575" cy="4800600"/>
          </a:xfrm>
        </p:spPr>
        <p:txBody>
          <a:bodyPr/>
          <a:lstStyle/>
          <a:p>
            <a:pPr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1) X ~ (0,1)</a:t>
            </a:r>
            <a:r>
              <a:rPr lang="ko-KR" altLang="en-US" dirty="0"/>
              <a:t>사이에서 동일한 발생 가능성을 갖는 임의 값</a:t>
            </a:r>
            <a:r>
              <a:rPr lang="en-US" altLang="ko-KR" dirty="0"/>
              <a:t>=&gt; </a:t>
            </a:r>
            <a:r>
              <a:rPr lang="ko-KR" altLang="en-US" dirty="0"/>
              <a:t>균등</a:t>
            </a:r>
            <a:r>
              <a:rPr lang="en-US" altLang="ko-KR" dirty="0"/>
              <a:t>(</a:t>
            </a:r>
            <a:r>
              <a:rPr lang="ko-KR" altLang="en-US" dirty="0"/>
              <a:t>균일</a:t>
            </a:r>
            <a:r>
              <a:rPr lang="en-US" altLang="ko-KR" dirty="0"/>
              <a:t>)</a:t>
            </a:r>
            <a:r>
              <a:rPr lang="ko-KR" altLang="en-US" dirty="0"/>
              <a:t>분포</a:t>
            </a:r>
            <a:r>
              <a:rPr lang="en-US" altLang="ko-KR" dirty="0"/>
              <a:t>.</a:t>
            </a:r>
            <a:endParaRPr lang="ko-KR" altLang="en-US" dirty="0"/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</a:t>
            </a:r>
            <a:r>
              <a:rPr lang="en-US" altLang="ko-KR" dirty="0"/>
              <a:t>X</a:t>
            </a:r>
            <a:r>
              <a:rPr lang="ko-KR" altLang="en-US" dirty="0"/>
              <a:t>의 확률밀도함수 </a:t>
            </a:r>
            <a:r>
              <a:rPr lang="en-US" altLang="ko-KR" dirty="0"/>
              <a:t>f(x)</a:t>
            </a:r>
            <a:r>
              <a:rPr lang="ko-KR" altLang="en-US" dirty="0"/>
              <a:t>와 </a:t>
            </a:r>
            <a:r>
              <a:rPr lang="en-US" altLang="ko-KR" dirty="0"/>
              <a:t>X</a:t>
            </a:r>
            <a:r>
              <a:rPr lang="ko-KR" altLang="en-US" dirty="0"/>
              <a:t>가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 </a:t>
            </a:r>
            <a:r>
              <a:rPr lang="ko-KR" altLang="en-US" dirty="0"/>
              <a:t>사이에 있을 확률을 구하라</a:t>
            </a:r>
            <a:r>
              <a:rPr lang="en-US" altLang="ko-KR" dirty="0"/>
              <a:t>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349820"/>
              </p:ext>
            </p:extLst>
          </p:nvPr>
        </p:nvGraphicFramePr>
        <p:xfrm>
          <a:off x="899592" y="2725451"/>
          <a:ext cx="6681788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" name="Equation" r:id="rId4" imgW="3073320" imgH="685800" progId="Equation.3">
                  <p:embed/>
                </p:oleObj>
              </mc:Choice>
              <mc:Fallback>
                <p:oleObj name="Equation" r:id="rId4" imgW="307332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725451"/>
                        <a:ext cx="6681788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Object 5"/>
              <p:cNvSpPr txBox="1"/>
              <p:nvPr/>
            </p:nvSpPr>
            <p:spPr bwMode="auto">
              <a:xfrm>
                <a:off x="646880" y="4641949"/>
                <a:ext cx="6934499" cy="1667371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limLoc m:val="undOvr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ko-KR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]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5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6880" y="4641949"/>
                <a:ext cx="6934499" cy="16673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8062664" cy="4800600"/>
          </a:xfrm>
        </p:spPr>
        <p:txBody>
          <a:bodyPr/>
          <a:lstStyle/>
          <a:p>
            <a:pPr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1 </a:t>
            </a:r>
            <a:r>
              <a:rPr lang="ko-KR" altLang="en-US" dirty="0"/>
              <a:t>계속</a:t>
            </a:r>
            <a:r>
              <a:rPr lang="en-US" altLang="ko-KR" dirty="0"/>
              <a:t>) X ~ (0,2)</a:t>
            </a:r>
            <a:r>
              <a:rPr lang="ko-KR" altLang="en-US" dirty="0"/>
              <a:t>사이에서</a:t>
            </a:r>
            <a:r>
              <a:rPr lang="en-US" altLang="ko-KR" dirty="0"/>
              <a:t> </a:t>
            </a:r>
            <a:r>
              <a:rPr lang="ko-KR" altLang="en-US" dirty="0"/>
              <a:t>같은 가능성을 갖는 임의 값이다</a:t>
            </a:r>
            <a:r>
              <a:rPr lang="en-US" altLang="ko-KR" dirty="0"/>
              <a:t>.=&gt; </a:t>
            </a:r>
            <a:r>
              <a:rPr lang="ko-KR" altLang="en-US" dirty="0"/>
              <a:t>균일분포</a:t>
            </a:r>
          </a:p>
          <a:p>
            <a:pPr eaLnBrk="1" hangingPunct="1">
              <a:buNone/>
            </a:pP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의 확률밀도함수 </a:t>
            </a:r>
            <a:r>
              <a:rPr lang="en-US" altLang="ko-KR" dirty="0"/>
              <a:t>f(x)</a:t>
            </a:r>
            <a:r>
              <a:rPr lang="ko-KR" altLang="en-US" dirty="0"/>
              <a:t>와 </a:t>
            </a:r>
            <a:r>
              <a:rPr lang="en-US" altLang="ko-KR" dirty="0"/>
              <a:t>X</a:t>
            </a:r>
            <a:r>
              <a:rPr lang="ko-KR" altLang="en-US" dirty="0"/>
              <a:t>가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 </a:t>
            </a:r>
            <a:r>
              <a:rPr lang="ko-KR" altLang="en-US" dirty="0"/>
              <a:t>사이에 있을 확률을 구하라</a:t>
            </a:r>
            <a:r>
              <a:rPr lang="en-US" altLang="ko-KR" dirty="0"/>
              <a:t>.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545875"/>
              </p:ext>
            </p:extLst>
          </p:nvPr>
        </p:nvGraphicFramePr>
        <p:xfrm>
          <a:off x="1021401" y="2714695"/>
          <a:ext cx="6376988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Equation" r:id="rId4" imgW="2933640" imgH="888840" progId="Equation.3">
                  <p:embed/>
                </p:oleObj>
              </mc:Choice>
              <mc:Fallback>
                <p:oleObj name="Equation" r:id="rId4" imgW="2933640" imgH="8888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401" y="2714695"/>
                        <a:ext cx="6376988" cy="193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651744"/>
              </p:ext>
            </p:extLst>
          </p:nvPr>
        </p:nvGraphicFramePr>
        <p:xfrm>
          <a:off x="1001041" y="4869160"/>
          <a:ext cx="627221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Equation" r:id="rId6" imgW="3035160" imgH="495000" progId="Equation.3">
                  <p:embed/>
                </p:oleObj>
              </mc:Choice>
              <mc:Fallback>
                <p:oleObj name="Equation" r:id="rId6" imgW="3035160" imgH="495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041" y="4869160"/>
                        <a:ext cx="627221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6CD767-BD10-4381-B6CA-302466891AA9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4800600"/>
          </a:xfrm>
        </p:spPr>
        <p:txBody>
          <a:bodyPr/>
          <a:lstStyle/>
          <a:p>
            <a:pPr eaLnBrk="1" hangingPunct="1"/>
            <a:r>
              <a:rPr lang="ko-KR" altLang="en-US" dirty="0"/>
              <a:t>예제</a:t>
            </a:r>
            <a:r>
              <a:rPr lang="en-US" altLang="ko-KR" dirty="0"/>
              <a:t>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</a:t>
            </a: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857250" y="1335088"/>
          <a:ext cx="4852988" cy="245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4" name="Equation" r:id="rId4" imgW="2260440" imgH="1143000" progId="Equation.3">
                  <p:embed/>
                </p:oleObj>
              </mc:Choice>
              <mc:Fallback>
                <p:oleObj name="Equation" r:id="rId4" imgW="2260440" imgH="114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335088"/>
                        <a:ext cx="4852988" cy="245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4"/>
          <p:cNvGraphicFramePr>
            <a:graphicFrameLocks noChangeAspect="1"/>
          </p:cNvGraphicFramePr>
          <p:nvPr/>
        </p:nvGraphicFramePr>
        <p:xfrm>
          <a:off x="1371600" y="4419600"/>
          <a:ext cx="4733925" cy="152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5" name="Equation" r:id="rId6" imgW="2400120" imgH="774360" progId="Equation.3">
                  <p:embed/>
                </p:oleObj>
              </mc:Choice>
              <mc:Fallback>
                <p:oleObj name="Equation" r:id="rId6" imgW="2400120" imgH="774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19600"/>
                        <a:ext cx="4733925" cy="152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813060" y="1508125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6813060" y="257492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 flipV="1">
            <a:off x="8260860" y="1508125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 flipV="1">
            <a:off x="6813060" y="1508125"/>
            <a:ext cx="1447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 flipH="1">
            <a:off x="7117860" y="2270125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 flipH="1">
            <a:off x="7346460" y="2117725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 flipH="1">
            <a:off x="7575060" y="1965325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 flipH="1">
            <a:off x="7803660" y="1736725"/>
            <a:ext cx="76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 flipH="1">
            <a:off x="8032260" y="1660525"/>
            <a:ext cx="76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6736860" y="15843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11" name="Text Box 16"/>
          <p:cNvSpPr txBox="1">
            <a:spLocks noChangeArrowheads="1"/>
          </p:cNvSpPr>
          <p:nvPr/>
        </p:nvSpPr>
        <p:spPr bwMode="auto">
          <a:xfrm>
            <a:off x="8153400" y="2588491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1</a:t>
            </a:r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6584460" y="2498725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0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6279660" y="1431925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F226F6-EA00-4D74-BC21-E7CB752052EF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4800600"/>
          </a:xfrm>
        </p:spPr>
        <p:txBody>
          <a:bodyPr/>
          <a:lstStyle/>
          <a:p>
            <a:pPr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2 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</a:t>
            </a:r>
          </a:p>
        </p:txBody>
      </p:sp>
      <p:graphicFrame>
        <p:nvGraphicFramePr>
          <p:cNvPr id="5122" name="Object 1027"/>
          <p:cNvGraphicFramePr>
            <a:graphicFrameLocks noChangeAspect="1"/>
          </p:cNvGraphicFramePr>
          <p:nvPr/>
        </p:nvGraphicFramePr>
        <p:xfrm>
          <a:off x="642938" y="1362075"/>
          <a:ext cx="4786312" cy="242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6" name="Equation" r:id="rId4" imgW="2260440" imgH="1143000" progId="Equation.3">
                  <p:embed/>
                </p:oleObj>
              </mc:Choice>
              <mc:Fallback>
                <p:oleObj name="Equation" r:id="rId4" imgW="2260440" imgH="114300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1362075"/>
                        <a:ext cx="4786312" cy="242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028"/>
          <p:cNvGraphicFramePr>
            <a:graphicFrameLocks noChangeAspect="1"/>
          </p:cNvGraphicFramePr>
          <p:nvPr/>
        </p:nvGraphicFramePr>
        <p:xfrm>
          <a:off x="1285875" y="4000500"/>
          <a:ext cx="3252788" cy="230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7" name="Equation" r:id="rId6" imgW="1079280" imgH="761760" progId="Equation.3">
                  <p:embed/>
                </p:oleObj>
              </mc:Choice>
              <mc:Fallback>
                <p:oleObj name="Equation" r:id="rId6" imgW="1079280" imgH="76176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000500"/>
                        <a:ext cx="3252788" cy="230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Line 1029"/>
          <p:cNvSpPr>
            <a:spLocks noChangeShapeType="1"/>
          </p:cNvSpPr>
          <p:nvPr/>
        </p:nvSpPr>
        <p:spPr bwMode="auto">
          <a:xfrm>
            <a:off x="5943600" y="685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6" name="Line 1030"/>
          <p:cNvSpPr>
            <a:spLocks noChangeShapeType="1"/>
          </p:cNvSpPr>
          <p:nvPr/>
        </p:nvSpPr>
        <p:spPr bwMode="auto">
          <a:xfrm>
            <a:off x="5943600" y="1752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7" name="Line 1031"/>
          <p:cNvSpPr>
            <a:spLocks noChangeShapeType="1"/>
          </p:cNvSpPr>
          <p:nvPr/>
        </p:nvSpPr>
        <p:spPr bwMode="auto">
          <a:xfrm flipV="1">
            <a:off x="7391400" y="685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8" name="Line 1032"/>
          <p:cNvSpPr>
            <a:spLocks noChangeShapeType="1"/>
          </p:cNvSpPr>
          <p:nvPr/>
        </p:nvSpPr>
        <p:spPr bwMode="auto">
          <a:xfrm flipV="1">
            <a:off x="5943600" y="685800"/>
            <a:ext cx="1447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9" name="Line 1033"/>
          <p:cNvSpPr>
            <a:spLocks noChangeShapeType="1"/>
          </p:cNvSpPr>
          <p:nvPr/>
        </p:nvSpPr>
        <p:spPr bwMode="auto">
          <a:xfrm flipH="1">
            <a:off x="6248400" y="14478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0" name="Line 1034"/>
          <p:cNvSpPr>
            <a:spLocks noChangeShapeType="1"/>
          </p:cNvSpPr>
          <p:nvPr/>
        </p:nvSpPr>
        <p:spPr bwMode="auto">
          <a:xfrm flipH="1">
            <a:off x="6477000" y="12954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1" name="Line 1035"/>
          <p:cNvSpPr>
            <a:spLocks noChangeShapeType="1"/>
          </p:cNvSpPr>
          <p:nvPr/>
        </p:nvSpPr>
        <p:spPr bwMode="auto">
          <a:xfrm flipH="1">
            <a:off x="6705600" y="11430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2" name="Line 1036"/>
          <p:cNvSpPr>
            <a:spLocks noChangeShapeType="1"/>
          </p:cNvSpPr>
          <p:nvPr/>
        </p:nvSpPr>
        <p:spPr bwMode="auto">
          <a:xfrm flipH="1">
            <a:off x="6934200" y="914400"/>
            <a:ext cx="76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3" name="Line 1037"/>
          <p:cNvSpPr>
            <a:spLocks noChangeShapeType="1"/>
          </p:cNvSpPr>
          <p:nvPr/>
        </p:nvSpPr>
        <p:spPr bwMode="auto">
          <a:xfrm flipH="1">
            <a:off x="7162800" y="838200"/>
            <a:ext cx="76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4" name="Line 1038"/>
          <p:cNvSpPr>
            <a:spLocks noChangeShapeType="1"/>
          </p:cNvSpPr>
          <p:nvPr/>
        </p:nvSpPr>
        <p:spPr bwMode="auto">
          <a:xfrm>
            <a:off x="5867400" y="762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35" name="Text Box 1039"/>
          <p:cNvSpPr txBox="1">
            <a:spLocks noChangeArrowheads="1"/>
          </p:cNvSpPr>
          <p:nvPr/>
        </p:nvSpPr>
        <p:spPr bwMode="auto">
          <a:xfrm>
            <a:off x="7239000" y="17526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1</a:t>
            </a:r>
          </a:p>
        </p:txBody>
      </p:sp>
      <p:sp>
        <p:nvSpPr>
          <p:cNvPr id="5136" name="Text Box 1040"/>
          <p:cNvSpPr txBox="1">
            <a:spLocks noChangeArrowheads="1"/>
          </p:cNvSpPr>
          <p:nvPr/>
        </p:nvSpPr>
        <p:spPr bwMode="auto">
          <a:xfrm>
            <a:off x="5715000" y="16764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0</a:t>
            </a:r>
          </a:p>
        </p:txBody>
      </p:sp>
      <p:sp>
        <p:nvSpPr>
          <p:cNvPr id="5137" name="Text Box 1041"/>
          <p:cNvSpPr txBox="1">
            <a:spLocks noChangeArrowheads="1"/>
          </p:cNvSpPr>
          <p:nvPr/>
        </p:nvSpPr>
        <p:spPr bwMode="auto">
          <a:xfrm>
            <a:off x="5410200" y="6096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917AF0-8F99-4C88-B153-2458CE4BA6BB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4800600"/>
          </a:xfrm>
        </p:spPr>
        <p:txBody>
          <a:bodyPr/>
          <a:lstStyle/>
          <a:p>
            <a:pPr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3)f(x)=?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193675" y="1722438"/>
          <a:ext cx="5405438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" name="Equation" r:id="rId4" imgW="2234880" imgH="685800" progId="Equation.3">
                  <p:embed/>
                </p:oleObj>
              </mc:Choice>
              <mc:Fallback>
                <p:oleObj name="Equation" r:id="rId4" imgW="2234880" imgH="68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1722438"/>
                        <a:ext cx="5405438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Line 5"/>
          <p:cNvSpPr>
            <a:spLocks noChangeShapeType="1"/>
          </p:cNvSpPr>
          <p:nvPr/>
        </p:nvSpPr>
        <p:spPr bwMode="auto">
          <a:xfrm>
            <a:off x="5943600" y="685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9" name="Line 6"/>
          <p:cNvSpPr>
            <a:spLocks noChangeShapeType="1"/>
          </p:cNvSpPr>
          <p:nvPr/>
        </p:nvSpPr>
        <p:spPr bwMode="auto">
          <a:xfrm>
            <a:off x="5943600" y="1752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0" name="Line 7"/>
          <p:cNvSpPr>
            <a:spLocks noChangeShapeType="1"/>
          </p:cNvSpPr>
          <p:nvPr/>
        </p:nvSpPr>
        <p:spPr bwMode="auto">
          <a:xfrm flipV="1">
            <a:off x="7391400" y="685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1" name="Line 13"/>
          <p:cNvSpPr>
            <a:spLocks noChangeShapeType="1"/>
          </p:cNvSpPr>
          <p:nvPr/>
        </p:nvSpPr>
        <p:spPr bwMode="auto">
          <a:xfrm flipH="1">
            <a:off x="7162800" y="838200"/>
            <a:ext cx="76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2" name="Line 14"/>
          <p:cNvSpPr>
            <a:spLocks noChangeShapeType="1"/>
          </p:cNvSpPr>
          <p:nvPr/>
        </p:nvSpPr>
        <p:spPr bwMode="auto">
          <a:xfrm>
            <a:off x="5867400" y="762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3" name="Text Box 15"/>
          <p:cNvSpPr txBox="1">
            <a:spLocks noChangeArrowheads="1"/>
          </p:cNvSpPr>
          <p:nvPr/>
        </p:nvSpPr>
        <p:spPr bwMode="auto">
          <a:xfrm>
            <a:off x="7239000" y="17526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1</a:t>
            </a:r>
          </a:p>
        </p:txBody>
      </p:sp>
      <p:sp>
        <p:nvSpPr>
          <p:cNvPr id="6154" name="Text Box 16"/>
          <p:cNvSpPr txBox="1">
            <a:spLocks noChangeArrowheads="1"/>
          </p:cNvSpPr>
          <p:nvPr/>
        </p:nvSpPr>
        <p:spPr bwMode="auto">
          <a:xfrm>
            <a:off x="5715000" y="16764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0</a:t>
            </a:r>
          </a:p>
        </p:txBody>
      </p:sp>
      <p:sp>
        <p:nvSpPr>
          <p:cNvPr id="6155" name="Text Box 17"/>
          <p:cNvSpPr txBox="1">
            <a:spLocks noChangeArrowheads="1"/>
          </p:cNvSpPr>
          <p:nvPr/>
        </p:nvSpPr>
        <p:spPr bwMode="auto">
          <a:xfrm>
            <a:off x="5410200" y="6096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1</a:t>
            </a:r>
          </a:p>
        </p:txBody>
      </p:sp>
      <p:sp>
        <p:nvSpPr>
          <p:cNvPr id="6156" name="Freeform 19"/>
          <p:cNvSpPr>
            <a:spLocks/>
          </p:cNvSpPr>
          <p:nvPr/>
        </p:nvSpPr>
        <p:spPr bwMode="auto">
          <a:xfrm>
            <a:off x="5943600" y="533400"/>
            <a:ext cx="1447800" cy="1219200"/>
          </a:xfrm>
          <a:custGeom>
            <a:avLst/>
            <a:gdLst>
              <a:gd name="T0" fmla="*/ 0 w 912"/>
              <a:gd name="T1" fmla="*/ 2147483647 h 768"/>
              <a:gd name="T2" fmla="*/ 2147483647 w 912"/>
              <a:gd name="T3" fmla="*/ 2147483647 h 768"/>
              <a:gd name="T4" fmla="*/ 2147483647 w 912"/>
              <a:gd name="T5" fmla="*/ 0 h 768"/>
              <a:gd name="T6" fmla="*/ 0 60000 65536"/>
              <a:gd name="T7" fmla="*/ 0 60000 65536"/>
              <a:gd name="T8" fmla="*/ 0 60000 65536"/>
              <a:gd name="T9" fmla="*/ 0 w 912"/>
              <a:gd name="T10" fmla="*/ 0 h 768"/>
              <a:gd name="T11" fmla="*/ 912 w 912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768">
                <a:moveTo>
                  <a:pt x="0" y="768"/>
                </a:moveTo>
                <a:cubicBezTo>
                  <a:pt x="188" y="712"/>
                  <a:pt x="376" y="656"/>
                  <a:pt x="528" y="528"/>
                </a:cubicBezTo>
                <a:cubicBezTo>
                  <a:pt x="680" y="400"/>
                  <a:pt x="848" y="88"/>
                  <a:pt x="91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7" name="Line 20"/>
          <p:cNvSpPr>
            <a:spLocks noChangeShapeType="1"/>
          </p:cNvSpPr>
          <p:nvPr/>
        </p:nvSpPr>
        <p:spPr bwMode="auto">
          <a:xfrm flipH="1">
            <a:off x="6934200" y="11430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8" name="Line 21"/>
          <p:cNvSpPr>
            <a:spLocks noChangeShapeType="1"/>
          </p:cNvSpPr>
          <p:nvPr/>
        </p:nvSpPr>
        <p:spPr bwMode="auto">
          <a:xfrm flipH="1">
            <a:off x="6629400" y="13716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59" name="Line 22"/>
          <p:cNvSpPr>
            <a:spLocks noChangeShapeType="1"/>
          </p:cNvSpPr>
          <p:nvPr/>
        </p:nvSpPr>
        <p:spPr bwMode="auto">
          <a:xfrm flipH="1">
            <a:off x="6400800" y="1524000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60" name="Line 23"/>
          <p:cNvSpPr>
            <a:spLocks noChangeShapeType="1"/>
          </p:cNvSpPr>
          <p:nvPr/>
        </p:nvSpPr>
        <p:spPr bwMode="auto">
          <a:xfrm>
            <a:off x="7391400" y="533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61" name="Line 24"/>
          <p:cNvSpPr>
            <a:spLocks noChangeShapeType="1"/>
          </p:cNvSpPr>
          <p:nvPr/>
        </p:nvSpPr>
        <p:spPr bwMode="auto">
          <a:xfrm flipH="1">
            <a:off x="6781800" y="12954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244FE7-E435-4738-B069-EC488449372D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 dirty="0"/>
              <a:t>HW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76B931-C17E-4D1B-800C-63D3CEAA6D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98" y="850681"/>
            <a:ext cx="8111589" cy="45989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C19754-1474-4A91-8A2D-FED52A835E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1" y="5517232"/>
            <a:ext cx="6310644" cy="360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E5C4C5-F82B-4CB4-A665-E07283EE54CC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ko-KR">
                <a:solidFill>
                  <a:schemeClr val="accent2"/>
                </a:solidFill>
              </a:rPr>
              <a:t>3. </a:t>
            </a:r>
            <a:r>
              <a:rPr lang="ko-KR" altLang="en-US">
                <a:solidFill>
                  <a:schemeClr val="accent2"/>
                </a:solidFill>
              </a:rPr>
              <a:t>정규분포의 일반적 성질 및 계산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/>
              <a:t> 1. </a:t>
            </a:r>
            <a:r>
              <a:rPr lang="ko-KR" altLang="en-US" dirty="0"/>
              <a:t>특징 </a:t>
            </a:r>
            <a:r>
              <a:rPr lang="en-US" altLang="ko-KR" dirty="0"/>
              <a:t>: X~N(</a:t>
            </a:r>
            <a:r>
              <a:rPr lang="en-US" altLang="ko-KR" dirty="0">
                <a:ea typeface="바탕" pitchFamily="18" charset="-127"/>
              </a:rPr>
              <a:t>μ, σ</a:t>
            </a:r>
            <a:r>
              <a:rPr lang="en-US" altLang="ko-KR" baseline="30000" dirty="0">
                <a:ea typeface="바탕" pitchFamily="18" charset="-127"/>
              </a:rPr>
              <a:t>2</a:t>
            </a:r>
            <a:r>
              <a:rPr lang="en-US" altLang="ko-KR" dirty="0">
                <a:ea typeface="바탕" pitchFamily="18" charset="-127"/>
              </a:rPr>
              <a:t>)</a:t>
            </a:r>
            <a:endParaRPr lang="en-US" altLang="ko-KR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/>
              <a:t>    (1) </a:t>
            </a:r>
            <a:r>
              <a:rPr lang="ko-KR" altLang="en-US" dirty="0"/>
              <a:t>평균 </a:t>
            </a:r>
            <a:r>
              <a:rPr lang="en-US" altLang="ko-KR" dirty="0">
                <a:ea typeface="바탕" pitchFamily="18" charset="-127"/>
              </a:rPr>
              <a:t>μ</a:t>
            </a:r>
            <a:r>
              <a:rPr lang="en-US" altLang="ko-KR" dirty="0"/>
              <a:t> </a:t>
            </a:r>
            <a:r>
              <a:rPr lang="ko-KR" altLang="en-US" dirty="0"/>
              <a:t>를 중심으로 좌우 대칭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dirty="0"/>
              <a:t>    </a:t>
            </a:r>
            <a:r>
              <a:rPr lang="en-US" altLang="ko-KR" dirty="0"/>
              <a:t>(2) bell shaped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/>
              <a:t>         </a:t>
            </a:r>
            <a:r>
              <a:rPr lang="en-US" altLang="ko-KR" dirty="0">
                <a:ea typeface="바탕" pitchFamily="18" charset="-127"/>
              </a:rPr>
              <a:t>μ</a:t>
            </a:r>
            <a:r>
              <a:rPr lang="ko-KR" altLang="en-US" dirty="0">
                <a:ea typeface="바탕" pitchFamily="18" charset="-127"/>
              </a:rPr>
              <a:t>을 중심으로</a:t>
            </a:r>
            <a:r>
              <a:rPr lang="ko-KR" altLang="en-US" dirty="0"/>
              <a:t>  </a:t>
            </a:r>
            <a:r>
              <a:rPr lang="ko-KR" altLang="en-US" dirty="0">
                <a:latin typeface="바탕" pitchFamily="18" charset="-127"/>
                <a:ea typeface="바탕" pitchFamily="18" charset="-127"/>
                <a:sym typeface="Symbol" pitchFamily="18" charset="2"/>
              </a:rPr>
              <a:t></a:t>
            </a:r>
            <a:r>
              <a:rPr lang="en-US" altLang="ko-KR" dirty="0"/>
              <a:t>1</a:t>
            </a:r>
            <a:r>
              <a:rPr lang="en-US" altLang="ko-KR" dirty="0">
                <a:ea typeface="바탕" pitchFamily="18" charset="-127"/>
              </a:rPr>
              <a:t>σ</a:t>
            </a:r>
            <a:r>
              <a:rPr lang="en-US" altLang="ko-KR" dirty="0"/>
              <a:t> </a:t>
            </a:r>
            <a:r>
              <a:rPr lang="ko-KR" altLang="en-US" dirty="0"/>
              <a:t>범위에 </a:t>
            </a:r>
            <a:r>
              <a:rPr lang="en-US" altLang="ko-KR" dirty="0"/>
              <a:t>68.3%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    μ</a:t>
            </a:r>
            <a:r>
              <a:rPr lang="ko-KR" altLang="en-US" dirty="0">
                <a:ea typeface="바탕" pitchFamily="18" charset="-127"/>
              </a:rPr>
              <a:t>을 중심으로</a:t>
            </a:r>
            <a:r>
              <a:rPr lang="ko-KR" altLang="en-US" dirty="0"/>
              <a:t> </a:t>
            </a:r>
            <a:r>
              <a:rPr lang="ko-KR" altLang="en-US" dirty="0">
                <a:latin typeface="바탕" pitchFamily="18" charset="-127"/>
                <a:ea typeface="바탕" pitchFamily="18" charset="-127"/>
                <a:sym typeface="Symbol" pitchFamily="18" charset="2"/>
              </a:rPr>
              <a:t>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en-US" altLang="ko-KR" dirty="0">
                <a:ea typeface="바탕" pitchFamily="18" charset="-127"/>
              </a:rPr>
              <a:t>σ</a:t>
            </a:r>
            <a:r>
              <a:rPr lang="en-US" altLang="ko-KR" dirty="0"/>
              <a:t> </a:t>
            </a:r>
            <a:r>
              <a:rPr lang="ko-KR" altLang="en-US" dirty="0"/>
              <a:t>범위에 </a:t>
            </a:r>
            <a:r>
              <a:rPr lang="en-US" altLang="ko-KR" dirty="0"/>
              <a:t>95.4%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    μ</a:t>
            </a:r>
            <a:r>
              <a:rPr lang="ko-KR" altLang="en-US" dirty="0">
                <a:ea typeface="바탕" pitchFamily="18" charset="-127"/>
              </a:rPr>
              <a:t>을 중심으로</a:t>
            </a:r>
            <a:r>
              <a:rPr lang="ko-KR" altLang="en-US" dirty="0"/>
              <a:t> </a:t>
            </a:r>
            <a:r>
              <a:rPr lang="ko-KR" altLang="en-US" dirty="0">
                <a:latin typeface="바탕" pitchFamily="18" charset="-127"/>
                <a:ea typeface="바탕" pitchFamily="18" charset="-127"/>
                <a:sym typeface="Symbol" pitchFamily="18" charset="2"/>
              </a:rPr>
              <a:t>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en-US" altLang="ko-KR" dirty="0">
                <a:ea typeface="바탕" pitchFamily="18" charset="-127"/>
              </a:rPr>
              <a:t>σ</a:t>
            </a:r>
            <a:r>
              <a:rPr lang="en-US" altLang="ko-KR" dirty="0"/>
              <a:t> </a:t>
            </a:r>
            <a:r>
              <a:rPr lang="ko-KR" altLang="en-US" dirty="0"/>
              <a:t>범위에 </a:t>
            </a:r>
            <a:r>
              <a:rPr lang="en-US" altLang="ko-KR" dirty="0"/>
              <a:t>99.73%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/>
              <a:t>    (3) </a:t>
            </a:r>
            <a:r>
              <a:rPr lang="ko-KR" altLang="en-US" dirty="0"/>
              <a:t>평균과 표준편차</a:t>
            </a:r>
            <a:r>
              <a:rPr lang="en-US" altLang="ko-KR" dirty="0"/>
              <a:t>(μ, σ)</a:t>
            </a:r>
            <a:r>
              <a:rPr lang="ko-KR" altLang="en-US" dirty="0"/>
              <a:t>에 의해 위치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dirty="0"/>
              <a:t>         와 모양이 결정됨</a:t>
            </a:r>
            <a:r>
              <a:rPr lang="en-US" altLang="ko-KR" dirty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/>
              <a:t>Note: 6sigma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 </a:t>
            </a:r>
            <a:endParaRPr lang="en-US" altLang="ko-K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533400"/>
          </a:xfrm>
        </p:spPr>
        <p:txBody>
          <a:bodyPr/>
          <a:lstStyle/>
          <a:p>
            <a:pPr algn="l" eaLnBrk="1" hangingPunct="1"/>
            <a:r>
              <a:rPr lang="ko-KR" altLang="en-US" sz="3200">
                <a:solidFill>
                  <a:schemeClr val="accent2"/>
                </a:solidFill>
              </a:rPr>
              <a:t>정규분포 </a:t>
            </a:r>
            <a:r>
              <a:rPr lang="en-US" altLang="ko-KR" sz="3200">
                <a:solidFill>
                  <a:schemeClr val="accent2"/>
                </a:solidFill>
              </a:rPr>
              <a:t>X~N(</a:t>
            </a:r>
            <a:r>
              <a:rPr lang="en-US" altLang="ko-KR" sz="3200">
                <a:solidFill>
                  <a:schemeClr val="accent2"/>
                </a:solidFill>
                <a:ea typeface="바탕" pitchFamily="18" charset="-127"/>
              </a:rPr>
              <a:t>μ, σ</a:t>
            </a:r>
            <a:r>
              <a:rPr lang="en-US" altLang="ko-KR" sz="3200" baseline="30000">
                <a:solidFill>
                  <a:schemeClr val="accent2"/>
                </a:solidFill>
                <a:ea typeface="바탕" pitchFamily="18" charset="-127"/>
              </a:rPr>
              <a:t>2</a:t>
            </a:r>
            <a:r>
              <a:rPr lang="en-US" altLang="ko-KR" sz="3200">
                <a:solidFill>
                  <a:schemeClr val="accent2"/>
                </a:solidFill>
                <a:ea typeface="바탕" pitchFamily="18" charset="-127"/>
              </a:rPr>
              <a:t>)</a:t>
            </a:r>
          </a:p>
        </p:txBody>
      </p:sp>
      <p:sp>
        <p:nvSpPr>
          <p:cNvPr id="7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</a:t>
            </a:r>
          </a:p>
        </p:txBody>
      </p:sp>
      <p:sp>
        <p:nvSpPr>
          <p:cNvPr id="7179" name="Freeform 4"/>
          <p:cNvSpPr>
            <a:spLocks/>
          </p:cNvSpPr>
          <p:nvPr/>
        </p:nvSpPr>
        <p:spPr bwMode="auto">
          <a:xfrm>
            <a:off x="914400" y="1431925"/>
            <a:ext cx="7315200" cy="2514600"/>
          </a:xfrm>
          <a:custGeom>
            <a:avLst/>
            <a:gdLst>
              <a:gd name="T0" fmla="*/ 0 w 3888"/>
              <a:gd name="T1" fmla="*/ 2147483647 h 1584"/>
              <a:gd name="T2" fmla="*/ 2147483647 w 3888"/>
              <a:gd name="T3" fmla="*/ 2147483647 h 1584"/>
              <a:gd name="T4" fmla="*/ 2147483647 w 3888"/>
              <a:gd name="T5" fmla="*/ 0 h 1584"/>
              <a:gd name="T6" fmla="*/ 2147483647 w 3888"/>
              <a:gd name="T7" fmla="*/ 2147483647 h 1584"/>
              <a:gd name="T8" fmla="*/ 2147483647 w 3888"/>
              <a:gd name="T9" fmla="*/ 2147483647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88"/>
              <a:gd name="T16" fmla="*/ 0 h 1584"/>
              <a:gd name="T17" fmla="*/ 3888 w 3888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88" h="1584">
                <a:moveTo>
                  <a:pt x="0" y="1584"/>
                </a:moveTo>
                <a:cubicBezTo>
                  <a:pt x="280" y="1500"/>
                  <a:pt x="560" y="1416"/>
                  <a:pt x="864" y="1152"/>
                </a:cubicBezTo>
                <a:cubicBezTo>
                  <a:pt x="1168" y="888"/>
                  <a:pt x="1480" y="0"/>
                  <a:pt x="1824" y="0"/>
                </a:cubicBezTo>
                <a:cubicBezTo>
                  <a:pt x="2168" y="0"/>
                  <a:pt x="2584" y="888"/>
                  <a:pt x="2928" y="1152"/>
                </a:cubicBezTo>
                <a:cubicBezTo>
                  <a:pt x="3272" y="1416"/>
                  <a:pt x="3728" y="1512"/>
                  <a:pt x="3888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0" name="Line 5"/>
          <p:cNvSpPr>
            <a:spLocks noChangeShapeType="1"/>
          </p:cNvSpPr>
          <p:nvPr/>
        </p:nvSpPr>
        <p:spPr bwMode="auto">
          <a:xfrm>
            <a:off x="762000" y="4038600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1" name="Line 6"/>
          <p:cNvSpPr>
            <a:spLocks noChangeShapeType="1"/>
          </p:cNvSpPr>
          <p:nvPr/>
        </p:nvSpPr>
        <p:spPr bwMode="auto">
          <a:xfrm>
            <a:off x="4343400" y="14478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170" name="Object 7"/>
          <p:cNvGraphicFramePr>
            <a:graphicFrameLocks noChangeAspect="1"/>
          </p:cNvGraphicFramePr>
          <p:nvPr/>
        </p:nvGraphicFramePr>
        <p:xfrm>
          <a:off x="4217988" y="4343400"/>
          <a:ext cx="2825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1" name="Equation" r:id="rId4" imgW="164880" imgH="177480" progId="Equation.3">
                  <p:embed/>
                </p:oleObj>
              </mc:Choice>
              <mc:Fallback>
                <p:oleObj name="Equation" r:id="rId4" imgW="16488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988" y="4343400"/>
                        <a:ext cx="2825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8"/>
          <p:cNvGraphicFramePr>
            <a:graphicFrameLocks noChangeAspect="1"/>
          </p:cNvGraphicFramePr>
          <p:nvPr/>
        </p:nvGraphicFramePr>
        <p:xfrm>
          <a:off x="5029200" y="4343400"/>
          <a:ext cx="762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" name="Equation" r:id="rId6" imgW="457200" imgH="190440" progId="Equation.3">
                  <p:embed/>
                </p:oleObj>
              </mc:Choice>
              <mc:Fallback>
                <p:oleObj name="Equation" r:id="rId6" imgW="457200" imgH="190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343400"/>
                        <a:ext cx="762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Line 9"/>
          <p:cNvSpPr>
            <a:spLocks noChangeShapeType="1"/>
          </p:cNvSpPr>
          <p:nvPr/>
        </p:nvSpPr>
        <p:spPr bwMode="auto">
          <a:xfrm>
            <a:off x="5410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3" name="Line 10"/>
          <p:cNvSpPr>
            <a:spLocks noChangeShapeType="1"/>
          </p:cNvSpPr>
          <p:nvPr/>
        </p:nvSpPr>
        <p:spPr bwMode="auto">
          <a:xfrm>
            <a:off x="64770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172" name="Object 11"/>
          <p:cNvGraphicFramePr>
            <a:graphicFrameLocks noChangeAspect="1"/>
          </p:cNvGraphicFramePr>
          <p:nvPr/>
        </p:nvGraphicFramePr>
        <p:xfrm>
          <a:off x="6099175" y="4381500"/>
          <a:ext cx="7588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" name="Equation" r:id="rId8" imgW="545760" imgH="215640" progId="Equation.3">
                  <p:embed/>
                </p:oleObj>
              </mc:Choice>
              <mc:Fallback>
                <p:oleObj name="Equation" r:id="rId8" imgW="54576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175" y="4381500"/>
                        <a:ext cx="7588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4" name="Line 12"/>
          <p:cNvSpPr>
            <a:spLocks noChangeShapeType="1"/>
          </p:cNvSpPr>
          <p:nvPr/>
        </p:nvSpPr>
        <p:spPr bwMode="auto">
          <a:xfrm>
            <a:off x="7543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173" name="Object 13"/>
          <p:cNvGraphicFramePr>
            <a:graphicFrameLocks noChangeAspect="1"/>
          </p:cNvGraphicFramePr>
          <p:nvPr/>
        </p:nvGraphicFramePr>
        <p:xfrm>
          <a:off x="7239000" y="4322763"/>
          <a:ext cx="7493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" name="Equation" r:id="rId10" imgW="533160" imgH="215640" progId="Equation.3">
                  <p:embed/>
                </p:oleObj>
              </mc:Choice>
              <mc:Fallback>
                <p:oleObj name="Equation" r:id="rId10" imgW="53316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322763"/>
                        <a:ext cx="749300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Line 14"/>
          <p:cNvSpPr>
            <a:spLocks noChangeShapeType="1"/>
          </p:cNvSpPr>
          <p:nvPr/>
        </p:nvSpPr>
        <p:spPr bwMode="auto">
          <a:xfrm>
            <a:off x="3352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6" name="Line 15"/>
          <p:cNvSpPr>
            <a:spLocks noChangeShapeType="1"/>
          </p:cNvSpPr>
          <p:nvPr/>
        </p:nvSpPr>
        <p:spPr bwMode="auto">
          <a:xfrm>
            <a:off x="2362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7" name="Line 16"/>
          <p:cNvSpPr>
            <a:spLocks noChangeShapeType="1"/>
          </p:cNvSpPr>
          <p:nvPr/>
        </p:nvSpPr>
        <p:spPr bwMode="auto">
          <a:xfrm>
            <a:off x="13716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174" name="Object 17"/>
          <p:cNvGraphicFramePr>
            <a:graphicFrameLocks noChangeAspect="1"/>
          </p:cNvGraphicFramePr>
          <p:nvPr/>
        </p:nvGraphicFramePr>
        <p:xfrm>
          <a:off x="3048000" y="4308475"/>
          <a:ext cx="6858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" name="Equation" r:id="rId12" imgW="457200" imgH="177480" progId="Equation.3">
                  <p:embed/>
                </p:oleObj>
              </mc:Choice>
              <mc:Fallback>
                <p:oleObj name="Equation" r:id="rId12" imgW="457200" imgH="177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308475"/>
                        <a:ext cx="6858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8"/>
          <p:cNvGraphicFramePr>
            <a:graphicFrameLocks noChangeAspect="1"/>
          </p:cNvGraphicFramePr>
          <p:nvPr/>
        </p:nvGraphicFramePr>
        <p:xfrm>
          <a:off x="1981200" y="4267200"/>
          <a:ext cx="8366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" name="Equation" r:id="rId14" imgW="545760" imgH="215640" progId="Equation.3">
                  <p:embed/>
                </p:oleObj>
              </mc:Choice>
              <mc:Fallback>
                <p:oleObj name="Equation" r:id="rId14" imgW="545760" imgH="215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267200"/>
                        <a:ext cx="8366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9"/>
          <p:cNvGraphicFramePr>
            <a:graphicFrameLocks noChangeAspect="1"/>
          </p:cNvGraphicFramePr>
          <p:nvPr/>
        </p:nvGraphicFramePr>
        <p:xfrm>
          <a:off x="914400" y="4267200"/>
          <a:ext cx="7493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" name="Equation" r:id="rId16" imgW="533160" imgH="215640" progId="Equation.3">
                  <p:embed/>
                </p:oleObj>
              </mc:Choice>
              <mc:Fallback>
                <p:oleObj name="Equation" r:id="rId16" imgW="533160" imgH="215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267200"/>
                        <a:ext cx="7493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8" name="Line 20"/>
          <p:cNvSpPr>
            <a:spLocks noChangeShapeType="1"/>
          </p:cNvSpPr>
          <p:nvPr/>
        </p:nvSpPr>
        <p:spPr bwMode="auto">
          <a:xfrm flipV="1">
            <a:off x="3352800" y="2286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 flipV="1">
            <a:off x="5410200" y="2209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0" name="Line 22"/>
          <p:cNvSpPr>
            <a:spLocks noChangeShapeType="1"/>
          </p:cNvSpPr>
          <p:nvPr/>
        </p:nvSpPr>
        <p:spPr bwMode="auto">
          <a:xfrm flipV="1">
            <a:off x="23622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 flipV="1">
            <a:off x="1371600" y="3810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 flipV="1">
            <a:off x="7543800" y="3733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 flipV="1">
            <a:off x="6477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>
            <a:off x="3352800" y="2743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2362200" y="35814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1371600" y="3886200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3962400" y="22098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0.683</a:t>
            </a:r>
          </a:p>
        </p:txBody>
      </p:sp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4572000" y="35814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0.997</a:t>
            </a:r>
          </a:p>
        </p:txBody>
      </p:sp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3581400" y="301625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0.954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969008" y="5075802"/>
                <a:ext cx="5574411" cy="826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  −∞&lt;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008" y="5075802"/>
                <a:ext cx="5574411" cy="82650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642938" y="428625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/>
              <a:t>X~N(</a:t>
            </a:r>
            <a:r>
              <a:rPr lang="en-US" altLang="ko-KR">
                <a:ea typeface="바탕" pitchFamily="18" charset="-127"/>
              </a:rPr>
              <a:t>μ, σ</a:t>
            </a:r>
            <a:r>
              <a:rPr lang="en-US" altLang="ko-KR" baseline="30000">
                <a:ea typeface="바탕" pitchFamily="18" charset="-127"/>
              </a:rPr>
              <a:t>2</a:t>
            </a:r>
            <a:r>
              <a:rPr lang="en-US" altLang="ko-KR">
                <a:ea typeface="바탕" pitchFamily="18" charset="-127"/>
              </a:rPr>
              <a:t>)</a:t>
            </a:r>
            <a:r>
              <a:rPr lang="ko-KR" altLang="en-US">
                <a:ea typeface="바탕" pitchFamily="18" charset="-127"/>
              </a:rPr>
              <a:t>의</a:t>
            </a:r>
            <a:r>
              <a:rPr lang="en-US" altLang="ko-KR">
                <a:ea typeface="바탕" pitchFamily="18" charset="-127"/>
              </a:rPr>
              <a:t> </a:t>
            </a:r>
            <a:r>
              <a:rPr lang="ko-KR" altLang="en-US">
                <a:ea typeface="바탕" pitchFamily="18" charset="-127"/>
              </a:rPr>
              <a:t>정규분포곡선</a:t>
            </a:r>
            <a:endParaRPr lang="ko-KR" altLang="en-US"/>
          </a:p>
        </p:txBody>
      </p:sp>
      <p:pic>
        <p:nvPicPr>
          <p:cNvPr id="19459" name="내용 개체 틀 3" descr="218-2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9125" y="1785938"/>
            <a:ext cx="4405313" cy="2928937"/>
          </a:xfrm>
        </p:spPr>
      </p:pic>
      <p:pic>
        <p:nvPicPr>
          <p:cNvPr id="19460" name="그림 4" descr="218-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928813"/>
            <a:ext cx="44831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D7616D-B891-4F8D-B6F3-FC3FDD170F57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48768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2800" dirty="0"/>
              <a:t>Note:    X~N(</a:t>
            </a:r>
            <a:r>
              <a:rPr lang="en-US" altLang="ko-KR" sz="2800" dirty="0">
                <a:ea typeface="바탕" pitchFamily="18" charset="-127"/>
              </a:rPr>
              <a:t>μ, σ</a:t>
            </a:r>
            <a:r>
              <a:rPr lang="en-US" altLang="ko-KR" sz="2800" baseline="30000" dirty="0">
                <a:ea typeface="바탕" pitchFamily="18" charset="-127"/>
              </a:rPr>
              <a:t>2</a:t>
            </a:r>
            <a:r>
              <a:rPr lang="en-US" altLang="ko-KR" sz="2800" dirty="0">
                <a:ea typeface="바탕" pitchFamily="18" charset="-127"/>
              </a:rPr>
              <a:t>)</a:t>
            </a:r>
            <a:r>
              <a:rPr lang="ko-KR" altLang="en-US" sz="2800" dirty="0">
                <a:ea typeface="바탕" pitchFamily="18" charset="-127"/>
              </a:rPr>
              <a:t>인 경우 </a:t>
            </a:r>
            <a:r>
              <a:rPr lang="en-US" altLang="ko-KR" sz="2800" dirty="0"/>
              <a:t>(</a:t>
            </a:r>
            <a:r>
              <a:rPr lang="en-US" altLang="ko-KR" sz="2800" dirty="0">
                <a:ea typeface="바탕" pitchFamily="18" charset="-127"/>
              </a:rPr>
              <a:t>μ, σ) </a:t>
            </a:r>
            <a:r>
              <a:rPr lang="ko-KR" altLang="en-US" sz="2800" dirty="0">
                <a:ea typeface="바탕" pitchFamily="18" charset="-127"/>
              </a:rPr>
              <a:t>에 따라 매우 많은 정규분포곡선이 존재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2800" dirty="0">
                <a:ea typeface="바탕" pitchFamily="18" charset="-127"/>
              </a:rPr>
              <a:t>  </a:t>
            </a:r>
            <a:r>
              <a:rPr lang="en-US" altLang="ko-KR" sz="2800" dirty="0">
                <a:ea typeface="바탕" pitchFamily="18" charset="-127"/>
              </a:rPr>
              <a:t>=&gt; </a:t>
            </a:r>
            <a:r>
              <a:rPr lang="ko-KR" altLang="en-US" sz="2800" dirty="0">
                <a:ea typeface="바탕" pitchFamily="18" charset="-127"/>
              </a:rPr>
              <a:t>평균을 </a:t>
            </a:r>
            <a:r>
              <a:rPr lang="en-US" altLang="ko-KR" sz="2800" dirty="0">
                <a:ea typeface="바탕" pitchFamily="18" charset="-127"/>
              </a:rPr>
              <a:t>0, </a:t>
            </a:r>
            <a:r>
              <a:rPr lang="ko-KR" altLang="en-US" sz="2800" dirty="0">
                <a:ea typeface="바탕" pitchFamily="18" charset="-127"/>
              </a:rPr>
              <a:t>표준편차 </a:t>
            </a:r>
            <a:r>
              <a:rPr lang="en-US" altLang="ko-KR" sz="2800" dirty="0">
                <a:ea typeface="바탕" pitchFamily="18" charset="-127"/>
              </a:rPr>
              <a:t>σ </a:t>
            </a:r>
            <a:r>
              <a:rPr lang="ko-KR" altLang="en-US" sz="2800" dirty="0">
                <a:ea typeface="바탕" pitchFamily="18" charset="-127"/>
              </a:rPr>
              <a:t>의 몇 배에 해당하는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2800" dirty="0">
                <a:ea typeface="바탕" pitchFamily="18" charset="-127"/>
              </a:rPr>
              <a:t>      값에 확률</a:t>
            </a:r>
            <a:r>
              <a:rPr lang="en-US" altLang="ko-KR" sz="2800" dirty="0">
                <a:ea typeface="바탕" pitchFamily="18" charset="-127"/>
              </a:rPr>
              <a:t>(</a:t>
            </a:r>
            <a:r>
              <a:rPr lang="ko-KR" altLang="en-US" sz="2800" dirty="0" err="1">
                <a:ea typeface="바탕" pitchFamily="18" charset="-127"/>
              </a:rPr>
              <a:t>상대밀도</a:t>
            </a:r>
            <a:r>
              <a:rPr lang="en-US" altLang="ko-KR" sz="2800" dirty="0">
                <a:ea typeface="바탕" pitchFamily="18" charset="-127"/>
              </a:rPr>
              <a:t>)</a:t>
            </a:r>
            <a:r>
              <a:rPr lang="ko-KR" altLang="en-US" sz="2800" dirty="0">
                <a:ea typeface="바탕" pitchFamily="18" charset="-127"/>
              </a:rPr>
              <a:t>을 할당하자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2800" dirty="0">
                <a:ea typeface="바탕" pitchFamily="18" charset="-127"/>
              </a:rPr>
              <a:t> </a:t>
            </a:r>
          </a:p>
          <a:p>
            <a:pPr eaLnBrk="1" hangingPunct="1">
              <a:spcBef>
                <a:spcPct val="50000"/>
              </a:spcBef>
              <a:buFont typeface="Symbol" pitchFamily="18" charset="2"/>
              <a:buChar char="Þ"/>
            </a:pPr>
            <a:r>
              <a:rPr lang="ko-KR" altLang="en-US" sz="2800" dirty="0">
                <a:ea typeface="바탕" pitchFamily="18" charset="-127"/>
              </a:rPr>
              <a:t>표준정규분포 </a:t>
            </a:r>
            <a:r>
              <a:rPr lang="en-US" altLang="ko-KR" sz="2800" dirty="0">
                <a:ea typeface="바탕" pitchFamily="18" charset="-127"/>
              </a:rPr>
              <a:t>:      Z ~ N(0,1)</a:t>
            </a:r>
          </a:p>
          <a:p>
            <a:pPr eaLnBrk="1" hangingPunct="1">
              <a:spcBef>
                <a:spcPct val="50000"/>
              </a:spcBef>
              <a:buFont typeface="Symbol" pitchFamily="18" charset="2"/>
              <a:buChar char="Þ"/>
            </a:pPr>
            <a:endParaRPr lang="en-US" altLang="ko-KR" sz="2800" dirty="0">
              <a:ea typeface="바탕" pitchFamily="18" charset="-127"/>
            </a:endParaRPr>
          </a:p>
          <a:p>
            <a:pPr eaLnBrk="1" hangingPunct="1">
              <a:spcBef>
                <a:spcPct val="50000"/>
              </a:spcBef>
              <a:buFont typeface="Symbol" pitchFamily="18" charset="2"/>
              <a:buChar char="Þ"/>
            </a:pPr>
            <a:endParaRPr lang="en-US" altLang="ko-KR" sz="2800" dirty="0">
              <a:ea typeface="바탕" pitchFamily="18" charset="-127"/>
            </a:endParaRPr>
          </a:p>
          <a:p>
            <a:pPr eaLnBrk="1" hangingPunct="1">
              <a:spcBef>
                <a:spcPct val="50000"/>
              </a:spcBef>
              <a:buFont typeface="Symbol" pitchFamily="18" charset="2"/>
              <a:buChar char="Þ"/>
            </a:pPr>
            <a:r>
              <a:rPr lang="ko-KR" altLang="en-US" sz="2800" dirty="0">
                <a:ea typeface="바탕" pitchFamily="18" charset="-127"/>
              </a:rPr>
              <a:t>원래 값</a:t>
            </a:r>
            <a:r>
              <a:rPr lang="en-US" altLang="ko-KR" sz="2800" dirty="0">
                <a:ea typeface="바탕" pitchFamily="18" charset="-127"/>
              </a:rPr>
              <a:t>: </a:t>
            </a:r>
          </a:p>
          <a:p>
            <a:pPr eaLnBrk="1" hangingPunct="1">
              <a:spcBef>
                <a:spcPct val="50000"/>
              </a:spcBef>
              <a:buFont typeface="Symbol" pitchFamily="18" charset="2"/>
              <a:buChar char="Þ"/>
            </a:pPr>
            <a:endParaRPr lang="en-US" altLang="ko-KR" sz="2800" dirty="0">
              <a:ea typeface="바탕" pitchFamily="18" charset="-127"/>
            </a:endParaRP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772400" cy="533400"/>
          </a:xfrm>
          <a:noFill/>
        </p:spPr>
        <p:txBody>
          <a:bodyPr/>
          <a:lstStyle/>
          <a:p>
            <a:pPr algn="l" eaLnBrk="1" hangingPunct="1"/>
            <a:r>
              <a:rPr lang="ko-KR" altLang="en-US" sz="3200" dirty="0" err="1">
                <a:solidFill>
                  <a:schemeClr val="accent2"/>
                </a:solidFill>
              </a:rPr>
              <a:t>표준정규</a:t>
            </a:r>
            <a:r>
              <a:rPr lang="ko-KR" altLang="en-US" sz="3200" dirty="0">
                <a:solidFill>
                  <a:schemeClr val="accent2"/>
                </a:solidFill>
              </a:rPr>
              <a:t> 확률변수</a:t>
            </a:r>
          </a:p>
        </p:txBody>
      </p:sp>
      <p:graphicFrame>
        <p:nvGraphicFramePr>
          <p:cNvPr id="8194" name="Object 5"/>
          <p:cNvGraphicFramePr>
            <a:graphicFrameLocks noChangeAspect="1"/>
          </p:cNvGraphicFramePr>
          <p:nvPr/>
        </p:nvGraphicFramePr>
        <p:xfrm>
          <a:off x="1828800" y="4648200"/>
          <a:ext cx="16954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4" name="Equation" r:id="rId4" imgW="799920" imgH="457200" progId="Equation.3">
                  <p:embed/>
                </p:oleObj>
              </mc:Choice>
              <mc:Fallback>
                <p:oleObj name="Equation" r:id="rId4" imgW="79992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48200"/>
                        <a:ext cx="169545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2643188" y="5929313"/>
          <a:ext cx="19018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5" name="수식" r:id="rId6" imgW="901440" imgH="203040" progId="Equation.3">
                  <p:embed/>
                </p:oleObj>
              </mc:Choice>
              <mc:Fallback>
                <p:oleObj name="수식" r:id="rId6" imgW="90144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5929313"/>
                        <a:ext cx="19018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533400"/>
          </a:xfrm>
        </p:spPr>
        <p:txBody>
          <a:bodyPr/>
          <a:lstStyle/>
          <a:p>
            <a:pPr algn="l" eaLnBrk="1" hangingPunct="1"/>
            <a:r>
              <a:rPr lang="ko-KR" altLang="en-US" sz="3200">
                <a:solidFill>
                  <a:schemeClr val="accent2"/>
                </a:solidFill>
              </a:rPr>
              <a:t>표준화정규분포 </a:t>
            </a:r>
            <a:r>
              <a:rPr lang="en-US" altLang="ko-KR" sz="3200">
                <a:solidFill>
                  <a:schemeClr val="accent2"/>
                </a:solidFill>
              </a:rPr>
              <a:t>Z~N(</a:t>
            </a:r>
            <a:r>
              <a:rPr lang="en-US" altLang="ko-KR" sz="3200">
                <a:solidFill>
                  <a:schemeClr val="accent2"/>
                </a:solidFill>
                <a:ea typeface="바탕" pitchFamily="18" charset="-127"/>
              </a:rPr>
              <a:t>0, 1)</a:t>
            </a:r>
          </a:p>
        </p:txBody>
      </p:sp>
      <p:sp>
        <p:nvSpPr>
          <p:cNvPr id="9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</a:t>
            </a:r>
          </a:p>
        </p:txBody>
      </p:sp>
      <p:sp>
        <p:nvSpPr>
          <p:cNvPr id="9227" name="Freeform 4"/>
          <p:cNvSpPr>
            <a:spLocks/>
          </p:cNvSpPr>
          <p:nvPr/>
        </p:nvSpPr>
        <p:spPr bwMode="auto">
          <a:xfrm>
            <a:off x="914400" y="1431925"/>
            <a:ext cx="7315200" cy="2514600"/>
          </a:xfrm>
          <a:custGeom>
            <a:avLst/>
            <a:gdLst>
              <a:gd name="T0" fmla="*/ 0 w 3888"/>
              <a:gd name="T1" fmla="*/ 2147483647 h 1584"/>
              <a:gd name="T2" fmla="*/ 2147483647 w 3888"/>
              <a:gd name="T3" fmla="*/ 2147483647 h 1584"/>
              <a:gd name="T4" fmla="*/ 2147483647 w 3888"/>
              <a:gd name="T5" fmla="*/ 0 h 1584"/>
              <a:gd name="T6" fmla="*/ 2147483647 w 3888"/>
              <a:gd name="T7" fmla="*/ 2147483647 h 1584"/>
              <a:gd name="T8" fmla="*/ 2147483647 w 3888"/>
              <a:gd name="T9" fmla="*/ 2147483647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88"/>
              <a:gd name="T16" fmla="*/ 0 h 1584"/>
              <a:gd name="T17" fmla="*/ 3888 w 3888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88" h="1584">
                <a:moveTo>
                  <a:pt x="0" y="1584"/>
                </a:moveTo>
                <a:cubicBezTo>
                  <a:pt x="280" y="1500"/>
                  <a:pt x="560" y="1416"/>
                  <a:pt x="864" y="1152"/>
                </a:cubicBezTo>
                <a:cubicBezTo>
                  <a:pt x="1168" y="888"/>
                  <a:pt x="1480" y="0"/>
                  <a:pt x="1824" y="0"/>
                </a:cubicBezTo>
                <a:cubicBezTo>
                  <a:pt x="2168" y="0"/>
                  <a:pt x="2584" y="888"/>
                  <a:pt x="2928" y="1152"/>
                </a:cubicBezTo>
                <a:cubicBezTo>
                  <a:pt x="3272" y="1416"/>
                  <a:pt x="3728" y="1512"/>
                  <a:pt x="3888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8" name="Line 5"/>
          <p:cNvSpPr>
            <a:spLocks noChangeShapeType="1"/>
          </p:cNvSpPr>
          <p:nvPr/>
        </p:nvSpPr>
        <p:spPr bwMode="auto">
          <a:xfrm>
            <a:off x="762000" y="4038600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9" name="Line 6"/>
          <p:cNvSpPr>
            <a:spLocks noChangeShapeType="1"/>
          </p:cNvSpPr>
          <p:nvPr/>
        </p:nvSpPr>
        <p:spPr bwMode="auto">
          <a:xfrm>
            <a:off x="4343400" y="14478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218" name="Object 7"/>
          <p:cNvGraphicFramePr>
            <a:graphicFrameLocks noChangeAspect="1"/>
          </p:cNvGraphicFramePr>
          <p:nvPr/>
        </p:nvGraphicFramePr>
        <p:xfrm>
          <a:off x="4249738" y="4332288"/>
          <a:ext cx="217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29" name="Equation" r:id="rId4" imgW="126720" imgH="190440" progId="Equation.3">
                  <p:embed/>
                </p:oleObj>
              </mc:Choice>
              <mc:Fallback>
                <p:oleObj name="Equation" r:id="rId4" imgW="126720" imgH="190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4332288"/>
                        <a:ext cx="21748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8"/>
          <p:cNvGraphicFramePr>
            <a:graphicFrameLocks noChangeAspect="1"/>
          </p:cNvGraphicFramePr>
          <p:nvPr/>
        </p:nvGraphicFramePr>
        <p:xfrm>
          <a:off x="5208588" y="4354513"/>
          <a:ext cx="401637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" name="Equation" r:id="rId6" imgW="241200" imgH="177480" progId="Equation.3">
                  <p:embed/>
                </p:oleObj>
              </mc:Choice>
              <mc:Fallback>
                <p:oleObj name="Equation" r:id="rId6" imgW="24120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588" y="4354513"/>
                        <a:ext cx="401637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Line 9"/>
          <p:cNvSpPr>
            <a:spLocks noChangeShapeType="1"/>
          </p:cNvSpPr>
          <p:nvPr/>
        </p:nvSpPr>
        <p:spPr bwMode="auto">
          <a:xfrm>
            <a:off x="5410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1" name="Line 10"/>
          <p:cNvSpPr>
            <a:spLocks noChangeShapeType="1"/>
          </p:cNvSpPr>
          <p:nvPr/>
        </p:nvSpPr>
        <p:spPr bwMode="auto">
          <a:xfrm>
            <a:off x="64770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220" name="Object 11"/>
          <p:cNvGraphicFramePr>
            <a:graphicFrameLocks noChangeAspect="1"/>
          </p:cNvGraphicFramePr>
          <p:nvPr/>
        </p:nvGraphicFramePr>
        <p:xfrm>
          <a:off x="6292850" y="4406900"/>
          <a:ext cx="37147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1" name="Equation" r:id="rId8" imgW="266400" imgH="177480" progId="Equation.3">
                  <p:embed/>
                </p:oleObj>
              </mc:Choice>
              <mc:Fallback>
                <p:oleObj name="Equation" r:id="rId8" imgW="26640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4406900"/>
                        <a:ext cx="371475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Line 12"/>
          <p:cNvSpPr>
            <a:spLocks noChangeShapeType="1"/>
          </p:cNvSpPr>
          <p:nvPr/>
        </p:nvSpPr>
        <p:spPr bwMode="auto">
          <a:xfrm>
            <a:off x="7543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221" name="Object 13"/>
          <p:cNvGraphicFramePr>
            <a:graphicFrameLocks noChangeAspect="1"/>
          </p:cNvGraphicFramePr>
          <p:nvPr/>
        </p:nvGraphicFramePr>
        <p:xfrm>
          <a:off x="7434263" y="4340225"/>
          <a:ext cx="35718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2" name="Equation" r:id="rId10" imgW="253800" imgH="190440" progId="Equation.3">
                  <p:embed/>
                </p:oleObj>
              </mc:Choice>
              <mc:Fallback>
                <p:oleObj name="Equation" r:id="rId10" imgW="253800" imgH="1904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4263" y="4340225"/>
                        <a:ext cx="357187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Line 14"/>
          <p:cNvSpPr>
            <a:spLocks noChangeShapeType="1"/>
          </p:cNvSpPr>
          <p:nvPr/>
        </p:nvSpPr>
        <p:spPr bwMode="auto">
          <a:xfrm>
            <a:off x="3352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4" name="Line 15"/>
          <p:cNvSpPr>
            <a:spLocks noChangeShapeType="1"/>
          </p:cNvSpPr>
          <p:nvPr/>
        </p:nvSpPr>
        <p:spPr bwMode="auto">
          <a:xfrm>
            <a:off x="2362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5" name="Line 16"/>
          <p:cNvSpPr>
            <a:spLocks noChangeShapeType="1"/>
          </p:cNvSpPr>
          <p:nvPr/>
        </p:nvSpPr>
        <p:spPr bwMode="auto">
          <a:xfrm>
            <a:off x="13716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222" name="Object 17"/>
          <p:cNvGraphicFramePr>
            <a:graphicFrameLocks noChangeAspect="1"/>
          </p:cNvGraphicFramePr>
          <p:nvPr/>
        </p:nvGraphicFramePr>
        <p:xfrm>
          <a:off x="3219450" y="4308475"/>
          <a:ext cx="3429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" name="Equation" r:id="rId12" imgW="228600" imgH="177480" progId="Equation.3">
                  <p:embed/>
                </p:oleObj>
              </mc:Choice>
              <mc:Fallback>
                <p:oleObj name="Equation" r:id="rId12" imgW="228600" imgH="177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4308475"/>
                        <a:ext cx="3429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18"/>
          <p:cNvGraphicFramePr>
            <a:graphicFrameLocks noChangeAspect="1"/>
          </p:cNvGraphicFramePr>
          <p:nvPr/>
        </p:nvGraphicFramePr>
        <p:xfrm>
          <a:off x="2193925" y="4295775"/>
          <a:ext cx="409575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" name="Equation" r:id="rId14" imgW="266400" imgH="177480" progId="Equation.3">
                  <p:embed/>
                </p:oleObj>
              </mc:Choice>
              <mc:Fallback>
                <p:oleObj name="Equation" r:id="rId14" imgW="266400" imgH="177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4295775"/>
                        <a:ext cx="409575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9"/>
          <p:cNvGraphicFramePr>
            <a:graphicFrameLocks noChangeAspect="1"/>
          </p:cNvGraphicFramePr>
          <p:nvPr/>
        </p:nvGraphicFramePr>
        <p:xfrm>
          <a:off x="1109663" y="4284663"/>
          <a:ext cx="35718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" name="Equation" r:id="rId16" imgW="253800" imgH="190440" progId="Equation.3">
                  <p:embed/>
                </p:oleObj>
              </mc:Choice>
              <mc:Fallback>
                <p:oleObj name="Equation" r:id="rId16" imgW="253800" imgH="1904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4284663"/>
                        <a:ext cx="357187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Line 20"/>
          <p:cNvSpPr>
            <a:spLocks noChangeShapeType="1"/>
          </p:cNvSpPr>
          <p:nvPr/>
        </p:nvSpPr>
        <p:spPr bwMode="auto">
          <a:xfrm flipV="1">
            <a:off x="3352800" y="2286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7" name="Line 21"/>
          <p:cNvSpPr>
            <a:spLocks noChangeShapeType="1"/>
          </p:cNvSpPr>
          <p:nvPr/>
        </p:nvSpPr>
        <p:spPr bwMode="auto">
          <a:xfrm flipV="1">
            <a:off x="5410200" y="2209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8" name="Line 22"/>
          <p:cNvSpPr>
            <a:spLocks noChangeShapeType="1"/>
          </p:cNvSpPr>
          <p:nvPr/>
        </p:nvSpPr>
        <p:spPr bwMode="auto">
          <a:xfrm flipV="1">
            <a:off x="23622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39" name="Line 23"/>
          <p:cNvSpPr>
            <a:spLocks noChangeShapeType="1"/>
          </p:cNvSpPr>
          <p:nvPr/>
        </p:nvSpPr>
        <p:spPr bwMode="auto">
          <a:xfrm flipV="1">
            <a:off x="1371600" y="3810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0" name="Line 24"/>
          <p:cNvSpPr>
            <a:spLocks noChangeShapeType="1"/>
          </p:cNvSpPr>
          <p:nvPr/>
        </p:nvSpPr>
        <p:spPr bwMode="auto">
          <a:xfrm flipV="1">
            <a:off x="7543800" y="3733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1" name="Line 25"/>
          <p:cNvSpPr>
            <a:spLocks noChangeShapeType="1"/>
          </p:cNvSpPr>
          <p:nvPr/>
        </p:nvSpPr>
        <p:spPr bwMode="auto">
          <a:xfrm flipV="1">
            <a:off x="6477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2" name="Line 26"/>
          <p:cNvSpPr>
            <a:spLocks noChangeShapeType="1"/>
          </p:cNvSpPr>
          <p:nvPr/>
        </p:nvSpPr>
        <p:spPr bwMode="auto">
          <a:xfrm>
            <a:off x="3352800" y="2743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3" name="Line 27"/>
          <p:cNvSpPr>
            <a:spLocks noChangeShapeType="1"/>
          </p:cNvSpPr>
          <p:nvPr/>
        </p:nvSpPr>
        <p:spPr bwMode="auto">
          <a:xfrm>
            <a:off x="2362200" y="35814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4" name="Line 28"/>
          <p:cNvSpPr>
            <a:spLocks noChangeShapeType="1"/>
          </p:cNvSpPr>
          <p:nvPr/>
        </p:nvSpPr>
        <p:spPr bwMode="auto">
          <a:xfrm>
            <a:off x="1371600" y="3886200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45" name="Text Box 29"/>
          <p:cNvSpPr txBox="1">
            <a:spLocks noChangeArrowheads="1"/>
          </p:cNvSpPr>
          <p:nvPr/>
        </p:nvSpPr>
        <p:spPr bwMode="auto">
          <a:xfrm>
            <a:off x="3962400" y="22098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0.683</a:t>
            </a:r>
          </a:p>
        </p:txBody>
      </p:sp>
      <p:sp>
        <p:nvSpPr>
          <p:cNvPr id="9246" name="Text Box 30"/>
          <p:cNvSpPr txBox="1">
            <a:spLocks noChangeArrowheads="1"/>
          </p:cNvSpPr>
          <p:nvPr/>
        </p:nvSpPr>
        <p:spPr bwMode="auto">
          <a:xfrm>
            <a:off x="4572000" y="35814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0.997</a:t>
            </a: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3581400" y="301625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0.954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533400"/>
          </a:xfrm>
        </p:spPr>
        <p:txBody>
          <a:bodyPr/>
          <a:lstStyle/>
          <a:p>
            <a:pPr algn="l" eaLnBrk="1" hangingPunct="1"/>
            <a:r>
              <a:rPr lang="ko-KR" altLang="en-US" sz="3200">
                <a:solidFill>
                  <a:schemeClr val="accent2"/>
                </a:solidFill>
              </a:rPr>
              <a:t>표준화정규분포 </a:t>
            </a:r>
            <a:r>
              <a:rPr lang="en-US" altLang="ko-KR" sz="3200">
                <a:solidFill>
                  <a:schemeClr val="accent2"/>
                </a:solidFill>
              </a:rPr>
              <a:t>Z~N(</a:t>
            </a:r>
            <a:r>
              <a:rPr lang="en-US" altLang="ko-KR" sz="3200">
                <a:solidFill>
                  <a:schemeClr val="accent2"/>
                </a:solidFill>
                <a:ea typeface="바탕" pitchFamily="18" charset="-127"/>
              </a:rPr>
              <a:t>0,1)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/>
              <a:t>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en-US" altLang="ko-KR" sz="2800">
              <a:ea typeface="바탕" pitchFamily="18" charset="-127"/>
            </a:endParaRPr>
          </a:p>
        </p:txBody>
      </p:sp>
      <p:sp>
        <p:nvSpPr>
          <p:cNvPr id="20484" name="Freeform 4"/>
          <p:cNvSpPr>
            <a:spLocks/>
          </p:cNvSpPr>
          <p:nvPr/>
        </p:nvSpPr>
        <p:spPr bwMode="auto">
          <a:xfrm>
            <a:off x="914400" y="1431925"/>
            <a:ext cx="7315200" cy="2514600"/>
          </a:xfrm>
          <a:custGeom>
            <a:avLst/>
            <a:gdLst>
              <a:gd name="T0" fmla="*/ 0 w 3888"/>
              <a:gd name="T1" fmla="*/ 2147483647 h 1584"/>
              <a:gd name="T2" fmla="*/ 2147483647 w 3888"/>
              <a:gd name="T3" fmla="*/ 2147483647 h 1584"/>
              <a:gd name="T4" fmla="*/ 2147483647 w 3888"/>
              <a:gd name="T5" fmla="*/ 0 h 1584"/>
              <a:gd name="T6" fmla="*/ 2147483647 w 3888"/>
              <a:gd name="T7" fmla="*/ 2147483647 h 1584"/>
              <a:gd name="T8" fmla="*/ 2147483647 w 3888"/>
              <a:gd name="T9" fmla="*/ 2147483647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88"/>
              <a:gd name="T16" fmla="*/ 0 h 1584"/>
              <a:gd name="T17" fmla="*/ 3888 w 3888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88" h="1584">
                <a:moveTo>
                  <a:pt x="0" y="1584"/>
                </a:moveTo>
                <a:cubicBezTo>
                  <a:pt x="280" y="1500"/>
                  <a:pt x="560" y="1416"/>
                  <a:pt x="864" y="1152"/>
                </a:cubicBezTo>
                <a:cubicBezTo>
                  <a:pt x="1168" y="888"/>
                  <a:pt x="1480" y="0"/>
                  <a:pt x="1824" y="0"/>
                </a:cubicBezTo>
                <a:cubicBezTo>
                  <a:pt x="2168" y="0"/>
                  <a:pt x="2584" y="888"/>
                  <a:pt x="2928" y="1152"/>
                </a:cubicBezTo>
                <a:cubicBezTo>
                  <a:pt x="3272" y="1416"/>
                  <a:pt x="3728" y="1512"/>
                  <a:pt x="3888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762000" y="4038600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6" name="Line 9"/>
          <p:cNvSpPr>
            <a:spLocks noChangeShapeType="1"/>
          </p:cNvSpPr>
          <p:nvPr/>
        </p:nvSpPr>
        <p:spPr bwMode="auto">
          <a:xfrm>
            <a:off x="5410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7" name="Line 10"/>
          <p:cNvSpPr>
            <a:spLocks noChangeShapeType="1"/>
          </p:cNvSpPr>
          <p:nvPr/>
        </p:nvSpPr>
        <p:spPr bwMode="auto">
          <a:xfrm>
            <a:off x="64770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8" name="Line 12"/>
          <p:cNvSpPr>
            <a:spLocks noChangeShapeType="1"/>
          </p:cNvSpPr>
          <p:nvPr/>
        </p:nvSpPr>
        <p:spPr bwMode="auto">
          <a:xfrm>
            <a:off x="7543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9" name="Line 14"/>
          <p:cNvSpPr>
            <a:spLocks noChangeShapeType="1"/>
          </p:cNvSpPr>
          <p:nvPr/>
        </p:nvSpPr>
        <p:spPr bwMode="auto">
          <a:xfrm>
            <a:off x="3352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0" name="Line 15"/>
          <p:cNvSpPr>
            <a:spLocks noChangeShapeType="1"/>
          </p:cNvSpPr>
          <p:nvPr/>
        </p:nvSpPr>
        <p:spPr bwMode="auto">
          <a:xfrm>
            <a:off x="2362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1" name="Line 16"/>
          <p:cNvSpPr>
            <a:spLocks noChangeShapeType="1"/>
          </p:cNvSpPr>
          <p:nvPr/>
        </p:nvSpPr>
        <p:spPr bwMode="auto">
          <a:xfrm>
            <a:off x="13716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2" name="Line 25"/>
          <p:cNvSpPr>
            <a:spLocks noChangeShapeType="1"/>
          </p:cNvSpPr>
          <p:nvPr/>
        </p:nvSpPr>
        <p:spPr bwMode="auto">
          <a:xfrm flipV="1">
            <a:off x="6477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3" name="Text Box 30"/>
          <p:cNvSpPr txBox="1">
            <a:spLocks noChangeArrowheads="1"/>
          </p:cNvSpPr>
          <p:nvPr/>
        </p:nvSpPr>
        <p:spPr bwMode="auto">
          <a:xfrm>
            <a:off x="6324600" y="4114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z</a:t>
            </a:r>
          </a:p>
        </p:txBody>
      </p:sp>
      <p:sp>
        <p:nvSpPr>
          <p:cNvPr id="20494" name="Text Box 31"/>
          <p:cNvSpPr txBox="1">
            <a:spLocks noChangeArrowheads="1"/>
          </p:cNvSpPr>
          <p:nvPr/>
        </p:nvSpPr>
        <p:spPr bwMode="auto">
          <a:xfrm>
            <a:off x="4191000" y="4191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0</a:t>
            </a:r>
          </a:p>
        </p:txBody>
      </p:sp>
      <p:sp>
        <p:nvSpPr>
          <p:cNvPr id="20495" name="Line 32"/>
          <p:cNvSpPr>
            <a:spLocks noChangeShapeType="1"/>
          </p:cNvSpPr>
          <p:nvPr/>
        </p:nvSpPr>
        <p:spPr bwMode="auto">
          <a:xfrm flipV="1">
            <a:off x="2362200" y="3429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6" name="Line 33"/>
          <p:cNvSpPr>
            <a:spLocks noChangeShapeType="1"/>
          </p:cNvSpPr>
          <p:nvPr/>
        </p:nvSpPr>
        <p:spPr bwMode="auto">
          <a:xfrm>
            <a:off x="4343400" y="14478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7" name="Text Box 34"/>
          <p:cNvSpPr txBox="1">
            <a:spLocks noChangeArrowheads="1"/>
          </p:cNvSpPr>
          <p:nvPr/>
        </p:nvSpPr>
        <p:spPr bwMode="auto">
          <a:xfrm>
            <a:off x="2209800" y="4114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-z</a:t>
            </a:r>
          </a:p>
        </p:txBody>
      </p:sp>
      <p:sp>
        <p:nvSpPr>
          <p:cNvPr id="20498" name="Line 35"/>
          <p:cNvSpPr>
            <a:spLocks noChangeShapeType="1"/>
          </p:cNvSpPr>
          <p:nvPr/>
        </p:nvSpPr>
        <p:spPr bwMode="auto">
          <a:xfrm flipH="1">
            <a:off x="6477000" y="3429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99" name="Line 37"/>
          <p:cNvSpPr>
            <a:spLocks noChangeShapeType="1"/>
          </p:cNvSpPr>
          <p:nvPr/>
        </p:nvSpPr>
        <p:spPr bwMode="auto">
          <a:xfrm flipH="1">
            <a:off x="6629400" y="35814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0" name="Line 39"/>
          <p:cNvSpPr>
            <a:spLocks noChangeShapeType="1"/>
          </p:cNvSpPr>
          <p:nvPr/>
        </p:nvSpPr>
        <p:spPr bwMode="auto">
          <a:xfrm flipH="1">
            <a:off x="6934200" y="3657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1" name="Line 40"/>
          <p:cNvSpPr>
            <a:spLocks noChangeShapeType="1"/>
          </p:cNvSpPr>
          <p:nvPr/>
        </p:nvSpPr>
        <p:spPr bwMode="auto">
          <a:xfrm flipH="1">
            <a:off x="7315200" y="3733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2" name="Line 41"/>
          <p:cNvSpPr>
            <a:spLocks noChangeShapeType="1"/>
          </p:cNvSpPr>
          <p:nvPr/>
        </p:nvSpPr>
        <p:spPr bwMode="auto">
          <a:xfrm flipH="1">
            <a:off x="7620000" y="3810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3" name="Line 42"/>
          <p:cNvSpPr>
            <a:spLocks noChangeShapeType="1"/>
          </p:cNvSpPr>
          <p:nvPr/>
        </p:nvSpPr>
        <p:spPr bwMode="auto">
          <a:xfrm flipH="1">
            <a:off x="1295400" y="3810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4" name="Line 43"/>
          <p:cNvSpPr>
            <a:spLocks noChangeShapeType="1"/>
          </p:cNvSpPr>
          <p:nvPr/>
        </p:nvSpPr>
        <p:spPr bwMode="auto">
          <a:xfrm flipH="1">
            <a:off x="1600200" y="3581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5" name="Line 44"/>
          <p:cNvSpPr>
            <a:spLocks noChangeShapeType="1"/>
          </p:cNvSpPr>
          <p:nvPr/>
        </p:nvSpPr>
        <p:spPr bwMode="auto">
          <a:xfrm flipH="1">
            <a:off x="1828800" y="3429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6" name="Line 45"/>
          <p:cNvSpPr>
            <a:spLocks noChangeShapeType="1"/>
          </p:cNvSpPr>
          <p:nvPr/>
        </p:nvSpPr>
        <p:spPr bwMode="auto">
          <a:xfrm flipH="1">
            <a:off x="2133600" y="3657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7" name="Line 46"/>
          <p:cNvSpPr>
            <a:spLocks noChangeShapeType="1"/>
          </p:cNvSpPr>
          <p:nvPr/>
        </p:nvSpPr>
        <p:spPr bwMode="auto">
          <a:xfrm flipH="1">
            <a:off x="990600" y="3886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8" name="Line 47"/>
          <p:cNvSpPr>
            <a:spLocks noChangeShapeType="1"/>
          </p:cNvSpPr>
          <p:nvPr/>
        </p:nvSpPr>
        <p:spPr bwMode="auto">
          <a:xfrm flipH="1">
            <a:off x="7086600" y="3657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09" name="Line 48"/>
          <p:cNvSpPr>
            <a:spLocks noChangeShapeType="1"/>
          </p:cNvSpPr>
          <p:nvPr/>
        </p:nvSpPr>
        <p:spPr bwMode="auto">
          <a:xfrm flipH="1">
            <a:off x="6477000" y="3429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10" name="Text Box 49"/>
          <p:cNvSpPr txBox="1">
            <a:spLocks noChangeArrowheads="1"/>
          </p:cNvSpPr>
          <p:nvPr/>
        </p:nvSpPr>
        <p:spPr bwMode="auto">
          <a:xfrm>
            <a:off x="1219200" y="27432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p(Z≤-z)</a:t>
            </a:r>
          </a:p>
        </p:txBody>
      </p:sp>
      <p:sp>
        <p:nvSpPr>
          <p:cNvPr id="20511" name="Text Box 50"/>
          <p:cNvSpPr txBox="1">
            <a:spLocks noChangeArrowheads="1"/>
          </p:cNvSpPr>
          <p:nvPr/>
        </p:nvSpPr>
        <p:spPr bwMode="auto">
          <a:xfrm>
            <a:off x="6172200" y="27432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1-p(Z≤z)=p(Z&gt;z)</a:t>
            </a:r>
          </a:p>
        </p:txBody>
      </p:sp>
      <p:sp>
        <p:nvSpPr>
          <p:cNvPr id="20512" name="Line 51"/>
          <p:cNvSpPr>
            <a:spLocks noChangeShapeType="1"/>
          </p:cNvSpPr>
          <p:nvPr/>
        </p:nvSpPr>
        <p:spPr bwMode="auto">
          <a:xfrm>
            <a:off x="1828800" y="32004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13" name="Line 52"/>
          <p:cNvSpPr>
            <a:spLocks noChangeShapeType="1"/>
          </p:cNvSpPr>
          <p:nvPr/>
        </p:nvSpPr>
        <p:spPr bwMode="auto">
          <a:xfrm flipH="1">
            <a:off x="7010400" y="3276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324292"/>
            <a:ext cx="7772400" cy="533400"/>
          </a:xfrm>
        </p:spPr>
        <p:txBody>
          <a:bodyPr/>
          <a:lstStyle/>
          <a:p>
            <a:pPr algn="l"/>
            <a:r>
              <a:rPr lang="en-US" altLang="ko-KR" sz="3200" dirty="0"/>
              <a:t> </a:t>
            </a:r>
            <a:br>
              <a:rPr lang="en-US" altLang="ko-KR" sz="3200" dirty="0"/>
            </a:br>
            <a:r>
              <a:rPr lang="ko-KR" altLang="en-US" sz="3200" dirty="0"/>
              <a:t>표준정규분포표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27285"/>
            <a:ext cx="58326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10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32656"/>
            <a:ext cx="7772400" cy="4800600"/>
          </a:xfrm>
        </p:spPr>
        <p:txBody>
          <a:bodyPr/>
          <a:lstStyle/>
          <a:p>
            <a:pPr eaLnBrk="1" hangingPunct="1"/>
            <a:r>
              <a:rPr lang="ko-KR" altLang="en-US" dirty="0"/>
              <a:t>정규분포의 확률계산</a:t>
            </a:r>
            <a:endParaRPr lang="en-US" altLang="ko-KR" dirty="0"/>
          </a:p>
          <a:p>
            <a:pPr lvl="1"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4)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1) p(Z≤1.37)=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	2) p(Z≥1.37)=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	3) p(Z&lt;-0.155 </a:t>
            </a:r>
            <a:r>
              <a:rPr lang="ko-KR" altLang="en-US" dirty="0"/>
              <a:t>또는 </a:t>
            </a:r>
            <a:r>
              <a:rPr lang="en-US" altLang="ko-KR" dirty="0"/>
              <a:t>Z&gt;1.6)=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625" y="10231"/>
            <a:ext cx="4909118" cy="53251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5)</a:t>
            </a:r>
            <a:br>
              <a:rPr lang="en-US" altLang="ko-KR" sz="2800" dirty="0"/>
            </a:br>
            <a:r>
              <a:rPr lang="en-US" altLang="ko-KR" sz="2800" dirty="0"/>
              <a:t>   p(-z ≤Z ≤z)=0.90</a:t>
            </a:r>
            <a:r>
              <a:rPr lang="ko-KR" altLang="en-US" sz="2800" dirty="0"/>
              <a:t>을 만족시키는 </a:t>
            </a:r>
            <a:r>
              <a:rPr lang="en-US" altLang="ko-KR" sz="2800" dirty="0"/>
              <a:t>z?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en-US" altLang="ko-KR" sz="2800" dirty="0">
              <a:ea typeface="바탕" pitchFamily="18" charset="-127"/>
            </a:endParaRPr>
          </a:p>
        </p:txBody>
      </p:sp>
      <p:sp>
        <p:nvSpPr>
          <p:cNvPr id="22532" name="Freeform 4"/>
          <p:cNvSpPr>
            <a:spLocks/>
          </p:cNvSpPr>
          <p:nvPr/>
        </p:nvSpPr>
        <p:spPr bwMode="auto">
          <a:xfrm>
            <a:off x="914400" y="1431925"/>
            <a:ext cx="7315200" cy="2514600"/>
          </a:xfrm>
          <a:custGeom>
            <a:avLst/>
            <a:gdLst>
              <a:gd name="T0" fmla="*/ 0 w 3888"/>
              <a:gd name="T1" fmla="*/ 2147483647 h 1584"/>
              <a:gd name="T2" fmla="*/ 2147483647 w 3888"/>
              <a:gd name="T3" fmla="*/ 2147483647 h 1584"/>
              <a:gd name="T4" fmla="*/ 2147483647 w 3888"/>
              <a:gd name="T5" fmla="*/ 0 h 1584"/>
              <a:gd name="T6" fmla="*/ 2147483647 w 3888"/>
              <a:gd name="T7" fmla="*/ 2147483647 h 1584"/>
              <a:gd name="T8" fmla="*/ 2147483647 w 3888"/>
              <a:gd name="T9" fmla="*/ 2147483647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88"/>
              <a:gd name="T16" fmla="*/ 0 h 1584"/>
              <a:gd name="T17" fmla="*/ 3888 w 3888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88" h="1584">
                <a:moveTo>
                  <a:pt x="0" y="1584"/>
                </a:moveTo>
                <a:cubicBezTo>
                  <a:pt x="280" y="1500"/>
                  <a:pt x="560" y="1416"/>
                  <a:pt x="864" y="1152"/>
                </a:cubicBezTo>
                <a:cubicBezTo>
                  <a:pt x="1168" y="888"/>
                  <a:pt x="1480" y="0"/>
                  <a:pt x="1824" y="0"/>
                </a:cubicBezTo>
                <a:cubicBezTo>
                  <a:pt x="2168" y="0"/>
                  <a:pt x="2584" y="888"/>
                  <a:pt x="2928" y="1152"/>
                </a:cubicBezTo>
                <a:cubicBezTo>
                  <a:pt x="3272" y="1416"/>
                  <a:pt x="3728" y="1512"/>
                  <a:pt x="3888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762000" y="4038600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>
            <a:off x="5410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64770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7543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3352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2362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13716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 flipV="1">
            <a:off x="6477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6324600" y="4114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z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4191000" y="4191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0</a:t>
            </a: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V="1">
            <a:off x="2362200" y="3429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4343400" y="14478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2209800" y="4114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-z</a:t>
            </a:r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 flipH="1">
            <a:off x="6477000" y="3429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 flipH="1">
            <a:off x="6629400" y="35814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flipH="1">
            <a:off x="6934200" y="3657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 flipH="1">
            <a:off x="7315200" y="3733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flipH="1">
            <a:off x="7620000" y="3810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1" name="Line 23"/>
          <p:cNvSpPr>
            <a:spLocks noChangeShapeType="1"/>
          </p:cNvSpPr>
          <p:nvPr/>
        </p:nvSpPr>
        <p:spPr bwMode="auto">
          <a:xfrm flipH="1">
            <a:off x="1295400" y="3810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2" name="Line 24"/>
          <p:cNvSpPr>
            <a:spLocks noChangeShapeType="1"/>
          </p:cNvSpPr>
          <p:nvPr/>
        </p:nvSpPr>
        <p:spPr bwMode="auto">
          <a:xfrm flipH="1">
            <a:off x="1600200" y="3581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3" name="Line 25"/>
          <p:cNvSpPr>
            <a:spLocks noChangeShapeType="1"/>
          </p:cNvSpPr>
          <p:nvPr/>
        </p:nvSpPr>
        <p:spPr bwMode="auto">
          <a:xfrm flipH="1">
            <a:off x="1828800" y="3429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4" name="Line 26"/>
          <p:cNvSpPr>
            <a:spLocks noChangeShapeType="1"/>
          </p:cNvSpPr>
          <p:nvPr/>
        </p:nvSpPr>
        <p:spPr bwMode="auto">
          <a:xfrm flipH="1">
            <a:off x="2133600" y="3657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5" name="Line 27"/>
          <p:cNvSpPr>
            <a:spLocks noChangeShapeType="1"/>
          </p:cNvSpPr>
          <p:nvPr/>
        </p:nvSpPr>
        <p:spPr bwMode="auto">
          <a:xfrm flipH="1">
            <a:off x="990600" y="3886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6" name="Line 28"/>
          <p:cNvSpPr>
            <a:spLocks noChangeShapeType="1"/>
          </p:cNvSpPr>
          <p:nvPr/>
        </p:nvSpPr>
        <p:spPr bwMode="auto">
          <a:xfrm flipH="1">
            <a:off x="7086600" y="3657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7" name="Line 29"/>
          <p:cNvSpPr>
            <a:spLocks noChangeShapeType="1"/>
          </p:cNvSpPr>
          <p:nvPr/>
        </p:nvSpPr>
        <p:spPr bwMode="auto">
          <a:xfrm flipH="1">
            <a:off x="6477000" y="34290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>
            <a:off x="1219200" y="27432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0.05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6553200" y="2743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0.05</a:t>
            </a:r>
          </a:p>
        </p:txBody>
      </p:sp>
      <p:sp>
        <p:nvSpPr>
          <p:cNvPr id="22560" name="Line 32"/>
          <p:cNvSpPr>
            <a:spLocks noChangeShapeType="1"/>
          </p:cNvSpPr>
          <p:nvPr/>
        </p:nvSpPr>
        <p:spPr bwMode="auto">
          <a:xfrm>
            <a:off x="1828800" y="32004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61" name="Line 33"/>
          <p:cNvSpPr>
            <a:spLocks noChangeShapeType="1"/>
          </p:cNvSpPr>
          <p:nvPr/>
        </p:nvSpPr>
        <p:spPr bwMode="auto">
          <a:xfrm flipH="1">
            <a:off x="7010400" y="3276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3962400" y="2590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/>
              <a:t>0.90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/>
              <a:t>EXCEL </a:t>
            </a:r>
            <a:r>
              <a:rPr lang="ko-KR" altLang="en-US"/>
              <a:t>실습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23900"/>
            <a:ext cx="7772400" cy="5257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</a:t>
            </a:r>
            <a:r>
              <a:rPr lang="ko-KR" altLang="en-US" dirty="0"/>
              <a:t>표준정규분포 </a:t>
            </a:r>
            <a:r>
              <a:rPr lang="en-US" altLang="ko-KR" dirty="0"/>
              <a:t>X ~ N(0,1) </a:t>
            </a:r>
            <a:r>
              <a:rPr lang="ko-KR" altLang="en-US" dirty="0"/>
              <a:t>그려보기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</a:t>
            </a:r>
            <a:r>
              <a:rPr lang="en-US" altLang="ko-KR" dirty="0"/>
              <a:t>1) X</a:t>
            </a:r>
            <a:r>
              <a:rPr lang="ko-KR" altLang="en-US" dirty="0"/>
              <a:t>값 입력</a:t>
            </a:r>
            <a:r>
              <a:rPr lang="en-US" altLang="ko-KR" dirty="0"/>
              <a:t>:  </a:t>
            </a:r>
            <a:r>
              <a:rPr lang="en-US" altLang="ko-KR" dirty="0">
                <a:latin typeface="Times New Roman" pitchFamily="18" charset="0"/>
              </a:rPr>
              <a:t>–</a:t>
            </a:r>
            <a:r>
              <a:rPr lang="en-US" altLang="ko-KR" dirty="0"/>
              <a:t>3.5</a:t>
            </a:r>
            <a:r>
              <a:rPr lang="ko-KR" altLang="en-US" dirty="0"/>
              <a:t>에서 </a:t>
            </a:r>
            <a:r>
              <a:rPr lang="en-US" altLang="ko-KR" dirty="0"/>
              <a:t>3.5 </a:t>
            </a:r>
            <a:r>
              <a:rPr lang="ko-KR" altLang="en-US" dirty="0"/>
              <a:t>까지 </a:t>
            </a:r>
            <a:r>
              <a:rPr lang="en-US" altLang="ko-KR" dirty="0"/>
              <a:t>0.1</a:t>
            </a:r>
            <a:r>
              <a:rPr lang="ko-KR" altLang="en-US" dirty="0"/>
              <a:t>씩 증가 시킨다</a:t>
            </a:r>
            <a:r>
              <a:rPr lang="en-US" altLang="ko-KR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2) </a:t>
            </a:r>
            <a:r>
              <a:rPr lang="ko-KR" altLang="en-US" dirty="0"/>
              <a:t>수식</a:t>
            </a:r>
            <a:r>
              <a:rPr lang="en-US" altLang="ko-KR" dirty="0"/>
              <a:t>=&gt;</a:t>
            </a:r>
            <a:r>
              <a:rPr lang="ko-KR" altLang="en-US" dirty="0"/>
              <a:t>함수</a:t>
            </a:r>
            <a:r>
              <a:rPr lang="en-US" altLang="ko-KR" dirty="0"/>
              <a:t>=&gt;</a:t>
            </a:r>
            <a:r>
              <a:rPr lang="ko-KR" altLang="en-US" dirty="0"/>
              <a:t>통계</a:t>
            </a:r>
            <a:r>
              <a:rPr lang="en-US" altLang="ko-KR" dirty="0"/>
              <a:t>=&gt;NORM.DIST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: X,</a:t>
            </a:r>
            <a:r>
              <a:rPr lang="ko-KR" altLang="en-US" dirty="0"/>
              <a:t>평균과 표준편차 입력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  </a:t>
            </a:r>
            <a:r>
              <a:rPr lang="en-US" altLang="ko-KR" dirty="0"/>
              <a:t>=&gt;</a:t>
            </a:r>
            <a:r>
              <a:rPr lang="ko-KR" altLang="en-US" dirty="0"/>
              <a:t>표준정규분포표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</a:t>
            </a:r>
            <a:r>
              <a:rPr lang="en-US" altLang="ko-KR" dirty="0"/>
              <a:t>3) </a:t>
            </a:r>
            <a:r>
              <a:rPr lang="ko-KR" altLang="en-US" dirty="0" err="1"/>
              <a:t>챠트</a:t>
            </a:r>
            <a:r>
              <a:rPr lang="en-US" altLang="ko-KR" dirty="0"/>
              <a:t>=&gt;</a:t>
            </a:r>
            <a:r>
              <a:rPr lang="ko-KR" altLang="en-US" dirty="0" err="1"/>
              <a:t>꺽은선형</a:t>
            </a:r>
            <a:r>
              <a:rPr lang="en-US" altLang="ko-KR" dirty="0"/>
              <a:t>, x</a:t>
            </a:r>
            <a:r>
              <a:rPr lang="ko-KR" altLang="en-US" dirty="0"/>
              <a:t>축</a:t>
            </a:r>
            <a:r>
              <a:rPr lang="en-US" altLang="ko-KR" dirty="0"/>
              <a:t> </a:t>
            </a:r>
            <a:r>
              <a:rPr lang="ko-KR" altLang="en-US" dirty="0"/>
              <a:t>좌표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축 선택 후 </a:t>
            </a:r>
            <a:r>
              <a:rPr lang="ko-KR" altLang="en-US" dirty="0" err="1"/>
              <a:t>오른마우스</a:t>
            </a:r>
            <a:r>
              <a:rPr lang="ko-KR" altLang="en-US" dirty="0"/>
              <a:t> 버튼 클릭</a:t>
            </a:r>
            <a:r>
              <a:rPr lang="en-US" altLang="ko-KR" dirty="0"/>
              <a:t>=&gt;</a:t>
            </a:r>
            <a:r>
              <a:rPr lang="ko-KR" altLang="en-US" dirty="0"/>
              <a:t> 데이터 선택</a:t>
            </a:r>
            <a:r>
              <a:rPr lang="en-US" altLang="ko-KR" dirty="0"/>
              <a:t>=&gt;</a:t>
            </a:r>
            <a:r>
              <a:rPr lang="ko-KR" altLang="en-US" dirty="0"/>
              <a:t>가로</a:t>
            </a:r>
            <a:r>
              <a:rPr lang="en-US" altLang="ko-KR" dirty="0"/>
              <a:t>(</a:t>
            </a:r>
            <a:r>
              <a:rPr lang="ko-KR" altLang="en-US" dirty="0"/>
              <a:t>항목</a:t>
            </a:r>
            <a:r>
              <a:rPr lang="en-US" altLang="ko-KR" dirty="0"/>
              <a:t>) </a:t>
            </a:r>
            <a:r>
              <a:rPr lang="ko-KR" altLang="en-US" dirty="0"/>
              <a:t>축 레이블</a:t>
            </a:r>
            <a:r>
              <a:rPr lang="en-US" altLang="ko-KR" dirty="0"/>
              <a:t>=&gt;x</a:t>
            </a:r>
            <a:r>
              <a:rPr lang="ko-KR" altLang="en-US" dirty="0"/>
              <a:t>값 선택</a:t>
            </a:r>
            <a:r>
              <a:rPr lang="en-US" altLang="ko-KR" dirty="0"/>
              <a:t>. </a:t>
            </a:r>
            <a:endParaRPr lang="ko-KR" altLang="en-US" dirty="0"/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</a:t>
            </a:r>
            <a:r>
              <a:rPr lang="en-US" altLang="ko-KR" dirty="0"/>
              <a:t>4) p(X </a:t>
            </a:r>
            <a:r>
              <a:rPr lang="en-US" altLang="ko-KR" dirty="0">
                <a:ea typeface="바탕" pitchFamily="18" charset="-127"/>
              </a:rPr>
              <a:t>≤x)=0.975 =&gt; x=?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</a:t>
            </a:r>
            <a:r>
              <a:rPr lang="ko-KR" altLang="en-US" dirty="0">
                <a:ea typeface="바탕" pitchFamily="18" charset="-127"/>
              </a:rPr>
              <a:t>통계</a:t>
            </a:r>
            <a:r>
              <a:rPr lang="en-US" altLang="ko-KR" dirty="0">
                <a:ea typeface="바탕" pitchFamily="18" charset="-127"/>
              </a:rPr>
              <a:t>=&gt;NORM.INV=&gt;</a:t>
            </a:r>
            <a:r>
              <a:rPr lang="ko-KR" altLang="en-US" dirty="0">
                <a:ea typeface="바탕" pitchFamily="18" charset="-127"/>
              </a:rPr>
              <a:t>필요한 값 입력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363272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3600" dirty="0"/>
              <a:t>  </a:t>
            </a:r>
            <a:r>
              <a:rPr lang="en-US" altLang="ko-KR" dirty="0"/>
              <a:t>Z ~ N(0,1)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/>
              <a:t>     1) P(0&lt;Z</a:t>
            </a:r>
            <a:r>
              <a:rPr lang="en-US" altLang="ko-KR" dirty="0">
                <a:ea typeface="바탕" pitchFamily="18" charset="-127"/>
              </a:rPr>
              <a:t>≤1)=0.3413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   1  </a:t>
            </a:r>
            <a:r>
              <a:rPr lang="ko-KR" altLang="en-US" dirty="0">
                <a:ea typeface="바탕" pitchFamily="18" charset="-127"/>
              </a:rPr>
              <a:t>입력</a:t>
            </a:r>
            <a:r>
              <a:rPr lang="en-US" altLang="ko-KR" dirty="0">
                <a:ea typeface="바탕" pitchFamily="18" charset="-127"/>
              </a:rPr>
              <a:t>=&gt; NORM.S.DIST, cumulative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   0  </a:t>
            </a:r>
            <a:r>
              <a:rPr lang="ko-KR" altLang="en-US" dirty="0">
                <a:ea typeface="바탕" pitchFamily="18" charset="-127"/>
              </a:rPr>
              <a:t>입력</a:t>
            </a:r>
            <a:r>
              <a:rPr lang="en-US" altLang="ko-KR" dirty="0">
                <a:ea typeface="바탕" pitchFamily="18" charset="-127"/>
              </a:rPr>
              <a:t>=&gt; NORM.S.DIST, cumulative 		    =&gt;</a:t>
            </a:r>
            <a:r>
              <a:rPr lang="ko-KR" altLang="en-US" dirty="0">
                <a:ea typeface="바탕" pitchFamily="18" charset="-127"/>
              </a:rPr>
              <a:t>차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dirty="0">
                <a:ea typeface="바탕" pitchFamily="18" charset="-127"/>
              </a:rPr>
              <a:t>     </a:t>
            </a:r>
            <a:r>
              <a:rPr lang="en-US" altLang="ko-KR" dirty="0">
                <a:ea typeface="바탕" pitchFamily="18" charset="-127"/>
              </a:rPr>
              <a:t>2) </a:t>
            </a:r>
            <a:r>
              <a:rPr lang="en-US" altLang="ko-KR" dirty="0"/>
              <a:t>P(Z</a:t>
            </a:r>
            <a:r>
              <a:rPr lang="en-US" altLang="ko-KR" dirty="0">
                <a:ea typeface="바탕" pitchFamily="18" charset="-127"/>
              </a:rPr>
              <a:t>≤1)=P(Z ≤0)+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                P(0&lt;Z≤1)=0.8413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3) P(-2&lt;Z ≤2)=0.9544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4) </a:t>
            </a:r>
            <a:r>
              <a:rPr lang="en-US" altLang="ko-KR" dirty="0"/>
              <a:t>P(Z</a:t>
            </a:r>
            <a:r>
              <a:rPr lang="en-US" altLang="ko-KR" dirty="0">
                <a:ea typeface="바탕" pitchFamily="18" charset="-127"/>
              </a:rPr>
              <a:t>≤2)=P(Z ≤0)+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                P(0&lt;Z ≤2)=0.9772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09600"/>
          </a:xfrm>
          <a:noFill/>
        </p:spPr>
        <p:txBody>
          <a:bodyPr/>
          <a:lstStyle/>
          <a:p>
            <a:pPr eaLnBrk="1" hangingPunct="1"/>
            <a:r>
              <a:rPr lang="en-US" altLang="ko-KR" dirty="0"/>
              <a:t>EXCEL</a:t>
            </a:r>
            <a:r>
              <a:rPr lang="ko-KR" altLang="en-US" dirty="0"/>
              <a:t>실습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"/>
            <a:ext cx="8229600" cy="4724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5) P(Z&gt;2)=1- </a:t>
            </a:r>
            <a:r>
              <a:rPr lang="en-US" altLang="ko-KR" dirty="0"/>
              <a:t>P(Z</a:t>
            </a:r>
            <a:r>
              <a:rPr lang="en-US" altLang="ko-KR" dirty="0">
                <a:ea typeface="바탕" pitchFamily="18" charset="-127"/>
              </a:rPr>
              <a:t>≤2)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         =1-0.9772=0.0228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6) X ~ N(20,25)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P(X&gt;30) = P((X-20)/5 &gt; (30-20)/5)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             = P(Z&gt;2)=0.0228</a:t>
            </a:r>
          </a:p>
          <a:p>
            <a:pPr eaLnBrk="1" hangingPunct="1">
              <a:buNone/>
            </a:pPr>
            <a:r>
              <a:rPr lang="en-US" altLang="ko-KR" dirty="0">
                <a:ea typeface="바탕" pitchFamily="18" charset="-127"/>
              </a:rPr>
              <a:t>x</a:t>
            </a:r>
            <a:r>
              <a:rPr lang="ko-KR" altLang="en-US" dirty="0">
                <a:ea typeface="바탕" pitchFamily="18" charset="-127"/>
              </a:rPr>
              <a:t>에 </a:t>
            </a:r>
            <a:r>
              <a:rPr lang="en-US" altLang="ko-KR" dirty="0">
                <a:ea typeface="바탕" pitchFamily="18" charset="-127"/>
              </a:rPr>
              <a:t>30 </a:t>
            </a:r>
            <a:r>
              <a:rPr lang="ko-KR" altLang="en-US" dirty="0">
                <a:ea typeface="바탕" pitchFamily="18" charset="-127"/>
              </a:rPr>
              <a:t>입력</a:t>
            </a:r>
            <a:endParaRPr lang="en-US" altLang="ko-KR" dirty="0">
              <a:ea typeface="바탕" pitchFamily="18" charset="-127"/>
            </a:endParaRPr>
          </a:p>
          <a:p>
            <a:pPr eaLnBrk="1" hangingPunct="1">
              <a:buNone/>
            </a:pPr>
            <a:r>
              <a:rPr lang="en-US" altLang="ko-KR" dirty="0">
                <a:ea typeface="바탕" pitchFamily="18" charset="-127"/>
              </a:rPr>
              <a:t>=&gt;1-NORM.DIST(x, 20,sqrt(25),1)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>
                <a:ea typeface="바탕" pitchFamily="18" charset="-127"/>
              </a:rPr>
              <a:t>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49149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ea typeface="바탕" pitchFamily="18" charset="-127"/>
              </a:rPr>
              <a:t> 7) X ~ N(20,25)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ea typeface="바탕" pitchFamily="18" charset="-127"/>
              </a:rPr>
              <a:t>      P(10&lt;X ≤25)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ea typeface="바탕" pitchFamily="18" charset="-127"/>
              </a:rPr>
              <a:t>    =P((10-20)/5&lt; (X-20)/5 ≤ (25-20)/5)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ea typeface="바탕" pitchFamily="18" charset="-127"/>
              </a:rPr>
              <a:t>    =P(-2&lt;Z ≤1)=P(Z ≤1)-P(Z ≤-2)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ea typeface="바탕" pitchFamily="18" charset="-127"/>
              </a:rPr>
              <a:t>    =0.8413-0.0228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800" dirty="0">
              <a:ea typeface="바탕" pitchFamily="18" charset="-127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ea typeface="바탕" pitchFamily="18" charset="-127"/>
              </a:rPr>
              <a:t> 8) p(Z&lt;x)=0.6,  x=?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ea typeface="바탕" pitchFamily="18" charset="-127"/>
              </a:rPr>
              <a:t> 9) p(-x&lt;Z&lt;x)=0.90   x=?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>
                <a:ea typeface="바탕" pitchFamily="18" charset="-127"/>
              </a:rPr>
              <a:t>     =&gt;P(Z&lt;x)=0.95</a:t>
            </a:r>
            <a:endParaRPr lang="en-US" altLang="ko-KR" sz="28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noFill/>
        </p:spPr>
        <p:txBody>
          <a:bodyPr/>
          <a:lstStyle/>
          <a:p>
            <a:pPr eaLnBrk="1" hangingPunct="1"/>
            <a:r>
              <a:rPr lang="en-US" altLang="ko-KR" dirty="0"/>
              <a:t>EXCEL </a:t>
            </a:r>
            <a:r>
              <a:rPr lang="ko-KR" altLang="en-US" dirty="0"/>
              <a:t>실습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624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 dirty="0"/>
              <a:t>HW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A3DB82F-3329-45A9-AD7C-967C4AB532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1" y="578024"/>
            <a:ext cx="7938411" cy="24875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256E77-66E8-4A4C-BB79-14064C8570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5" y="3114885"/>
            <a:ext cx="7951912" cy="18411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0260E01-4047-4ABA-A304-F31E1BA05F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11" y="4983379"/>
            <a:ext cx="7951912" cy="1809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07EEB3-4232-4896-A9EE-29D36FB3C37F}"/>
              </a:ext>
            </a:extLst>
          </p:cNvPr>
          <p:cNvSpPr txBox="1"/>
          <p:nvPr/>
        </p:nvSpPr>
        <p:spPr>
          <a:xfrm>
            <a:off x="3347864" y="6474822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 dirty="0"/>
              <a:t>HW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5BD506-477E-4992-9B2F-A20F51FEB9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84" y="1484784"/>
            <a:ext cx="8694712" cy="26911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94B6E3-66A2-4BCD-9AF9-04E8A2E2972A}"/>
              </a:ext>
            </a:extLst>
          </p:cNvPr>
          <p:cNvSpPr txBox="1"/>
          <p:nvPr/>
        </p:nvSpPr>
        <p:spPr>
          <a:xfrm>
            <a:off x="260120" y="1844824"/>
            <a:ext cx="323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3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937142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ko-KR">
                <a:solidFill>
                  <a:schemeClr val="accent2"/>
                </a:solidFill>
              </a:rPr>
              <a:t>4. </a:t>
            </a:r>
            <a:r>
              <a:rPr lang="ko-KR" altLang="en-US">
                <a:solidFill>
                  <a:schemeClr val="accent2"/>
                </a:solidFill>
              </a:rPr>
              <a:t>이항분포의 정규분포로의 근사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</a:t>
            </a:r>
            <a:r>
              <a:rPr lang="ko-KR" altLang="en-US" dirty="0"/>
              <a:t>이항분포 </a:t>
            </a:r>
            <a:r>
              <a:rPr lang="en-US" altLang="ko-KR" dirty="0"/>
              <a:t>X ~ B(</a:t>
            </a:r>
            <a:r>
              <a:rPr lang="en-US" altLang="ko-KR" dirty="0" err="1"/>
              <a:t>n,p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dirty="0"/>
              <a:t>n</a:t>
            </a:r>
            <a:r>
              <a:rPr lang="ko-KR" altLang="en-US" dirty="0"/>
              <a:t>이 매우 클 때</a:t>
            </a:r>
            <a:r>
              <a:rPr lang="en-US" altLang="ko-KR" dirty="0"/>
              <a:t>(p</a:t>
            </a:r>
            <a:r>
              <a:rPr lang="ko-KR" altLang="en-US" dirty="0"/>
              <a:t>가 작으면 </a:t>
            </a:r>
            <a:r>
              <a:rPr lang="ko-KR" altLang="en-US" dirty="0" err="1"/>
              <a:t>포아송</a:t>
            </a:r>
            <a:r>
              <a:rPr lang="ko-KR" altLang="en-US" dirty="0"/>
              <a:t> 분포</a:t>
            </a:r>
            <a:r>
              <a:rPr lang="en-US" altLang="ko-KR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</a:t>
            </a:r>
            <a:r>
              <a:rPr lang="en-US" altLang="ko-KR" dirty="0"/>
              <a:t>=&gt; </a:t>
            </a:r>
            <a:r>
              <a:rPr lang="ko-KR" altLang="en-US" dirty="0"/>
              <a:t>확률계산이 복잡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</a:t>
            </a:r>
            <a:r>
              <a:rPr lang="en-US" altLang="ko-KR" dirty="0"/>
              <a:t>=&gt; np </a:t>
            </a:r>
            <a:r>
              <a:rPr lang="ko-KR" altLang="en-US" dirty="0"/>
              <a:t>와 </a:t>
            </a:r>
            <a:r>
              <a:rPr lang="en-US" altLang="ko-KR" dirty="0"/>
              <a:t>n(1-p)</a:t>
            </a:r>
            <a:r>
              <a:rPr lang="ko-KR" altLang="en-US" dirty="0"/>
              <a:t>가 </a:t>
            </a:r>
            <a:r>
              <a:rPr lang="en-US" altLang="ko-KR" dirty="0"/>
              <a:t>5</a:t>
            </a:r>
            <a:r>
              <a:rPr lang="ko-KR" altLang="en-US" dirty="0"/>
              <a:t>이상이면 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</a:t>
            </a:r>
            <a:r>
              <a:rPr lang="en-US" altLang="ko-KR" dirty="0"/>
              <a:t>=&gt; X     N(np, np(1-p))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2076450" y="3390900"/>
          <a:ext cx="419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name="Equation" r:id="rId4" imgW="139680" imgH="114120" progId="Equation.3">
                  <p:embed/>
                </p:oleObj>
              </mc:Choice>
              <mc:Fallback>
                <p:oleObj name="Equation" r:id="rId4" imgW="139680" imgH="114120" progId="Equation.3">
                  <p:embed/>
                  <p:pic>
                    <p:nvPicPr>
                      <p:cNvPr id="1024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3390900"/>
                        <a:ext cx="419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0157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ko-KR">
                <a:solidFill>
                  <a:schemeClr val="accent2"/>
                </a:solidFill>
              </a:rPr>
              <a:t>4. </a:t>
            </a:r>
            <a:r>
              <a:rPr lang="ko-KR" altLang="en-US">
                <a:solidFill>
                  <a:schemeClr val="accent2"/>
                </a:solidFill>
              </a:rPr>
              <a:t>이항분포의 정규분포로의 근사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BF1AAE-932D-40C0-86D9-DFA28282C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97" y="1196752"/>
            <a:ext cx="6007999" cy="52469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F84A4-9784-4C85-9DC7-50410BB4A57F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연속성 수정</a:t>
            </a:r>
          </a:p>
        </p:txBody>
      </p:sp>
      <p:pic>
        <p:nvPicPr>
          <p:cNvPr id="28675" name="내용 개체 틀 3" descr="227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648" y="2457606"/>
            <a:ext cx="6455459" cy="3240360"/>
          </a:xfrm>
        </p:spPr>
      </p:pic>
      <p:sp>
        <p:nvSpPr>
          <p:cNvPr id="28676" name="직사각형 4"/>
          <p:cNvSpPr>
            <a:spLocks noChangeArrowheads="1"/>
          </p:cNvSpPr>
          <p:nvPr/>
        </p:nvSpPr>
        <p:spPr bwMode="auto">
          <a:xfrm>
            <a:off x="928688" y="1357313"/>
            <a:ext cx="67865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ko-KR" sz="2800"/>
              <a:t>p(a </a:t>
            </a:r>
            <a:r>
              <a:rPr lang="en-US" altLang="ko-KR" sz="2800">
                <a:ea typeface="바탕" pitchFamily="18" charset="-127"/>
              </a:rPr>
              <a:t>≤X ≤ b)=p(a</a:t>
            </a:r>
            <a:r>
              <a:rPr lang="en-US" altLang="ko-KR" sz="2800">
                <a:solidFill>
                  <a:srgbClr val="FF3300"/>
                </a:solidFill>
                <a:ea typeface="바탕" pitchFamily="18" charset="-127"/>
              </a:rPr>
              <a:t>-0.5</a:t>
            </a:r>
            <a:r>
              <a:rPr lang="en-US" altLang="ko-KR" sz="2800">
                <a:ea typeface="바탕" pitchFamily="18" charset="-127"/>
              </a:rPr>
              <a:t> ≤X ≤ b</a:t>
            </a:r>
            <a:r>
              <a:rPr lang="en-US" altLang="ko-KR" sz="2800">
                <a:solidFill>
                  <a:srgbClr val="FF3300"/>
                </a:solidFill>
                <a:ea typeface="바탕" pitchFamily="18" charset="-127"/>
              </a:rPr>
              <a:t>+0.5</a:t>
            </a:r>
            <a:r>
              <a:rPr lang="en-US" altLang="ko-KR" sz="2800">
                <a:ea typeface="바탕" pitchFamily="18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EBE65-70D5-4112-A643-EE50564F2BC9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algn="l" eaLnBrk="1" hangingPunct="1"/>
            <a:r>
              <a:rPr lang="ko-KR" altLang="en-US" sz="2800">
                <a:solidFill>
                  <a:schemeClr val="accent2"/>
                </a:solidFill>
              </a:rPr>
              <a:t>이항분포의 정규분포로의 근사</a:t>
            </a:r>
          </a:p>
        </p:txBody>
      </p:sp>
      <p:sp>
        <p:nvSpPr>
          <p:cNvPr id="112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334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X ~ B(</a:t>
            </a:r>
            <a:r>
              <a:rPr lang="en-US" altLang="ko-KR" dirty="0" err="1"/>
              <a:t>n,p</a:t>
            </a:r>
            <a:r>
              <a:rPr lang="en-US" altLang="ko-KR" dirty="0"/>
              <a:t>) =&gt;X    N(np, np(1-p))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이 때 연속성 수정을 </a:t>
            </a:r>
            <a:r>
              <a:rPr lang="ko-KR" altLang="en-US" dirty="0" err="1"/>
              <a:t>해야한다</a:t>
            </a:r>
            <a:r>
              <a:rPr lang="en-US" altLang="ko-KR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p(a </a:t>
            </a:r>
            <a:r>
              <a:rPr lang="en-US" altLang="ko-KR" dirty="0">
                <a:ea typeface="바탕" pitchFamily="18" charset="-127"/>
              </a:rPr>
              <a:t>≤X ≤ b)=p(a</a:t>
            </a:r>
            <a:r>
              <a:rPr lang="en-US" altLang="ko-KR" dirty="0">
                <a:solidFill>
                  <a:srgbClr val="FF3300"/>
                </a:solidFill>
                <a:ea typeface="바탕" pitchFamily="18" charset="-127"/>
              </a:rPr>
              <a:t>-0.5</a:t>
            </a:r>
            <a:r>
              <a:rPr lang="en-US" altLang="ko-KR" dirty="0">
                <a:ea typeface="바탕" pitchFamily="18" charset="-127"/>
              </a:rPr>
              <a:t> ≤X ≤ b</a:t>
            </a:r>
            <a:r>
              <a:rPr lang="en-US" altLang="ko-KR" dirty="0">
                <a:solidFill>
                  <a:srgbClr val="FF3300"/>
                </a:solidFill>
                <a:ea typeface="바탕" pitchFamily="18" charset="-127"/>
              </a:rPr>
              <a:t>+0.5</a:t>
            </a:r>
            <a:r>
              <a:rPr lang="en-US" altLang="ko-KR" dirty="0">
                <a:ea typeface="바탕" pitchFamily="18" charset="-127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=p( (a</a:t>
            </a:r>
            <a:r>
              <a:rPr lang="en-US" altLang="ko-KR" dirty="0">
                <a:solidFill>
                  <a:srgbClr val="FF3300"/>
                </a:solidFill>
              </a:rPr>
              <a:t>-0.5</a:t>
            </a:r>
            <a:r>
              <a:rPr lang="en-US" altLang="ko-KR" dirty="0"/>
              <a:t>-np)/             </a:t>
            </a:r>
            <a:r>
              <a:rPr lang="en-US" altLang="ko-KR" dirty="0">
                <a:ea typeface="바탕" pitchFamily="18" charset="-127"/>
              </a:rPr>
              <a:t>≤Z</a:t>
            </a: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			</a:t>
            </a:r>
            <a:r>
              <a:rPr lang="en-US" altLang="ko-KR" dirty="0">
                <a:ea typeface="바탕" pitchFamily="18" charset="-127"/>
              </a:rPr>
              <a:t>≤ </a:t>
            </a:r>
            <a:r>
              <a:rPr lang="en-US" altLang="ko-KR" dirty="0"/>
              <a:t>(b</a:t>
            </a:r>
            <a:r>
              <a:rPr lang="en-US" altLang="ko-KR" dirty="0">
                <a:solidFill>
                  <a:srgbClr val="FF3300"/>
                </a:solidFill>
              </a:rPr>
              <a:t>+0.5</a:t>
            </a:r>
            <a:r>
              <a:rPr lang="en-US" altLang="ko-KR" dirty="0"/>
              <a:t>-np)/            )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p(X&lt;a)=p(X </a:t>
            </a:r>
            <a:r>
              <a:rPr lang="en-US" altLang="ko-KR" dirty="0">
                <a:ea typeface="바탕" pitchFamily="18" charset="-127"/>
              </a:rPr>
              <a:t>≤</a:t>
            </a:r>
            <a:r>
              <a:rPr lang="en-US" altLang="ko-KR" dirty="0"/>
              <a:t> a-1)     p(X </a:t>
            </a:r>
            <a:r>
              <a:rPr lang="en-US" altLang="ko-KR" dirty="0">
                <a:ea typeface="바탕" pitchFamily="18" charset="-127"/>
              </a:rPr>
              <a:t>≤a-1 </a:t>
            </a:r>
            <a:r>
              <a:rPr lang="en-US" altLang="ko-KR" dirty="0">
                <a:solidFill>
                  <a:srgbClr val="FF3300"/>
                </a:solidFill>
                <a:ea typeface="바탕" pitchFamily="18" charset="-127"/>
              </a:rPr>
              <a:t>+0.5</a:t>
            </a:r>
            <a:r>
              <a:rPr lang="en-US" altLang="ko-KR" dirty="0">
                <a:ea typeface="바탕" pitchFamily="18" charset="-127"/>
              </a:rPr>
              <a:t>)  </a:t>
            </a: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3886200" y="990600"/>
          <a:ext cx="419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4" name="Equation" r:id="rId4" imgW="139680" imgH="114120" progId="Equation.3">
                  <p:embed/>
                </p:oleObj>
              </mc:Choice>
              <mc:Fallback>
                <p:oleObj name="Equation" r:id="rId4" imgW="139680" imgH="114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990600"/>
                        <a:ext cx="419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6"/>
          <p:cNvGraphicFramePr>
            <a:graphicFrameLocks noChangeAspect="1"/>
          </p:cNvGraphicFramePr>
          <p:nvPr/>
        </p:nvGraphicFramePr>
        <p:xfrm>
          <a:off x="4343400" y="2667000"/>
          <a:ext cx="14478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5" name="Equation" r:id="rId6" imgW="825480" imgH="291960" progId="Equation.3">
                  <p:embed/>
                </p:oleObj>
              </mc:Choice>
              <mc:Fallback>
                <p:oleObj name="Equation" r:id="rId6" imgW="825480" imgH="2919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667000"/>
                        <a:ext cx="14478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7"/>
          <p:cNvGraphicFramePr>
            <a:graphicFrameLocks noChangeAspect="1"/>
          </p:cNvGraphicFramePr>
          <p:nvPr/>
        </p:nvGraphicFramePr>
        <p:xfrm>
          <a:off x="5486400" y="3171825"/>
          <a:ext cx="14478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" name="Equation" r:id="rId8" imgW="825480" imgH="291960" progId="Equation.3">
                  <p:embed/>
                </p:oleObj>
              </mc:Choice>
              <mc:Fallback>
                <p:oleObj name="Equation" r:id="rId8" imgW="825480" imgH="2919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171825"/>
                        <a:ext cx="14478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0"/>
          <p:cNvGraphicFramePr>
            <a:graphicFrameLocks noChangeAspect="1"/>
          </p:cNvGraphicFramePr>
          <p:nvPr/>
        </p:nvGraphicFramePr>
        <p:xfrm>
          <a:off x="4800600" y="4572000"/>
          <a:ext cx="419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" name="Equation" r:id="rId9" imgW="139680" imgH="114120" progId="Equation.3">
                  <p:embed/>
                </p:oleObj>
              </mc:Choice>
              <mc:Fallback>
                <p:oleObj name="Equation" r:id="rId9" imgW="139680" imgH="1141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572000"/>
                        <a:ext cx="419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algn="l" eaLnBrk="1" hangingPunct="1"/>
            <a:r>
              <a:rPr lang="ko-KR" altLang="en-US" sz="2800">
                <a:solidFill>
                  <a:schemeClr val="accent2"/>
                </a:solidFill>
              </a:rPr>
              <a:t>이항분포의 정규분포로의 근사</a:t>
            </a:r>
          </a:p>
        </p:txBody>
      </p:sp>
      <p:sp>
        <p:nvSpPr>
          <p:cNvPr id="1229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334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예</a:t>
            </a:r>
            <a:r>
              <a:rPr lang="en-US" altLang="ko-KR" dirty="0"/>
              <a:t>6) X~B(10,0.2)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=&gt;np=2, np(1-p)=1.6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p(1 </a:t>
            </a:r>
            <a:r>
              <a:rPr lang="en-US" altLang="ko-KR" dirty="0">
                <a:ea typeface="바탕" pitchFamily="18" charset="-127"/>
              </a:rPr>
              <a:t>≤X ≤ 4)      p(1-0.5 ≤X ≤ 4+0.5)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=p((0.5-2)/        </a:t>
            </a:r>
            <a:r>
              <a:rPr lang="en-US" altLang="ko-KR" dirty="0">
                <a:ea typeface="바탕" pitchFamily="18" charset="-127"/>
              </a:rPr>
              <a:t>≤Z ≤(4.5-2)/         )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>
              <a:ea typeface="바탕" pitchFamily="18" charset="-127"/>
            </a:endParaRPr>
          </a:p>
          <a:p>
            <a:pPr eaLnBrk="1" hangingPunct="1"/>
            <a:r>
              <a:rPr lang="ko-KR" altLang="en-US" dirty="0">
                <a:ea typeface="바탕" pitchFamily="18" charset="-127"/>
              </a:rPr>
              <a:t>위의 두 확률을 계산하여 비교해 보시오</a:t>
            </a:r>
            <a:r>
              <a:rPr lang="en-US" altLang="ko-KR" dirty="0">
                <a:ea typeface="바탕" pitchFamily="18" charset="-127"/>
              </a:rPr>
              <a:t>.</a:t>
            </a:r>
          </a:p>
          <a:p>
            <a:pPr lvl="1" eaLnBrk="1" hangingPunct="1"/>
            <a:r>
              <a:rPr lang="ko-KR" altLang="en-US" dirty="0">
                <a:ea typeface="바탕" pitchFamily="18" charset="-127"/>
              </a:rPr>
              <a:t>이항분포</a:t>
            </a:r>
            <a:r>
              <a:rPr lang="en-US" altLang="ko-KR" dirty="0">
                <a:ea typeface="바탕" pitchFamily="18" charset="-127"/>
              </a:rPr>
              <a:t> </a:t>
            </a:r>
          </a:p>
          <a:p>
            <a:pPr lvl="1" eaLnBrk="1" hangingPunct="1"/>
            <a:r>
              <a:rPr lang="ko-KR" altLang="en-US" dirty="0">
                <a:ea typeface="바탕" pitchFamily="18" charset="-127"/>
              </a:rPr>
              <a:t>정규분포로의 근사</a:t>
            </a:r>
            <a:endParaRPr lang="en-US" altLang="ko-KR" dirty="0">
              <a:ea typeface="바탕" pitchFamily="18" charset="-127"/>
            </a:endParaRPr>
          </a:p>
          <a:p>
            <a:pPr lvl="2" eaLnBrk="1" hangingPunct="1"/>
            <a:r>
              <a:rPr lang="ko-KR" altLang="en-US" dirty="0">
                <a:ea typeface="바탕" pitchFamily="18" charset="-127"/>
              </a:rPr>
              <a:t>연속성 수정을 한 경우</a:t>
            </a:r>
            <a:endParaRPr lang="en-US" altLang="ko-KR" dirty="0">
              <a:ea typeface="바탕" pitchFamily="18" charset="-127"/>
            </a:endParaRPr>
          </a:p>
          <a:p>
            <a:pPr lvl="2" eaLnBrk="1" hangingPunct="1"/>
            <a:r>
              <a:rPr lang="ko-KR" altLang="en-US" dirty="0">
                <a:ea typeface="바탕" pitchFamily="18" charset="-127"/>
              </a:rPr>
              <a:t>연속성 수정을 안 한 경우</a:t>
            </a:r>
            <a:endParaRPr lang="en-US" altLang="ko-KR" dirty="0">
              <a:ea typeface="바탕" pitchFamily="18" charset="-127"/>
            </a:endParaRPr>
          </a:p>
          <a:p>
            <a:pPr lvl="1" eaLnBrk="1" hangingPunct="1"/>
            <a:endParaRPr lang="en-US" altLang="ko-KR" dirty="0">
              <a:ea typeface="바탕" pitchFamily="18" charset="-127"/>
            </a:endParaRPr>
          </a:p>
          <a:p>
            <a:pPr lvl="1" eaLnBrk="1" hangingPunct="1"/>
            <a:endParaRPr lang="en-US" altLang="ko-KR" dirty="0">
              <a:ea typeface="바탕" pitchFamily="18" charset="-127"/>
            </a:endParaRPr>
          </a:p>
        </p:txBody>
      </p:sp>
      <p:graphicFrame>
        <p:nvGraphicFramePr>
          <p:cNvPr id="12290" name="Object 1029"/>
          <p:cNvGraphicFramePr>
            <a:graphicFrameLocks noChangeAspect="1"/>
          </p:cNvGraphicFramePr>
          <p:nvPr/>
        </p:nvGraphicFramePr>
        <p:xfrm>
          <a:off x="3505200" y="2209800"/>
          <a:ext cx="419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7" name="Equation" r:id="rId4" imgW="139680" imgH="114120" progId="Equation.3">
                  <p:embed/>
                </p:oleObj>
              </mc:Choice>
              <mc:Fallback>
                <p:oleObj name="Equation" r:id="rId4" imgW="139680" imgH="11412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209800"/>
                        <a:ext cx="419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1032"/>
          <p:cNvGraphicFramePr>
            <a:graphicFrameLocks noChangeAspect="1"/>
          </p:cNvGraphicFramePr>
          <p:nvPr/>
        </p:nvGraphicFramePr>
        <p:xfrm>
          <a:off x="3276600" y="2590800"/>
          <a:ext cx="838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8" name="Equation" r:id="rId6" imgW="380880" imgH="253800" progId="Equation.3">
                  <p:embed/>
                </p:oleObj>
              </mc:Choice>
              <mc:Fallback>
                <p:oleObj name="Equation" r:id="rId6" imgW="380880" imgH="2538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590800"/>
                        <a:ext cx="838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033"/>
          <p:cNvGraphicFramePr>
            <a:graphicFrameLocks noChangeAspect="1"/>
          </p:cNvGraphicFramePr>
          <p:nvPr/>
        </p:nvGraphicFramePr>
        <p:xfrm>
          <a:off x="7086600" y="2667000"/>
          <a:ext cx="838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9" name="Equation" r:id="rId8" imgW="380880" imgH="253800" progId="Equation.3">
                  <p:embed/>
                </p:oleObj>
              </mc:Choice>
              <mc:Fallback>
                <p:oleObj name="Equation" r:id="rId8" imgW="380880" imgH="25380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667000"/>
                        <a:ext cx="838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772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예제</a:t>
            </a:r>
            <a:r>
              <a:rPr lang="en-US" altLang="ko-KR" dirty="0"/>
              <a:t>7)  1) X~B(15, 0.5),  2) X~B(15, 0.1)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   3) X~B(15, 0.9)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이항확률분포표를 만들고 </a:t>
            </a:r>
            <a:r>
              <a:rPr lang="ko-KR" altLang="en-US" dirty="0" err="1"/>
              <a:t>꺽은선그래프를</a:t>
            </a:r>
            <a:r>
              <a:rPr lang="ko-KR" altLang="en-US" dirty="0"/>
              <a:t> 그려서 </a:t>
            </a:r>
            <a:r>
              <a:rPr lang="ko-KR" altLang="en-US" dirty="0" err="1"/>
              <a:t>정규분포와</a:t>
            </a:r>
            <a:r>
              <a:rPr lang="ko-KR" altLang="en-US" dirty="0"/>
              <a:t> 비교하여 보아라</a:t>
            </a:r>
            <a:r>
              <a:rPr lang="en-US" altLang="ko-KR" dirty="0"/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2667000" y="228600"/>
            <a:ext cx="4267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ko-KR" sz="4000" dirty="0"/>
              <a:t>EXCEL </a:t>
            </a:r>
            <a:r>
              <a:rPr lang="ko-KR" altLang="en-US" sz="4000" dirty="0"/>
              <a:t>실습</a:t>
            </a:r>
            <a:r>
              <a:rPr lang="ko-KR" altLang="en-US" sz="2800" dirty="0"/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772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예제</a:t>
            </a:r>
            <a:r>
              <a:rPr lang="en-US" altLang="ko-KR" dirty="0"/>
              <a:t>8) X~B(500, 0.03)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1)   p(13&lt;= X &lt;= 18)=?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2) </a:t>
            </a:r>
            <a:r>
              <a:rPr lang="ko-KR" altLang="en-US" dirty="0"/>
              <a:t>위 이항분포의 </a:t>
            </a:r>
            <a:r>
              <a:rPr lang="ko-KR" altLang="en-US" dirty="0" err="1"/>
              <a:t>확률값을</a:t>
            </a:r>
            <a:r>
              <a:rPr lang="ko-KR" altLang="en-US" dirty="0"/>
              <a:t> </a:t>
            </a:r>
            <a:r>
              <a:rPr lang="ko-KR" altLang="en-US" dirty="0" err="1"/>
              <a:t>정규근사로</a:t>
            </a:r>
            <a:r>
              <a:rPr lang="ko-KR" altLang="en-US" dirty="0"/>
              <a:t> 구해보고 위의 결과와 비교해 본다</a:t>
            </a:r>
            <a:r>
              <a:rPr lang="en-US" altLang="ko-KR" dirty="0"/>
              <a:t>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   X ~ N(</a:t>
            </a:r>
            <a:r>
              <a:rPr lang="en-US" altLang="ko-KR" dirty="0" err="1"/>
              <a:t>np,np</a:t>
            </a:r>
            <a:r>
              <a:rPr lang="en-US" altLang="ko-KR" dirty="0"/>
              <a:t>(1-p))</a:t>
            </a:r>
          </a:p>
        </p:txBody>
      </p:sp>
      <p:sp>
        <p:nvSpPr>
          <p:cNvPr id="30723" name="Rectangle 1027"/>
          <p:cNvSpPr>
            <a:spLocks noChangeArrowheads="1"/>
          </p:cNvSpPr>
          <p:nvPr/>
        </p:nvSpPr>
        <p:spPr bwMode="auto">
          <a:xfrm>
            <a:off x="2667000" y="228600"/>
            <a:ext cx="42672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ko-KR" sz="3200" dirty="0"/>
              <a:t>EXCEL </a:t>
            </a:r>
            <a:r>
              <a:rPr lang="ko-KR" altLang="en-US" sz="3200" dirty="0"/>
              <a:t>실습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HW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717032"/>
            <a:ext cx="7772400" cy="1226840"/>
          </a:xfrm>
        </p:spPr>
        <p:txBody>
          <a:bodyPr/>
          <a:lstStyle/>
          <a:p>
            <a:pPr eaLnBrk="1" hangingPunct="1"/>
            <a:r>
              <a:rPr lang="ko-KR" altLang="en-US" dirty="0"/>
              <a:t>위 문제를 이항분포를 이용하여 정확한 확률을 구하여 위 문제와 비교하라</a:t>
            </a:r>
            <a:r>
              <a:rPr lang="en-US" altLang="ko-KR" dirty="0"/>
              <a:t>.       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9138BF-5D43-4BF3-A443-DBE52095B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55875" y="-1693310"/>
            <a:ext cx="2232249" cy="801237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/>
              <a:t>5. </a:t>
            </a:r>
            <a:r>
              <a:rPr lang="ko-KR" altLang="en-US"/>
              <a:t>정규분포 가정의 조사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dirty="0"/>
              <a:t>많은 경우 정규분포라는 가정을 한다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dirty="0"/>
              <a:t>정규분포 가정에 대한 조사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정규점수그림</a:t>
            </a:r>
            <a:r>
              <a:rPr lang="en-US" altLang="ko-KR" dirty="0"/>
              <a:t>(normal score plot) </a:t>
            </a:r>
            <a:r>
              <a:rPr lang="ko-KR" altLang="en-US" dirty="0"/>
              <a:t>혹은 정규확률그림</a:t>
            </a:r>
            <a:r>
              <a:rPr lang="en-US" altLang="ko-KR" dirty="0"/>
              <a:t>(normal probability plot)</a:t>
            </a:r>
            <a:r>
              <a:rPr lang="ko-KR" altLang="en-US" dirty="0"/>
              <a:t>사용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dirty="0"/>
              <a:t>정규점수</a:t>
            </a:r>
            <a:r>
              <a:rPr lang="en-US" altLang="ko-KR" dirty="0"/>
              <a:t>(normal score)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표준 정규분포에서 이상적인 표본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표준정규분포의 확률밀도함수를 </a:t>
            </a:r>
            <a:r>
              <a:rPr lang="ko-KR" altLang="en-US" dirty="0" err="1"/>
              <a:t>등확률</a:t>
            </a:r>
            <a:r>
              <a:rPr lang="ko-KR" altLang="en-US" dirty="0"/>
              <a:t> 구간으로 나누어주는 </a:t>
            </a:r>
            <a:r>
              <a:rPr lang="ko-KR" altLang="en-US" dirty="0" err="1"/>
              <a:t>경계값</a:t>
            </a:r>
            <a:r>
              <a:rPr lang="ko-KR" altLang="en-US" dirty="0"/>
              <a:t> </a:t>
            </a:r>
            <a:r>
              <a:rPr lang="en-US" altLang="ko-KR" dirty="0"/>
              <a:t>(z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dirty="0" err="1"/>
              <a:t>정규성이</a:t>
            </a:r>
            <a:r>
              <a:rPr lang="ko-KR" altLang="en-US" dirty="0"/>
              <a:t> 없으면 자료 변환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큰 자료를 더 크게</a:t>
            </a:r>
            <a:r>
              <a:rPr lang="en-US" altLang="ko-KR" dirty="0"/>
              <a:t>=&gt; </a:t>
            </a:r>
            <a:r>
              <a:rPr lang="ko-KR" altLang="en-US" dirty="0"/>
              <a:t>제곱</a:t>
            </a:r>
            <a:r>
              <a:rPr lang="en-US" altLang="ko-KR" dirty="0"/>
              <a:t>, </a:t>
            </a:r>
            <a:r>
              <a:rPr lang="ko-KR" altLang="en-US" dirty="0"/>
              <a:t>세제곱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큰 자료를 작게</a:t>
            </a:r>
            <a:r>
              <a:rPr lang="en-US" altLang="ko-KR" dirty="0"/>
              <a:t>=&gt; </a:t>
            </a:r>
            <a:r>
              <a:rPr lang="ko-KR" altLang="en-US" dirty="0"/>
              <a:t>제곱근</a:t>
            </a:r>
            <a:r>
              <a:rPr lang="en-US" altLang="ko-KR" dirty="0"/>
              <a:t>, log(x), 1/x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89284" y="620688"/>
            <a:ext cx="7772400" cy="533400"/>
          </a:xfrm>
        </p:spPr>
        <p:txBody>
          <a:bodyPr/>
          <a:lstStyle/>
          <a:p>
            <a:pPr algn="l" eaLnBrk="1" hangingPunct="1"/>
            <a:r>
              <a:rPr lang="ko-KR" altLang="en-US" sz="3200" dirty="0">
                <a:solidFill>
                  <a:schemeClr val="accent2"/>
                </a:solidFill>
              </a:rPr>
              <a:t>정규분포 </a:t>
            </a:r>
            <a:r>
              <a:rPr lang="en-US" altLang="ko-KR" sz="3200" dirty="0">
                <a:solidFill>
                  <a:schemeClr val="accent2"/>
                </a:solidFill>
              </a:rPr>
              <a:t>X~N(0</a:t>
            </a:r>
            <a:r>
              <a:rPr lang="en-US" altLang="ko-KR" sz="3200" dirty="0">
                <a:solidFill>
                  <a:schemeClr val="accent2"/>
                </a:solidFill>
                <a:ea typeface="바탕" pitchFamily="18" charset="-127"/>
              </a:rPr>
              <a:t>, 1)</a:t>
            </a:r>
            <a:br>
              <a:rPr lang="en-US" altLang="ko-KR" sz="3200" dirty="0">
                <a:solidFill>
                  <a:schemeClr val="accent2"/>
                </a:solidFill>
                <a:ea typeface="바탕" pitchFamily="18" charset="-127"/>
              </a:rPr>
            </a:br>
            <a:r>
              <a:rPr lang="en-US" altLang="ko-KR" sz="3200" dirty="0">
                <a:solidFill>
                  <a:schemeClr val="accent2"/>
                </a:solidFill>
                <a:ea typeface="바탕" pitchFamily="18" charset="-127"/>
              </a:rPr>
              <a:t>(</a:t>
            </a:r>
            <a:r>
              <a:rPr lang="ko-KR" altLang="en-US" sz="3200" dirty="0"/>
              <a:t>예제 </a:t>
            </a:r>
            <a:r>
              <a:rPr lang="en-US" altLang="ko-KR" sz="3200" dirty="0"/>
              <a:t>9) 4</a:t>
            </a:r>
            <a:r>
              <a:rPr lang="ko-KR" altLang="en-US" sz="3200" dirty="0"/>
              <a:t>개 자료 </a:t>
            </a:r>
            <a:br>
              <a:rPr lang="ko-KR" altLang="en-US" sz="3200" dirty="0"/>
            </a:br>
            <a:endParaRPr lang="en-US" altLang="ko-KR" sz="3200" dirty="0">
              <a:solidFill>
                <a:schemeClr val="accent2"/>
              </a:solidFill>
              <a:ea typeface="바탕" pitchFamily="18" charset="-127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/>
              <a:t> </a:t>
            </a:r>
          </a:p>
        </p:txBody>
      </p:sp>
      <p:sp>
        <p:nvSpPr>
          <p:cNvPr id="34820" name="Freeform 4"/>
          <p:cNvSpPr>
            <a:spLocks/>
          </p:cNvSpPr>
          <p:nvPr/>
        </p:nvSpPr>
        <p:spPr bwMode="auto">
          <a:xfrm>
            <a:off x="914400" y="1447800"/>
            <a:ext cx="7315200" cy="2514600"/>
          </a:xfrm>
          <a:custGeom>
            <a:avLst/>
            <a:gdLst>
              <a:gd name="T0" fmla="*/ 0 w 3888"/>
              <a:gd name="T1" fmla="*/ 2147483647 h 1584"/>
              <a:gd name="T2" fmla="*/ 2147483647 w 3888"/>
              <a:gd name="T3" fmla="*/ 2147483647 h 1584"/>
              <a:gd name="T4" fmla="*/ 2147483647 w 3888"/>
              <a:gd name="T5" fmla="*/ 0 h 1584"/>
              <a:gd name="T6" fmla="*/ 2147483647 w 3888"/>
              <a:gd name="T7" fmla="*/ 2147483647 h 1584"/>
              <a:gd name="T8" fmla="*/ 2147483647 w 3888"/>
              <a:gd name="T9" fmla="*/ 2147483647 h 15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88"/>
              <a:gd name="T16" fmla="*/ 0 h 1584"/>
              <a:gd name="T17" fmla="*/ 3888 w 3888"/>
              <a:gd name="T18" fmla="*/ 1584 h 15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88" h="1584">
                <a:moveTo>
                  <a:pt x="0" y="1584"/>
                </a:moveTo>
                <a:cubicBezTo>
                  <a:pt x="280" y="1500"/>
                  <a:pt x="560" y="1416"/>
                  <a:pt x="864" y="1152"/>
                </a:cubicBezTo>
                <a:cubicBezTo>
                  <a:pt x="1168" y="888"/>
                  <a:pt x="1480" y="0"/>
                  <a:pt x="1824" y="0"/>
                </a:cubicBezTo>
                <a:cubicBezTo>
                  <a:pt x="2168" y="0"/>
                  <a:pt x="2584" y="888"/>
                  <a:pt x="2928" y="1152"/>
                </a:cubicBezTo>
                <a:cubicBezTo>
                  <a:pt x="3272" y="1416"/>
                  <a:pt x="3728" y="1512"/>
                  <a:pt x="3888" y="158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>
            <a:off x="762000" y="4038600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2" name="Line 9"/>
          <p:cNvSpPr>
            <a:spLocks noChangeShapeType="1"/>
          </p:cNvSpPr>
          <p:nvPr/>
        </p:nvSpPr>
        <p:spPr bwMode="auto">
          <a:xfrm>
            <a:off x="5410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3" name="Line 10"/>
          <p:cNvSpPr>
            <a:spLocks noChangeShapeType="1"/>
          </p:cNvSpPr>
          <p:nvPr/>
        </p:nvSpPr>
        <p:spPr bwMode="auto">
          <a:xfrm>
            <a:off x="64770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4" name="Line 12"/>
          <p:cNvSpPr>
            <a:spLocks noChangeShapeType="1"/>
          </p:cNvSpPr>
          <p:nvPr/>
        </p:nvSpPr>
        <p:spPr bwMode="auto">
          <a:xfrm>
            <a:off x="7543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5" name="Line 14"/>
          <p:cNvSpPr>
            <a:spLocks noChangeShapeType="1"/>
          </p:cNvSpPr>
          <p:nvPr/>
        </p:nvSpPr>
        <p:spPr bwMode="auto">
          <a:xfrm>
            <a:off x="33528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6" name="Line 15"/>
          <p:cNvSpPr>
            <a:spLocks noChangeShapeType="1"/>
          </p:cNvSpPr>
          <p:nvPr/>
        </p:nvSpPr>
        <p:spPr bwMode="auto">
          <a:xfrm>
            <a:off x="23622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7" name="Line 16"/>
          <p:cNvSpPr>
            <a:spLocks noChangeShapeType="1"/>
          </p:cNvSpPr>
          <p:nvPr/>
        </p:nvSpPr>
        <p:spPr bwMode="auto">
          <a:xfrm>
            <a:off x="1371600" y="3962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8" name="Text Box 30"/>
          <p:cNvSpPr txBox="1">
            <a:spLocks noChangeArrowheads="1"/>
          </p:cNvSpPr>
          <p:nvPr/>
        </p:nvSpPr>
        <p:spPr bwMode="auto">
          <a:xfrm>
            <a:off x="1981200" y="36576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0.2</a:t>
            </a:r>
          </a:p>
        </p:txBody>
      </p:sp>
      <p:sp>
        <p:nvSpPr>
          <p:cNvPr id="34829" name="Line 33"/>
          <p:cNvSpPr>
            <a:spLocks noChangeShapeType="1"/>
          </p:cNvSpPr>
          <p:nvPr/>
        </p:nvSpPr>
        <p:spPr bwMode="auto">
          <a:xfrm>
            <a:off x="2912914" y="2895603"/>
            <a:ext cx="2902" cy="11564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30" name="Line 36"/>
          <p:cNvSpPr>
            <a:spLocks noChangeShapeType="1"/>
          </p:cNvSpPr>
          <p:nvPr/>
        </p:nvSpPr>
        <p:spPr bwMode="auto">
          <a:xfrm>
            <a:off x="5855860" y="2774950"/>
            <a:ext cx="11540" cy="1263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31" name="Text Box 38"/>
          <p:cNvSpPr txBox="1">
            <a:spLocks noChangeArrowheads="1"/>
          </p:cNvSpPr>
          <p:nvPr/>
        </p:nvSpPr>
        <p:spPr bwMode="auto">
          <a:xfrm>
            <a:off x="3157627" y="309245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0.2</a:t>
            </a:r>
          </a:p>
        </p:txBody>
      </p:sp>
      <p:sp>
        <p:nvSpPr>
          <p:cNvPr id="34832" name="Text Box 39"/>
          <p:cNvSpPr txBox="1">
            <a:spLocks noChangeArrowheads="1"/>
          </p:cNvSpPr>
          <p:nvPr/>
        </p:nvSpPr>
        <p:spPr bwMode="auto">
          <a:xfrm>
            <a:off x="4089075" y="2805113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0.2</a:t>
            </a:r>
          </a:p>
        </p:txBody>
      </p:sp>
      <p:sp>
        <p:nvSpPr>
          <p:cNvPr id="34833" name="Text Box 40"/>
          <p:cNvSpPr txBox="1">
            <a:spLocks noChangeArrowheads="1"/>
          </p:cNvSpPr>
          <p:nvPr/>
        </p:nvSpPr>
        <p:spPr bwMode="auto">
          <a:xfrm>
            <a:off x="5105400" y="3059257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0.2</a:t>
            </a:r>
          </a:p>
        </p:txBody>
      </p:sp>
      <p:sp>
        <p:nvSpPr>
          <p:cNvPr id="34834" name="Text Box 41"/>
          <p:cNvSpPr txBox="1">
            <a:spLocks noChangeArrowheads="1"/>
          </p:cNvSpPr>
          <p:nvPr/>
        </p:nvSpPr>
        <p:spPr bwMode="auto">
          <a:xfrm>
            <a:off x="6248400" y="3581400"/>
            <a:ext cx="76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/>
              <a:t>0.2</a:t>
            </a:r>
          </a:p>
        </p:txBody>
      </p:sp>
      <p:sp>
        <p:nvSpPr>
          <p:cNvPr id="34835" name="Text Box 42"/>
          <p:cNvSpPr txBox="1">
            <a:spLocks noChangeArrowheads="1"/>
          </p:cNvSpPr>
          <p:nvPr/>
        </p:nvSpPr>
        <p:spPr bwMode="auto">
          <a:xfrm>
            <a:off x="2234438" y="4312229"/>
            <a:ext cx="1225237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m1=-0.84</a:t>
            </a:r>
          </a:p>
        </p:txBody>
      </p:sp>
      <p:sp>
        <p:nvSpPr>
          <p:cNvPr id="34836" name="Text Box 43"/>
          <p:cNvSpPr txBox="1">
            <a:spLocks noChangeArrowheads="1"/>
          </p:cNvSpPr>
          <p:nvPr/>
        </p:nvSpPr>
        <p:spPr bwMode="auto">
          <a:xfrm>
            <a:off x="3355861" y="4981159"/>
            <a:ext cx="1195962" cy="3385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m2=-0.25</a:t>
            </a:r>
          </a:p>
        </p:txBody>
      </p:sp>
      <p:sp>
        <p:nvSpPr>
          <p:cNvPr id="34837" name="Text Box 44"/>
          <p:cNvSpPr txBox="1">
            <a:spLocks noChangeArrowheads="1"/>
          </p:cNvSpPr>
          <p:nvPr/>
        </p:nvSpPr>
        <p:spPr bwMode="auto">
          <a:xfrm>
            <a:off x="4343400" y="4330701"/>
            <a:ext cx="1143000" cy="336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m3=0.25</a:t>
            </a:r>
          </a:p>
        </p:txBody>
      </p:sp>
      <p:sp>
        <p:nvSpPr>
          <p:cNvPr id="34838" name="Text Box 45"/>
          <p:cNvSpPr txBox="1">
            <a:spLocks noChangeArrowheads="1"/>
          </p:cNvSpPr>
          <p:nvPr/>
        </p:nvSpPr>
        <p:spPr bwMode="auto">
          <a:xfrm>
            <a:off x="5638800" y="4730749"/>
            <a:ext cx="1219200" cy="336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600" dirty="0"/>
              <a:t>m4=0.84</a:t>
            </a:r>
          </a:p>
        </p:txBody>
      </p:sp>
      <p:cxnSp>
        <p:nvCxnSpPr>
          <p:cNvPr id="29" name="직선 연결선 28"/>
          <p:cNvCxnSpPr>
            <a:cxnSpLocks/>
          </p:cNvCxnSpPr>
          <p:nvPr/>
        </p:nvCxnSpPr>
        <p:spPr>
          <a:xfrm>
            <a:off x="4724400" y="1627188"/>
            <a:ext cx="28427" cy="23955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3937865" y="1627188"/>
            <a:ext cx="1" cy="241141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6132CA3-5135-4EC0-8723-638FE14BAD0A}"/>
              </a:ext>
            </a:extLst>
          </p:cNvPr>
          <p:cNvCxnSpPr>
            <a:endCxn id="34829" idx="1"/>
          </p:cNvCxnSpPr>
          <p:nvPr/>
        </p:nvCxnSpPr>
        <p:spPr>
          <a:xfrm flipV="1">
            <a:off x="2627784" y="4052093"/>
            <a:ext cx="288032" cy="2601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58FA746-1FEA-49B9-A5E3-A436AE556BBC}"/>
              </a:ext>
            </a:extLst>
          </p:cNvPr>
          <p:cNvCxnSpPr/>
          <p:nvPr/>
        </p:nvCxnSpPr>
        <p:spPr>
          <a:xfrm flipH="1" flipV="1">
            <a:off x="3919627" y="4045347"/>
            <a:ext cx="169448" cy="9358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078832F-F371-4837-92C2-A3C4D00CAFE6}"/>
              </a:ext>
            </a:extLst>
          </p:cNvPr>
          <p:cNvCxnSpPr/>
          <p:nvPr/>
        </p:nvCxnSpPr>
        <p:spPr>
          <a:xfrm flipV="1">
            <a:off x="4719921" y="4006850"/>
            <a:ext cx="32906" cy="32385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9A7DDB2-B062-44E5-8F7A-2C1E02A35E6D}"/>
              </a:ext>
            </a:extLst>
          </p:cNvPr>
          <p:cNvCxnSpPr>
            <a:endCxn id="34830" idx="1"/>
          </p:cNvCxnSpPr>
          <p:nvPr/>
        </p:nvCxnSpPr>
        <p:spPr>
          <a:xfrm flipH="1" flipV="1">
            <a:off x="5867400" y="4038600"/>
            <a:ext cx="609600" cy="69214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548680"/>
            <a:ext cx="7772400" cy="4800600"/>
          </a:xfrm>
        </p:spPr>
        <p:txBody>
          <a:bodyPr/>
          <a:lstStyle/>
          <a:p>
            <a:pPr eaLnBrk="1" hangingPunct="1"/>
            <a:r>
              <a:rPr lang="ko-KR" altLang="en-US" dirty="0"/>
              <a:t>예제</a:t>
            </a:r>
            <a:r>
              <a:rPr lang="en-US" altLang="ko-KR" dirty="0"/>
              <a:t>9 </a:t>
            </a:r>
            <a:r>
              <a:rPr lang="ko-KR" altLang="en-US" dirty="0"/>
              <a:t>계속</a:t>
            </a:r>
            <a:r>
              <a:rPr lang="en-US" altLang="ko-KR" dirty="0"/>
              <a:t>) 4</a:t>
            </a:r>
            <a:r>
              <a:rPr lang="ko-KR" altLang="en-US" dirty="0"/>
              <a:t>개 자료 </a:t>
            </a:r>
          </a:p>
          <a:p>
            <a:pPr lvl="1" eaLnBrk="1" hangingPunct="1"/>
            <a:r>
              <a:rPr lang="en-US" altLang="ko-KR" dirty="0"/>
              <a:t>75, 68, 82, 44</a:t>
            </a:r>
          </a:p>
          <a:p>
            <a:pPr lvl="1" eaLnBrk="1" hangingPunct="1"/>
            <a:r>
              <a:rPr lang="en-US" altLang="ko-KR" dirty="0"/>
              <a:t>5</a:t>
            </a:r>
            <a:r>
              <a:rPr lang="ko-KR" altLang="en-US" dirty="0"/>
              <a:t>개 구간으로 구분</a:t>
            </a:r>
          </a:p>
          <a:p>
            <a:pPr lvl="1" eaLnBrk="1" hangingPunct="1"/>
            <a:r>
              <a:rPr lang="ko-KR" altLang="en-US" dirty="0"/>
              <a:t>각 구간은 </a:t>
            </a:r>
            <a:r>
              <a:rPr lang="ko-KR" altLang="en-US" dirty="0" err="1"/>
              <a:t>등확률</a:t>
            </a:r>
            <a:r>
              <a:rPr lang="ko-KR" altLang="en-US" dirty="0"/>
              <a:t> </a:t>
            </a:r>
            <a:r>
              <a:rPr lang="en-US" altLang="ko-KR" dirty="0"/>
              <a:t>0.2</a:t>
            </a:r>
            <a:r>
              <a:rPr lang="ko-KR" altLang="en-US" dirty="0"/>
              <a:t>의 값을 갖는다</a:t>
            </a:r>
            <a:r>
              <a:rPr lang="en-US" altLang="ko-KR" dirty="0"/>
              <a:t>.</a:t>
            </a:r>
          </a:p>
          <a:p>
            <a:pPr lvl="1" eaLnBrk="1" hangingPunct="1"/>
            <a:r>
              <a:rPr lang="ko-KR" altLang="en-US" dirty="0"/>
              <a:t>정규점수</a:t>
            </a:r>
            <a:r>
              <a:rPr lang="en-US" altLang="ko-KR" dirty="0"/>
              <a:t>=&gt;m1, m2, m3, m4</a:t>
            </a:r>
          </a:p>
          <a:p>
            <a:pPr lvl="1" eaLnBrk="1" hangingPunct="1">
              <a:buFontTx/>
              <a:buNone/>
            </a:pPr>
            <a:r>
              <a:rPr lang="en-US" altLang="ko-KR" dirty="0"/>
              <a:t>              =&gt; -0.84, -0.25, 0.25, 0.84</a:t>
            </a:r>
          </a:p>
          <a:p>
            <a:pPr lvl="1" eaLnBrk="1" hangingPunct="1"/>
            <a:r>
              <a:rPr lang="ko-KR" altLang="en-US" dirty="0"/>
              <a:t>정규확률그림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DD2229-D316-4E1F-A312-9F7E80A921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9" t="5431" r="9353" b="13104"/>
          <a:stretch/>
        </p:blipFill>
        <p:spPr>
          <a:xfrm>
            <a:off x="3847118" y="3861048"/>
            <a:ext cx="2669097" cy="2761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2A8A9F-DF77-479D-BADF-E07557E0E2DE}"/>
              </a:ext>
            </a:extLst>
          </p:cNvPr>
          <p:cNvSpPr txBox="1"/>
          <p:nvPr/>
        </p:nvSpPr>
        <p:spPr>
          <a:xfrm>
            <a:off x="6804248" y="6140043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16632"/>
            <a:ext cx="7772400" cy="5334000"/>
          </a:xfrm>
        </p:spPr>
        <p:txBody>
          <a:bodyPr/>
          <a:lstStyle/>
          <a:p>
            <a:pPr eaLnBrk="1" hangingPunct="1"/>
            <a:r>
              <a:rPr lang="ko-KR" altLang="en-US" dirty="0"/>
              <a:t>정규확률그림</a:t>
            </a:r>
            <a:r>
              <a:rPr lang="en-US" altLang="ko-KR" dirty="0"/>
              <a:t>: Y</a:t>
            </a:r>
            <a:r>
              <a:rPr lang="ko-KR" altLang="en-US" dirty="0"/>
              <a:t>축에 </a:t>
            </a:r>
            <a:r>
              <a:rPr lang="ko-KR" altLang="en-US" dirty="0" err="1"/>
              <a:t>정규점수</a:t>
            </a:r>
            <a:endParaRPr lang="ko-KR" altLang="en-US" dirty="0"/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                    </a:t>
            </a:r>
            <a:r>
              <a:rPr lang="en-US" altLang="ko-KR" dirty="0"/>
              <a:t>X</a:t>
            </a:r>
            <a:r>
              <a:rPr lang="ko-KR" altLang="en-US" dirty="0"/>
              <a:t>축에 크기 순 자료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=&gt; </a:t>
            </a:r>
            <a:r>
              <a:rPr lang="ko-KR" altLang="en-US" dirty="0"/>
              <a:t>크기 순 </a:t>
            </a:r>
            <a:r>
              <a:rPr lang="en-US" altLang="ko-KR" dirty="0"/>
              <a:t>x </a:t>
            </a:r>
            <a:r>
              <a:rPr lang="ko-KR" altLang="en-US" dirty="0" err="1"/>
              <a:t>관측값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이상적 </a:t>
            </a:r>
            <a:r>
              <a:rPr lang="en-US" altLang="ko-KR" dirty="0"/>
              <a:t>x</a:t>
            </a:r>
            <a:r>
              <a:rPr lang="ko-KR" altLang="en-US" dirty="0"/>
              <a:t>값</a:t>
            </a:r>
            <a:endParaRPr lang="en-US" altLang="ko-KR" dirty="0"/>
          </a:p>
          <a:p>
            <a:pPr eaLnBrk="1" hangingPunct="1">
              <a:buNone/>
            </a:pPr>
            <a:r>
              <a:rPr lang="en-US" altLang="ko-KR" dirty="0"/>
              <a:t>  =&gt; </a:t>
            </a:r>
            <a:r>
              <a:rPr lang="ko-KR" altLang="en-US" dirty="0"/>
              <a:t>정규확률그림이 직선이면 정규분포가정이 타당</a:t>
            </a:r>
            <a:r>
              <a:rPr lang="en-US" altLang="ko-KR" dirty="0"/>
              <a:t>: z=(x-</a:t>
            </a:r>
            <a:r>
              <a:rPr lang="el-GR" altLang="ko-KR" dirty="0"/>
              <a:t>μ</a:t>
            </a:r>
            <a:r>
              <a:rPr lang="en-US" altLang="ko-KR" dirty="0"/>
              <a:t>)/</a:t>
            </a:r>
            <a:r>
              <a:rPr lang="el-GR" altLang="ko-KR" dirty="0"/>
              <a:t>σ</a:t>
            </a:r>
            <a:r>
              <a:rPr lang="en-US" altLang="ko-KR" dirty="0"/>
              <a:t> = x/</a:t>
            </a:r>
            <a:r>
              <a:rPr lang="el-GR" altLang="ko-KR" dirty="0"/>
              <a:t>σ</a:t>
            </a:r>
            <a:r>
              <a:rPr lang="en-US" altLang="ko-KR" dirty="0"/>
              <a:t> - </a:t>
            </a:r>
            <a:r>
              <a:rPr lang="el-GR" altLang="ko-KR" dirty="0"/>
              <a:t>μ</a:t>
            </a:r>
            <a:r>
              <a:rPr lang="en-US" altLang="ko-KR" dirty="0"/>
              <a:t>/</a:t>
            </a:r>
            <a:r>
              <a:rPr lang="el-GR" altLang="ko-KR" dirty="0"/>
              <a:t>σ</a:t>
            </a:r>
            <a:r>
              <a:rPr lang="en-US" altLang="ko-KR" dirty="0"/>
              <a:t> </a:t>
            </a:r>
          </a:p>
          <a:p>
            <a:pPr eaLnBrk="1" hangingPunct="1">
              <a:buNone/>
            </a:pPr>
            <a:r>
              <a:rPr lang="en-US" altLang="ko-KR" dirty="0"/>
              <a:t>  =&gt; z</a:t>
            </a:r>
            <a:r>
              <a:rPr lang="ko-KR" altLang="en-US" dirty="0"/>
              <a:t>와 </a:t>
            </a:r>
            <a:r>
              <a:rPr lang="en-US" altLang="ko-KR" dirty="0"/>
              <a:t>x</a:t>
            </a:r>
            <a:r>
              <a:rPr lang="ko-KR" altLang="en-US" dirty="0"/>
              <a:t>는 선형관계</a:t>
            </a:r>
            <a:endParaRPr lang="en-US" altLang="ko-KR" dirty="0"/>
          </a:p>
          <a:p>
            <a:pPr eaLnBrk="1" hangingPunct="1">
              <a:buNone/>
            </a:pPr>
            <a:endParaRPr lang="en-US" altLang="ko-KR" dirty="0"/>
          </a:p>
          <a:p>
            <a:pPr eaLnBrk="1" hangingPunct="1"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endParaRPr lang="en-US" altLang="ko-KR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graphicFrame>
        <p:nvGraphicFramePr>
          <p:cNvPr id="3382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697817"/>
              </p:ext>
            </p:extLst>
          </p:nvPr>
        </p:nvGraphicFramePr>
        <p:xfrm>
          <a:off x="1259632" y="3573016"/>
          <a:ext cx="6483350" cy="3084572"/>
        </p:xfrm>
        <a:graphic>
          <a:graphicData uri="http://schemas.openxmlformats.org/drawingml/2006/table">
            <a:tbl>
              <a:tblPr/>
              <a:tblGrid>
                <a:gridCol w="16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0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정규점수 </a:t>
                      </a: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m</a:t>
                      </a:r>
                      <a:endParaRPr kumimoji="1" lang="ko-KR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크기 순 자료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실제 관측한 </a:t>
                      </a: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</a:t>
                      </a: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값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이상적 </a:t>
                      </a: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</a:t>
                      </a:r>
                      <a:r>
                        <a:rPr kumimoji="1" lang="ko-KR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값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-0.84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-0.25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0.25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0.84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44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68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75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82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μ+σ</a:t>
                      </a: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*m1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μ+σ</a:t>
                      </a: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*m2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μ+σ</a:t>
                      </a: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*m3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μ+σ</a:t>
                      </a: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바탕" pitchFamily="18" charset="-127"/>
                        </a:rPr>
                        <a:t>*m4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정규확률그림을 그리는 순서</a:t>
            </a:r>
          </a:p>
          <a:p>
            <a:pPr lvl="1" eaLnBrk="1" hangingPunct="1"/>
            <a:r>
              <a:rPr lang="en-US" altLang="ko-KR" dirty="0"/>
              <a:t>1) </a:t>
            </a:r>
            <a:r>
              <a:rPr lang="ko-KR" altLang="en-US" dirty="0"/>
              <a:t>각 자료에 해당하는 정규점수 계산</a:t>
            </a:r>
          </a:p>
          <a:p>
            <a:pPr lvl="1" eaLnBrk="1" hangingPunct="1"/>
            <a:r>
              <a:rPr lang="en-US" altLang="ko-KR" dirty="0"/>
              <a:t>2) 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번째 순서 자료와 </a:t>
            </a:r>
            <a:r>
              <a:rPr lang="en-US" altLang="ko-KR" dirty="0" err="1"/>
              <a:t>i</a:t>
            </a:r>
            <a:r>
              <a:rPr lang="ko-KR" altLang="en-US" dirty="0"/>
              <a:t>번째 순서의 정규점수를 하나의 쌍으로 </a:t>
            </a:r>
            <a:r>
              <a:rPr lang="en-US" altLang="ko-KR" dirty="0"/>
              <a:t>2</a:t>
            </a:r>
            <a:r>
              <a:rPr lang="ko-KR" altLang="en-US" dirty="0"/>
              <a:t>차원 공간 상에 표현</a:t>
            </a:r>
          </a:p>
          <a:p>
            <a:pPr lvl="1" eaLnBrk="1" hangingPunct="1"/>
            <a:r>
              <a:rPr lang="en-US" altLang="ko-KR" dirty="0"/>
              <a:t>3) </a:t>
            </a:r>
            <a:r>
              <a:rPr lang="ko-KR" altLang="en-US" dirty="0"/>
              <a:t>직선에서 벗어난 정도를 보고 정규분포 가정의 타당성 판단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10) ex12_p248.xlsx</a:t>
            </a:r>
            <a:r>
              <a:rPr lang="ko-KR" altLang="en-US" dirty="0"/>
              <a:t>를 이용하여 정규확률그림을 그리고 정규분포 가정의 타당성 조사하라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1) </a:t>
            </a:r>
            <a:r>
              <a:rPr lang="ko-KR" altLang="en-US" dirty="0"/>
              <a:t>정규점수를 구한다</a:t>
            </a:r>
            <a:r>
              <a:rPr lang="en-US" altLang="ko-KR" dirty="0"/>
              <a:t>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dirty="0"/>
              <a:t>rank </a:t>
            </a:r>
            <a:r>
              <a:rPr lang="ko-KR" altLang="en-US" dirty="0"/>
              <a:t>함수 이용</a:t>
            </a:r>
            <a:r>
              <a:rPr lang="en-US" altLang="ko-KR" dirty="0"/>
              <a:t>:</a:t>
            </a:r>
            <a:r>
              <a:rPr lang="ko-KR" altLang="en-US" dirty="0" err="1"/>
              <a:t>함수삽입</a:t>
            </a:r>
            <a:r>
              <a:rPr lang="en-US" altLang="ko-KR" dirty="0"/>
              <a:t>=&gt;</a:t>
            </a:r>
            <a:r>
              <a:rPr lang="ko-KR" altLang="en-US" dirty="0"/>
              <a:t>통계</a:t>
            </a:r>
            <a:r>
              <a:rPr lang="en-US" altLang="ko-KR" dirty="0"/>
              <a:t>=&gt;</a:t>
            </a:r>
            <a:r>
              <a:rPr lang="en-US" altLang="ko-KR" dirty="0" err="1"/>
              <a:t>rank.avg</a:t>
            </a:r>
            <a:endParaRPr lang="en-US" altLang="ko-KR" dirty="0"/>
          </a:p>
          <a:p>
            <a:pPr lvl="2" eaLnBrk="1" hangingPunct="1">
              <a:lnSpc>
                <a:spcPct val="90000"/>
              </a:lnSpc>
            </a:pPr>
            <a:r>
              <a:rPr lang="en-US" altLang="ko-KR" dirty="0"/>
              <a:t>ref</a:t>
            </a:r>
            <a:r>
              <a:rPr lang="ko-KR" altLang="en-US" dirty="0"/>
              <a:t>에서 주소는 절대주소 이용할 것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dirty="0"/>
              <a:t>0: </a:t>
            </a:r>
            <a:r>
              <a:rPr lang="ko-KR" altLang="en-US" dirty="0"/>
              <a:t>내림차순</a:t>
            </a:r>
            <a:r>
              <a:rPr lang="en-US" altLang="ko-KR" dirty="0"/>
              <a:t>, 1: </a:t>
            </a:r>
            <a:r>
              <a:rPr lang="ko-KR" altLang="en-US" dirty="0"/>
              <a:t>오름차순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2) </a:t>
            </a:r>
            <a:r>
              <a:rPr lang="ko-KR" altLang="en-US" dirty="0"/>
              <a:t>정규점수 계산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dirty="0"/>
              <a:t>누적확률  </a:t>
            </a:r>
            <a:r>
              <a:rPr lang="en-US" altLang="ko-KR" dirty="0" err="1"/>
              <a:t>i</a:t>
            </a:r>
            <a:r>
              <a:rPr lang="en-US" altLang="ko-KR" dirty="0"/>
              <a:t>/(n+1), </a:t>
            </a:r>
            <a:r>
              <a:rPr lang="en-US" altLang="ko-KR" dirty="0" err="1"/>
              <a:t>i</a:t>
            </a:r>
            <a:r>
              <a:rPr lang="en-US" altLang="ko-KR" dirty="0"/>
              <a:t>=rank  </a:t>
            </a:r>
            <a:r>
              <a:rPr lang="ko-KR" altLang="en-US" dirty="0"/>
              <a:t>에 해당하는 역함수 값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dirty="0"/>
              <a:t>NORM.S.INV(</a:t>
            </a:r>
            <a:r>
              <a:rPr lang="en-US" altLang="ko-KR" dirty="0" err="1"/>
              <a:t>i</a:t>
            </a:r>
            <a:r>
              <a:rPr lang="en-US" altLang="ko-KR" dirty="0"/>
              <a:t>/(n+1)) </a:t>
            </a:r>
            <a:r>
              <a:rPr lang="ko-KR" altLang="en-US" dirty="0"/>
              <a:t>사용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3) </a:t>
            </a:r>
            <a:r>
              <a:rPr lang="ko-KR" altLang="en-US" dirty="0" err="1"/>
              <a:t>자료값을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, </a:t>
            </a:r>
            <a:r>
              <a:rPr lang="ko-KR" altLang="en-US" dirty="0"/>
              <a:t>정규점수를 </a:t>
            </a:r>
            <a:r>
              <a:rPr lang="en-US" altLang="ko-KR" dirty="0"/>
              <a:t>Y</a:t>
            </a:r>
            <a:r>
              <a:rPr lang="ko-KR" altLang="en-US" dirty="0"/>
              <a:t>축으로 분산형</a:t>
            </a:r>
          </a:p>
          <a:p>
            <a:pPr lvl="2" eaLnBrk="1" hangingPunct="1"/>
            <a:r>
              <a:rPr lang="en-US" altLang="ko-KR" dirty="0"/>
              <a:t>X</a:t>
            </a:r>
            <a:r>
              <a:rPr lang="ko-KR" altLang="en-US" dirty="0"/>
              <a:t>축에서 마우스 클릭</a:t>
            </a:r>
            <a:r>
              <a:rPr lang="en-US" altLang="ko-KR" dirty="0"/>
              <a:t>=&gt; </a:t>
            </a:r>
            <a:r>
              <a:rPr lang="ko-KR" altLang="en-US" dirty="0" err="1"/>
              <a:t>축서식</a:t>
            </a:r>
            <a:r>
              <a:rPr lang="en-US" altLang="ko-KR" dirty="0"/>
              <a:t>=&gt; </a:t>
            </a:r>
            <a:r>
              <a:rPr lang="ko-KR" altLang="en-US" dirty="0" err="1"/>
              <a:t>축옵션</a:t>
            </a:r>
            <a:r>
              <a:rPr lang="en-US" altLang="ko-KR" dirty="0"/>
              <a:t>=&gt;</a:t>
            </a:r>
            <a:r>
              <a:rPr lang="ko-KR" altLang="en-US" dirty="0"/>
              <a:t>최소값 </a:t>
            </a:r>
            <a:r>
              <a:rPr lang="en-US" altLang="ko-KR" dirty="0"/>
              <a:t>2500, </a:t>
            </a:r>
            <a:r>
              <a:rPr lang="ko-KR" altLang="en-US" dirty="0"/>
              <a:t>최대값 </a:t>
            </a:r>
            <a:r>
              <a:rPr lang="en-US" altLang="ko-KR" dirty="0"/>
              <a:t>5000</a:t>
            </a:r>
          </a:p>
          <a:p>
            <a:pPr lvl="1" eaLnBrk="1" hangingPunct="1"/>
            <a:r>
              <a:rPr lang="en-US" altLang="ko-KR" dirty="0"/>
              <a:t>4) </a:t>
            </a:r>
            <a:r>
              <a:rPr lang="ko-KR" altLang="en-US" dirty="0"/>
              <a:t>자료의 정규성 판단</a:t>
            </a:r>
          </a:p>
          <a:p>
            <a:pPr lvl="2" eaLnBrk="1" hangingPunct="1"/>
            <a:r>
              <a:rPr lang="ko-KR" altLang="en-US" dirty="0"/>
              <a:t>이상적 자료</a:t>
            </a:r>
            <a:r>
              <a:rPr lang="en-US" altLang="ko-KR" dirty="0"/>
              <a:t>: </a:t>
            </a:r>
            <a:r>
              <a:rPr lang="en-US" altLang="ko-KR" dirty="0" err="1">
                <a:ea typeface="바탕" pitchFamily="18" charset="-127"/>
              </a:rPr>
              <a:t>μ+σ</a:t>
            </a:r>
            <a:r>
              <a:rPr lang="en-US" altLang="ko-KR" dirty="0">
                <a:ea typeface="바탕" pitchFamily="18" charset="-127"/>
              </a:rPr>
              <a:t>*mi </a:t>
            </a:r>
            <a:r>
              <a:rPr lang="ko-KR" altLang="en-US" dirty="0">
                <a:ea typeface="바탕" pitchFamily="18" charset="-127"/>
              </a:rPr>
              <a:t>를 그려서 비교</a:t>
            </a:r>
          </a:p>
          <a:p>
            <a:pPr lvl="2" eaLnBrk="1" hangingPunct="1"/>
            <a:r>
              <a:rPr lang="ko-KR" altLang="en-US" dirty="0">
                <a:ea typeface="바탕" pitchFamily="18" charset="-127"/>
              </a:rPr>
              <a:t>추세선 추가</a:t>
            </a:r>
            <a:endParaRPr lang="en-US" altLang="ko-KR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EXCEL </a:t>
            </a:r>
            <a:r>
              <a:rPr lang="ko-KR" altLang="en-US"/>
              <a:t>연습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11) ex13_p250.xlsx </a:t>
            </a:r>
            <a:r>
              <a:rPr lang="ko-KR" altLang="en-US" dirty="0"/>
              <a:t>이용하여</a:t>
            </a:r>
          </a:p>
          <a:p>
            <a:pPr lvl="1" eaLnBrk="1" hangingPunct="1"/>
            <a:r>
              <a:rPr lang="en-US" altLang="ko-KR" dirty="0"/>
              <a:t>1) </a:t>
            </a:r>
            <a:r>
              <a:rPr lang="ko-KR" altLang="en-US" dirty="0"/>
              <a:t>정규성 조사</a:t>
            </a:r>
          </a:p>
          <a:p>
            <a:pPr lvl="1" eaLnBrk="1" hangingPunct="1"/>
            <a:r>
              <a:rPr lang="en-US" altLang="ko-KR" dirty="0"/>
              <a:t>1) </a:t>
            </a:r>
            <a:r>
              <a:rPr lang="ko-KR" altLang="en-US" dirty="0"/>
              <a:t>정규성이 없으면 적절한 변환 사용</a:t>
            </a:r>
          </a:p>
          <a:p>
            <a:pPr lvl="2" eaLnBrk="1" hangingPunct="1"/>
            <a:r>
              <a:rPr lang="ko-KR" altLang="en-US" dirty="0"/>
              <a:t>히스토그램</a:t>
            </a:r>
            <a:r>
              <a:rPr lang="en-US" altLang="ko-KR" dirty="0"/>
              <a:t>=&gt; </a:t>
            </a:r>
            <a:r>
              <a:rPr lang="ko-KR" altLang="en-US" dirty="0"/>
              <a:t>왼쪽 편중</a:t>
            </a:r>
          </a:p>
          <a:p>
            <a:pPr lvl="2" eaLnBrk="1" hangingPunct="1"/>
            <a:r>
              <a:rPr lang="ko-KR" altLang="en-US" dirty="0"/>
              <a:t>큰 자료를 작게</a:t>
            </a:r>
            <a:r>
              <a:rPr lang="en-US" altLang="ko-KR" dirty="0"/>
              <a:t>=&gt; </a:t>
            </a:r>
            <a:r>
              <a:rPr lang="ko-KR" altLang="en-US" dirty="0"/>
              <a:t>제곱근</a:t>
            </a:r>
            <a:r>
              <a:rPr lang="en-US" altLang="ko-KR" dirty="0"/>
              <a:t>, log(x)</a:t>
            </a:r>
            <a:endParaRPr lang="ko-KR" altLang="en-US" dirty="0"/>
          </a:p>
          <a:p>
            <a:pPr lvl="1" eaLnBrk="1" hangingPunct="1">
              <a:buFontTx/>
              <a:buNone/>
            </a:pP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E06378-2DA8-4D90-A6CF-8BC296AB11ED}"/>
              </a:ext>
            </a:extLst>
          </p:cNvPr>
          <p:cNvSpPr/>
          <p:nvPr/>
        </p:nvSpPr>
        <p:spPr>
          <a:xfrm>
            <a:off x="971600" y="4221088"/>
            <a:ext cx="6048672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600" dirty="0"/>
              <a:t>remind) </a:t>
            </a:r>
            <a:r>
              <a:rPr lang="ko-KR" altLang="en-US" sz="1600" dirty="0"/>
              <a:t>히스토그램</a:t>
            </a:r>
            <a:r>
              <a:rPr lang="en-US" altLang="ko-KR" sz="1600" dirty="0"/>
              <a:t> </a:t>
            </a:r>
            <a:r>
              <a:rPr lang="ko-KR" altLang="en-US" sz="1600" dirty="0"/>
              <a:t>작성</a:t>
            </a:r>
            <a:r>
              <a:rPr lang="en-US" altLang="ko-KR" sz="1600" dirty="0"/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1600" dirty="0"/>
              <a:t>자료 오른쪽에 </a:t>
            </a:r>
            <a:r>
              <a:rPr lang="ko-KR" altLang="en-US" sz="1600" b="1" dirty="0"/>
              <a:t>계급구간 오른쪽 </a:t>
            </a:r>
            <a:r>
              <a:rPr lang="ko-KR" altLang="en-US" sz="1600" b="1" dirty="0" err="1"/>
              <a:t>범위값과</a:t>
            </a:r>
            <a:r>
              <a:rPr lang="ko-KR" altLang="en-US" sz="1600" b="1" dirty="0"/>
              <a:t> 범위 설명을</a:t>
            </a:r>
            <a:r>
              <a:rPr lang="ko-KR" altLang="en-US" sz="1600" dirty="0"/>
              <a:t> 입력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600" b="1" dirty="0"/>
              <a:t>		154.5       149.5~154.5(</a:t>
            </a:r>
            <a:r>
              <a:rPr lang="ko-KR" altLang="en-US" sz="1600" b="1" dirty="0"/>
              <a:t>이하</a:t>
            </a:r>
            <a:r>
              <a:rPr lang="en-US" altLang="ko-KR" sz="1600" b="1" dirty="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600" b="1" dirty="0"/>
              <a:t>		159.5       154.5~159.5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ko-KR" sz="1600" b="1" dirty="0"/>
              <a:t>		   ⋮                ⋮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ko-KR" sz="1600" b="1" dirty="0"/>
              <a:t>		179.5            ⋮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600" b="1" dirty="0"/>
              <a:t>		184.5(</a:t>
            </a:r>
            <a:r>
              <a:rPr lang="ko-KR" altLang="en-US" sz="1600" b="1" dirty="0"/>
              <a:t>마지막 </a:t>
            </a:r>
            <a:r>
              <a:rPr lang="ko-KR" altLang="en-US" sz="1600" b="1" dirty="0" err="1"/>
              <a:t>범위값은</a:t>
            </a:r>
            <a:r>
              <a:rPr lang="ko-KR" altLang="en-US" sz="1600" b="1" dirty="0"/>
              <a:t> 표에서만 사용</a:t>
            </a:r>
            <a:r>
              <a:rPr lang="en-US" altLang="ko-KR" sz="1600" b="1" dirty="0"/>
              <a:t>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HW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EB6C4B-D1D9-4A90-B055-3233CD5763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30"/>
          <a:stretch/>
        </p:blipFill>
        <p:spPr>
          <a:xfrm>
            <a:off x="0" y="1340768"/>
            <a:ext cx="9144000" cy="13681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386732-29C5-4671-983C-0F26AC51D161}"/>
              </a:ext>
            </a:extLst>
          </p:cNvPr>
          <p:cNvSpPr txBox="1"/>
          <p:nvPr/>
        </p:nvSpPr>
        <p:spPr>
          <a:xfrm>
            <a:off x="6336196" y="6274384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</a:t>
            </a:r>
            <a:r>
              <a:rPr lang="ko-KR" altLang="en-US" sz="800" dirty="0"/>
              <a:t>통계학</a:t>
            </a:r>
            <a:r>
              <a:rPr lang="en-US" altLang="ko-KR" sz="800" dirty="0"/>
              <a:t>-</a:t>
            </a:r>
            <a:r>
              <a:rPr lang="ko-KR" altLang="en-US" sz="800" dirty="0"/>
              <a:t>엑셀을 이용한 분석</a:t>
            </a:r>
            <a:r>
              <a:rPr lang="en-US" altLang="ko-KR" sz="800" dirty="0"/>
              <a:t>, </a:t>
            </a:r>
            <a:r>
              <a:rPr lang="ko-KR" altLang="en-US" sz="800" dirty="0"/>
              <a:t>자유아카데미</a:t>
            </a:r>
            <a:r>
              <a:rPr lang="en-US" altLang="ko-KR" sz="800" dirty="0"/>
              <a:t>, </a:t>
            </a:r>
            <a:r>
              <a:rPr lang="ko-KR" altLang="en-US" sz="800" dirty="0"/>
              <a:t>김진경 외 </a:t>
            </a:r>
            <a:r>
              <a:rPr lang="en-US" altLang="ko-KR" sz="800" dirty="0"/>
              <a:t>5</a:t>
            </a:r>
            <a:r>
              <a:rPr lang="ko-KR" altLang="en-US" sz="800" dirty="0"/>
              <a:t>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668B0F-278C-4509-97FC-EA3DFA9419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9"/>
          <a:stretch/>
        </p:blipFill>
        <p:spPr>
          <a:xfrm rot="16200000">
            <a:off x="4266809" y="-1457855"/>
            <a:ext cx="445971" cy="90338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5472</TotalTime>
  <Words>2016</Words>
  <Application>Microsoft Office PowerPoint</Application>
  <PresentationFormat>화면 슬라이드 쇼(4:3)</PresentationFormat>
  <Paragraphs>324</Paragraphs>
  <Slides>44</Slides>
  <Notes>39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44</vt:i4>
      </vt:variant>
    </vt:vector>
  </HeadingPairs>
  <TitlesOfParts>
    <vt:vector size="54" baseType="lpstr">
      <vt:lpstr>굴림</vt:lpstr>
      <vt:lpstr>바탕</vt:lpstr>
      <vt:lpstr>Arial</vt:lpstr>
      <vt:lpstr>Cambria Math</vt:lpstr>
      <vt:lpstr>Symbol</vt:lpstr>
      <vt:lpstr>Times New Roman</vt:lpstr>
      <vt:lpstr>Wingdings</vt:lpstr>
      <vt:lpstr>기본 디자인</vt:lpstr>
      <vt:lpstr>수식</vt:lpstr>
      <vt:lpstr>Equation</vt:lpstr>
      <vt:lpstr>제 8 장  연속형 변수의 확률분포 정규분포 </vt:lpstr>
      <vt:lpstr>1. 서론</vt:lpstr>
      <vt:lpstr>2. 연속확률분포</vt:lpstr>
      <vt:lpstr>PowerPoint 프레젠테이션</vt:lpstr>
      <vt:lpstr>2. 연속확률분포</vt:lpstr>
      <vt:lpstr>균등분포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HW</vt:lpstr>
      <vt:lpstr>3. 정규분포의 일반적 성질 및 계산</vt:lpstr>
      <vt:lpstr>정규분포 X~N(μ, σ2)</vt:lpstr>
      <vt:lpstr>X~N(μ, σ2)의 정규분포곡선</vt:lpstr>
      <vt:lpstr>표준정규 확률변수</vt:lpstr>
      <vt:lpstr>표준화정규분포 Z~N(0, 1)</vt:lpstr>
      <vt:lpstr>표준화정규분포 Z~N(0,1)</vt:lpstr>
      <vt:lpstr>  표준정규분포표</vt:lpstr>
      <vt:lpstr>PowerPoint 프레젠테이션</vt:lpstr>
      <vt:lpstr>(예제5)    p(-z ≤Z ≤z)=0.90을 만족시키는 z?</vt:lpstr>
      <vt:lpstr>EXCEL 실습</vt:lpstr>
      <vt:lpstr>EXCEL실습</vt:lpstr>
      <vt:lpstr>PowerPoint 프레젠테이션</vt:lpstr>
      <vt:lpstr>EXCEL 실습</vt:lpstr>
      <vt:lpstr>HW</vt:lpstr>
      <vt:lpstr>HW</vt:lpstr>
      <vt:lpstr>4. 이항분포의 정규분포로의 근사</vt:lpstr>
      <vt:lpstr>4. 이항분포의 정규분포로의 근사</vt:lpstr>
      <vt:lpstr>연속성 수정</vt:lpstr>
      <vt:lpstr>이항분포의 정규분포로의 근사</vt:lpstr>
      <vt:lpstr>이항분포의 정규분포로의 근사</vt:lpstr>
      <vt:lpstr>PowerPoint 프레젠테이션</vt:lpstr>
      <vt:lpstr>PowerPoint 프레젠테이션</vt:lpstr>
      <vt:lpstr>HW</vt:lpstr>
      <vt:lpstr>5. 정규분포 가정의 조사</vt:lpstr>
      <vt:lpstr>정규분포 X~N(0, 1) (예제 9) 4개 자료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EXCEL 연습</vt:lpstr>
      <vt:lpstr>HW</vt:lpstr>
    </vt:vector>
  </TitlesOfParts>
  <Company>한성대학교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8 장  정규분포</dc:title>
  <dc:creator>엄종석</dc:creator>
  <cp:lastModifiedBy>Windows 사용자</cp:lastModifiedBy>
  <cp:revision>119</cp:revision>
  <dcterms:created xsi:type="dcterms:W3CDTF">2005-04-25T01:57:54Z</dcterms:created>
  <dcterms:modified xsi:type="dcterms:W3CDTF">2026-04-19T04:15:36Z</dcterms:modified>
</cp:coreProperties>
</file>