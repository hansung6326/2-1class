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3"/>
  </p:notesMasterIdLst>
  <p:handoutMasterIdLst>
    <p:handoutMasterId r:id="rId34"/>
  </p:handoutMasterIdLst>
  <p:sldIdLst>
    <p:sldId id="256" r:id="rId2"/>
    <p:sldId id="257" r:id="rId3"/>
    <p:sldId id="294" r:id="rId4"/>
    <p:sldId id="264" r:id="rId5"/>
    <p:sldId id="258" r:id="rId6"/>
    <p:sldId id="276" r:id="rId7"/>
    <p:sldId id="279" r:id="rId8"/>
    <p:sldId id="308" r:id="rId9"/>
    <p:sldId id="307" r:id="rId10"/>
    <p:sldId id="281" r:id="rId11"/>
    <p:sldId id="296" r:id="rId12"/>
    <p:sldId id="282" r:id="rId13"/>
    <p:sldId id="295" r:id="rId14"/>
    <p:sldId id="266" r:id="rId15"/>
    <p:sldId id="285" r:id="rId16"/>
    <p:sldId id="270" r:id="rId17"/>
    <p:sldId id="309" r:id="rId18"/>
    <p:sldId id="310" r:id="rId19"/>
    <p:sldId id="280" r:id="rId20"/>
    <p:sldId id="283" r:id="rId21"/>
    <p:sldId id="287" r:id="rId22"/>
    <p:sldId id="288" r:id="rId23"/>
    <p:sldId id="289" r:id="rId24"/>
    <p:sldId id="290" r:id="rId25"/>
    <p:sldId id="284" r:id="rId26"/>
    <p:sldId id="267" r:id="rId27"/>
    <p:sldId id="291" r:id="rId28"/>
    <p:sldId id="293" r:id="rId29"/>
    <p:sldId id="292" r:id="rId30"/>
    <p:sldId id="311" r:id="rId31"/>
    <p:sldId id="263" r:id="rId32"/>
  </p:sldIdLst>
  <p:sldSz cx="9144000" cy="6858000" type="screen4x3"/>
  <p:notesSz cx="6669088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ahom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ahom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ahom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ahom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5" autoAdjust="0"/>
    <p:restoredTop sz="90964" autoAdjust="0"/>
  </p:normalViewPr>
  <p:slideViewPr>
    <p:cSldViewPr>
      <p:cViewPr varScale="1">
        <p:scale>
          <a:sx n="99" d="100"/>
          <a:sy n="99" d="100"/>
        </p:scale>
        <p:origin x="55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26.xml"/><Relationship Id="rId1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D:\&#50628;&#51333;&#49437;&#51088;&#47308;\LECTURE\1&#54617;&#44592;\&#54869;&#47456;&#48143;&#53685;&#44228;\EXCEL&#49892;&#49845;\&#54792;&#50529;&#54805;&#47561;&#45824;&#44536;&#47000;&#54532;.xlsx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col"/>
        <c:grouping val="stacked"/>
        <c:varyColors val="0"/>
        <c:ser>
          <c:idx val="2"/>
          <c:order val="1"/>
          <c:tx>
            <c:strRef>
              <c:f>Sheet1!$D$1</c:f>
              <c:strCache>
                <c:ptCount val="1"/>
                <c:pt idx="0">
                  <c:v>상대돗수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o</c:v>
                </c:pt>
                <c:pt idx="3">
                  <c:v>ab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0.36666666666666675</c:v>
                </c:pt>
                <c:pt idx="1">
                  <c:v>0.33333333333333331</c:v>
                </c:pt>
                <c:pt idx="2">
                  <c:v>0.18333333333333338</c:v>
                </c:pt>
                <c:pt idx="3">
                  <c:v>0.11666666666666668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50-46AF-B810-CCE4D670F7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6861440"/>
        <c:axId val="76862976"/>
      </c:barChart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상대누적도수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o</c:v>
                </c:pt>
                <c:pt idx="3">
                  <c:v>ab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0.36666666666666675</c:v>
                </c:pt>
                <c:pt idx="1">
                  <c:v>0.70000000000000007</c:v>
                </c:pt>
                <c:pt idx="2">
                  <c:v>0.8833333333333333</c:v>
                </c:pt>
                <c:pt idx="3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B50-46AF-B810-CCE4D670F7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6861440"/>
        <c:axId val="76862976"/>
      </c:lineChart>
      <c:catAx>
        <c:axId val="7686144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76862976"/>
        <c:crosses val="autoZero"/>
        <c:auto val="1"/>
        <c:lblAlgn val="ctr"/>
        <c:lblOffset val="100"/>
        <c:noMultiLvlLbl val="0"/>
      </c:catAx>
      <c:valAx>
        <c:axId val="768629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7686144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spPr>
    <a:ln>
      <a:solidFill>
        <a:schemeClr val="tx1"/>
      </a:solidFill>
    </a:ln>
  </c:spPr>
  <c:externalData r:id="rId2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</a:defRPr>
            </a:lvl1pPr>
          </a:lstStyle>
          <a:p>
            <a:pPr>
              <a:defRPr/>
            </a:pPr>
            <a:fld id="{A5AFC538-503F-488A-BE86-7783CC4AB42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07745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822BBC9-04B1-4B60-8D0E-833BEC70F9AA}" type="datetimeFigureOut">
              <a:rPr lang="ko-KR" altLang="en-US"/>
              <a:pPr>
                <a:defRPr/>
              </a:pPr>
              <a:t>2026-03-15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66750" y="4714875"/>
            <a:ext cx="53355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77825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21EAF0F-401B-418F-8B6B-2B16586BAB1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82000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9pPr>
          </a:lstStyle>
          <a:p>
            <a:pPr eaLnBrk="1" hangingPunct="1"/>
            <a:fld id="{D68323D5-5AEF-47A4-84B3-F213AA7BDDB3}" type="slidenum">
              <a:rPr lang="en-US" altLang="ko-KR" sz="1200" smtClean="0"/>
              <a:pPr eaLnBrk="1" hangingPunct="1"/>
              <a:t>3</a:t>
            </a:fld>
            <a:endParaRPr lang="en-US" altLang="ko-KR" sz="120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1027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1028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ko-KR" altLang="en-US"/>
              </a:p>
            </p:txBody>
          </p:sp>
          <p:sp>
            <p:nvSpPr>
              <p:cNvPr id="13" name="Rectangle 1029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ko-KR" altLang="en-US"/>
              </a:p>
            </p:txBody>
          </p:sp>
        </p:grpSp>
        <p:grpSp>
          <p:nvGrpSpPr>
            <p:cNvPr id="6" name="Group 1030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1031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ko-KR" altLang="en-US"/>
              </a:p>
            </p:txBody>
          </p:sp>
          <p:sp>
            <p:nvSpPr>
              <p:cNvPr id="11" name="Rectangle 1032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ko-KR" altLang="en-US"/>
              </a:p>
            </p:txBody>
          </p:sp>
        </p:grpSp>
        <p:sp>
          <p:nvSpPr>
            <p:cNvPr id="7" name="Rectangle 1033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8" name="Rectangle 1034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9" name="Rectangle 1035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/>
            </a:p>
          </p:txBody>
        </p:sp>
      </p:grpSp>
      <p:sp>
        <p:nvSpPr>
          <p:cNvPr id="51212" name="Rectangle 1036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51213" name="Rectangle 1037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14" name="Rectangle 1038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5" name="Rectangle 1039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" name="Rectangle 104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60D1CB72-EDBE-44A4-A152-21E9BD6BF44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8354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0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0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0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9C0F44-265B-47D5-9AE3-BCEF5BD5567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47359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10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0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0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114734-7D97-4D89-9EA4-857E0763955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67230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182688" y="1447800"/>
            <a:ext cx="3810000" cy="46847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45088" y="1447800"/>
            <a:ext cx="3810000" cy="46847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10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0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0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0F8AE6-48EB-48DB-9BE9-473E367B8DE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9391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10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0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10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415E33-FB05-43E3-8F9E-8C4403CEC4C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0720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10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10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0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98E5FA-A82B-4DAD-AB0B-A63D2C2018E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68520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10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10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B0B048-497B-473A-B25F-A8E598D074E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66008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10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0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0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809D63-FDDD-4C62-A4AD-BC905528CD2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59213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10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0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0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D231B2-D373-4A3E-8076-BE5DA01AC86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83560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0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0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0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6D818-C6A9-4289-A5E3-3B71294C669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68211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011988" y="457200"/>
            <a:ext cx="1943100" cy="567531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182688" y="457200"/>
            <a:ext cx="5676900" cy="567531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0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0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0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2F65EC-8D07-40C9-A8BA-3807D229E55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61587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026"/>
          <p:cNvSpPr>
            <a:spLocks noChangeArrowheads="1"/>
          </p:cNvSpPr>
          <p:nvPr/>
        </p:nvSpPr>
        <p:spPr bwMode="ltGray">
          <a:xfrm>
            <a:off x="457200" y="60960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lang="ko-KR" altLang="ko-KR"/>
          </a:p>
        </p:txBody>
      </p:sp>
      <p:sp>
        <p:nvSpPr>
          <p:cNvPr id="50179" name="Rectangle 1027"/>
          <p:cNvSpPr>
            <a:spLocks noChangeArrowheads="1"/>
          </p:cNvSpPr>
          <p:nvPr/>
        </p:nvSpPr>
        <p:spPr bwMode="ltGray">
          <a:xfrm>
            <a:off x="762000" y="60960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lang="ko-KR" altLang="ko-KR"/>
          </a:p>
        </p:txBody>
      </p:sp>
      <p:sp>
        <p:nvSpPr>
          <p:cNvPr id="50180" name="Rectangle 1028"/>
          <p:cNvSpPr>
            <a:spLocks noChangeArrowheads="1"/>
          </p:cNvSpPr>
          <p:nvPr/>
        </p:nvSpPr>
        <p:spPr bwMode="ltGray">
          <a:xfrm>
            <a:off x="533400" y="914400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lang="ko-KR" altLang="ko-KR"/>
          </a:p>
        </p:txBody>
      </p:sp>
      <p:sp>
        <p:nvSpPr>
          <p:cNvPr id="50181" name="Rectangle 1029"/>
          <p:cNvSpPr>
            <a:spLocks noChangeArrowheads="1"/>
          </p:cNvSpPr>
          <p:nvPr/>
        </p:nvSpPr>
        <p:spPr bwMode="ltGray">
          <a:xfrm>
            <a:off x="762000" y="9144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lang="ko-KR" altLang="ko-KR"/>
          </a:p>
        </p:txBody>
      </p:sp>
      <p:sp>
        <p:nvSpPr>
          <p:cNvPr id="50182" name="Rectangle 1030"/>
          <p:cNvSpPr>
            <a:spLocks noChangeArrowheads="1"/>
          </p:cNvSpPr>
          <p:nvPr/>
        </p:nvSpPr>
        <p:spPr bwMode="ltGray">
          <a:xfrm>
            <a:off x="152400" y="9144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lang="ko-KR" altLang="ko-KR"/>
          </a:p>
        </p:txBody>
      </p:sp>
      <p:sp>
        <p:nvSpPr>
          <p:cNvPr id="50183" name="Rectangle 1031"/>
          <p:cNvSpPr>
            <a:spLocks noChangeArrowheads="1"/>
          </p:cNvSpPr>
          <p:nvPr/>
        </p:nvSpPr>
        <p:spPr bwMode="gray">
          <a:xfrm>
            <a:off x="685800" y="4572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lang="ko-KR" altLang="ko-KR"/>
          </a:p>
        </p:txBody>
      </p:sp>
      <p:sp>
        <p:nvSpPr>
          <p:cNvPr id="50184" name="Rectangle 1032"/>
          <p:cNvSpPr>
            <a:spLocks noChangeArrowheads="1"/>
          </p:cNvSpPr>
          <p:nvPr/>
        </p:nvSpPr>
        <p:spPr bwMode="gray">
          <a:xfrm>
            <a:off x="458788" y="12192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lang="ko-KR" altLang="ko-KR"/>
          </a:p>
        </p:txBody>
      </p:sp>
      <p:sp>
        <p:nvSpPr>
          <p:cNvPr id="5129" name="Rectangle 1033"/>
          <p:cNvSpPr>
            <a:spLocks noGrp="1" noChangeArrowheads="1"/>
          </p:cNvSpPr>
          <p:nvPr>
            <p:ph type="title"/>
          </p:nvPr>
        </p:nvSpPr>
        <p:spPr bwMode="auto">
          <a:xfrm>
            <a:off x="1350963" y="457200"/>
            <a:ext cx="725963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5130" name="Rectangle 103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1447800"/>
            <a:ext cx="7772400" cy="468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0187" name="Rectangle 103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>
                <a:latin typeface="+mn-lt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8" name="Rectangle 103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+mn-lt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9" name="Rectangle 103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latin typeface="+mn-lt"/>
              </a:defRPr>
            </a:lvl1pPr>
          </a:lstStyle>
          <a:p>
            <a:pPr>
              <a:defRPr/>
            </a:pPr>
            <a:fld id="{EB35B119-F490-4AA8-98D1-FD4113D5926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chart" Target="../charts/chart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9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7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9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log.naver.com/richscskia" TargetMode="External"/><Relationship Id="rId4" Type="http://schemas.openxmlformats.org/officeDocument/2006/relationships/hyperlink" Target="https://blog.naver.com/richscskia/222274883876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hyperlink" Target="https://www.data.go.kr/data/15025527/fileData.do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71600" y="2857500"/>
            <a:ext cx="7772400" cy="1143000"/>
          </a:xfrm>
        </p:spPr>
        <p:txBody>
          <a:bodyPr/>
          <a:lstStyle/>
          <a:p>
            <a:pPr eaLnBrk="1" hangingPunct="1"/>
            <a:r>
              <a:rPr lang="ko-KR" altLang="en-US"/>
              <a:t>제 </a:t>
            </a:r>
            <a:r>
              <a:rPr lang="en-US" altLang="ko-KR"/>
              <a:t>2</a:t>
            </a:r>
            <a:r>
              <a:rPr lang="ko-KR" altLang="en-US"/>
              <a:t>장</a:t>
            </a:r>
            <a:r>
              <a:rPr lang="en-US" altLang="ko-KR"/>
              <a:t>. </a:t>
            </a:r>
            <a:r>
              <a:rPr lang="ko-KR" altLang="en-US"/>
              <a:t>표와 그림을 통한 </a:t>
            </a:r>
            <a:br>
              <a:rPr lang="ko-KR" altLang="en-US"/>
            </a:br>
            <a:r>
              <a:rPr lang="ko-KR" altLang="en-US"/>
              <a:t>자료의 요약</a:t>
            </a:r>
            <a:br>
              <a:rPr lang="ko-KR" altLang="en-US"/>
            </a:br>
            <a:br>
              <a:rPr lang="ko-KR" altLang="en-US"/>
            </a:br>
            <a:r>
              <a:rPr lang="en-US" altLang="ko-KR" sz="1600"/>
              <a:t>jsum@hansung.ac.kr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609600"/>
            <a:ext cx="7793038" cy="447675"/>
          </a:xfrm>
        </p:spPr>
        <p:txBody>
          <a:bodyPr/>
          <a:lstStyle/>
          <a:p>
            <a:pPr eaLnBrk="1" hangingPunct="1"/>
            <a:r>
              <a:rPr lang="en-US" altLang="ko-KR" sz="3200"/>
              <a:t> </a:t>
            </a:r>
            <a:r>
              <a:rPr lang="ko-KR" altLang="en-US" sz="3200"/>
              <a:t>소개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pPr eaLnBrk="1" hangingPunct="1"/>
            <a:r>
              <a:rPr lang="ko-KR" altLang="en-US"/>
              <a:t>자료에 내포된 전반적인 내용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/>
              <a:t>   </a:t>
            </a:r>
            <a:r>
              <a:rPr lang="ko-KR" altLang="en-US">
                <a:sym typeface="Wingdings" pitchFamily="2" charset="2"/>
              </a:rPr>
              <a:t> 쉽고 빠르게 내용파악을 위해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>
                <a:sym typeface="Wingdings" pitchFamily="2" charset="2"/>
              </a:rPr>
              <a:t>    자료의 조직화</a:t>
            </a:r>
            <a:r>
              <a:rPr lang="en-US" altLang="ko-KR">
                <a:sym typeface="Wingdings" pitchFamily="2" charset="2"/>
              </a:rPr>
              <a:t>, </a:t>
            </a:r>
            <a:r>
              <a:rPr lang="ko-KR" altLang="en-US">
                <a:sym typeface="Wingdings" pitchFamily="2" charset="2"/>
              </a:rPr>
              <a:t>축소화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>
                <a:sym typeface="Wingdings" pitchFamily="2" charset="2"/>
              </a:rPr>
              <a:t>    표</a:t>
            </a:r>
            <a:r>
              <a:rPr lang="en-US" altLang="ko-KR">
                <a:sym typeface="Wingdings" pitchFamily="2" charset="2"/>
              </a:rPr>
              <a:t>, </a:t>
            </a:r>
            <a:r>
              <a:rPr lang="ko-KR" altLang="en-US">
                <a:sym typeface="Wingdings" pitchFamily="2" charset="2"/>
              </a:rPr>
              <a:t>그림</a:t>
            </a:r>
            <a:r>
              <a:rPr lang="en-US" altLang="ko-KR">
                <a:sym typeface="Wingdings" pitchFamily="2" charset="2"/>
              </a:rPr>
              <a:t>, </a:t>
            </a:r>
            <a:r>
              <a:rPr lang="ko-KR" altLang="en-US">
                <a:sym typeface="Wingdings" pitchFamily="2" charset="2"/>
              </a:rPr>
              <a:t>수치 사용</a:t>
            </a:r>
          </a:p>
          <a:p>
            <a:pPr eaLnBrk="1" hangingPunct="1"/>
            <a:r>
              <a:rPr lang="ko-KR" altLang="en-US"/>
              <a:t>자료의 형태</a:t>
            </a:r>
          </a:p>
          <a:p>
            <a:pPr eaLnBrk="1" hangingPunct="1">
              <a:buFont typeface="Wingdings" pitchFamily="2" charset="2"/>
              <a:buNone/>
            </a:pPr>
            <a:r>
              <a:rPr lang="ko-KR" altLang="en-US"/>
              <a:t>    </a:t>
            </a:r>
            <a:r>
              <a:rPr lang="en-US" altLang="ko-KR"/>
              <a:t>- qualitative data, categorical data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/>
              <a:t>    - quantitative data(</a:t>
            </a:r>
            <a:r>
              <a:rPr lang="ko-KR" altLang="en-US"/>
              <a:t>양적데이터</a:t>
            </a:r>
            <a:r>
              <a:rPr lang="en-US" altLang="ko-KR"/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914400" y="6324600"/>
            <a:ext cx="1905000" cy="457200"/>
          </a:xfrm>
        </p:spPr>
        <p:txBody>
          <a:bodyPr/>
          <a:lstStyle/>
          <a:p>
            <a:pPr algn="l">
              <a:defRPr/>
            </a:pPr>
            <a:fld id="{69C01CD9-41E7-44A1-981D-D76CE2B064CF}" type="slidenum">
              <a:rPr lang="en-US" altLang="ko-KR" smtClean="0"/>
              <a:pPr algn="l">
                <a:defRPr/>
              </a:pPr>
              <a:t>3</a:t>
            </a:fld>
            <a:r>
              <a:rPr lang="en-US" altLang="ko-KR"/>
              <a:t>/10</a:t>
            </a:r>
          </a:p>
        </p:txBody>
      </p:sp>
      <p:sp>
        <p:nvSpPr>
          <p:cNvPr id="9219" name="Text Box 7"/>
          <p:cNvSpPr txBox="1">
            <a:spLocks noChangeArrowheads="1"/>
          </p:cNvSpPr>
          <p:nvPr/>
        </p:nvSpPr>
        <p:spPr bwMode="auto">
          <a:xfrm>
            <a:off x="1209680" y="1628726"/>
            <a:ext cx="7129462" cy="1436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ko-KR" altLang="en-US" sz="1600"/>
              <a:t>범주형 자료      명목형 자료 </a:t>
            </a:r>
            <a:r>
              <a:rPr lang="en-US" altLang="ko-KR" sz="1600"/>
              <a:t>: </a:t>
            </a:r>
            <a:r>
              <a:rPr lang="ko-KR" altLang="en-US" sz="1600"/>
              <a:t>전공</a:t>
            </a:r>
            <a:r>
              <a:rPr lang="en-US" altLang="ko-KR" sz="1600"/>
              <a:t>, </a:t>
            </a:r>
            <a:r>
              <a:rPr lang="ko-KR" altLang="en-US" sz="1600"/>
              <a:t>성별</a:t>
            </a:r>
            <a:r>
              <a:rPr lang="en-US" altLang="ko-KR" sz="1600"/>
              <a:t>, </a:t>
            </a:r>
            <a:r>
              <a:rPr lang="ko-KR" altLang="en-US" sz="1600"/>
              <a:t>출생도</a:t>
            </a:r>
            <a:r>
              <a:rPr lang="en-US" altLang="ko-KR" sz="1600"/>
              <a:t>, </a:t>
            </a:r>
            <a:r>
              <a:rPr lang="ko-KR" altLang="en-US" sz="1600"/>
              <a:t>혈액형                                                                           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ko-KR" sz="1600"/>
              <a:t>(</a:t>
            </a:r>
            <a:r>
              <a:rPr lang="ko-KR" altLang="en-US" sz="1600"/>
              <a:t>질적 자료</a:t>
            </a:r>
            <a:r>
              <a:rPr lang="en-US" altLang="ko-KR" sz="1600"/>
              <a:t>)       </a:t>
            </a:r>
            <a:r>
              <a:rPr lang="ko-KR" altLang="en-US" sz="1600"/>
              <a:t>순위형 자료 </a:t>
            </a:r>
            <a:r>
              <a:rPr lang="en-US" altLang="ko-KR" sz="1600"/>
              <a:t>: </a:t>
            </a:r>
            <a:r>
              <a:rPr lang="ko-KR" altLang="en-US" sz="1600"/>
              <a:t>선호도 조사 </a:t>
            </a:r>
            <a:r>
              <a:rPr lang="en-US" altLang="ko-KR" sz="1600"/>
              <a:t>(ex. </a:t>
            </a:r>
            <a:r>
              <a:rPr lang="ko-KR" altLang="en-US" sz="1600"/>
              <a:t>매우 좋다</a:t>
            </a:r>
            <a:r>
              <a:rPr lang="en-US" altLang="ko-KR" sz="1600"/>
              <a:t>, </a:t>
            </a:r>
            <a:r>
              <a:rPr lang="en-US" altLang="ko-KR" sz="1600">
                <a:latin typeface="Arial" charset="0"/>
              </a:rPr>
              <a:t>…</a:t>
            </a:r>
            <a:r>
              <a:rPr lang="en-US" altLang="ko-KR" sz="1600"/>
              <a:t> , </a:t>
            </a:r>
            <a:r>
              <a:rPr lang="ko-KR" altLang="en-US" sz="1600"/>
              <a:t>매우 싫다</a:t>
            </a:r>
            <a:r>
              <a:rPr lang="en-US" altLang="ko-KR" sz="1600"/>
              <a:t>.)</a:t>
            </a:r>
          </a:p>
          <a:p>
            <a:pPr eaLnBrk="1" hangingPunct="1">
              <a:spcBef>
                <a:spcPct val="50000"/>
              </a:spcBef>
            </a:pPr>
            <a:r>
              <a:rPr lang="ko-KR" altLang="en-US" sz="1600"/>
              <a:t>수치형 자료      이산형 자료 </a:t>
            </a:r>
            <a:r>
              <a:rPr lang="en-US" altLang="ko-KR" sz="1600"/>
              <a:t>: </a:t>
            </a:r>
            <a:r>
              <a:rPr lang="ko-KR" altLang="en-US" sz="1600"/>
              <a:t>개수</a:t>
            </a:r>
            <a:r>
              <a:rPr lang="en-US" altLang="ko-KR" sz="1600"/>
              <a:t>, </a:t>
            </a:r>
            <a:r>
              <a:rPr lang="ko-KR" altLang="en-US" sz="1600"/>
              <a:t>명수 등 주로 세는 것</a:t>
            </a:r>
            <a:r>
              <a:rPr lang="en-US" altLang="ko-KR" sz="1600"/>
              <a:t>.                                                                               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ko-KR" sz="1600"/>
              <a:t>(</a:t>
            </a:r>
            <a:r>
              <a:rPr lang="ko-KR" altLang="en-US" sz="1600"/>
              <a:t>양적 자료</a:t>
            </a:r>
            <a:r>
              <a:rPr lang="en-US" altLang="ko-KR" sz="1600"/>
              <a:t>)       </a:t>
            </a:r>
            <a:r>
              <a:rPr lang="ko-KR" altLang="en-US" sz="1600"/>
              <a:t>연속형 자료 </a:t>
            </a:r>
            <a:r>
              <a:rPr lang="en-US" altLang="ko-KR" sz="1600"/>
              <a:t>: </a:t>
            </a:r>
            <a:r>
              <a:rPr lang="ko-KR" altLang="en-US" sz="1600"/>
              <a:t>키</a:t>
            </a:r>
            <a:r>
              <a:rPr lang="en-US" altLang="ko-KR" sz="1600"/>
              <a:t>, </a:t>
            </a:r>
            <a:r>
              <a:rPr lang="ko-KR" altLang="en-US" sz="1600"/>
              <a:t>몸무게</a:t>
            </a:r>
            <a:r>
              <a:rPr lang="en-US" altLang="ko-KR" sz="1600"/>
              <a:t>, </a:t>
            </a:r>
            <a:r>
              <a:rPr lang="ko-KR" altLang="en-US" sz="1600"/>
              <a:t>온도</a:t>
            </a:r>
          </a:p>
        </p:txBody>
      </p:sp>
      <p:sp>
        <p:nvSpPr>
          <p:cNvPr id="9220" name="Rectangle 8"/>
          <p:cNvSpPr>
            <a:spLocks noChangeArrowheads="1"/>
          </p:cNvSpPr>
          <p:nvPr/>
        </p:nvSpPr>
        <p:spPr bwMode="auto">
          <a:xfrm>
            <a:off x="1209680" y="1628726"/>
            <a:ext cx="1296987" cy="720725"/>
          </a:xfrm>
          <a:prstGeom prst="rect">
            <a:avLst/>
          </a:prstGeom>
          <a:solidFill>
            <a:schemeClr val="accent1">
              <a:alpha val="10196"/>
            </a:schemeClr>
          </a:solidFill>
          <a:ln w="25400" algn="ctr">
            <a:solidFill>
              <a:srgbClr val="3366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9221" name="Rectangle 9"/>
          <p:cNvSpPr>
            <a:spLocks noChangeArrowheads="1"/>
          </p:cNvSpPr>
          <p:nvPr/>
        </p:nvSpPr>
        <p:spPr bwMode="auto">
          <a:xfrm>
            <a:off x="1209680" y="2420888"/>
            <a:ext cx="1296987" cy="720725"/>
          </a:xfrm>
          <a:prstGeom prst="rect">
            <a:avLst/>
          </a:prstGeom>
          <a:solidFill>
            <a:schemeClr val="accent1">
              <a:alpha val="10196"/>
            </a:schemeClr>
          </a:solidFill>
          <a:ln w="25400" algn="ctr">
            <a:solidFill>
              <a:srgbClr val="3366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9222" name="Line 10"/>
          <p:cNvSpPr>
            <a:spLocks noChangeShapeType="1"/>
          </p:cNvSpPr>
          <p:nvPr/>
        </p:nvSpPr>
        <p:spPr bwMode="auto">
          <a:xfrm flipV="1">
            <a:off x="2506667" y="1773188"/>
            <a:ext cx="215900" cy="215900"/>
          </a:xfrm>
          <a:prstGeom prst="line">
            <a:avLst/>
          </a:prstGeom>
          <a:noFill/>
          <a:ln w="25400">
            <a:solidFill>
              <a:srgbClr val="33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23" name="Line 11"/>
          <p:cNvSpPr>
            <a:spLocks noChangeShapeType="1"/>
          </p:cNvSpPr>
          <p:nvPr/>
        </p:nvSpPr>
        <p:spPr bwMode="auto">
          <a:xfrm flipV="1">
            <a:off x="2506667" y="2565351"/>
            <a:ext cx="215900" cy="215900"/>
          </a:xfrm>
          <a:prstGeom prst="line">
            <a:avLst/>
          </a:prstGeom>
          <a:noFill/>
          <a:ln w="25400">
            <a:solidFill>
              <a:srgbClr val="33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24" name="Line 12"/>
          <p:cNvSpPr>
            <a:spLocks noChangeShapeType="1"/>
          </p:cNvSpPr>
          <p:nvPr/>
        </p:nvSpPr>
        <p:spPr bwMode="auto">
          <a:xfrm>
            <a:off x="2506667" y="1989088"/>
            <a:ext cx="215900" cy="144463"/>
          </a:xfrm>
          <a:prstGeom prst="line">
            <a:avLst/>
          </a:prstGeom>
          <a:noFill/>
          <a:ln w="25400">
            <a:solidFill>
              <a:srgbClr val="33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25" name="Line 13"/>
          <p:cNvSpPr>
            <a:spLocks noChangeShapeType="1"/>
          </p:cNvSpPr>
          <p:nvPr/>
        </p:nvSpPr>
        <p:spPr bwMode="auto">
          <a:xfrm>
            <a:off x="2506667" y="2781251"/>
            <a:ext cx="215900" cy="144462"/>
          </a:xfrm>
          <a:prstGeom prst="line">
            <a:avLst/>
          </a:prstGeom>
          <a:noFill/>
          <a:ln w="25400">
            <a:solidFill>
              <a:srgbClr val="33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26" name="Rectangle 14"/>
          <p:cNvSpPr>
            <a:spLocks noChangeArrowheads="1"/>
          </p:cNvSpPr>
          <p:nvPr/>
        </p:nvSpPr>
        <p:spPr bwMode="auto">
          <a:xfrm>
            <a:off x="2722567" y="1628726"/>
            <a:ext cx="5473700" cy="720725"/>
          </a:xfrm>
          <a:prstGeom prst="rect">
            <a:avLst/>
          </a:prstGeom>
          <a:solidFill>
            <a:schemeClr val="accent1">
              <a:alpha val="10196"/>
            </a:schemeClr>
          </a:solidFill>
          <a:ln w="25400" algn="ctr">
            <a:solidFill>
              <a:srgbClr val="3366FF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9227" name="Rectangle 15"/>
          <p:cNvSpPr>
            <a:spLocks noChangeArrowheads="1"/>
          </p:cNvSpPr>
          <p:nvPr/>
        </p:nvSpPr>
        <p:spPr bwMode="auto">
          <a:xfrm>
            <a:off x="2722567" y="2420888"/>
            <a:ext cx="5473700" cy="720725"/>
          </a:xfrm>
          <a:prstGeom prst="rect">
            <a:avLst/>
          </a:prstGeom>
          <a:solidFill>
            <a:schemeClr val="accent1">
              <a:alpha val="10196"/>
            </a:schemeClr>
          </a:solidFill>
          <a:ln w="25400" algn="ctr">
            <a:solidFill>
              <a:srgbClr val="3366FF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ko-KR" sz="1800"/>
          </a:p>
        </p:txBody>
      </p:sp>
      <p:sp>
        <p:nvSpPr>
          <p:cNvPr id="9228" name="Text Box 16"/>
          <p:cNvSpPr txBox="1">
            <a:spLocks noChangeArrowheads="1"/>
          </p:cNvSpPr>
          <p:nvPr/>
        </p:nvSpPr>
        <p:spPr bwMode="auto">
          <a:xfrm>
            <a:off x="881067" y="3611720"/>
            <a:ext cx="7315200" cy="3262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1pPr>
            <a:lvl2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CC0099"/>
              </a:buClr>
              <a:buFont typeface="Wingdings" pitchFamily="2" charset="2"/>
              <a:buChar char="v"/>
            </a:pP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sz="2800" dirty="0"/>
              <a:t>변수 </a:t>
            </a:r>
            <a:r>
              <a:rPr lang="en-US" altLang="ko-KR" sz="2800" dirty="0"/>
              <a:t>: </a:t>
            </a:r>
            <a:r>
              <a:rPr lang="ko-KR" altLang="en-US" sz="2800" dirty="0"/>
              <a:t>관심의 대상이 되는 특성</a:t>
            </a:r>
            <a:r>
              <a:rPr lang="en-US" altLang="ko-KR" sz="2800" dirty="0"/>
              <a:t>.</a:t>
            </a:r>
          </a:p>
          <a:p>
            <a:pPr lvl="1" eaLnBrk="1" hangingPunct="1">
              <a:spcBef>
                <a:spcPct val="50000"/>
              </a:spcBef>
              <a:buClr>
                <a:srgbClr val="CC0099"/>
              </a:buClr>
              <a:buFont typeface="Wingdings" pitchFamily="2" charset="2"/>
              <a:buChar char="v"/>
            </a:pPr>
            <a:r>
              <a:rPr lang="en-US" altLang="ko-KR" dirty="0"/>
              <a:t> </a:t>
            </a:r>
            <a:r>
              <a:rPr lang="ko-KR" altLang="en-US" dirty="0"/>
              <a:t>변수의 종류는 자료의 종류에 대응된다</a:t>
            </a:r>
            <a:r>
              <a:rPr lang="en-US" altLang="ko-KR" dirty="0"/>
              <a:t>.</a:t>
            </a:r>
          </a:p>
          <a:p>
            <a:pPr eaLnBrk="1" hangingPunct="1">
              <a:spcBef>
                <a:spcPct val="50000"/>
              </a:spcBef>
              <a:buClr>
                <a:srgbClr val="CC0099"/>
              </a:buClr>
              <a:buFont typeface="Wingdings" pitchFamily="2" charset="2"/>
              <a:buChar char="v"/>
            </a:pPr>
            <a:r>
              <a:rPr lang="ko-KR" altLang="en-US" sz="2800" dirty="0"/>
              <a:t>범주형 변수</a:t>
            </a:r>
            <a:r>
              <a:rPr lang="en-US" altLang="ko-KR" sz="2800" dirty="0"/>
              <a:t>(</a:t>
            </a:r>
            <a:r>
              <a:rPr lang="ko-KR" altLang="en-US" sz="2800" dirty="0"/>
              <a:t>명목형 변수</a:t>
            </a:r>
            <a:r>
              <a:rPr lang="en-US" altLang="ko-KR" sz="2800" dirty="0"/>
              <a:t>, </a:t>
            </a:r>
            <a:r>
              <a:rPr lang="ko-KR" altLang="en-US" sz="2800" dirty="0"/>
              <a:t>순위형 변수</a:t>
            </a:r>
            <a:r>
              <a:rPr lang="en-US" altLang="ko-KR" sz="2800" dirty="0"/>
              <a:t>), </a:t>
            </a:r>
            <a:r>
              <a:rPr lang="ko-KR" altLang="en-US" sz="2800" dirty="0"/>
              <a:t>수치형 변수</a:t>
            </a:r>
            <a:r>
              <a:rPr lang="en-US" altLang="ko-KR" sz="2800" dirty="0"/>
              <a:t>(</a:t>
            </a:r>
            <a:r>
              <a:rPr lang="ko-KR" altLang="en-US" sz="2800" dirty="0"/>
              <a:t>이산형 변수</a:t>
            </a:r>
            <a:r>
              <a:rPr lang="en-US" altLang="ko-KR" sz="2800" dirty="0"/>
              <a:t>, </a:t>
            </a:r>
            <a:r>
              <a:rPr lang="ko-KR" altLang="en-US" sz="2800" dirty="0"/>
              <a:t>연속형 변수</a:t>
            </a:r>
            <a:r>
              <a:rPr lang="en-US" altLang="ko-KR" sz="2800" dirty="0"/>
              <a:t>)         </a:t>
            </a:r>
          </a:p>
          <a:p>
            <a:pPr eaLnBrk="1" hangingPunct="1">
              <a:spcBef>
                <a:spcPct val="50000"/>
              </a:spcBef>
            </a:pPr>
            <a:endParaRPr lang="en-US" altLang="ko-KR" dirty="0"/>
          </a:p>
          <a:p>
            <a:pPr lvl="1" eaLnBrk="1" hangingPunct="1">
              <a:spcBef>
                <a:spcPct val="50000"/>
              </a:spcBef>
            </a:pPr>
            <a:endParaRPr lang="en-US" altLang="ko-KR" dirty="0"/>
          </a:p>
        </p:txBody>
      </p:sp>
      <p:sp>
        <p:nvSpPr>
          <p:cNvPr id="9229" name="Rectangle 1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자료의 종류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304800"/>
            <a:ext cx="7772400" cy="762000"/>
          </a:xfrm>
        </p:spPr>
        <p:txBody>
          <a:bodyPr/>
          <a:lstStyle/>
          <a:p>
            <a:pPr eaLnBrk="1" hangingPunct="1"/>
            <a:r>
              <a:rPr lang="ko-KR" altLang="en-US" sz="3200" b="1" dirty="0"/>
              <a:t>질적자료</a:t>
            </a:r>
            <a:r>
              <a:rPr lang="en-US" altLang="ko-KR" sz="3200" b="1" dirty="0"/>
              <a:t>(qualitative data ,</a:t>
            </a:r>
            <a:r>
              <a:rPr lang="ko-KR" altLang="en-US" sz="3200" b="1" dirty="0"/>
              <a:t>범주형 자료</a:t>
            </a:r>
            <a:r>
              <a:rPr lang="en-US" altLang="ko-KR" sz="3200" b="1" dirty="0"/>
              <a:t>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447800"/>
            <a:ext cx="7772400" cy="4953000"/>
          </a:xfrm>
        </p:spPr>
        <p:txBody>
          <a:bodyPr/>
          <a:lstStyle/>
          <a:p>
            <a:pPr eaLnBrk="1" hangingPunct="1"/>
            <a:r>
              <a:rPr lang="ko-KR" altLang="en-US" dirty="0"/>
              <a:t>특정성질의 소유 유무</a:t>
            </a:r>
            <a:r>
              <a:rPr lang="en-US" altLang="ko-KR" dirty="0"/>
              <a:t>(</a:t>
            </a:r>
            <a:r>
              <a:rPr lang="ko-KR" altLang="en-US" dirty="0"/>
              <a:t>명목형</a:t>
            </a:r>
            <a:r>
              <a:rPr lang="en-US" altLang="ko-KR" dirty="0"/>
              <a:t>:nominal)</a:t>
            </a:r>
          </a:p>
          <a:p>
            <a:pPr lvl="1" eaLnBrk="1" hangingPunct="1"/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성별</a:t>
            </a:r>
            <a:r>
              <a:rPr lang="en-US" altLang="ko-KR" dirty="0"/>
              <a:t>(</a:t>
            </a:r>
            <a:r>
              <a:rPr lang="ko-KR" altLang="en-US" dirty="0"/>
              <a:t>남</a:t>
            </a:r>
            <a:r>
              <a:rPr lang="en-US" altLang="ko-KR" dirty="0"/>
              <a:t>,</a:t>
            </a:r>
            <a:r>
              <a:rPr lang="ko-KR" altLang="en-US" dirty="0" err="1"/>
              <a:t>녀</a:t>
            </a:r>
            <a:r>
              <a:rPr lang="en-US" altLang="ko-KR" dirty="0"/>
              <a:t>), </a:t>
            </a:r>
            <a:r>
              <a:rPr lang="ko-KR" altLang="en-US" dirty="0"/>
              <a:t>혈액형</a:t>
            </a:r>
            <a:r>
              <a:rPr lang="en-US" altLang="ko-KR" dirty="0"/>
              <a:t>, </a:t>
            </a:r>
            <a:r>
              <a:rPr lang="ko-KR" altLang="en-US" dirty="0"/>
              <a:t>흡연유무</a:t>
            </a:r>
          </a:p>
          <a:p>
            <a:pPr eaLnBrk="1" hangingPunct="1"/>
            <a:r>
              <a:rPr lang="ko-KR" altLang="en-US" dirty="0"/>
              <a:t>순위가 있는 범주</a:t>
            </a:r>
            <a:r>
              <a:rPr lang="en-US" altLang="ko-KR" dirty="0"/>
              <a:t>(</a:t>
            </a:r>
            <a:r>
              <a:rPr lang="ko-KR" altLang="en-US" dirty="0"/>
              <a:t>순위형</a:t>
            </a:r>
            <a:r>
              <a:rPr lang="en-US" altLang="ko-KR" dirty="0"/>
              <a:t>: ordinal)</a:t>
            </a:r>
          </a:p>
          <a:p>
            <a:pPr lvl="1" eaLnBrk="1" hangingPunct="1"/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학점</a:t>
            </a:r>
            <a:r>
              <a:rPr lang="en-US" altLang="ko-KR" dirty="0"/>
              <a:t>, </a:t>
            </a:r>
            <a:r>
              <a:rPr lang="ko-KR" altLang="en-US" dirty="0"/>
              <a:t>선호도</a:t>
            </a:r>
            <a:r>
              <a:rPr lang="en-US" altLang="ko-KR" dirty="0"/>
              <a:t>, </a:t>
            </a:r>
            <a:r>
              <a:rPr lang="ko-KR" altLang="en-US" dirty="0"/>
              <a:t>설문조사 응답항목</a:t>
            </a:r>
          </a:p>
          <a:p>
            <a:pPr eaLnBrk="1" hangingPunct="1">
              <a:buFont typeface="Wingdings" pitchFamily="2" charset="2"/>
              <a:buNone/>
            </a:pPr>
            <a:endParaRPr lang="ko-KR" altLang="en-US" sz="2800" dirty="0"/>
          </a:p>
          <a:p>
            <a:pPr eaLnBrk="1" hangingPunct="1">
              <a:buFont typeface="Wingdings" pitchFamily="2" charset="2"/>
              <a:buNone/>
            </a:pPr>
            <a:r>
              <a:rPr lang="ko-KR" altLang="en-US" dirty="0"/>
              <a:t>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304800"/>
            <a:ext cx="7239000" cy="762000"/>
          </a:xfrm>
        </p:spPr>
        <p:txBody>
          <a:bodyPr/>
          <a:lstStyle/>
          <a:p>
            <a:pPr eaLnBrk="1" hangingPunct="1"/>
            <a:r>
              <a:rPr lang="ko-KR" altLang="en-US" sz="3200" b="1"/>
              <a:t>범주형 자료의 요약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295400"/>
            <a:ext cx="7391400" cy="39624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ko-KR" altLang="en-US" sz="2800" dirty="0"/>
              <a:t>관측 결과가 몇 개의 범주로 나타나는 자료</a:t>
            </a:r>
            <a:endParaRPr lang="en-US" altLang="ko-KR" sz="2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ko-KR" sz="2800" dirty="0"/>
              <a:t>	</a:t>
            </a:r>
            <a:r>
              <a:rPr lang="en-US" altLang="ko-KR" sz="2000" dirty="0"/>
              <a:t>- </a:t>
            </a:r>
            <a:r>
              <a:rPr lang="ko-KR" altLang="en-US" sz="2400" dirty="0"/>
              <a:t>전체에서 차지하는 각 범주의 비율을 파악하여 범주간의 비교를 용이</a:t>
            </a:r>
          </a:p>
          <a:p>
            <a:pPr eaLnBrk="1" hangingPunct="1"/>
            <a:r>
              <a:rPr lang="ko-KR" altLang="en-US" sz="2800" dirty="0"/>
              <a:t>돗수분포표</a:t>
            </a:r>
          </a:p>
          <a:p>
            <a:pPr lvl="1" eaLnBrk="1" hangingPunct="1"/>
            <a:r>
              <a:rPr lang="ko-KR" altLang="en-US" sz="2400" dirty="0"/>
              <a:t>돗수</a:t>
            </a:r>
            <a:r>
              <a:rPr lang="en-US" altLang="ko-KR" sz="2400" dirty="0"/>
              <a:t>(frequency):</a:t>
            </a:r>
            <a:r>
              <a:rPr lang="ko-KR" altLang="en-US" sz="2400" dirty="0"/>
              <a:t>각 범주에 속하는 관측 값의 개수</a:t>
            </a:r>
          </a:p>
          <a:p>
            <a:pPr lvl="1" eaLnBrk="1" hangingPunct="1"/>
            <a:r>
              <a:rPr lang="ko-KR" altLang="en-US" sz="2400" dirty="0"/>
              <a:t>상대돗수</a:t>
            </a:r>
            <a:r>
              <a:rPr lang="en-US" altLang="ko-KR" sz="2400" dirty="0"/>
              <a:t>(relative frequency): </a:t>
            </a:r>
            <a:r>
              <a:rPr lang="ko-KR" altLang="en-US" sz="2400" dirty="0"/>
              <a:t>돗수를 자료의 전체 개수로 나눈 비율</a:t>
            </a:r>
          </a:p>
          <a:p>
            <a:pPr lvl="1" eaLnBrk="1" hangingPunct="1"/>
            <a:r>
              <a:rPr lang="ko-KR" altLang="en-US" sz="2400" dirty="0"/>
              <a:t>돗수분포표</a:t>
            </a:r>
            <a:r>
              <a:rPr lang="en-US" altLang="ko-KR" sz="2400" dirty="0"/>
              <a:t>(frequency table): </a:t>
            </a:r>
            <a:r>
              <a:rPr lang="ko-KR" altLang="en-US" sz="2400" dirty="0"/>
              <a:t>범주와 돗수</a:t>
            </a:r>
            <a:r>
              <a:rPr lang="en-US" altLang="ko-KR" sz="2400" dirty="0"/>
              <a:t>, </a:t>
            </a:r>
            <a:r>
              <a:rPr lang="ko-KR" altLang="en-US" sz="2400" dirty="0"/>
              <a:t>그리고 상대돗수를 나열한 표</a:t>
            </a:r>
            <a:endParaRPr lang="en-US" altLang="ko-KR" sz="2400" dirty="0"/>
          </a:p>
          <a:p>
            <a:pPr eaLnBrk="1" hangingPunct="1"/>
            <a:endParaRPr lang="ko-KR" alt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04800"/>
            <a:ext cx="7086600" cy="762000"/>
          </a:xfrm>
        </p:spPr>
        <p:txBody>
          <a:bodyPr/>
          <a:lstStyle/>
          <a:p>
            <a:pPr eaLnBrk="1" hangingPunct="1"/>
            <a:r>
              <a:rPr lang="ko-KR" altLang="en-US" sz="3200" b="1"/>
              <a:t>범주형 자료의 요약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0100" y="1600200"/>
            <a:ext cx="7804348" cy="3962400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원형그래프</a:t>
            </a:r>
            <a:r>
              <a:rPr lang="en-US" altLang="ko-KR" sz="2800" dirty="0"/>
              <a:t>(Pie Chart)</a:t>
            </a:r>
          </a:p>
          <a:p>
            <a:pPr lvl="1" eaLnBrk="1" hangingPunct="1"/>
            <a:r>
              <a:rPr lang="ko-KR" altLang="en-US" sz="2400" dirty="0"/>
              <a:t>원을 범주의 </a:t>
            </a:r>
            <a:r>
              <a:rPr lang="ko-KR" altLang="en-US" sz="2400" dirty="0" err="1"/>
              <a:t>상대돗수에</a:t>
            </a:r>
            <a:r>
              <a:rPr lang="ko-KR" altLang="en-US" sz="2400" dirty="0"/>
              <a:t> 비례하여 중심각을 나눈 그림</a:t>
            </a:r>
          </a:p>
          <a:p>
            <a:pPr lvl="1" eaLnBrk="1" hangingPunct="1"/>
            <a:r>
              <a:rPr lang="ko-KR" altLang="en-US" sz="2400" dirty="0" err="1"/>
              <a:t>상대돗수를</a:t>
            </a:r>
            <a:r>
              <a:rPr lang="ko-KR" altLang="en-US" sz="2400" dirty="0"/>
              <a:t> 기입하여 돗수차이 파악</a:t>
            </a:r>
            <a:r>
              <a:rPr lang="ko-KR" altLang="en-US" dirty="0"/>
              <a:t>		</a:t>
            </a:r>
          </a:p>
          <a:p>
            <a:pPr eaLnBrk="1" hangingPunct="1"/>
            <a:r>
              <a:rPr lang="ko-KR" altLang="en-US" sz="2800" dirty="0"/>
              <a:t>막대그래프</a:t>
            </a:r>
            <a:r>
              <a:rPr lang="en-US" altLang="ko-KR" sz="2800" dirty="0"/>
              <a:t>(Bar Chart)</a:t>
            </a:r>
            <a:r>
              <a:rPr lang="en-US" altLang="ko-KR" dirty="0"/>
              <a:t> </a:t>
            </a:r>
          </a:p>
          <a:p>
            <a:pPr lvl="1" eaLnBrk="1" hangingPunct="1"/>
            <a:r>
              <a:rPr lang="ko-KR" altLang="en-US" sz="2400" dirty="0"/>
              <a:t>각 범주에서 돗수의 크기를 막대로 표시한 그래프</a:t>
            </a:r>
            <a:endParaRPr lang="en-US" altLang="ko-KR" sz="2400" dirty="0"/>
          </a:p>
          <a:p>
            <a:pPr lvl="2" eaLnBrk="1" hangingPunct="1"/>
            <a:r>
              <a:rPr lang="ko-KR" altLang="en-US" sz="2000" dirty="0"/>
              <a:t>예</a:t>
            </a:r>
            <a:r>
              <a:rPr lang="en-US" altLang="ko-KR" sz="2000" dirty="0"/>
              <a:t>: </a:t>
            </a:r>
            <a:r>
              <a:rPr lang="ko-KR" altLang="en-US" sz="2000" dirty="0"/>
              <a:t>혈액형 </a:t>
            </a:r>
            <a:r>
              <a:rPr lang="ko-KR" altLang="en-US" sz="2000" dirty="0" err="1"/>
              <a:t>돗수분표</a:t>
            </a:r>
            <a:endParaRPr lang="en-US" altLang="ko-KR" sz="2000" dirty="0"/>
          </a:p>
          <a:p>
            <a:pPr lvl="1" eaLnBrk="1" hangingPunct="1"/>
            <a:r>
              <a:rPr lang="ko-KR" altLang="en-US" sz="2400" dirty="0"/>
              <a:t>범주형 변수가 </a:t>
            </a:r>
            <a:r>
              <a:rPr lang="en-US" altLang="ko-KR" sz="2400" dirty="0"/>
              <a:t>2</a:t>
            </a:r>
            <a:r>
              <a:rPr lang="ko-KR" altLang="en-US" sz="2400" dirty="0"/>
              <a:t>개일 때는 그룹화된 막대그래프</a:t>
            </a:r>
            <a:endParaRPr lang="en-US" altLang="ko-KR" sz="2400" dirty="0"/>
          </a:p>
          <a:p>
            <a:pPr lvl="2" eaLnBrk="1" hangingPunct="1"/>
            <a:r>
              <a:rPr lang="ko-KR" altLang="en-US" sz="2000" dirty="0"/>
              <a:t>예</a:t>
            </a:r>
            <a:r>
              <a:rPr lang="en-US" altLang="ko-KR" sz="2000" dirty="0"/>
              <a:t>: </a:t>
            </a:r>
            <a:r>
              <a:rPr lang="ko-KR" altLang="en-US" sz="2000" dirty="0"/>
              <a:t>부서별</a:t>
            </a:r>
            <a:r>
              <a:rPr lang="en-US" altLang="ko-KR" sz="2000" dirty="0"/>
              <a:t>, </a:t>
            </a:r>
            <a:r>
              <a:rPr lang="ko-KR" altLang="en-US" sz="2000" dirty="0"/>
              <a:t>연도별 </a:t>
            </a:r>
            <a:r>
              <a:rPr lang="ko-KR" altLang="en-US" sz="2000" dirty="0" err="1"/>
              <a:t>퍈매</a:t>
            </a:r>
            <a:r>
              <a:rPr lang="ko-KR" altLang="en-US" sz="2000" dirty="0"/>
              <a:t> 수량</a:t>
            </a:r>
          </a:p>
          <a:p>
            <a:pPr lvl="1" eaLnBrk="1" hangingPunct="1"/>
            <a:endParaRPr lang="ko-KR" alt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738" name="Group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926865"/>
              </p:ext>
            </p:extLst>
          </p:nvPr>
        </p:nvGraphicFramePr>
        <p:xfrm>
          <a:off x="323528" y="1301180"/>
          <a:ext cx="4143375" cy="2786063"/>
        </p:xfrm>
        <a:graphic>
          <a:graphicData uri="http://schemas.openxmlformats.org/drawingml/2006/table">
            <a:tbl>
              <a:tblPr/>
              <a:tblGrid>
                <a:gridCol w="88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8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4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혈액형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돗수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상대돗수</a:t>
                      </a: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(%)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각도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6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AB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22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7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36.67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33.33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11.67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18.33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132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120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42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50" name="TextBox 3"/>
          <p:cNvSpPr txBox="1">
            <a:spLocks noChangeArrowheads="1"/>
          </p:cNvSpPr>
          <p:nvPr/>
        </p:nvSpPr>
        <p:spPr bwMode="auto">
          <a:xfrm>
            <a:off x="1012731" y="456363"/>
            <a:ext cx="5786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dirty="0"/>
              <a:t>60</a:t>
            </a:r>
            <a:r>
              <a:rPr lang="ko-KR" altLang="en-US" dirty="0"/>
              <a:t>명에 대한 혈액검사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1F7AF57-75D7-43CD-BE73-17563AA69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7243"/>
            <a:ext cx="6787953" cy="268607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267B38E-9C6E-4978-BDBA-61F317BD5D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7952" y="2057312"/>
            <a:ext cx="2286000" cy="4592411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64296629-7E75-4C24-9B05-CADE02251903}"/>
              </a:ext>
            </a:extLst>
          </p:cNvPr>
          <p:cNvCxnSpPr/>
          <p:nvPr/>
        </p:nvCxnSpPr>
        <p:spPr bwMode="auto">
          <a:xfrm flipV="1">
            <a:off x="6313368" y="3284984"/>
            <a:ext cx="485800" cy="2520280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91A8464-2BEE-44B9-8147-181E36798D12}"/>
              </a:ext>
            </a:extLst>
          </p:cNvPr>
          <p:cNvSpPr txBox="1"/>
          <p:nvPr/>
        </p:nvSpPr>
        <p:spPr>
          <a:xfrm>
            <a:off x="4841776" y="174782"/>
            <a:ext cx="4302224" cy="175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1800" dirty="0"/>
              <a:t>데이터를 엑셀에 복사한 후 데이터 선택</a:t>
            </a:r>
            <a:endParaRPr lang="en-US" altLang="ko-KR" sz="1800" dirty="0"/>
          </a:p>
          <a:p>
            <a:pPr marL="457200" indent="-457200">
              <a:buAutoNum type="arabicPeriod"/>
            </a:pPr>
            <a:r>
              <a:rPr lang="ko-KR" altLang="en-US" sz="1800" dirty="0"/>
              <a:t>삽입</a:t>
            </a:r>
            <a:r>
              <a:rPr lang="en-US" altLang="ko-KR" sz="1800" dirty="0"/>
              <a:t>=&gt; </a:t>
            </a:r>
            <a:r>
              <a:rPr lang="ko-KR" altLang="en-US" sz="1800" dirty="0"/>
              <a:t>리본메뉴에서 원형차트 그림 선택</a:t>
            </a:r>
            <a:endParaRPr lang="en-US" altLang="ko-KR" sz="1800" dirty="0"/>
          </a:p>
          <a:p>
            <a:pPr marL="457200" indent="-457200">
              <a:buAutoNum type="arabicPeriod"/>
            </a:pPr>
            <a:r>
              <a:rPr lang="ko-KR" altLang="en-US" sz="1800" dirty="0"/>
              <a:t>원형차트 형을 선택한 후 아래 그림처럼 오른쪽 핸들을 이용한 편집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A334554-4FA7-47C3-AB02-6FC788B08B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58" y="1340768"/>
            <a:ext cx="9144000" cy="45467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CA2C8C-21F3-4DDD-A1F7-1D4E764491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472591"/>
            <a:ext cx="5786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dirty="0"/>
              <a:t>60</a:t>
            </a:r>
            <a:r>
              <a:rPr lang="ko-KR" altLang="en-US" dirty="0"/>
              <a:t>명에 대한 혈액검사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06FBAEF-C8F3-4F80-91A6-F4BF507F1F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4365104"/>
            <a:ext cx="2061238" cy="22663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7BDAC7-646C-49E4-8AE7-F15553C90EEA}"/>
              </a:ext>
            </a:extLst>
          </p:cNvPr>
          <p:cNvSpPr txBox="1"/>
          <p:nvPr/>
        </p:nvSpPr>
        <p:spPr>
          <a:xfrm>
            <a:off x="4292017" y="220266"/>
            <a:ext cx="4932040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1800" dirty="0"/>
              <a:t>삽입</a:t>
            </a:r>
            <a:r>
              <a:rPr lang="en-US" altLang="ko-KR" sz="1800" dirty="0"/>
              <a:t>=&gt; </a:t>
            </a:r>
            <a:r>
              <a:rPr lang="ko-KR" altLang="en-US" sz="1800" dirty="0"/>
              <a:t>리본메뉴에서 막대차트 그림 선택</a:t>
            </a:r>
            <a:endParaRPr lang="en-US" altLang="ko-KR" sz="1800" dirty="0"/>
          </a:p>
          <a:p>
            <a:pPr marL="457200" indent="-457200">
              <a:buAutoNum type="arabicPeriod"/>
            </a:pPr>
            <a:r>
              <a:rPr lang="ko-KR" altLang="en-US" sz="1800" dirty="0"/>
              <a:t>막대차트 형을 선택한 후 아래 그림처럼 오른쪽 핸들을 이용한 편집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3EDCCF-EB93-44D6-89A0-44C73F1A2727}"/>
              </a:ext>
            </a:extLst>
          </p:cNvPr>
          <p:cNvSpPr txBox="1"/>
          <p:nvPr/>
        </p:nvSpPr>
        <p:spPr>
          <a:xfrm>
            <a:off x="1979712" y="5936329"/>
            <a:ext cx="2061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/>
              <a:t>계열 선택 후 아래 적용버튼 클릭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EAE66674-2667-4813-9CDD-A56B7F43E9BB}"/>
              </a:ext>
            </a:extLst>
          </p:cNvPr>
          <p:cNvCxnSpPr/>
          <p:nvPr/>
        </p:nvCxnSpPr>
        <p:spPr bwMode="auto">
          <a:xfrm>
            <a:off x="3851920" y="6237312"/>
            <a:ext cx="1512168" cy="5040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040224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/>
              <a:t>그룹화된 막대그래프</a:t>
            </a:r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6553243"/>
              </p:ext>
            </p:extLst>
          </p:nvPr>
        </p:nvGraphicFramePr>
        <p:xfrm>
          <a:off x="179513" y="1260827"/>
          <a:ext cx="3672408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150775494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698886868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934243162"/>
                    </a:ext>
                  </a:extLst>
                </a:gridCol>
              </a:tblGrid>
              <a:tr h="34845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부서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판매 수량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49782"/>
                  </a:ext>
                </a:extLst>
              </a:tr>
              <a:tr h="348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2019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756200"/>
                  </a:ext>
                </a:extLst>
              </a:tr>
              <a:tr h="3484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영업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39942"/>
                  </a:ext>
                </a:extLst>
              </a:tr>
              <a:tr h="3484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영업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326503"/>
                  </a:ext>
                </a:extLst>
              </a:tr>
              <a:tr h="3484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영업</a:t>
                      </a:r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619448"/>
                  </a:ext>
                </a:extLst>
              </a:tr>
              <a:tr h="3484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영업</a:t>
                      </a:r>
                      <a:r>
                        <a:rPr lang="en-US" altLang="ko-KR" dirty="0"/>
                        <a:t>4</a:t>
                      </a:r>
                      <a:r>
                        <a:rPr lang="ko-KR" altLang="en-US" dirty="0"/>
                        <a:t>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646542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9BD1FC80-DB91-424D-AFD9-9637F2FD49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3462986"/>
            <a:ext cx="5373413" cy="337093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C7FEFB5-3F92-4A85-B35C-EF35DA8F99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548680"/>
            <a:ext cx="2385027" cy="2275055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CAB92295-C189-48C4-8D5E-53C108A867FD}"/>
              </a:ext>
            </a:extLst>
          </p:cNvPr>
          <p:cNvSpPr/>
          <p:nvPr/>
        </p:nvSpPr>
        <p:spPr bwMode="auto">
          <a:xfrm>
            <a:off x="6732240" y="6453336"/>
            <a:ext cx="720080" cy="404664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굴림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B118E1-6BA9-4CD9-AA08-3223A1C58E55}"/>
              </a:ext>
            </a:extLst>
          </p:cNvPr>
          <p:cNvSpPr txBox="1"/>
          <p:nvPr/>
        </p:nvSpPr>
        <p:spPr>
          <a:xfrm>
            <a:off x="395536" y="5949280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/>
              <a:t>범주 선택 후 적용 클릭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7B79CB6-C4EE-4675-8DB8-CBCA5EEF76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196" y="3482378"/>
            <a:ext cx="3944027" cy="236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204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2938" y="533400"/>
            <a:ext cx="7815262" cy="53244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ko-KR" altLang="en-US" dirty="0" err="1"/>
              <a:t>파레토그림</a:t>
            </a:r>
            <a:r>
              <a:rPr lang="en-US" altLang="ko-KR" dirty="0"/>
              <a:t>(</a:t>
            </a:r>
            <a:r>
              <a:rPr lang="en-US" altLang="ko-KR" dirty="0" err="1"/>
              <a:t>Preto</a:t>
            </a:r>
            <a:r>
              <a:rPr lang="en-US" altLang="ko-KR" dirty="0"/>
              <a:t> Diagram)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ko-KR" sz="2800" dirty="0"/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</a:pPr>
            <a:r>
              <a:rPr lang="ko-KR" altLang="en-US" dirty="0" err="1"/>
              <a:t>명목형</a:t>
            </a:r>
            <a:r>
              <a:rPr lang="ko-KR" altLang="en-US" dirty="0"/>
              <a:t> 자료에서 다수를 점유하는 중요한 소수</a:t>
            </a:r>
            <a:r>
              <a:rPr lang="en-US" altLang="ko-KR" dirty="0"/>
              <a:t>(vital few)</a:t>
            </a:r>
            <a:r>
              <a:rPr lang="ko-KR" altLang="en-US" dirty="0"/>
              <a:t>를 찾는데 사용</a:t>
            </a:r>
          </a:p>
          <a:p>
            <a:pPr lvl="2" eaLnBrk="1" hangingPunct="1">
              <a:lnSpc>
                <a:spcPct val="90000"/>
              </a:lnSpc>
              <a:buClr>
                <a:schemeClr val="tx1"/>
              </a:buClr>
            </a:pPr>
            <a:r>
              <a:rPr lang="ko-KR" altLang="en-US" dirty="0"/>
              <a:t>예</a:t>
            </a:r>
            <a:r>
              <a:rPr lang="en-US" altLang="ko-KR" dirty="0"/>
              <a:t>) 80% </a:t>
            </a:r>
            <a:r>
              <a:rPr lang="ko-KR" altLang="en-US" dirty="0"/>
              <a:t>고장 요인이 두 가지 요인에 기인</a:t>
            </a:r>
            <a:endParaRPr lang="en-US" altLang="ko-KR" dirty="0"/>
          </a:p>
          <a:p>
            <a:pPr lvl="2" eaLnBrk="1" hangingPunct="1">
              <a:lnSpc>
                <a:spcPct val="90000"/>
              </a:lnSpc>
              <a:buClr>
                <a:schemeClr val="tx1"/>
              </a:buClr>
            </a:pPr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전체 부의 </a:t>
            </a:r>
            <a:r>
              <a:rPr lang="en-US" altLang="ko-KR" dirty="0"/>
              <a:t>80%</a:t>
            </a:r>
            <a:r>
              <a:rPr lang="ko-KR" altLang="en-US" dirty="0"/>
              <a:t>를 대략 </a:t>
            </a:r>
            <a:r>
              <a:rPr lang="en-US" altLang="ko-KR" dirty="0"/>
              <a:t>20%</a:t>
            </a:r>
            <a:r>
              <a:rPr lang="ko-KR" altLang="en-US" dirty="0"/>
              <a:t>의 사람이 소유</a:t>
            </a:r>
            <a:endParaRPr lang="en-US" altLang="ko-KR" dirty="0"/>
          </a:p>
          <a:p>
            <a:pPr lvl="2" eaLnBrk="1" hangingPunct="1">
              <a:lnSpc>
                <a:spcPct val="90000"/>
              </a:lnSpc>
              <a:buClr>
                <a:schemeClr val="tx1"/>
              </a:buClr>
            </a:pPr>
            <a:endParaRPr lang="ko-KR" altLang="en-US" dirty="0"/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</a:pPr>
            <a:r>
              <a:rPr lang="ko-KR" altLang="en-US" dirty="0"/>
              <a:t>상대돗수가 큰 순서로 막대그래프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</a:pPr>
            <a:r>
              <a:rPr lang="ko-KR" altLang="en-US" dirty="0" err="1"/>
              <a:t>상대돗수</a:t>
            </a:r>
            <a:r>
              <a:rPr lang="ko-KR" altLang="en-US" dirty="0"/>
              <a:t> 크기 순서로 배열된 범주에 누적상대돗수를 표시한다</a:t>
            </a:r>
            <a:r>
              <a:rPr lang="en-US" altLang="ko-KR" dirty="0"/>
              <a:t>. </a:t>
            </a:r>
            <a:r>
              <a:rPr lang="ko-KR" altLang="en-US" dirty="0"/>
              <a:t>상대돗수 증가 비율을 파악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2938" y="533400"/>
            <a:ext cx="7815262" cy="53244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ko-KR" altLang="en-US" dirty="0" err="1"/>
              <a:t>파레토그림</a:t>
            </a:r>
            <a:r>
              <a:rPr lang="en-US" altLang="ko-KR" dirty="0"/>
              <a:t>(</a:t>
            </a:r>
            <a:r>
              <a:rPr lang="en-US" altLang="ko-KR" dirty="0" err="1"/>
              <a:t>Preto</a:t>
            </a:r>
            <a:r>
              <a:rPr lang="en-US" altLang="ko-KR" dirty="0"/>
              <a:t> Diagram)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ko-KR" sz="2800" dirty="0"/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ko-KR" dirty="0">
                <a:solidFill>
                  <a:srgbClr val="FF0000"/>
                </a:solidFill>
              </a:rPr>
              <a:t>p12:</a:t>
            </a:r>
            <a:r>
              <a:rPr lang="en-US" altLang="ko-KR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예제</a:t>
            </a:r>
            <a:r>
              <a:rPr lang="en-US" altLang="ko-KR" dirty="0">
                <a:solidFill>
                  <a:srgbClr val="FF0000"/>
                </a:solidFill>
              </a:rPr>
              <a:t>4)</a:t>
            </a:r>
            <a:r>
              <a:rPr lang="en-US" altLang="ko-KR" dirty="0"/>
              <a:t> </a:t>
            </a:r>
            <a:r>
              <a:rPr lang="ko-KR" altLang="en-US" dirty="0"/>
              <a:t>미용용 화장지 </a:t>
            </a:r>
            <a:r>
              <a:rPr lang="en-US" altLang="ko-KR"/>
              <a:t>50</a:t>
            </a:r>
            <a:r>
              <a:rPr lang="ko-KR" altLang="en-US"/>
              <a:t>장 </a:t>
            </a:r>
            <a:r>
              <a:rPr lang="ko-KR" altLang="en-US" dirty="0"/>
              <a:t>조사</a:t>
            </a:r>
            <a:r>
              <a:rPr lang="en-US" altLang="ko-KR" dirty="0"/>
              <a:t>: </a:t>
            </a:r>
            <a:r>
              <a:rPr lang="ko-KR" altLang="en-US" dirty="0"/>
              <a:t>불량원인 조사 </a:t>
            </a:r>
            <a:r>
              <a:rPr lang="en-US" altLang="ko-KR" dirty="0"/>
              <a:t>=&gt;</a:t>
            </a:r>
            <a:r>
              <a:rPr lang="ko-KR" altLang="en-US" dirty="0"/>
              <a:t>찢어짐과 구멍 뚫림이 </a:t>
            </a:r>
            <a:r>
              <a:rPr lang="en-US" altLang="ko-KR" dirty="0"/>
              <a:t>78% </a:t>
            </a:r>
            <a:r>
              <a:rPr lang="ko-KR" altLang="en-US" dirty="0"/>
              <a:t>차지함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2814596"/>
            <a:ext cx="4959252" cy="30406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528010-4798-4459-9AD3-AD2F4472A9FE}"/>
              </a:ext>
            </a:extLst>
          </p:cNvPr>
          <p:cNvSpPr txBox="1"/>
          <p:nvPr/>
        </p:nvSpPr>
        <p:spPr>
          <a:xfrm>
            <a:off x="1907704" y="6165304"/>
            <a:ext cx="56166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출저</a:t>
            </a:r>
            <a:r>
              <a:rPr lang="en-US" altLang="ko-KR" sz="1100" dirty="0"/>
              <a:t>: (</a:t>
            </a:r>
            <a:r>
              <a:rPr lang="ko-KR" altLang="en-US" sz="1100" dirty="0"/>
              <a:t>부교재</a:t>
            </a:r>
            <a:r>
              <a:rPr lang="en-US" altLang="ko-KR" sz="1100" dirty="0"/>
              <a:t>)</a:t>
            </a:r>
            <a:r>
              <a:rPr lang="ko-KR" altLang="en-US" sz="1100" dirty="0"/>
              <a:t>엑셀을 이용한 통계학</a:t>
            </a:r>
            <a:r>
              <a:rPr lang="en-US" altLang="ko-KR" sz="1100" dirty="0"/>
              <a:t>, </a:t>
            </a:r>
            <a:r>
              <a:rPr lang="ko-KR" altLang="en-US" sz="1100" dirty="0"/>
              <a:t>자유아카데미</a:t>
            </a:r>
            <a:r>
              <a:rPr lang="en-US" altLang="ko-KR" sz="1100" dirty="0"/>
              <a:t>, </a:t>
            </a:r>
            <a:r>
              <a:rPr lang="ko-KR" altLang="en-US" sz="1100" dirty="0"/>
              <a:t>김진경 외 </a:t>
            </a:r>
            <a:r>
              <a:rPr lang="en-US" altLang="ko-KR" sz="1100" dirty="0"/>
              <a:t>5</a:t>
            </a:r>
            <a:r>
              <a:rPr lang="ko-KR" altLang="en-US" sz="1100" dirty="0"/>
              <a:t>명</a:t>
            </a:r>
          </a:p>
        </p:txBody>
      </p:sp>
    </p:spTree>
    <p:extLst>
      <p:ext uri="{BB962C8B-B14F-4D97-AF65-F5344CB8AC3E}">
        <p14:creationId xmlns:p14="http://schemas.microsoft.com/office/powerpoint/2010/main" val="2367986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142875" y="1285875"/>
          <a:ext cx="4714875" cy="250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5" name="차트" r:id="rId3" imgW="5839251" imgH="3572256" progId="Excel.Chart.8">
                  <p:embed/>
                </p:oleObj>
              </mc:Choice>
              <mc:Fallback>
                <p:oleObj name="차트" r:id="rId3" imgW="5839251" imgH="3572256" progId="Excel.Char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" y="1285875"/>
                        <a:ext cx="4714875" cy="2500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" name="Text Box 3"/>
          <p:cNvSpPr txBox="1">
            <a:spLocks noChangeArrowheads="1"/>
          </p:cNvSpPr>
          <p:nvPr/>
        </p:nvSpPr>
        <p:spPr bwMode="auto">
          <a:xfrm>
            <a:off x="2286000" y="571500"/>
            <a:ext cx="3657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3200">
                <a:latin typeface="굴림" pitchFamily="50" charset="-127"/>
              </a:rPr>
              <a:t>파레토그림</a:t>
            </a:r>
          </a:p>
        </p:txBody>
      </p:sp>
      <p:graphicFrame>
        <p:nvGraphicFramePr>
          <p:cNvPr id="2051" name="Object 4"/>
          <p:cNvGraphicFramePr>
            <a:graphicFrameLocks/>
          </p:cNvGraphicFramePr>
          <p:nvPr/>
        </p:nvGraphicFramePr>
        <p:xfrm>
          <a:off x="3786188" y="3643313"/>
          <a:ext cx="5000625" cy="294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6" name="차트" r:id="rId5" imgW="4619625" imgH="2657450" progId="Excel.Chart.8">
                  <p:embed/>
                </p:oleObj>
              </mc:Choice>
              <mc:Fallback>
                <p:oleObj name="차트" r:id="rId5" imgW="4619625" imgH="2657450" progId="Excel.Chart.8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8" y="3643313"/>
                        <a:ext cx="5000625" cy="294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 algn="ctr">
                            <a:solidFill>
                              <a:srgbClr val="3366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직사각형 4"/>
          <p:cNvSpPr/>
          <p:nvPr/>
        </p:nvSpPr>
        <p:spPr>
          <a:xfrm>
            <a:off x="500034" y="3857628"/>
            <a:ext cx="2749471" cy="4616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ko-KR" altLang="en-US" dirty="0">
                <a:ln w="6350">
                  <a:solidFill>
                    <a:schemeClr val="tx1"/>
                  </a:solidFill>
                </a:ln>
                <a:latin typeface="굴림" pitchFamily="50" charset="-127"/>
              </a:rPr>
              <a:t>혈액형 </a:t>
            </a:r>
            <a:r>
              <a:rPr lang="ko-KR" altLang="en-US" dirty="0" err="1">
                <a:ln w="6350">
                  <a:solidFill>
                    <a:schemeClr val="tx1"/>
                  </a:solidFill>
                </a:ln>
                <a:latin typeface="굴림" pitchFamily="50" charset="-127"/>
              </a:rPr>
              <a:t>파레토그림</a:t>
            </a:r>
            <a:endParaRPr lang="ko-KR" altLang="en-US" dirty="0">
              <a:ln w="6350">
                <a:solidFill>
                  <a:schemeClr val="tx1"/>
                </a:solidFill>
              </a:ln>
              <a:latin typeface="굴림" pitchFamily="50" charset="-127"/>
            </a:endParaRPr>
          </a:p>
        </p:txBody>
      </p:sp>
      <p:graphicFrame>
        <p:nvGraphicFramePr>
          <p:cNvPr id="8" name="차트 7"/>
          <p:cNvGraphicFramePr/>
          <p:nvPr/>
        </p:nvGraphicFramePr>
        <p:xfrm>
          <a:off x="4932040" y="1268760"/>
          <a:ext cx="3744416" cy="2304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/>
              <a:t>엑셀 데이터 분석 설치</a:t>
            </a:r>
          </a:p>
        </p:txBody>
      </p:sp>
      <p:sp>
        <p:nvSpPr>
          <p:cNvPr id="14339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EXCEL</a:t>
            </a:r>
          </a:p>
          <a:p>
            <a:pPr lvl="1"/>
            <a:r>
              <a:rPr lang="ko-KR" altLang="en-US" dirty="0"/>
              <a:t>파일</a:t>
            </a:r>
            <a:r>
              <a:rPr lang="en-US" altLang="ko-KR" dirty="0"/>
              <a:t>-&gt;</a:t>
            </a:r>
            <a:r>
              <a:rPr lang="ko-KR" altLang="en-US" dirty="0"/>
              <a:t>옵션</a:t>
            </a:r>
            <a:r>
              <a:rPr lang="en-US" altLang="ko-KR" dirty="0"/>
              <a:t>-&gt;</a:t>
            </a:r>
            <a:r>
              <a:rPr lang="ko-KR" altLang="en-US" dirty="0"/>
              <a:t>추가기능</a:t>
            </a:r>
            <a:r>
              <a:rPr lang="en-US" altLang="ko-KR" dirty="0"/>
              <a:t>-&gt;</a:t>
            </a:r>
            <a:r>
              <a:rPr lang="ko-KR" altLang="en-US" dirty="0"/>
              <a:t>선택 후 </a:t>
            </a:r>
            <a:r>
              <a:rPr lang="ko-KR" altLang="en-US" dirty="0" err="1"/>
              <a:t>이동단추</a:t>
            </a:r>
            <a:r>
              <a:rPr lang="ko-KR" altLang="en-US" dirty="0"/>
              <a:t> 클릭</a:t>
            </a:r>
            <a:endParaRPr lang="en-US" altLang="ko-KR" dirty="0"/>
          </a:p>
          <a:p>
            <a:pPr lvl="1"/>
            <a:r>
              <a:rPr lang="ko-KR" altLang="en-US" dirty="0"/>
              <a:t>분석도구 선택 후</a:t>
            </a:r>
            <a:r>
              <a:rPr lang="en-US" altLang="ko-KR" dirty="0"/>
              <a:t>-&gt; </a:t>
            </a:r>
            <a:r>
              <a:rPr lang="ko-KR" altLang="en-US" dirty="0"/>
              <a:t>확인</a:t>
            </a:r>
            <a:endParaRPr lang="en-US" altLang="ko-KR" dirty="0"/>
          </a:p>
          <a:p>
            <a:pPr lvl="1"/>
            <a:r>
              <a:rPr lang="ko-KR" altLang="en-US" dirty="0"/>
              <a:t>데이터메뉴에 데이터분석 항목 확인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609600"/>
            <a:ext cx="7772400" cy="381000"/>
          </a:xfrm>
        </p:spPr>
        <p:txBody>
          <a:bodyPr/>
          <a:lstStyle/>
          <a:p>
            <a:pPr eaLnBrk="1" hangingPunct="1"/>
            <a:r>
              <a:rPr lang="en-US" altLang="ko-KR" dirty="0"/>
              <a:t>Excel </a:t>
            </a:r>
            <a:r>
              <a:rPr lang="ko-KR" altLang="en-US" dirty="0"/>
              <a:t>실습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268760"/>
            <a:ext cx="8424936" cy="4724400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ko-KR" dirty="0"/>
              <a:t>	</a:t>
            </a:r>
            <a:r>
              <a:rPr lang="ko-KR" altLang="en-US" dirty="0"/>
              <a:t>아래 표를 이용하여 원형그래프</a:t>
            </a:r>
            <a:r>
              <a:rPr lang="en-US" altLang="ko-KR" dirty="0"/>
              <a:t>, </a:t>
            </a:r>
            <a:r>
              <a:rPr lang="ko-KR" altLang="en-US" dirty="0"/>
              <a:t>막대그래프와 </a:t>
            </a:r>
            <a:r>
              <a:rPr lang="ko-KR" altLang="en-US" dirty="0" err="1"/>
              <a:t>파레토그래프를</a:t>
            </a:r>
            <a:r>
              <a:rPr lang="ko-KR" altLang="en-US" dirty="0"/>
              <a:t> 그린다</a:t>
            </a:r>
            <a:r>
              <a:rPr lang="en-US" altLang="ko-KR" dirty="0"/>
              <a:t>. 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dirty="0"/>
              <a:t>step1. </a:t>
            </a:r>
            <a:r>
              <a:rPr lang="ko-KR" altLang="en-US" dirty="0"/>
              <a:t>데이터를 엑셀에 복사한 후 데이터 선택 후 차트 종류 선택</a:t>
            </a:r>
            <a:endParaRPr lang="en-US" altLang="ko-KR" dirty="0"/>
          </a:p>
          <a:p>
            <a:pPr marL="609600" indent="-609600" eaLnBrk="1" hangingPunct="1">
              <a:buFontTx/>
              <a:buNone/>
            </a:pPr>
            <a:endParaRPr lang="en-US" altLang="ko-KR" dirty="0"/>
          </a:p>
          <a:p>
            <a:pPr marL="609600" indent="-609600" eaLnBrk="1" hangingPunct="1">
              <a:buFontTx/>
              <a:buNone/>
            </a:pPr>
            <a:endParaRPr lang="en-US" altLang="ko-KR" dirty="0"/>
          </a:p>
          <a:p>
            <a:pPr marL="609600" indent="-609600" eaLnBrk="1" hangingPunct="1">
              <a:buFontTx/>
              <a:buNone/>
            </a:pPr>
            <a:endParaRPr lang="en-US" altLang="ko-KR" sz="2800" dirty="0"/>
          </a:p>
        </p:txBody>
      </p:sp>
      <p:graphicFrame>
        <p:nvGraphicFramePr>
          <p:cNvPr id="14366" name="Group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571024"/>
              </p:ext>
            </p:extLst>
          </p:nvPr>
        </p:nvGraphicFramePr>
        <p:xfrm>
          <a:off x="1883110" y="3618384"/>
          <a:ext cx="5377780" cy="3054096"/>
        </p:xfrm>
        <a:graphic>
          <a:graphicData uri="http://schemas.openxmlformats.org/drawingml/2006/table">
            <a:tbl>
              <a:tblPr/>
              <a:tblGrid>
                <a:gridCol w="1212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90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81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75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21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혈액형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혈액형돗수</a:t>
                      </a:r>
                      <a:endParaRPr kumimoji="1" lang="ko-KR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상대돗수</a:t>
                      </a:r>
                      <a:r>
                        <a:rPr kumimoji="1" lang="en-US" altLang="ko-K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(%)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각도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66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AB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22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7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36.67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33.33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11.67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18.33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132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120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42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1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합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1268760"/>
            <a:ext cx="7990656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2800" dirty="0"/>
              <a:t>1</a:t>
            </a:r>
            <a:r>
              <a:rPr lang="ko-KR" altLang="en-US" sz="2800" dirty="0"/>
              <a:t>단계</a:t>
            </a:r>
            <a:r>
              <a:rPr lang="en-US" altLang="ko-KR" sz="2800" dirty="0"/>
              <a:t>: </a:t>
            </a:r>
            <a:r>
              <a:rPr lang="ko-KR" altLang="en-US" sz="2800" dirty="0"/>
              <a:t>삽입</a:t>
            </a:r>
            <a:r>
              <a:rPr lang="en-US" altLang="ko-KR" sz="2800" dirty="0"/>
              <a:t>=&gt;</a:t>
            </a:r>
            <a:r>
              <a:rPr lang="ko-KR" altLang="en-US" sz="2800" dirty="0"/>
              <a:t>차트종류 선택</a:t>
            </a:r>
            <a:r>
              <a:rPr lang="en-US" altLang="ko-KR" sz="2800" dirty="0"/>
              <a:t>(</a:t>
            </a:r>
            <a:r>
              <a:rPr lang="ko-KR" altLang="en-US" sz="2800" dirty="0"/>
              <a:t>세로막대형 선택</a:t>
            </a:r>
            <a:r>
              <a:rPr lang="en-US" altLang="ko-KR" sz="2800" dirty="0"/>
              <a:t>, 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ko-KR" sz="2800" dirty="0"/>
              <a:t>           </a:t>
            </a:r>
            <a:r>
              <a:rPr lang="ko-KR" altLang="en-US" sz="2800" dirty="0"/>
              <a:t>누적세로막대형 시도해 볼 것</a:t>
            </a:r>
            <a:r>
              <a:rPr lang="en-US" altLang="ko-KR" sz="2800" dirty="0"/>
              <a:t>)</a:t>
            </a:r>
          </a:p>
          <a:p>
            <a:pPr eaLnBrk="1" hangingPunct="1">
              <a:lnSpc>
                <a:spcPct val="90000"/>
              </a:lnSpc>
            </a:pPr>
            <a:endParaRPr lang="en-US" altLang="ko-KR" sz="2800" dirty="0"/>
          </a:p>
          <a:p>
            <a:pPr eaLnBrk="1" hangingPunct="1">
              <a:lnSpc>
                <a:spcPct val="90000"/>
              </a:lnSpc>
            </a:pPr>
            <a:r>
              <a:rPr lang="en-US" altLang="ko-KR" sz="2800" dirty="0"/>
              <a:t>2</a:t>
            </a:r>
            <a:r>
              <a:rPr lang="ko-KR" altLang="en-US" sz="2800" dirty="0"/>
              <a:t>단계</a:t>
            </a:r>
            <a:r>
              <a:rPr lang="en-US" altLang="ko-KR" sz="2800" dirty="0"/>
              <a:t>: </a:t>
            </a:r>
            <a:r>
              <a:rPr lang="ko-KR" altLang="en-US" sz="2800" dirty="0"/>
              <a:t>차트도구</a:t>
            </a:r>
            <a:r>
              <a:rPr lang="en-US" altLang="ko-KR" sz="2800" dirty="0"/>
              <a:t>=&gt;</a:t>
            </a:r>
            <a:r>
              <a:rPr lang="ko-KR" altLang="en-US" sz="2800" dirty="0"/>
              <a:t>디자인</a:t>
            </a:r>
            <a:r>
              <a:rPr lang="en-US" altLang="ko-KR" sz="2800" dirty="0"/>
              <a:t>=&gt;</a:t>
            </a:r>
            <a:r>
              <a:rPr lang="ko-KR" altLang="en-US" sz="2800" dirty="0"/>
              <a:t>차트 스타일 선택</a:t>
            </a:r>
            <a:endParaRPr lang="en-US" altLang="ko-KR" sz="2800" dirty="0"/>
          </a:p>
          <a:p>
            <a:pPr eaLnBrk="1" hangingPunct="1">
              <a:lnSpc>
                <a:spcPct val="90000"/>
              </a:lnSpc>
            </a:pPr>
            <a:endParaRPr lang="en-US" altLang="ko-KR" sz="2800" dirty="0"/>
          </a:p>
          <a:p>
            <a:pPr eaLnBrk="1" hangingPunct="1">
              <a:lnSpc>
                <a:spcPct val="90000"/>
              </a:lnSpc>
            </a:pPr>
            <a:r>
              <a:rPr lang="en-US" altLang="ko-KR" sz="2800" dirty="0"/>
              <a:t>3</a:t>
            </a:r>
            <a:r>
              <a:rPr lang="ko-KR" altLang="en-US" sz="2800" dirty="0"/>
              <a:t>단계 </a:t>
            </a:r>
            <a:r>
              <a:rPr lang="en-US" altLang="ko-KR" sz="2800" dirty="0"/>
              <a:t>: </a:t>
            </a:r>
            <a:r>
              <a:rPr lang="ko-KR" altLang="en-US" sz="2800" dirty="0"/>
              <a:t>막대차트를 선택한 후 차트 오른쪽 핸들을 이용한 편집</a:t>
            </a:r>
            <a:endParaRPr lang="en-US" altLang="ko-KR" sz="2800" dirty="0"/>
          </a:p>
          <a:p>
            <a:pPr lvl="1" eaLnBrk="1" hangingPunct="1">
              <a:lnSpc>
                <a:spcPct val="90000"/>
              </a:lnSpc>
            </a:pPr>
            <a:r>
              <a:rPr lang="ko-KR" altLang="en-US" sz="2400" dirty="0"/>
              <a:t>범례</a:t>
            </a:r>
            <a:endParaRPr lang="en-US" altLang="ko-KR" sz="2400" dirty="0"/>
          </a:p>
          <a:p>
            <a:pPr lvl="1" eaLnBrk="1" hangingPunct="1">
              <a:lnSpc>
                <a:spcPct val="90000"/>
              </a:lnSpc>
            </a:pPr>
            <a:r>
              <a:rPr lang="ko-KR" altLang="en-US" sz="2400" dirty="0" err="1"/>
              <a:t>데이터레이블</a:t>
            </a:r>
            <a:endParaRPr lang="en-US" altLang="ko-KR" sz="2400" dirty="0"/>
          </a:p>
          <a:p>
            <a:pPr lvl="1" eaLnBrk="1" hangingPunct="1">
              <a:lnSpc>
                <a:spcPct val="90000"/>
              </a:lnSpc>
            </a:pPr>
            <a:r>
              <a:rPr lang="ko-KR" altLang="en-US" sz="2400" dirty="0" err="1"/>
              <a:t>축제목</a:t>
            </a:r>
            <a:r>
              <a:rPr lang="en-US" altLang="ko-KR" sz="2400" dirty="0"/>
              <a:t>: </a:t>
            </a:r>
            <a:r>
              <a:rPr lang="ko-KR" altLang="en-US" sz="2400" dirty="0"/>
              <a:t>혈액형</a:t>
            </a:r>
            <a:r>
              <a:rPr lang="en-US" altLang="ko-KR" sz="2400" dirty="0"/>
              <a:t>, </a:t>
            </a:r>
            <a:r>
              <a:rPr lang="ko-KR" altLang="en-US" sz="2400" dirty="0"/>
              <a:t>도수</a:t>
            </a:r>
            <a:endParaRPr lang="en-US" altLang="ko-KR" sz="2400" dirty="0"/>
          </a:p>
          <a:p>
            <a:pPr lvl="1" eaLnBrk="1" hangingPunct="1">
              <a:lnSpc>
                <a:spcPct val="90000"/>
              </a:lnSpc>
            </a:pPr>
            <a:r>
              <a:rPr lang="ko-KR" altLang="en-US" sz="2400" dirty="0"/>
              <a:t>차트제목 편집</a:t>
            </a:r>
            <a:r>
              <a:rPr lang="en-US" altLang="ko-KR" sz="2400" dirty="0"/>
              <a:t>: </a:t>
            </a:r>
            <a:r>
              <a:rPr lang="ko-KR" altLang="en-US" sz="2400" dirty="0"/>
              <a:t>혈액형 분포</a:t>
            </a:r>
            <a:endParaRPr lang="en-US" altLang="ko-KR" sz="2400" dirty="0"/>
          </a:p>
          <a:p>
            <a:pPr lvl="1" eaLnBrk="1" hangingPunct="1">
              <a:lnSpc>
                <a:spcPct val="90000"/>
              </a:lnSpc>
            </a:pPr>
            <a:r>
              <a:rPr lang="ko-KR" altLang="en-US" sz="2400" dirty="0"/>
              <a:t>차트 필터를 이용하여 데이터 선택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ko-KR" sz="2800" dirty="0"/>
          </a:p>
        </p:txBody>
      </p:sp>
      <p:sp>
        <p:nvSpPr>
          <p:cNvPr id="16387" name="Rectangle 4"/>
          <p:cNvSpPr>
            <a:spLocks noChangeArrowheads="1"/>
          </p:cNvSpPr>
          <p:nvPr/>
        </p:nvSpPr>
        <p:spPr bwMode="auto">
          <a:xfrm>
            <a:off x="1295400" y="457200"/>
            <a:ext cx="4789488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ko-KR" altLang="en-US" sz="3200">
                <a:solidFill>
                  <a:schemeClr val="folHlink"/>
                </a:solidFill>
                <a:latin typeface="굴림" pitchFamily="50" charset="-127"/>
              </a:rPr>
              <a:t>세로막대 누적도수그래프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8134672" cy="3733800"/>
          </a:xfrm>
        </p:spPr>
        <p:txBody>
          <a:bodyPr/>
          <a:lstStyle/>
          <a:p>
            <a:pPr eaLnBrk="1" hangingPunct="1"/>
            <a:r>
              <a:rPr lang="ko-KR" altLang="en-US" dirty="0"/>
              <a:t>데이터 선택 후</a:t>
            </a:r>
            <a:r>
              <a:rPr lang="en-US" altLang="ko-KR" dirty="0"/>
              <a:t>  </a:t>
            </a:r>
          </a:p>
          <a:p>
            <a:pPr eaLnBrk="1" hangingPunct="1"/>
            <a:r>
              <a:rPr lang="en-US" altLang="ko-KR" dirty="0"/>
              <a:t>1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차트종류 선택</a:t>
            </a:r>
            <a:r>
              <a:rPr lang="en-US" altLang="ko-KR" dirty="0"/>
              <a:t>(</a:t>
            </a:r>
            <a:r>
              <a:rPr lang="en-US" altLang="ko-KR" dirty="0">
                <a:latin typeface="Times New Roman" pitchFamily="18" charset="0"/>
              </a:rPr>
              <a:t>‘</a:t>
            </a:r>
            <a:r>
              <a:rPr lang="ko-KR" altLang="en-US" dirty="0"/>
              <a:t>원형</a:t>
            </a:r>
            <a:r>
              <a:rPr lang="ko-KR" altLang="en-US" dirty="0">
                <a:latin typeface="Times New Roman" pitchFamily="18" charset="0"/>
              </a:rPr>
              <a:t>’</a:t>
            </a:r>
            <a:r>
              <a:rPr lang="ko-KR" altLang="en-US" dirty="0"/>
              <a:t>을 선택</a:t>
            </a:r>
            <a:r>
              <a:rPr lang="en-US" altLang="ko-KR" dirty="0"/>
              <a:t>)</a:t>
            </a:r>
            <a:endParaRPr lang="ko-KR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ko-KR" dirty="0"/>
              <a:t>2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차트도구</a:t>
            </a:r>
            <a:r>
              <a:rPr lang="en-US" altLang="ko-KR" dirty="0"/>
              <a:t>=&gt;</a:t>
            </a:r>
            <a:r>
              <a:rPr lang="ko-KR" altLang="en-US" dirty="0"/>
              <a:t>디자인</a:t>
            </a:r>
            <a:r>
              <a:rPr lang="en-US" altLang="ko-KR" dirty="0"/>
              <a:t>=&gt;</a:t>
            </a:r>
            <a:r>
              <a:rPr lang="ko-KR" altLang="en-US" dirty="0"/>
              <a:t> 차트 스타일 선택</a:t>
            </a:r>
            <a:endParaRPr lang="en-US" altLang="ko-KR" dirty="0"/>
          </a:p>
          <a:p>
            <a:pPr eaLnBrk="1" hangingPunct="1"/>
            <a:r>
              <a:rPr lang="en-US" altLang="ko-KR" dirty="0"/>
              <a:t>3</a:t>
            </a:r>
            <a:r>
              <a:rPr lang="ko-KR" altLang="en-US" dirty="0"/>
              <a:t>단계 </a:t>
            </a:r>
            <a:r>
              <a:rPr lang="en-US" altLang="ko-KR" dirty="0"/>
              <a:t>: </a:t>
            </a:r>
            <a:r>
              <a:rPr lang="ko-KR" altLang="en-US" dirty="0"/>
              <a:t>막대차트를 선택한 후 차트 오른쪽 핸들을 이용한 편집</a:t>
            </a:r>
            <a:endParaRPr lang="en-US" altLang="ko-KR" dirty="0"/>
          </a:p>
          <a:p>
            <a:pPr lvl="1" eaLnBrk="1" hangingPunct="1"/>
            <a:r>
              <a:rPr lang="ko-KR" altLang="en-US" sz="2400" dirty="0"/>
              <a:t>나머지 단계는 막대그래프와 동일</a:t>
            </a:r>
            <a:endParaRPr lang="en-US" altLang="ko-KR" sz="2400" dirty="0"/>
          </a:p>
          <a:p>
            <a:pPr eaLnBrk="1" hangingPunct="1"/>
            <a:endParaRPr lang="en-US" altLang="ko-KR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>
          <a:xfrm>
            <a:off x="1371600" y="685800"/>
            <a:ext cx="7772400" cy="381000"/>
          </a:xfrm>
          <a:noFill/>
        </p:spPr>
        <p:txBody>
          <a:bodyPr anchor="ctr"/>
          <a:lstStyle/>
          <a:p>
            <a:pPr eaLnBrk="1" hangingPunct="1"/>
            <a:r>
              <a:rPr lang="ko-KR" altLang="en-US" sz="3200" dirty="0">
                <a:solidFill>
                  <a:schemeClr val="folHlink"/>
                </a:solidFill>
              </a:rPr>
              <a:t>원형차트</a:t>
            </a:r>
            <a:r>
              <a:rPr lang="en-US" altLang="ko-KR" sz="3200" dirty="0">
                <a:solidFill>
                  <a:schemeClr val="folHlink"/>
                </a:solidFill>
              </a:rPr>
              <a:t>(Pie Chart)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11560" y="1268760"/>
            <a:ext cx="7702624" cy="5001344"/>
          </a:xfrm>
        </p:spPr>
        <p:txBody>
          <a:bodyPr/>
          <a:lstStyle/>
          <a:p>
            <a:pPr marL="914400" lvl="1" indent="-457200" eaLnBrk="1" hangingPunct="1">
              <a:lnSpc>
                <a:spcPct val="90000"/>
              </a:lnSpc>
              <a:buFont typeface="Wingdings" pitchFamily="2" charset="2"/>
              <a:buChar char="u"/>
            </a:pPr>
            <a:r>
              <a:rPr lang="ko-KR" altLang="en-US" sz="2400" dirty="0"/>
              <a:t>상대돗수를 구한다</a:t>
            </a:r>
          </a:p>
          <a:p>
            <a:pPr marL="914400" lvl="1" indent="-457200" eaLnBrk="1" hangingPunct="1">
              <a:lnSpc>
                <a:spcPct val="90000"/>
              </a:lnSpc>
              <a:buFont typeface="Wingdings" pitchFamily="2" charset="2"/>
              <a:buChar char="u"/>
            </a:pPr>
            <a:r>
              <a:rPr lang="ko-KR" altLang="en-US" sz="2400" dirty="0"/>
              <a:t>상대돗수의 </a:t>
            </a:r>
            <a:r>
              <a:rPr lang="ko-KR" altLang="en-US" sz="2400" dirty="0" err="1"/>
              <a:t>크기순으로</a:t>
            </a:r>
            <a:r>
              <a:rPr lang="ko-KR" altLang="en-US" sz="2400" dirty="0"/>
              <a:t> 돗수분포표 정렬</a:t>
            </a:r>
          </a:p>
          <a:p>
            <a:pPr marL="1371600" lvl="2" indent="-457200" eaLnBrk="1" hangingPunct="1">
              <a:lnSpc>
                <a:spcPct val="90000"/>
              </a:lnSpc>
              <a:buFont typeface="Wingdings" pitchFamily="2" charset="2"/>
              <a:buChar char="u"/>
            </a:pPr>
            <a:r>
              <a:rPr lang="ko-KR" altLang="en-US" sz="2000" dirty="0"/>
              <a:t>데이터</a:t>
            </a:r>
            <a:r>
              <a:rPr lang="en-US" altLang="ko-KR" sz="2000" dirty="0"/>
              <a:t>=&gt; </a:t>
            </a:r>
            <a:r>
              <a:rPr lang="ko-KR" altLang="en-US" sz="2000" dirty="0"/>
              <a:t>정렬</a:t>
            </a:r>
            <a:r>
              <a:rPr lang="en-US" altLang="ko-KR" sz="2000" dirty="0"/>
              <a:t>=&gt; </a:t>
            </a:r>
            <a:r>
              <a:rPr lang="ko-KR" altLang="en-US" sz="2000" dirty="0"/>
              <a:t>정렬기준으로 상대돗수 열 선택</a:t>
            </a:r>
            <a:r>
              <a:rPr lang="en-US" altLang="ko-KR" sz="2000" dirty="0"/>
              <a:t>(</a:t>
            </a:r>
            <a:r>
              <a:rPr lang="ko-KR" altLang="en-US" sz="2000" dirty="0"/>
              <a:t>내림차순</a:t>
            </a:r>
            <a:r>
              <a:rPr lang="en-US" altLang="ko-KR" sz="2000" dirty="0"/>
              <a:t>)</a:t>
            </a:r>
          </a:p>
          <a:p>
            <a:pPr marL="914400" lvl="1" indent="-457200" eaLnBrk="1" hangingPunct="1">
              <a:lnSpc>
                <a:spcPct val="90000"/>
              </a:lnSpc>
              <a:buFont typeface="Wingdings" pitchFamily="2" charset="2"/>
              <a:buChar char="u"/>
            </a:pPr>
            <a:r>
              <a:rPr lang="ko-KR" altLang="en-US" sz="2400" dirty="0"/>
              <a:t>상대누적돗수 계산</a:t>
            </a:r>
          </a:p>
          <a:p>
            <a:pPr marL="914400" lvl="1" indent="-457200" eaLnBrk="1" hangingPunct="1">
              <a:lnSpc>
                <a:spcPct val="90000"/>
              </a:lnSpc>
              <a:buFont typeface="Wingdings" pitchFamily="2" charset="2"/>
              <a:buChar char="u"/>
            </a:pPr>
            <a:r>
              <a:rPr lang="ko-KR" altLang="en-US" sz="2400" dirty="0"/>
              <a:t>막대그래프를 그린다</a:t>
            </a:r>
            <a:r>
              <a:rPr lang="en-US" altLang="ko-KR" sz="2400" dirty="0"/>
              <a:t>(</a:t>
            </a:r>
            <a:r>
              <a:rPr lang="ko-KR" altLang="en-US" sz="2000" dirty="0"/>
              <a:t>혈액형</a:t>
            </a:r>
            <a:r>
              <a:rPr lang="en-US" altLang="ko-KR" sz="2000" dirty="0"/>
              <a:t>, </a:t>
            </a:r>
            <a:r>
              <a:rPr lang="ko-KR" altLang="en-US" sz="2000" dirty="0"/>
              <a:t>돗수</a:t>
            </a:r>
            <a:r>
              <a:rPr lang="en-US" altLang="ko-KR" sz="2000" dirty="0"/>
              <a:t>, </a:t>
            </a:r>
            <a:r>
              <a:rPr lang="ko-KR" altLang="en-US" sz="2000" dirty="0"/>
              <a:t>누적상대돗수</a:t>
            </a:r>
            <a:r>
              <a:rPr lang="en-US" altLang="ko-KR" sz="2400" dirty="0"/>
              <a:t>)</a:t>
            </a:r>
            <a:endParaRPr lang="ko-KR" altLang="en-US" sz="2400" dirty="0"/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Char char="u"/>
            </a:pPr>
            <a:endParaRPr lang="en-US" altLang="ko-KR" sz="2400" dirty="0"/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1516063" y="457200"/>
            <a:ext cx="2368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ko-KR" sz="3600" dirty="0">
                <a:solidFill>
                  <a:schemeClr val="folHlink"/>
                </a:solidFill>
                <a:latin typeface="굴림" pitchFamily="50" charset="-127"/>
              </a:rPr>
              <a:t> </a:t>
            </a:r>
            <a:r>
              <a:rPr lang="ko-KR" altLang="en-US" sz="3200" dirty="0" err="1">
                <a:solidFill>
                  <a:schemeClr val="folHlink"/>
                </a:solidFill>
                <a:latin typeface="굴림" pitchFamily="50" charset="-127"/>
              </a:rPr>
              <a:t>파레토그림</a:t>
            </a:r>
            <a:endParaRPr lang="ko-KR" altLang="en-US" sz="3200" dirty="0">
              <a:solidFill>
                <a:schemeClr val="folHlink"/>
              </a:solidFill>
              <a:latin typeface="굴림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739400B-9946-4320-9C7F-E17D44D4C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982442"/>
              </p:ext>
            </p:extLst>
          </p:nvPr>
        </p:nvGraphicFramePr>
        <p:xfrm>
          <a:off x="0" y="4018144"/>
          <a:ext cx="3491879" cy="1859128"/>
        </p:xfrm>
        <a:graphic>
          <a:graphicData uri="http://schemas.openxmlformats.org/drawingml/2006/table">
            <a:tbl>
              <a:tblPr/>
              <a:tblGrid>
                <a:gridCol w="948699">
                  <a:extLst>
                    <a:ext uri="{9D8B030D-6E8A-4147-A177-3AD203B41FA5}">
                      <a16:colId xmlns:a16="http://schemas.microsoft.com/office/drawing/2014/main" val="808282680"/>
                    </a:ext>
                  </a:extLst>
                </a:gridCol>
                <a:gridCol w="719014">
                  <a:extLst>
                    <a:ext uri="{9D8B030D-6E8A-4147-A177-3AD203B41FA5}">
                      <a16:colId xmlns:a16="http://schemas.microsoft.com/office/drawing/2014/main" val="2661643033"/>
                    </a:ext>
                  </a:extLst>
                </a:gridCol>
                <a:gridCol w="719014">
                  <a:extLst>
                    <a:ext uri="{9D8B030D-6E8A-4147-A177-3AD203B41FA5}">
                      <a16:colId xmlns:a16="http://schemas.microsoft.com/office/drawing/2014/main" val="743198331"/>
                    </a:ext>
                  </a:extLst>
                </a:gridCol>
                <a:gridCol w="1105152">
                  <a:extLst>
                    <a:ext uri="{9D8B030D-6E8A-4147-A177-3AD203B41FA5}">
                      <a16:colId xmlns:a16="http://schemas.microsoft.com/office/drawing/2014/main" val="1795586124"/>
                    </a:ext>
                  </a:extLst>
                </a:gridCol>
              </a:tblGrid>
              <a:tr h="23239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불량의 종류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상대도수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누적상대도수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7839762"/>
                  </a:ext>
                </a:extLst>
              </a:tr>
              <a:tr h="23239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찢어짐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044686"/>
                  </a:ext>
                </a:extLst>
              </a:tr>
              <a:tr h="23239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구멍 뚫림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1913145"/>
                  </a:ext>
                </a:extLst>
              </a:tr>
              <a:tr h="23239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6322790"/>
                  </a:ext>
                </a:extLst>
              </a:tr>
              <a:tr h="23239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잘못 접혀짐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547194"/>
                  </a:ext>
                </a:extLst>
              </a:tr>
              <a:tr h="23239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크기 불량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131389"/>
                  </a:ext>
                </a:extLst>
              </a:tr>
              <a:tr h="23239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두께 불량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732205"/>
                  </a:ext>
                </a:extLst>
              </a:tr>
              <a:tr h="23239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3900187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2F0D761B-0EC8-4347-9F5D-F27166B17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974" y="3923252"/>
            <a:ext cx="5405953" cy="290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6529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1699" y="1399456"/>
            <a:ext cx="5150380" cy="5001344"/>
          </a:xfrm>
        </p:spPr>
        <p:txBody>
          <a:bodyPr/>
          <a:lstStyle/>
          <a:p>
            <a:pPr marL="514350" indent="-457200" eaLnBrk="1" hangingPunct="1">
              <a:lnSpc>
                <a:spcPct val="90000"/>
              </a:lnSpc>
              <a:buFont typeface="Wingdings" pitchFamily="2" charset="2"/>
              <a:buChar char="u"/>
            </a:pPr>
            <a:r>
              <a:rPr lang="ko-KR" altLang="en-US" sz="2800" dirty="0"/>
              <a:t>이중 축 사용</a:t>
            </a:r>
          </a:p>
          <a:p>
            <a:pPr marL="971550" lvl="1" indent="-457200" eaLnBrk="1" hangingPunct="1">
              <a:lnSpc>
                <a:spcPct val="90000"/>
              </a:lnSpc>
              <a:buFont typeface="Wingdings" pitchFamily="2" charset="2"/>
              <a:buChar char="u"/>
            </a:pPr>
            <a:r>
              <a:rPr lang="ko-KR" altLang="en-US" sz="2200" dirty="0"/>
              <a:t>상대누적도수 막대그래프 선택</a:t>
            </a:r>
            <a:r>
              <a:rPr lang="en-US" altLang="ko-KR" sz="2200" dirty="0"/>
              <a:t>=&gt;</a:t>
            </a:r>
            <a:r>
              <a:rPr lang="ko-KR" altLang="en-US" sz="2200" dirty="0"/>
              <a:t>마우스 오른쪽버튼 클릭</a:t>
            </a:r>
            <a:endParaRPr lang="en-US" altLang="ko-KR" sz="2200" dirty="0"/>
          </a:p>
          <a:p>
            <a:pPr marL="971550" lvl="1" indent="-457200" eaLnBrk="1" hangingPunct="1">
              <a:lnSpc>
                <a:spcPct val="90000"/>
              </a:lnSpc>
              <a:buFont typeface="Wingdings" pitchFamily="2" charset="2"/>
              <a:buChar char="u"/>
            </a:pPr>
            <a:r>
              <a:rPr lang="ko-KR" altLang="en-US" sz="2200" dirty="0"/>
              <a:t>팝업 메뉴에서 </a:t>
            </a:r>
            <a:r>
              <a:rPr lang="en-US" altLang="ko-KR" sz="2200" dirty="0"/>
              <a:t>=&gt; </a:t>
            </a:r>
            <a:r>
              <a:rPr lang="ko-KR" altLang="en-US" sz="2200" dirty="0"/>
              <a:t>데이터계열서식 선택</a:t>
            </a:r>
            <a:r>
              <a:rPr lang="en-US" altLang="ko-KR" sz="2200" dirty="0"/>
              <a:t>=&gt; </a:t>
            </a:r>
            <a:r>
              <a:rPr lang="ko-KR" altLang="en-US" sz="2200" dirty="0"/>
              <a:t>계열 옵션</a:t>
            </a:r>
            <a:r>
              <a:rPr lang="en-US" altLang="ko-KR" sz="2200" dirty="0"/>
              <a:t>: </a:t>
            </a:r>
            <a:r>
              <a:rPr lang="ko-KR" altLang="en-US" sz="2200" dirty="0" err="1"/>
              <a:t>보조축</a:t>
            </a:r>
            <a:r>
              <a:rPr lang="ko-KR" altLang="en-US" sz="2200" dirty="0"/>
              <a:t> 선택</a:t>
            </a:r>
          </a:p>
          <a:p>
            <a:pPr marL="971550" lvl="1" indent="-457200" eaLnBrk="1" hangingPunct="1">
              <a:lnSpc>
                <a:spcPct val="90000"/>
              </a:lnSpc>
              <a:buFont typeface="Wingdings" pitchFamily="2" charset="2"/>
              <a:buChar char="u"/>
            </a:pPr>
            <a:r>
              <a:rPr lang="ko-KR" altLang="en-US" sz="2200" dirty="0"/>
              <a:t>누적상대돗수 막대그래프에서 </a:t>
            </a:r>
            <a:r>
              <a:rPr lang="ko-KR" altLang="en-US" sz="2200" dirty="0" err="1"/>
              <a:t>마우스오른쪽</a:t>
            </a:r>
            <a:r>
              <a:rPr lang="ko-KR" altLang="en-US" sz="2200" dirty="0"/>
              <a:t> 단추 클릭</a:t>
            </a:r>
            <a:r>
              <a:rPr lang="en-US" altLang="ko-KR" sz="2200" dirty="0"/>
              <a:t>        =&gt; </a:t>
            </a:r>
            <a:r>
              <a:rPr lang="ko-KR" altLang="en-US" sz="2200" dirty="0"/>
              <a:t>계열 차트 변경 클릭 </a:t>
            </a:r>
            <a:endParaRPr lang="en-US" altLang="ko-KR" sz="2200" dirty="0"/>
          </a:p>
          <a:p>
            <a:pPr marL="971550" lvl="1" indent="-457200" eaLnBrk="1" hangingPunct="1">
              <a:lnSpc>
                <a:spcPct val="90000"/>
              </a:lnSpc>
              <a:buFont typeface="Wingdings" pitchFamily="2" charset="2"/>
              <a:buChar char="u"/>
            </a:pPr>
            <a:r>
              <a:rPr lang="ko-KR" altLang="en-US" sz="2200" dirty="0"/>
              <a:t>사용자 지정 조합 창에서 차트 종류와 축 선택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Char char="u"/>
            </a:pPr>
            <a:endParaRPr lang="en-US" altLang="ko-KR" sz="2400" dirty="0"/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1516063" y="457200"/>
            <a:ext cx="2368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ko-KR" sz="3600">
                <a:solidFill>
                  <a:schemeClr val="folHlink"/>
                </a:solidFill>
                <a:latin typeface="굴림" pitchFamily="50" charset="-127"/>
              </a:rPr>
              <a:t> </a:t>
            </a:r>
            <a:r>
              <a:rPr lang="ko-KR" altLang="en-US" sz="3200">
                <a:solidFill>
                  <a:schemeClr val="folHlink"/>
                </a:solidFill>
                <a:latin typeface="굴림" pitchFamily="50" charset="-127"/>
              </a:rPr>
              <a:t>파레토그림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E8133D4-65EE-4FAA-9C68-0006E63F0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779" y="1988840"/>
            <a:ext cx="3710221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6942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584" y="1196752"/>
            <a:ext cx="7772400" cy="5029200"/>
          </a:xfrm>
        </p:spPr>
        <p:txBody>
          <a:bodyPr/>
          <a:lstStyle/>
          <a:p>
            <a:pPr eaLnBrk="1" hangingPunct="1"/>
            <a:r>
              <a:rPr lang="ko-KR" altLang="en-US" sz="3600" dirty="0"/>
              <a:t>도수분포표</a:t>
            </a:r>
          </a:p>
          <a:p>
            <a:pPr marL="990600" lvl="1" indent="-533400" eaLnBrk="1" hangingPunct="1"/>
            <a:r>
              <a:rPr lang="ko-KR" altLang="en-US" dirty="0" err="1"/>
              <a:t>관측값의</a:t>
            </a:r>
            <a:r>
              <a:rPr lang="ko-KR" altLang="en-US" dirty="0"/>
              <a:t> 종류가 많기 때문에 </a:t>
            </a:r>
            <a:r>
              <a:rPr lang="ko-KR" altLang="en-US" dirty="0" err="1"/>
              <a:t>관측값의</a:t>
            </a:r>
            <a:r>
              <a:rPr lang="ko-KR" altLang="en-US" dirty="0"/>
              <a:t> 범위를 몇 개의 구간으로 구분</a:t>
            </a:r>
            <a:endParaRPr lang="en-US" altLang="ko-KR" dirty="0"/>
          </a:p>
          <a:p>
            <a:pPr marL="990600" lvl="1" indent="-533400" eaLnBrk="1" hangingPunct="1"/>
            <a:r>
              <a:rPr lang="ko-KR" altLang="en-US" dirty="0"/>
              <a:t>계급</a:t>
            </a:r>
            <a:r>
              <a:rPr lang="en-US" altLang="ko-KR" dirty="0"/>
              <a:t>: </a:t>
            </a:r>
            <a:r>
              <a:rPr lang="ko-KR" altLang="en-US" dirty="0"/>
              <a:t>나뉘어진 각 부분</a:t>
            </a:r>
            <a:endParaRPr lang="en-US" altLang="ko-KR" dirty="0"/>
          </a:p>
          <a:p>
            <a:pPr marL="990600" lvl="1" indent="-533400" eaLnBrk="1" hangingPunct="1"/>
            <a:r>
              <a:rPr lang="ko-KR" altLang="en-US" dirty="0"/>
              <a:t>계급구간</a:t>
            </a:r>
            <a:r>
              <a:rPr lang="en-US" altLang="ko-KR" dirty="0"/>
              <a:t>: </a:t>
            </a:r>
            <a:r>
              <a:rPr lang="ko-KR" altLang="en-US" dirty="0"/>
              <a:t>계급에 포함된 값의 폭</a:t>
            </a:r>
            <a:endParaRPr lang="en-US" altLang="ko-KR" dirty="0"/>
          </a:p>
          <a:p>
            <a:pPr marL="990600" lvl="1" indent="-533400" eaLnBrk="1" hangingPunct="1"/>
            <a:r>
              <a:rPr lang="ko-KR" altLang="en-US" dirty="0"/>
              <a:t>도수</a:t>
            </a:r>
            <a:r>
              <a:rPr lang="en-US" altLang="ko-KR" dirty="0"/>
              <a:t>: </a:t>
            </a:r>
            <a:r>
              <a:rPr lang="ko-KR" altLang="en-US" dirty="0"/>
              <a:t>계급 구간에 들어간 </a:t>
            </a:r>
            <a:r>
              <a:rPr lang="ko-KR" altLang="en-US" dirty="0" err="1"/>
              <a:t>관찰값의</a:t>
            </a:r>
            <a:r>
              <a:rPr lang="ko-KR" altLang="en-US" dirty="0"/>
              <a:t> 수</a:t>
            </a:r>
          </a:p>
          <a:p>
            <a:pPr marL="990600" lvl="1" indent="-533400" eaLnBrk="1" hangingPunct="1">
              <a:buClr>
                <a:schemeClr val="tx1"/>
              </a:buClr>
              <a:buFont typeface="Wingdings" pitchFamily="2" charset="2"/>
              <a:buNone/>
            </a:pPr>
            <a:endParaRPr lang="en-US" altLang="ko-KR" dirty="0"/>
          </a:p>
        </p:txBody>
      </p:sp>
      <p:sp>
        <p:nvSpPr>
          <p:cNvPr id="19459" name="Rectangle 5"/>
          <p:cNvSpPr>
            <a:spLocks noGrp="1" noChangeArrowheads="1"/>
          </p:cNvSpPr>
          <p:nvPr>
            <p:ph type="title"/>
          </p:nvPr>
        </p:nvSpPr>
        <p:spPr>
          <a:xfrm>
            <a:off x="990600" y="381000"/>
            <a:ext cx="7772400" cy="685800"/>
          </a:xfrm>
          <a:noFill/>
        </p:spPr>
        <p:txBody>
          <a:bodyPr anchor="ctr"/>
          <a:lstStyle/>
          <a:p>
            <a:pPr eaLnBrk="1" hangingPunct="1"/>
            <a:r>
              <a:rPr lang="en-US" altLang="ko-KR" dirty="0">
                <a:solidFill>
                  <a:schemeClr val="folHlink"/>
                </a:solidFill>
              </a:rPr>
              <a:t>  </a:t>
            </a:r>
            <a:r>
              <a:rPr lang="ko-KR" altLang="en-US" dirty="0">
                <a:solidFill>
                  <a:schemeClr val="folHlink"/>
                </a:solidFill>
              </a:rPr>
              <a:t>양적자료의 요약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E86583C-C905-464D-85C8-F1040921D21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300" b="83590"/>
          <a:stretch/>
        </p:blipFill>
        <p:spPr>
          <a:xfrm>
            <a:off x="27844" y="4902965"/>
            <a:ext cx="6393504" cy="57606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BA5F341-AF8F-4EB8-92BD-8FD2F75A12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94"/>
          <a:stretch/>
        </p:blipFill>
        <p:spPr>
          <a:xfrm>
            <a:off x="14808" y="5507093"/>
            <a:ext cx="9144000" cy="96990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584" y="1447800"/>
            <a:ext cx="7772400" cy="5029200"/>
          </a:xfrm>
        </p:spPr>
        <p:txBody>
          <a:bodyPr/>
          <a:lstStyle/>
          <a:p>
            <a:pPr marL="609600" indent="-609600" eaLnBrk="1" hangingPunct="1">
              <a:defRPr/>
            </a:pPr>
            <a:r>
              <a:rPr lang="ko-KR" altLang="en-US" dirty="0"/>
              <a:t>도수분포표 작성 방법</a:t>
            </a:r>
            <a:endParaRPr lang="en-US" altLang="ko-KR" dirty="0"/>
          </a:p>
          <a:p>
            <a:pPr marL="1009650" lvl="1" indent="-609600" eaLnBrk="1" hangingPunct="1">
              <a:defRPr/>
            </a:pPr>
            <a:r>
              <a:rPr lang="ko-KR" altLang="en-US" dirty="0"/>
              <a:t>자료의 범위</a:t>
            </a:r>
            <a:r>
              <a:rPr lang="en-US" altLang="ko-KR" dirty="0"/>
              <a:t>: </a:t>
            </a:r>
            <a:r>
              <a:rPr lang="ko-KR" altLang="en-US" dirty="0"/>
              <a:t>최대값</a:t>
            </a:r>
            <a:r>
              <a:rPr lang="en-US" altLang="ko-KR" dirty="0"/>
              <a:t>-</a:t>
            </a:r>
            <a:r>
              <a:rPr lang="ko-KR" altLang="en-US" dirty="0"/>
              <a:t>최소값</a:t>
            </a:r>
            <a:endParaRPr lang="en-US" altLang="ko-KR" dirty="0"/>
          </a:p>
          <a:p>
            <a:pPr marL="1009650" lvl="1" indent="-609600" eaLnBrk="1" hangingPunct="1">
              <a:defRPr/>
            </a:pPr>
            <a:r>
              <a:rPr lang="ko-KR" altLang="en-US" dirty="0"/>
              <a:t>계급구간의 폭</a:t>
            </a:r>
          </a:p>
          <a:p>
            <a:pPr marL="1371600" lvl="2" indent="-457200" eaLnBrk="1" hangingPunct="1">
              <a:buClr>
                <a:schemeClr val="tx1"/>
              </a:buClr>
              <a:defRPr/>
            </a:pPr>
            <a:r>
              <a:rPr lang="ko-KR" altLang="en-US" dirty="0"/>
              <a:t>계급의 수 결정</a:t>
            </a:r>
            <a:r>
              <a:rPr lang="en-US" altLang="ko-KR" dirty="0"/>
              <a:t>: 5~15</a:t>
            </a:r>
          </a:p>
          <a:p>
            <a:pPr marL="1371600" lvl="2" indent="-457200" eaLnBrk="1" hangingPunct="1">
              <a:buClr>
                <a:schemeClr val="tx1"/>
              </a:buClr>
              <a:defRPr/>
            </a:pPr>
            <a:r>
              <a:rPr lang="ko-KR" altLang="en-US" dirty="0"/>
              <a:t>계급구간의 폭 </a:t>
            </a:r>
            <a:r>
              <a:rPr lang="en-US" altLang="ko-KR" dirty="0"/>
              <a:t>&gt;=  </a:t>
            </a:r>
            <a:r>
              <a:rPr lang="ko-KR" altLang="en-US" dirty="0"/>
              <a:t>범위</a:t>
            </a:r>
            <a:r>
              <a:rPr lang="en-US" altLang="ko-KR" dirty="0"/>
              <a:t>/</a:t>
            </a:r>
            <a:r>
              <a:rPr lang="ko-KR" altLang="en-US" dirty="0"/>
              <a:t>계급의 수</a:t>
            </a:r>
            <a:endParaRPr lang="en-US" altLang="ko-KR" dirty="0"/>
          </a:p>
          <a:p>
            <a:pPr marL="1009650" lvl="1" indent="-609600" eaLnBrk="1" hangingPunct="1">
              <a:defRPr/>
            </a:pPr>
            <a:r>
              <a:rPr lang="ko-KR" altLang="en-US" dirty="0"/>
              <a:t>계급구간의 </a:t>
            </a:r>
            <a:r>
              <a:rPr lang="ko-KR" altLang="en-US" dirty="0" err="1"/>
              <a:t>경계점을</a:t>
            </a:r>
            <a:r>
              <a:rPr lang="ko-KR" altLang="en-US" dirty="0"/>
              <a:t> 구한다</a:t>
            </a:r>
            <a:endParaRPr lang="en-US" altLang="ko-KR" dirty="0"/>
          </a:p>
          <a:p>
            <a:pPr marL="1009650" lvl="1" indent="-609600" eaLnBrk="1" hangingPunct="1">
              <a:defRPr/>
            </a:pPr>
            <a:r>
              <a:rPr lang="ko-KR" altLang="en-US" dirty="0"/>
              <a:t>계급구간 별 돗수를 구한다</a:t>
            </a:r>
            <a:endParaRPr lang="en-US" altLang="ko-KR" dirty="0"/>
          </a:p>
          <a:p>
            <a:pPr marL="1009650" lvl="1" indent="-609600" eaLnBrk="1" hangingPunct="1">
              <a:defRPr/>
            </a:pPr>
            <a:r>
              <a:rPr lang="ko-KR" altLang="en-US" dirty="0"/>
              <a:t>계급구간 별 상대돗수를 구한다</a:t>
            </a:r>
          </a:p>
          <a:p>
            <a:pPr marL="990600" lvl="1" indent="-533400" eaLnBrk="1" hangingPunct="1">
              <a:buClr>
                <a:schemeClr val="tx1"/>
              </a:buClr>
              <a:defRPr/>
            </a:pPr>
            <a:endParaRPr lang="en-US" altLang="ko-KR" dirty="0"/>
          </a:p>
        </p:txBody>
      </p:sp>
      <p:sp>
        <p:nvSpPr>
          <p:cNvPr id="20483" name="Rectangle 5"/>
          <p:cNvSpPr>
            <a:spLocks noGrp="1" noChangeArrowheads="1"/>
          </p:cNvSpPr>
          <p:nvPr>
            <p:ph type="title"/>
          </p:nvPr>
        </p:nvSpPr>
        <p:spPr>
          <a:xfrm>
            <a:off x="990600" y="381000"/>
            <a:ext cx="7772400" cy="685800"/>
          </a:xfrm>
          <a:noFill/>
        </p:spPr>
        <p:txBody>
          <a:bodyPr anchor="ctr"/>
          <a:lstStyle/>
          <a:p>
            <a:pPr eaLnBrk="1" hangingPunct="1"/>
            <a:r>
              <a:rPr lang="en-US" altLang="ko-KR">
                <a:solidFill>
                  <a:schemeClr val="folHlink"/>
                </a:solidFill>
              </a:rPr>
              <a:t>  </a:t>
            </a:r>
            <a:r>
              <a:rPr lang="ko-KR" altLang="en-US">
                <a:solidFill>
                  <a:schemeClr val="folHlink"/>
                </a:solidFill>
              </a:rPr>
              <a:t>양적자료의 요약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3810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ko-KR" sz="3200">
                <a:solidFill>
                  <a:schemeClr val="folHlink"/>
                </a:solidFill>
              </a:rPr>
              <a:t>  </a:t>
            </a:r>
            <a:r>
              <a:rPr lang="ko-KR" altLang="en-US" sz="3200">
                <a:solidFill>
                  <a:schemeClr val="folHlink"/>
                </a:solidFill>
              </a:rPr>
              <a:t>양적자료의 요약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268413"/>
            <a:ext cx="7772400" cy="502920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sz="2400" dirty="0">
                <a:solidFill>
                  <a:srgbClr val="FF0000"/>
                </a:solidFill>
              </a:rPr>
              <a:t>p19_</a:t>
            </a:r>
            <a:r>
              <a:rPr lang="ko-KR" altLang="en-US" sz="2400" dirty="0">
                <a:solidFill>
                  <a:srgbClr val="FF0000"/>
                </a:solidFill>
              </a:rPr>
              <a:t>예제</a:t>
            </a:r>
            <a:r>
              <a:rPr lang="en-US" altLang="ko-KR" sz="2400" dirty="0">
                <a:solidFill>
                  <a:srgbClr val="FF0000"/>
                </a:solidFill>
              </a:rPr>
              <a:t>7) </a:t>
            </a:r>
            <a:r>
              <a:rPr lang="ko-KR" altLang="en-US" sz="2400" dirty="0"/>
              <a:t>신입생 </a:t>
            </a:r>
            <a:r>
              <a:rPr lang="en-US" altLang="ko-KR" sz="2400" dirty="0"/>
              <a:t>51</a:t>
            </a:r>
            <a:r>
              <a:rPr lang="ko-KR" altLang="en-US" sz="2400" dirty="0"/>
              <a:t>명의 키</a:t>
            </a:r>
            <a:r>
              <a:rPr lang="en-US" altLang="ko-KR" sz="2400" dirty="0"/>
              <a:t>(cm)</a:t>
            </a:r>
            <a:endParaRPr lang="ko-KR" altLang="en-US" sz="2400" dirty="0"/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ko-KR" altLang="en-US" sz="2400" dirty="0"/>
              <a:t>	 자료</a:t>
            </a:r>
            <a:r>
              <a:rPr lang="en-US" altLang="ko-KR" sz="2400" dirty="0"/>
              <a:t>: ch2_ex_7</a:t>
            </a:r>
            <a:r>
              <a:rPr lang="en-US" altLang="ko-KR" sz="2400"/>
              <a:t>.xlsx</a:t>
            </a:r>
            <a:endParaRPr lang="en-US" altLang="ko-KR" sz="2400" dirty="0"/>
          </a:p>
          <a:p>
            <a:pPr marL="990600" lvl="1" indent="-533400"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2400" dirty="0"/>
              <a:t>1. </a:t>
            </a:r>
            <a:r>
              <a:rPr lang="ko-KR" altLang="en-US" sz="2400" dirty="0"/>
              <a:t>범위</a:t>
            </a:r>
            <a:r>
              <a:rPr lang="en-US" altLang="ko-KR" sz="2400" dirty="0"/>
              <a:t>=31,  </a:t>
            </a:r>
            <a:r>
              <a:rPr lang="ko-KR" altLang="en-US" sz="2400" dirty="0"/>
              <a:t>최소값</a:t>
            </a:r>
            <a:r>
              <a:rPr lang="en-US" altLang="ko-KR" sz="2400" dirty="0"/>
              <a:t>=152, </a:t>
            </a:r>
            <a:r>
              <a:rPr lang="ko-KR" altLang="en-US" sz="2400" dirty="0"/>
              <a:t>최대값</a:t>
            </a:r>
            <a:r>
              <a:rPr lang="en-US" altLang="ko-KR" sz="2400" dirty="0"/>
              <a:t>=183 </a:t>
            </a:r>
          </a:p>
          <a:p>
            <a:pPr marL="990600" lvl="1" indent="-533400"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2400" dirty="0"/>
              <a:t>2. </a:t>
            </a:r>
            <a:r>
              <a:rPr lang="ko-KR" altLang="en-US" sz="2400" dirty="0"/>
              <a:t>계급 개수</a:t>
            </a:r>
            <a:r>
              <a:rPr lang="en-US" altLang="ko-KR" sz="2400" dirty="0"/>
              <a:t>=7, </a:t>
            </a:r>
            <a:r>
              <a:rPr lang="ko-KR" altLang="en-US" sz="2400" dirty="0"/>
              <a:t>계급의 폭</a:t>
            </a:r>
            <a:r>
              <a:rPr lang="en-US" altLang="ko-KR" sz="2400" dirty="0"/>
              <a:t>&gt;=31/7=4.4      </a:t>
            </a:r>
          </a:p>
          <a:p>
            <a:pPr marL="990600" lvl="1" indent="-533400"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2400" dirty="0"/>
              <a:t>     =&gt; </a:t>
            </a:r>
            <a:r>
              <a:rPr lang="ko-KR" altLang="en-US" sz="2400" dirty="0"/>
              <a:t>계급의 폭</a:t>
            </a:r>
            <a:r>
              <a:rPr lang="en-US" altLang="ko-KR" sz="2400" dirty="0"/>
              <a:t>=5 </a:t>
            </a:r>
            <a:r>
              <a:rPr lang="ko-KR" altLang="en-US" sz="2400" dirty="0"/>
              <a:t>로 결정</a:t>
            </a:r>
            <a:endParaRPr lang="en-US" altLang="ko-KR" sz="2400" dirty="0"/>
          </a:p>
          <a:p>
            <a:pPr marL="990600" lvl="1" indent="-533400"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2400" dirty="0"/>
              <a:t>3. </a:t>
            </a:r>
            <a:r>
              <a:rPr lang="ko-KR" altLang="en-US" sz="2400" dirty="0"/>
              <a:t>계급구간</a:t>
            </a:r>
            <a:r>
              <a:rPr lang="en-US" altLang="ko-KR" sz="2400" dirty="0"/>
              <a:t>: </a:t>
            </a:r>
            <a:r>
              <a:rPr lang="ko-KR" altLang="en-US" sz="2400" dirty="0"/>
              <a:t>최소값</a:t>
            </a:r>
            <a:r>
              <a:rPr lang="en-US" altLang="ko-KR" sz="2400" dirty="0"/>
              <a:t>=152, </a:t>
            </a:r>
            <a:r>
              <a:rPr lang="ko-KR" altLang="en-US" sz="2400" dirty="0"/>
              <a:t>최대값</a:t>
            </a:r>
            <a:r>
              <a:rPr lang="en-US" altLang="ko-KR" sz="2400" dirty="0"/>
              <a:t>=183 149.5~154.5, 154.5~159.5,</a:t>
            </a:r>
            <a:r>
              <a:rPr lang="en-US" altLang="ko-KR" sz="2400" dirty="0">
                <a:latin typeface="Times New Roman" pitchFamily="18" charset="0"/>
              </a:rPr>
              <a:t>…</a:t>
            </a:r>
            <a:r>
              <a:rPr lang="en-US" altLang="ko-KR" sz="2400" dirty="0"/>
              <a:t>..</a:t>
            </a:r>
          </a:p>
          <a:p>
            <a:pPr marL="990600" lvl="1" indent="-533400"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2400" dirty="0"/>
              <a:t>4. </a:t>
            </a:r>
            <a:r>
              <a:rPr lang="ko-KR" altLang="en-US" sz="2400" dirty="0"/>
              <a:t>계급별 돗수</a:t>
            </a:r>
          </a:p>
          <a:p>
            <a:pPr marL="990600" lvl="1" indent="-533400"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2400" dirty="0"/>
              <a:t>5. </a:t>
            </a:r>
            <a:r>
              <a:rPr lang="ko-KR" altLang="en-US" sz="2400" dirty="0" err="1"/>
              <a:t>상대돗수</a:t>
            </a:r>
            <a:endParaRPr lang="ko-KR" altLang="en-US" sz="2400" dirty="0"/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ko-KR" altLang="en-US" dirty="0"/>
              <a:t>	</a:t>
            </a:r>
          </a:p>
        </p:txBody>
      </p:sp>
      <p:pic>
        <p:nvPicPr>
          <p:cNvPr id="21508" name="그림 3" descr="02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925" y="4086214"/>
            <a:ext cx="4103687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9825EC-5AC1-4B7D-9BB0-AEF4BABEEA91}"/>
              </a:ext>
            </a:extLst>
          </p:cNvPr>
          <p:cNvSpPr txBox="1"/>
          <p:nvPr/>
        </p:nvSpPr>
        <p:spPr>
          <a:xfrm>
            <a:off x="251520" y="6368421"/>
            <a:ext cx="56166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출저</a:t>
            </a:r>
            <a:r>
              <a:rPr lang="en-US" altLang="ko-KR" sz="1100" dirty="0"/>
              <a:t>: (</a:t>
            </a:r>
            <a:r>
              <a:rPr lang="ko-KR" altLang="en-US" sz="1100" dirty="0"/>
              <a:t>부교재</a:t>
            </a:r>
            <a:r>
              <a:rPr lang="en-US" altLang="ko-KR" sz="1100" dirty="0"/>
              <a:t>)</a:t>
            </a:r>
            <a:r>
              <a:rPr lang="ko-KR" altLang="en-US" sz="1100" dirty="0"/>
              <a:t>엑셀을 이용한 통계학</a:t>
            </a:r>
            <a:r>
              <a:rPr lang="en-US" altLang="ko-KR" sz="1100" dirty="0"/>
              <a:t>, </a:t>
            </a:r>
            <a:r>
              <a:rPr lang="ko-KR" altLang="en-US" sz="1100" dirty="0"/>
              <a:t>자유아카데미</a:t>
            </a:r>
            <a:r>
              <a:rPr lang="en-US" altLang="ko-KR" sz="1100" dirty="0"/>
              <a:t>, </a:t>
            </a:r>
            <a:r>
              <a:rPr lang="ko-KR" altLang="en-US" sz="1100" dirty="0"/>
              <a:t>김진경 외 </a:t>
            </a:r>
            <a:r>
              <a:rPr lang="en-US" altLang="ko-KR" sz="1100" dirty="0"/>
              <a:t>5</a:t>
            </a:r>
            <a:r>
              <a:rPr lang="ko-KR" altLang="en-US" sz="1100" dirty="0"/>
              <a:t>명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524000"/>
            <a:ext cx="7772400" cy="335280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3000"/>
              <a:t>2. </a:t>
            </a:r>
            <a:r>
              <a:rPr lang="ko-KR" altLang="en-US" sz="3000"/>
              <a:t>히스토그램</a:t>
            </a:r>
          </a:p>
          <a:p>
            <a:pPr marL="990600" lvl="1" indent="-533400"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ko-KR" altLang="en-US" sz="2400"/>
              <a:t>양적자료에서 돗수분포표에 기초한 막대그래프</a:t>
            </a:r>
          </a:p>
          <a:p>
            <a:pPr marL="990600" lvl="1" indent="-533400"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ko-KR" altLang="en-US" sz="2400"/>
              <a:t>막대의 높이는 상대돗수를 계급구간의 폭으로 나눈 값</a:t>
            </a:r>
          </a:p>
          <a:p>
            <a:pPr marL="990600" lvl="1" indent="-533400"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ko-KR" altLang="en-US" sz="2400"/>
              <a:t>히스토그램의 전체 면적은 </a:t>
            </a:r>
            <a:r>
              <a:rPr lang="en-US" altLang="ko-KR" sz="2400"/>
              <a:t>1</a:t>
            </a:r>
          </a:p>
          <a:p>
            <a:pPr marL="990600" lvl="1" indent="-533400"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altLang="ko-KR"/>
          </a:p>
          <a:p>
            <a:pPr marL="609600" indent="-609600"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3000"/>
              <a:t>3. </a:t>
            </a:r>
            <a:r>
              <a:rPr lang="ko-KR" altLang="en-US" sz="3000"/>
              <a:t>돗수다각형</a:t>
            </a:r>
            <a:r>
              <a:rPr lang="en-US" altLang="ko-KR" sz="3000"/>
              <a:t>(Frequency Polygon)</a:t>
            </a:r>
          </a:p>
          <a:p>
            <a:pPr marL="990600" lvl="1" indent="-533400"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ko-KR" altLang="en-US" sz="2400"/>
              <a:t>히스토그램에서 막대 상단의 중앙점을 직선으로 연결</a:t>
            </a:r>
          </a:p>
          <a:p>
            <a:pPr marL="990600" lvl="1" indent="-533400"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ko-KR" altLang="en-US" sz="2400"/>
              <a:t>관측값의 분포 정도를 알 수 있다</a:t>
            </a:r>
            <a:r>
              <a:rPr lang="en-US" altLang="ko-KR" sz="2400"/>
              <a:t>.	</a:t>
            </a:r>
          </a:p>
        </p:txBody>
      </p:sp>
      <p:sp>
        <p:nvSpPr>
          <p:cNvPr id="22531" name="Rectangle 5"/>
          <p:cNvSpPr>
            <a:spLocks noGrp="1" noChangeArrowheads="1"/>
          </p:cNvSpPr>
          <p:nvPr>
            <p:ph type="title"/>
          </p:nvPr>
        </p:nvSpPr>
        <p:spPr>
          <a:xfrm>
            <a:off x="990600" y="381000"/>
            <a:ext cx="7772400" cy="685800"/>
          </a:xfrm>
          <a:noFill/>
        </p:spPr>
        <p:txBody>
          <a:bodyPr anchor="ctr"/>
          <a:lstStyle/>
          <a:p>
            <a:pPr eaLnBrk="1" hangingPunct="1"/>
            <a:r>
              <a:rPr lang="en-US" altLang="ko-KR">
                <a:solidFill>
                  <a:schemeClr val="folHlink"/>
                </a:solidFill>
              </a:rPr>
              <a:t>  </a:t>
            </a:r>
            <a:r>
              <a:rPr lang="ko-KR" altLang="en-US">
                <a:solidFill>
                  <a:schemeClr val="folHlink"/>
                </a:solidFill>
              </a:rPr>
              <a:t>양적자료의 요약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00113" y="1268413"/>
            <a:ext cx="7772400" cy="502920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/>
              <a:t>4. </a:t>
            </a:r>
            <a:r>
              <a:rPr lang="ko-KR" altLang="en-US" sz="2800"/>
              <a:t>줄기</a:t>
            </a:r>
            <a:r>
              <a:rPr lang="en-US" altLang="ko-KR" sz="2800"/>
              <a:t>-</a:t>
            </a:r>
            <a:r>
              <a:rPr lang="ko-KR" altLang="en-US" sz="2800"/>
              <a:t>잎 그림</a:t>
            </a:r>
            <a:r>
              <a:rPr lang="en-US" altLang="ko-KR" sz="2800"/>
              <a:t>(Stem-and-leaf Plot)</a:t>
            </a:r>
          </a:p>
          <a:p>
            <a:pPr marL="990600" lvl="1" indent="-533400"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ko-KR" altLang="en-US" sz="2600"/>
              <a:t>자료의 분포를 시각적으로 표시하면서 개개의 관찰값을 표시</a:t>
            </a:r>
            <a:endParaRPr lang="en-US" altLang="ko-KR" sz="2600"/>
          </a:p>
          <a:p>
            <a:pPr marL="990600" lvl="1" indent="-533400"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ko-KR" altLang="en-US" sz="2600"/>
              <a:t>작성방법</a:t>
            </a:r>
          </a:p>
          <a:p>
            <a:pPr marL="1371600" lvl="2" indent="-457200"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AutoNum type="arabicPeriod"/>
            </a:pPr>
            <a:r>
              <a:rPr lang="ko-KR" altLang="en-US" sz="2200"/>
              <a:t>관측값의 앞 단위와 뒷 단위 구분 </a:t>
            </a:r>
          </a:p>
          <a:p>
            <a:pPr marL="1371600" lvl="2" indent="-457200"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AutoNum type="arabicPeriod"/>
            </a:pPr>
            <a:r>
              <a:rPr lang="ko-KR" altLang="en-US" sz="2200"/>
              <a:t>앞 단위를 줄기로 세로로 배열한 후 수직선</a:t>
            </a:r>
          </a:p>
          <a:p>
            <a:pPr marL="1371600" lvl="2" indent="-457200"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AutoNum type="arabicPeriod"/>
            </a:pPr>
            <a:r>
              <a:rPr lang="ko-KR" altLang="en-US" sz="2200"/>
              <a:t>뒷 단위를 잎으로 하여 크기 순으로 관측값 앞 단위 오른쪽에 기입</a:t>
            </a:r>
          </a:p>
        </p:txBody>
      </p:sp>
      <p:sp>
        <p:nvSpPr>
          <p:cNvPr id="23555" name="Rectangle 5"/>
          <p:cNvSpPr>
            <a:spLocks noGrp="1" noChangeArrowheads="1"/>
          </p:cNvSpPr>
          <p:nvPr>
            <p:ph type="title"/>
          </p:nvPr>
        </p:nvSpPr>
        <p:spPr>
          <a:xfrm>
            <a:off x="990600" y="381000"/>
            <a:ext cx="7772400" cy="685800"/>
          </a:xfrm>
          <a:noFill/>
        </p:spPr>
        <p:txBody>
          <a:bodyPr anchor="ctr"/>
          <a:lstStyle/>
          <a:p>
            <a:pPr eaLnBrk="1" hangingPunct="1"/>
            <a:r>
              <a:rPr lang="en-US" altLang="ko-KR">
                <a:solidFill>
                  <a:schemeClr val="folHlink"/>
                </a:solidFill>
              </a:rPr>
              <a:t>  </a:t>
            </a:r>
            <a:r>
              <a:rPr lang="ko-KR" altLang="en-US">
                <a:solidFill>
                  <a:schemeClr val="folHlink"/>
                </a:solidFill>
              </a:rPr>
              <a:t>양적자료의 요약</a:t>
            </a:r>
          </a:p>
        </p:txBody>
      </p:sp>
      <p:pic>
        <p:nvPicPr>
          <p:cNvPr id="23556" name="그림 4" descr="027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4410075"/>
            <a:ext cx="5006975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00113" y="1341438"/>
            <a:ext cx="7772400" cy="3810000"/>
          </a:xfrm>
        </p:spPr>
        <p:txBody>
          <a:bodyPr/>
          <a:lstStyle/>
          <a:p>
            <a:pPr marL="590550" indent="-533400" eaLnBrk="1" hangingPunct="1">
              <a:lnSpc>
                <a:spcPct val="90000"/>
              </a:lnSpc>
            </a:pPr>
            <a:r>
              <a:rPr lang="en-US" altLang="ko-KR"/>
              <a:t>5. </a:t>
            </a:r>
            <a:r>
              <a:rPr lang="ko-KR" altLang="en-US"/>
              <a:t>분포의 모양</a:t>
            </a:r>
            <a:endParaRPr lang="en-US" altLang="ko-KR"/>
          </a:p>
          <a:p>
            <a:pPr marL="990600" lvl="1" indent="-533400" eaLnBrk="1" hangingPunct="1">
              <a:lnSpc>
                <a:spcPct val="90000"/>
              </a:lnSpc>
            </a:pPr>
            <a:r>
              <a:rPr lang="ko-KR" altLang="en-US" sz="2400"/>
              <a:t>좌우대칭형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ko-KR" altLang="en-US" sz="2400"/>
              <a:t>오른쪽 편중</a:t>
            </a:r>
            <a:r>
              <a:rPr lang="en-US" altLang="ko-KR" sz="2400"/>
              <a:t>(skewed to the left)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ko-KR" altLang="en-US" sz="2400"/>
              <a:t>왼쪽 편중 </a:t>
            </a:r>
            <a:r>
              <a:rPr lang="en-US" altLang="ko-KR" sz="2400"/>
              <a:t>(skewed to the right)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ko-KR" altLang="en-US" sz="2400"/>
              <a:t>균일형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ko-KR" altLang="en-US" sz="2400"/>
              <a:t>이봉형</a:t>
            </a:r>
          </a:p>
        </p:txBody>
      </p:sp>
      <p:pic>
        <p:nvPicPr>
          <p:cNvPr id="24579" name="그림 2" descr="02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3213100"/>
            <a:ext cx="5608638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Rectangle 5"/>
          <p:cNvSpPr>
            <a:spLocks noGrp="1" noChangeArrowheads="1"/>
          </p:cNvSpPr>
          <p:nvPr>
            <p:ph type="title"/>
          </p:nvPr>
        </p:nvSpPr>
        <p:spPr>
          <a:xfrm>
            <a:off x="990600" y="381000"/>
            <a:ext cx="7772400" cy="685800"/>
          </a:xfrm>
          <a:noFill/>
        </p:spPr>
        <p:txBody>
          <a:bodyPr anchor="ctr"/>
          <a:lstStyle/>
          <a:p>
            <a:pPr eaLnBrk="1" hangingPunct="1"/>
            <a:r>
              <a:rPr lang="en-US" altLang="ko-KR">
                <a:solidFill>
                  <a:schemeClr val="folHlink"/>
                </a:solidFill>
              </a:rPr>
              <a:t>  </a:t>
            </a:r>
            <a:r>
              <a:rPr lang="ko-KR" altLang="en-US">
                <a:solidFill>
                  <a:schemeClr val="folHlink"/>
                </a:solidFill>
              </a:rPr>
              <a:t>양적자료의 요약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800999"/>
            <a:ext cx="8354888" cy="4343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/>
              <a:t>1) Data </a:t>
            </a:r>
            <a:r>
              <a:rPr lang="ko-KR" altLang="en-US" sz="2800" dirty="0"/>
              <a:t>입력</a:t>
            </a:r>
            <a:r>
              <a:rPr lang="en-US" altLang="ko-KR" sz="2800" dirty="0"/>
              <a:t>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000" dirty="0"/>
              <a:t>   </a:t>
            </a:r>
            <a:r>
              <a:rPr lang="en-US" altLang="ko-KR" sz="2400" dirty="0"/>
              <a:t>ch2_ex_7.xlsx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000" dirty="0"/>
              <a:t>  </a:t>
            </a:r>
            <a:r>
              <a:rPr lang="ko-KR" altLang="en-US" sz="2400" dirty="0"/>
              <a:t>자료 오른쪽에 </a:t>
            </a:r>
            <a:r>
              <a:rPr lang="ko-KR" altLang="en-US" sz="2400" b="1" dirty="0"/>
              <a:t>계급구간 오른쪽 </a:t>
            </a:r>
            <a:r>
              <a:rPr lang="ko-KR" altLang="en-US" sz="2400" b="1" dirty="0" err="1"/>
              <a:t>범위값과</a:t>
            </a:r>
            <a:r>
              <a:rPr lang="ko-KR" altLang="en-US" sz="2400" b="1" dirty="0"/>
              <a:t> 범위 설명을</a:t>
            </a:r>
            <a:r>
              <a:rPr lang="ko-KR" altLang="en-US" sz="2400" dirty="0"/>
              <a:t> 입력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000" b="1" dirty="0"/>
              <a:t>		154.5       149.5~154.5(</a:t>
            </a:r>
            <a:r>
              <a:rPr lang="ko-KR" altLang="en-US" sz="2000" b="1" dirty="0"/>
              <a:t>이하</a:t>
            </a:r>
            <a:r>
              <a:rPr lang="en-US" altLang="ko-KR" sz="2000" b="1" dirty="0"/>
              <a:t>)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000" b="1" dirty="0"/>
              <a:t>		159.5       154.5~159.5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ko-KR" sz="2000" b="1" dirty="0"/>
              <a:t>		   ⋮                ⋮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ko-KR" sz="2000" b="1" dirty="0"/>
              <a:t>		179.5            ⋮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000" b="1" dirty="0"/>
              <a:t>		184.5(</a:t>
            </a:r>
            <a:r>
              <a:rPr lang="ko-KR" altLang="en-US" sz="2000" b="1" dirty="0"/>
              <a:t>마지막 </a:t>
            </a:r>
            <a:r>
              <a:rPr lang="ko-KR" altLang="en-US" sz="2000" b="1" dirty="0" err="1"/>
              <a:t>범위값은</a:t>
            </a:r>
            <a:r>
              <a:rPr lang="ko-KR" altLang="en-US" sz="2000" b="1" dirty="0"/>
              <a:t> 표에서만 사용</a:t>
            </a:r>
            <a:r>
              <a:rPr lang="en-US" altLang="ko-KR" sz="2000" b="1" dirty="0"/>
              <a:t>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/>
              <a:t>2) </a:t>
            </a:r>
            <a:r>
              <a:rPr lang="ko-KR" altLang="en-US" sz="2800" dirty="0"/>
              <a:t>도수가 출력될 범위를 먼저 선택한다</a:t>
            </a:r>
            <a:r>
              <a:rPr lang="en-US" altLang="ko-KR" sz="2800" dirty="0"/>
              <a:t>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/>
              <a:t>3) </a:t>
            </a:r>
            <a:r>
              <a:rPr lang="ko-KR" altLang="en-US" sz="2800" dirty="0"/>
              <a:t>수식 </a:t>
            </a:r>
            <a:r>
              <a:rPr lang="en-US" altLang="ko-KR" sz="2800" dirty="0"/>
              <a:t>-&gt; </a:t>
            </a:r>
            <a:r>
              <a:rPr lang="ko-KR" altLang="en-US" sz="2800" dirty="0" err="1"/>
              <a:t>함수삽입</a:t>
            </a:r>
            <a:r>
              <a:rPr lang="ko-KR" altLang="en-US" sz="2800" dirty="0"/>
              <a:t> </a:t>
            </a:r>
            <a:r>
              <a:rPr lang="en-US" altLang="ko-KR" sz="2800" dirty="0"/>
              <a:t>-&gt;  </a:t>
            </a:r>
            <a:r>
              <a:rPr lang="ko-KR" altLang="en-US" sz="2800" dirty="0"/>
              <a:t>통계 </a:t>
            </a:r>
            <a:r>
              <a:rPr lang="en-US" altLang="ko-KR" sz="2800" dirty="0"/>
              <a:t>-&gt; FREQUENCY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800" dirty="0"/>
              <a:t> </a:t>
            </a:r>
            <a:r>
              <a:rPr lang="en-US" altLang="ko-KR" sz="2400" dirty="0"/>
              <a:t>FREQUENCY </a:t>
            </a:r>
            <a:r>
              <a:rPr lang="ko-KR" altLang="en-US" sz="2400" dirty="0"/>
              <a:t>대화상자에서</a:t>
            </a:r>
            <a:endParaRPr lang="en-US" altLang="ko-KR" sz="24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400" dirty="0"/>
              <a:t>	 - </a:t>
            </a:r>
            <a:r>
              <a:rPr lang="en-US" altLang="ko-KR" sz="2400" dirty="0" err="1"/>
              <a:t>Data_array</a:t>
            </a:r>
            <a:r>
              <a:rPr lang="en-US" altLang="ko-KR" sz="2400" dirty="0"/>
              <a:t>: </a:t>
            </a:r>
            <a:r>
              <a:rPr lang="ko-KR" altLang="en-US" sz="2400" dirty="0"/>
              <a:t>데이터 범위</a:t>
            </a:r>
            <a:r>
              <a:rPr lang="en-US" altLang="ko-KR" sz="2400" dirty="0"/>
              <a:t>(A2:A52)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400" dirty="0"/>
              <a:t>    - </a:t>
            </a:r>
            <a:r>
              <a:rPr lang="en-US" altLang="ko-KR" sz="2400" dirty="0" err="1"/>
              <a:t>Bins_array</a:t>
            </a:r>
            <a:r>
              <a:rPr lang="en-US" altLang="ko-KR" sz="2400" dirty="0"/>
              <a:t>:  </a:t>
            </a:r>
            <a:r>
              <a:rPr lang="ko-KR" altLang="en-US" sz="2400" dirty="0"/>
              <a:t>계급구간이 있는 셀 주소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ko-KR" altLang="en-US" sz="2400" dirty="0"/>
              <a:t>	 </a:t>
            </a:r>
            <a:r>
              <a:rPr lang="en-US" altLang="ko-KR" sz="2400" dirty="0"/>
              <a:t>- </a:t>
            </a:r>
            <a:r>
              <a:rPr lang="en-US" altLang="ko-KR" sz="2400" dirty="0" err="1"/>
              <a:t>Ctrl+Shift+Enter</a:t>
            </a:r>
            <a:endParaRPr lang="en-US" altLang="ko-KR" sz="24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ko-KR" sz="2400" dirty="0"/>
              <a:t>    =&gt; </a:t>
            </a:r>
            <a:r>
              <a:rPr lang="ko-KR" altLang="en-US" sz="2400" dirty="0"/>
              <a:t>결과 도수분포 출력</a:t>
            </a:r>
            <a:r>
              <a:rPr lang="en-US" altLang="ko-KR" sz="2400" dirty="0"/>
              <a:t>.=&gt;</a:t>
            </a:r>
            <a:r>
              <a:rPr lang="ko-KR" altLang="en-US" sz="2400" dirty="0" err="1"/>
              <a:t>상대도수</a:t>
            </a:r>
            <a:r>
              <a:rPr lang="ko-KR" altLang="en-US" sz="2400" dirty="0"/>
              <a:t> 계산</a:t>
            </a:r>
            <a:endParaRPr lang="en-US" altLang="ko-KR" sz="2400" dirty="0"/>
          </a:p>
        </p:txBody>
      </p:sp>
      <p:sp>
        <p:nvSpPr>
          <p:cNvPr id="25603" name="Rectangle 4"/>
          <p:cNvSpPr>
            <a:spLocks noGrp="1" noChangeArrowheads="1"/>
          </p:cNvSpPr>
          <p:nvPr>
            <p:ph type="title"/>
          </p:nvPr>
        </p:nvSpPr>
        <p:spPr>
          <a:xfrm>
            <a:off x="974812" y="26558"/>
            <a:ext cx="7772400" cy="533400"/>
          </a:xfrm>
          <a:noFill/>
        </p:spPr>
        <p:txBody>
          <a:bodyPr anchor="ctr"/>
          <a:lstStyle/>
          <a:p>
            <a:pPr eaLnBrk="1" hangingPunct="1"/>
            <a:r>
              <a:rPr lang="en-US" altLang="ko-KR" sz="3200" dirty="0">
                <a:solidFill>
                  <a:schemeClr val="accent2"/>
                </a:solidFill>
              </a:rPr>
              <a:t> </a:t>
            </a:r>
            <a:r>
              <a:rPr lang="en-US" altLang="ko-KR" dirty="0"/>
              <a:t>Excel </a:t>
            </a:r>
            <a:r>
              <a:rPr lang="ko-KR" altLang="en-US" dirty="0"/>
              <a:t>실습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5432B9-F1C9-4F11-AA64-437E2400ADD1}"/>
              </a:ext>
            </a:extLst>
          </p:cNvPr>
          <p:cNvSpPr txBox="1"/>
          <p:nvPr/>
        </p:nvSpPr>
        <p:spPr>
          <a:xfrm>
            <a:off x="3635896" y="1268760"/>
            <a:ext cx="56166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출저</a:t>
            </a:r>
            <a:r>
              <a:rPr lang="en-US" altLang="ko-KR" sz="1100" dirty="0"/>
              <a:t>: (</a:t>
            </a:r>
            <a:r>
              <a:rPr lang="ko-KR" altLang="en-US" sz="1100" dirty="0"/>
              <a:t>부교재</a:t>
            </a:r>
            <a:r>
              <a:rPr lang="en-US" altLang="ko-KR" sz="1100" dirty="0"/>
              <a:t>)</a:t>
            </a:r>
            <a:r>
              <a:rPr lang="ko-KR" altLang="en-US" sz="1100" dirty="0"/>
              <a:t>엑셀을 이용한 통계학</a:t>
            </a:r>
            <a:r>
              <a:rPr lang="en-US" altLang="ko-KR" sz="1100" dirty="0"/>
              <a:t>, </a:t>
            </a:r>
            <a:r>
              <a:rPr lang="ko-KR" altLang="en-US" sz="1100" dirty="0"/>
              <a:t>자유아카데미</a:t>
            </a:r>
            <a:r>
              <a:rPr lang="en-US" altLang="ko-KR" sz="1100" dirty="0"/>
              <a:t>, </a:t>
            </a:r>
            <a:r>
              <a:rPr lang="ko-KR" altLang="en-US" sz="1100" dirty="0"/>
              <a:t>김진경 외 </a:t>
            </a:r>
            <a:r>
              <a:rPr lang="en-US" altLang="ko-KR" sz="1100" dirty="0"/>
              <a:t>5</a:t>
            </a:r>
            <a:r>
              <a:rPr lang="ko-KR" altLang="en-US" sz="1100" dirty="0"/>
              <a:t>명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219200"/>
            <a:ext cx="7772400" cy="5410200"/>
          </a:xfrm>
        </p:spPr>
        <p:txBody>
          <a:bodyPr/>
          <a:lstStyle/>
          <a:p>
            <a:pPr marL="609600" indent="-609600" eaLnBrk="1" hangingPunct="1">
              <a:buFont typeface="Wingdings" pitchFamily="2" charset="2"/>
              <a:buNone/>
            </a:pPr>
            <a:r>
              <a:rPr lang="en-US" altLang="ko-KR" sz="2800" dirty="0"/>
              <a:t> 3) Histogram</a:t>
            </a:r>
            <a:endParaRPr lang="en-US" altLang="ko-KR" sz="2400" dirty="0"/>
          </a:p>
          <a:p>
            <a:pPr marL="609600" indent="-609600" eaLnBrk="1" hangingPunct="1">
              <a:buFont typeface="Wingdings" pitchFamily="2" charset="2"/>
              <a:buNone/>
            </a:pPr>
            <a:r>
              <a:rPr lang="en-US" altLang="ko-KR" sz="2800" dirty="0"/>
              <a:t>   </a:t>
            </a:r>
            <a:r>
              <a:rPr lang="ko-KR" altLang="en-US" sz="2800" dirty="0"/>
              <a:t>데이터 </a:t>
            </a:r>
            <a:r>
              <a:rPr lang="en-US" altLang="ko-KR" sz="2800" dirty="0"/>
              <a:t>-&gt; </a:t>
            </a:r>
            <a:r>
              <a:rPr lang="ko-KR" altLang="en-US" sz="2800" dirty="0"/>
              <a:t>데이터분석 </a:t>
            </a:r>
            <a:r>
              <a:rPr lang="en-US" altLang="ko-KR" sz="2800" dirty="0"/>
              <a:t>-&gt; </a:t>
            </a:r>
            <a:r>
              <a:rPr lang="ko-KR" altLang="en-US" sz="2800" dirty="0"/>
              <a:t>히스토그램</a:t>
            </a:r>
            <a:r>
              <a:rPr lang="ko-KR" altLang="en-US" dirty="0"/>
              <a:t> </a:t>
            </a:r>
          </a:p>
          <a:p>
            <a:pPr marL="990600" lvl="1" indent="-533400" eaLnBrk="1" hangingPunct="1">
              <a:buFontTx/>
              <a:buAutoNum type="arabicPeriod"/>
            </a:pPr>
            <a:r>
              <a:rPr lang="ko-KR" altLang="en-US" sz="2400" dirty="0"/>
              <a:t>입력데이터 범위지정</a:t>
            </a:r>
            <a:r>
              <a:rPr lang="en-US" altLang="ko-KR" sz="2400" dirty="0"/>
              <a:t>(</a:t>
            </a:r>
            <a:r>
              <a:rPr lang="ko-KR" altLang="en-US" sz="2400" dirty="0"/>
              <a:t>이름 포함된 키 데이터</a:t>
            </a:r>
            <a:r>
              <a:rPr lang="en-US" altLang="ko-KR" sz="2400" dirty="0"/>
              <a:t>)</a:t>
            </a:r>
            <a:endParaRPr lang="ko-KR" altLang="en-US" sz="2400" dirty="0"/>
          </a:p>
          <a:p>
            <a:pPr marL="990600" lvl="1" indent="-533400" eaLnBrk="1" hangingPunct="1">
              <a:buFontTx/>
              <a:buAutoNum type="arabicPeriod"/>
            </a:pPr>
            <a:r>
              <a:rPr lang="ko-KR" altLang="en-US" sz="2400" dirty="0"/>
              <a:t>계급구간 지정</a:t>
            </a:r>
            <a:r>
              <a:rPr lang="en-US" altLang="ko-KR" sz="2400" dirty="0"/>
              <a:t>:</a:t>
            </a:r>
            <a:r>
              <a:rPr lang="ko-KR" altLang="en-US" sz="2400" dirty="0"/>
              <a:t>돗수분포표에서 작성한 계급구간 이용</a:t>
            </a:r>
            <a:r>
              <a:rPr lang="en-US" altLang="ko-KR" sz="2400" dirty="0"/>
              <a:t>(</a:t>
            </a:r>
            <a:r>
              <a:rPr lang="ko-KR" altLang="en-US" sz="2400" dirty="0"/>
              <a:t>구간 이름 포함</a:t>
            </a:r>
            <a:r>
              <a:rPr lang="en-US" altLang="ko-KR" sz="2400" dirty="0"/>
              <a:t>)</a:t>
            </a:r>
            <a:endParaRPr lang="ko-KR" altLang="en-US" sz="2400" dirty="0"/>
          </a:p>
          <a:p>
            <a:pPr marL="990600" lvl="1" indent="-533400" eaLnBrk="1" hangingPunct="1">
              <a:buFontTx/>
              <a:buAutoNum type="arabicPeriod"/>
            </a:pPr>
            <a:r>
              <a:rPr lang="ko-KR" altLang="en-US" sz="2400" dirty="0"/>
              <a:t>데이터 이름표 유무 지정</a:t>
            </a:r>
            <a:r>
              <a:rPr lang="en-US" altLang="ko-KR" sz="2400" dirty="0"/>
              <a:t>(</a:t>
            </a:r>
            <a:r>
              <a:rPr lang="ko-KR" altLang="en-US" sz="2400" dirty="0"/>
              <a:t>이름표 체크</a:t>
            </a:r>
            <a:r>
              <a:rPr lang="en-US" altLang="ko-KR" sz="2400" dirty="0"/>
              <a:t>)</a:t>
            </a:r>
            <a:endParaRPr lang="ko-KR" altLang="en-US" sz="2400" dirty="0"/>
          </a:p>
          <a:p>
            <a:pPr marL="990600" lvl="1" indent="-533400" eaLnBrk="1" hangingPunct="1">
              <a:buFontTx/>
              <a:buAutoNum type="arabicPeriod"/>
            </a:pPr>
            <a:r>
              <a:rPr lang="ko-KR" altLang="en-US" sz="2400" dirty="0"/>
              <a:t>출력범위 지정</a:t>
            </a:r>
          </a:p>
          <a:p>
            <a:pPr marL="990600" lvl="1" indent="-533400" eaLnBrk="1" hangingPunct="1">
              <a:buFontTx/>
              <a:buAutoNum type="arabicPeriod"/>
            </a:pPr>
            <a:r>
              <a:rPr lang="ko-KR" altLang="en-US" sz="2400" dirty="0" err="1"/>
              <a:t>파레토그림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누적백분률</a:t>
            </a:r>
            <a:r>
              <a:rPr lang="en-US" altLang="ko-KR" sz="2400" dirty="0"/>
              <a:t>, </a:t>
            </a:r>
            <a:r>
              <a:rPr lang="ko-KR" altLang="en-US" sz="2400" dirty="0"/>
              <a:t>차트출력 출력 가능</a:t>
            </a:r>
            <a:r>
              <a:rPr lang="ko-KR" altLang="en-US" dirty="0"/>
              <a:t> </a:t>
            </a:r>
          </a:p>
          <a:p>
            <a:pPr marL="609600" indent="-609600" eaLnBrk="1" hangingPunct="1">
              <a:buFont typeface="Wingdings" pitchFamily="2" charset="2"/>
              <a:buNone/>
            </a:pPr>
            <a:r>
              <a:rPr lang="ko-KR" altLang="en-US" sz="2800" dirty="0"/>
              <a:t> </a:t>
            </a:r>
            <a:r>
              <a:rPr lang="en-US" altLang="ko-KR" sz="2800" dirty="0"/>
              <a:t>4) </a:t>
            </a:r>
            <a:r>
              <a:rPr lang="ko-KR" altLang="en-US" sz="2800" dirty="0"/>
              <a:t>돗수다각형 </a:t>
            </a:r>
          </a:p>
          <a:p>
            <a:pPr marL="609600" indent="-609600" eaLnBrk="1" hangingPunct="1">
              <a:buFont typeface="Wingdings" pitchFamily="2" charset="2"/>
              <a:buNone/>
            </a:pPr>
            <a:r>
              <a:rPr lang="ko-KR" altLang="en-US" dirty="0"/>
              <a:t>    </a:t>
            </a:r>
            <a:r>
              <a:rPr lang="ko-KR" altLang="en-US" sz="2400" dirty="0"/>
              <a:t>히스토그램 막대에서</a:t>
            </a:r>
            <a:r>
              <a:rPr lang="en-US" altLang="ko-KR" sz="2400" dirty="0"/>
              <a:t>=&gt; </a:t>
            </a:r>
            <a:r>
              <a:rPr lang="ko-KR" altLang="en-US" sz="2400" dirty="0"/>
              <a:t>오른쪽 마우스 클릭</a:t>
            </a:r>
            <a:r>
              <a:rPr lang="en-US" altLang="ko-KR" sz="2400" dirty="0"/>
              <a:t>=&gt;</a:t>
            </a:r>
            <a:r>
              <a:rPr lang="ko-KR" altLang="en-US" sz="2400" dirty="0"/>
              <a:t>계열 차트 종류 변경</a:t>
            </a:r>
            <a:r>
              <a:rPr lang="en-US" altLang="ko-KR" sz="2400" dirty="0"/>
              <a:t>=&gt;</a:t>
            </a:r>
            <a:r>
              <a:rPr lang="ko-KR" altLang="en-US" sz="2400" dirty="0" err="1"/>
              <a:t>꺽은선</a:t>
            </a:r>
            <a:r>
              <a:rPr lang="ko-KR" altLang="en-US" sz="2400" dirty="0"/>
              <a:t> 선택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1828800" y="334963"/>
          <a:ext cx="5195888" cy="309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" name="차트" r:id="rId3" imgW="4143846" imgH="2467187" progId="Excel.Chart.8">
                  <p:embed/>
                </p:oleObj>
              </mc:Choice>
              <mc:Fallback>
                <p:oleObj name="차트" r:id="rId3" imgW="4143846" imgH="2467187" progId="Excel.Char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34963"/>
                        <a:ext cx="5195888" cy="309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1905000" y="3429000"/>
          <a:ext cx="5105400" cy="304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차트" r:id="rId5" imgW="4143846" imgH="2467187" progId="Excel.Chart.8">
                  <p:embed/>
                </p:oleObj>
              </mc:Choice>
              <mc:Fallback>
                <p:oleObj name="차트" r:id="rId5" imgW="4143846" imgH="2467187" progId="Excel.Char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429000"/>
                        <a:ext cx="5105400" cy="304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2286000" y="1447800"/>
          <a:ext cx="4572000" cy="336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4" name="차트" r:id="rId3" imgW="4572359" imgH="2771987" progId="Excel.Chart.8">
                  <p:embed/>
                </p:oleObj>
              </mc:Choice>
              <mc:Fallback>
                <p:oleObj name="차트" r:id="rId3" imgW="4572359" imgH="2771987" progId="Excel.Char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447800"/>
                        <a:ext cx="4572000" cy="336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EF8DFAB3-36C2-4784-AA36-BA210A7B3D14}"/>
              </a:ext>
            </a:extLst>
          </p:cNvPr>
          <p:cNvSpPr/>
          <p:nvPr/>
        </p:nvSpPr>
        <p:spPr>
          <a:xfrm>
            <a:off x="2483768" y="5398233"/>
            <a:ext cx="4572000" cy="116955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000" dirty="0"/>
              <a:t>=REPT("0", COUNTIF($A$2:$A$52, C5*10+0))&amp;REPT("1", COUNTIF($A$2:$A$52, C5*10+1))&amp;REPT("2", COUNTIF($A$2:$A$52, C5*10+2))&amp;REPT("3", COUNTIF($A$2:$A$52, C5*10+3))&amp;REPT("4", COUNTIF($A$2:$A$52, C5*10+4))&amp;REPT("5", COUNTIF($A$2:$A$52, C5*10+5))&amp;REPT("6", COUNTIF($A$2:$A$52, C5*10+6))&amp;REPT("7", COUNTIF($A$2:$A$52, C5*10+7))&amp;REPT("8", COUNTIF($A$2:$A$52, C5*10+8))&amp;REPT("9", COUNTIF($A$2:$A$52, C5*10+9))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333039" y="116632"/>
            <a:ext cx="7259637" cy="609600"/>
          </a:xfrm>
        </p:spPr>
        <p:txBody>
          <a:bodyPr/>
          <a:lstStyle/>
          <a:p>
            <a:pPr eaLnBrk="1" hangingPunct="1"/>
            <a:r>
              <a:rPr lang="en-US" altLang="ko-KR" dirty="0"/>
              <a:t>Excel </a:t>
            </a:r>
            <a:r>
              <a:rPr lang="ko-KR" altLang="en-US" dirty="0"/>
              <a:t>실습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4733" y="726232"/>
            <a:ext cx="7772400" cy="468471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ko-KR" sz="2800" dirty="0"/>
              <a:t>1. p35 </a:t>
            </a:r>
            <a:r>
              <a:rPr lang="ko-KR" altLang="en-US" sz="2800" dirty="0"/>
              <a:t>예제</a:t>
            </a:r>
            <a:r>
              <a:rPr lang="en-US" altLang="ko-KR" sz="2800" dirty="0"/>
              <a:t>12) </a:t>
            </a:r>
            <a:r>
              <a:rPr lang="ko-KR" altLang="en-US" sz="2800" dirty="0"/>
              <a:t>다음 데이터를 직접 입력하고 과정을 따라해 본다</a:t>
            </a:r>
            <a:r>
              <a:rPr lang="en-US" altLang="ko-KR" sz="2800" dirty="0"/>
              <a:t>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sz="2800" dirty="0"/>
              <a:t>2. </a:t>
            </a:r>
            <a:r>
              <a:rPr lang="ko-KR" altLang="en-US" sz="2800" dirty="0"/>
              <a:t>데이터</a:t>
            </a:r>
            <a:r>
              <a:rPr lang="en-US" altLang="ko-KR" sz="2800" dirty="0"/>
              <a:t> </a:t>
            </a:r>
            <a:r>
              <a:rPr lang="ko-KR" altLang="en-US" sz="2800" dirty="0"/>
              <a:t>설명</a:t>
            </a:r>
            <a:r>
              <a:rPr lang="en-US" altLang="ko-KR" sz="2800" dirty="0"/>
              <a:t>: 130</a:t>
            </a:r>
            <a:r>
              <a:rPr lang="ko-KR" altLang="en-US" sz="2800" dirty="0"/>
              <a:t>명의 사망자 목록의 사망원인 자료</a:t>
            </a:r>
            <a:r>
              <a:rPr lang="en-US" altLang="ko-KR" sz="2800" dirty="0"/>
              <a:t>.</a:t>
            </a:r>
            <a:r>
              <a:rPr lang="ko-KR" altLang="en-US" sz="2800" dirty="0" err="1"/>
              <a:t>원인별</a:t>
            </a:r>
            <a:r>
              <a:rPr lang="ko-KR" altLang="en-US" sz="2800" dirty="0"/>
              <a:t> 돗수분포표 작성</a:t>
            </a:r>
            <a:r>
              <a:rPr lang="en-US" altLang="ko-KR" sz="2800" dirty="0"/>
              <a:t>, </a:t>
            </a:r>
            <a:r>
              <a:rPr lang="ko-KR" altLang="en-US" sz="2800" dirty="0"/>
              <a:t>원형그래프 작성 및 </a:t>
            </a:r>
            <a:r>
              <a:rPr lang="ko-KR" altLang="en-US" sz="2800" dirty="0" err="1"/>
              <a:t>파레토</a:t>
            </a:r>
            <a:r>
              <a:rPr lang="ko-KR" altLang="en-US" sz="2800" dirty="0"/>
              <a:t> 그림 그려볼 것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7A8D023-7493-456D-973E-DA07729EFBF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66" r="21598" b="4801"/>
          <a:stretch/>
        </p:blipFill>
        <p:spPr>
          <a:xfrm>
            <a:off x="395535" y="3083542"/>
            <a:ext cx="8039957" cy="365782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333039" y="116632"/>
            <a:ext cx="7259637" cy="609600"/>
          </a:xfrm>
        </p:spPr>
        <p:txBody>
          <a:bodyPr/>
          <a:lstStyle/>
          <a:p>
            <a:pPr eaLnBrk="1" hangingPunct="1"/>
            <a:r>
              <a:rPr lang="en-US" altLang="ko-KR" dirty="0"/>
              <a:t>Excel </a:t>
            </a:r>
            <a:r>
              <a:rPr lang="ko-KR" altLang="en-US" dirty="0"/>
              <a:t>실습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4733" y="726232"/>
            <a:ext cx="7772400" cy="468471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ko-KR" altLang="en-US" sz="2800" dirty="0"/>
              <a:t>줄기</a:t>
            </a:r>
            <a:r>
              <a:rPr lang="en-US" altLang="ko-KR" sz="2800" dirty="0"/>
              <a:t>-</a:t>
            </a:r>
            <a:r>
              <a:rPr lang="ko-KR" altLang="en-US" sz="2800" dirty="0"/>
              <a:t>입</a:t>
            </a:r>
            <a:r>
              <a:rPr lang="en-US" altLang="ko-KR" sz="2800" dirty="0"/>
              <a:t>-</a:t>
            </a:r>
            <a:r>
              <a:rPr lang="ko-KR" altLang="en-US" sz="2800" dirty="0"/>
              <a:t>그림</a:t>
            </a:r>
            <a:r>
              <a:rPr lang="en-US" altLang="ko-KR" sz="2800" dirty="0"/>
              <a:t>(stem-and-leaf plot)</a:t>
            </a:r>
            <a:endParaRPr lang="ko-KR" altLang="en-US" sz="2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42CD7BF-05D9-4926-8308-13C28CA4E8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93" y="1276257"/>
            <a:ext cx="6243954" cy="487520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8EA9002-7BAD-4814-BB3F-D35B274A8C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106" y="2314407"/>
            <a:ext cx="1933845" cy="364858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996EDAB-05B2-49BE-BAA6-5B4E5933427C}"/>
              </a:ext>
            </a:extLst>
          </p:cNvPr>
          <p:cNvSpPr/>
          <p:nvPr/>
        </p:nvSpPr>
        <p:spPr>
          <a:xfrm>
            <a:off x="6337402" y="1611568"/>
            <a:ext cx="2443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ko-KR" sz="14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D5 </a:t>
            </a:r>
            <a:r>
              <a:rPr lang="ko-KR" altLang="en-US" sz="14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셀을 잎의 각 행에 복사하여 줄기</a:t>
            </a:r>
            <a:r>
              <a:rPr lang="en-US" altLang="ko-KR" sz="14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14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잎 그림을 완성한다</a:t>
            </a:r>
            <a:r>
              <a:rPr lang="en-US" altLang="ko-KR" sz="14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400" dirty="0">
              <a:solidFill>
                <a:srgbClr val="000000"/>
              </a:solidFill>
              <a:latin typeface="Dotum" panose="020B0600000101010101" pitchFamily="50" charset="-127"/>
              <a:ea typeface="Dotum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2CC0BC9-0C0C-471C-AEB7-8597FE5CD5C9}"/>
              </a:ext>
            </a:extLst>
          </p:cNvPr>
          <p:cNvSpPr/>
          <p:nvPr/>
        </p:nvSpPr>
        <p:spPr>
          <a:xfrm>
            <a:off x="5457917" y="6142610"/>
            <a:ext cx="36620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000000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출처</a:t>
            </a:r>
            <a:r>
              <a:rPr lang="en-US" altLang="ko-KR" sz="1200" b="1" dirty="0">
                <a:solidFill>
                  <a:srgbClr val="000000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]</a:t>
            </a:r>
            <a:r>
              <a:rPr lang="ko-KR" altLang="en-US" sz="1200" dirty="0">
                <a:solidFill>
                  <a:srgbClr val="000000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 </a:t>
            </a:r>
            <a:r>
              <a:rPr lang="ko-KR" altLang="en-US" sz="1200" dirty="0">
                <a:solidFill>
                  <a:srgbClr val="000000"/>
                </a:solidFill>
                <a:latin typeface="Dotum" panose="020B0600000101010101" pitchFamily="50" charset="-127"/>
                <a:ea typeface="Dotum" panose="020B0600000101010101" pitchFamily="50" charset="-127"/>
                <a:hlinkClick r:id="rId4"/>
              </a:rPr>
              <a:t>엑셀 줄기</a:t>
            </a:r>
            <a:r>
              <a:rPr lang="en-US" altLang="ko-KR" sz="1200" dirty="0">
                <a:solidFill>
                  <a:srgbClr val="000000"/>
                </a:solidFill>
                <a:latin typeface="Dotum" panose="020B0600000101010101" pitchFamily="50" charset="-127"/>
                <a:ea typeface="Dotum" panose="020B0600000101010101" pitchFamily="50" charset="-127"/>
                <a:hlinkClick r:id="rId4"/>
              </a:rPr>
              <a:t>-</a:t>
            </a:r>
            <a:r>
              <a:rPr lang="ko-KR" altLang="en-US" sz="1200" dirty="0">
                <a:solidFill>
                  <a:srgbClr val="000000"/>
                </a:solidFill>
                <a:latin typeface="Dotum" panose="020B0600000101010101" pitchFamily="50" charset="-127"/>
                <a:ea typeface="Dotum" panose="020B0600000101010101" pitchFamily="50" charset="-127"/>
                <a:hlinkClick r:id="rId4"/>
              </a:rPr>
              <a:t>잎 그림 그리기 </a:t>
            </a:r>
            <a:r>
              <a:rPr lang="en-US" altLang="ko-KR" sz="1200" dirty="0">
                <a:solidFill>
                  <a:srgbClr val="000000"/>
                </a:solidFill>
                <a:latin typeface="Dotum" panose="020B0600000101010101" pitchFamily="50" charset="-127"/>
                <a:ea typeface="Dotum" panose="020B0600000101010101" pitchFamily="50" charset="-127"/>
                <a:hlinkClick r:id="rId4"/>
              </a:rPr>
              <a:t>(Stem-and-Leaf Plot in Excel)</a:t>
            </a:r>
            <a:r>
              <a:rPr lang="en-US" altLang="ko-KR" sz="1200" dirty="0">
                <a:solidFill>
                  <a:srgbClr val="000000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|</a:t>
            </a:r>
            <a:r>
              <a:rPr lang="ko-KR" altLang="en-US" sz="1200" b="1" dirty="0">
                <a:solidFill>
                  <a:srgbClr val="000000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작성자</a:t>
            </a:r>
            <a:r>
              <a:rPr lang="ko-KR" altLang="en-US" sz="1200" dirty="0">
                <a:solidFill>
                  <a:srgbClr val="000000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 </a:t>
            </a:r>
            <a:r>
              <a:rPr lang="ko-KR" altLang="en-US" sz="1200" dirty="0" err="1">
                <a:solidFill>
                  <a:srgbClr val="000000"/>
                </a:solidFill>
                <a:latin typeface="Dotum" panose="020B0600000101010101" pitchFamily="50" charset="-127"/>
                <a:ea typeface="Dotum" panose="020B0600000101010101" pitchFamily="50" charset="-127"/>
                <a:hlinkClick r:id="rId5"/>
              </a:rPr>
              <a:t>장쇠</a:t>
            </a:r>
            <a:endParaRPr lang="ko-KR" altLang="en-US" sz="12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10FFADD-4D47-4686-8C6D-E939B5F4618A}"/>
              </a:ext>
            </a:extLst>
          </p:cNvPr>
          <p:cNvSpPr/>
          <p:nvPr/>
        </p:nvSpPr>
        <p:spPr>
          <a:xfrm>
            <a:off x="237965" y="6172543"/>
            <a:ext cx="48407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+mn-lt"/>
              </a:rPr>
              <a:t>REPT (text, </a:t>
            </a:r>
            <a:r>
              <a:rPr lang="en-US" altLang="ko-KR" sz="1200" dirty="0" err="1">
                <a:latin typeface="+mn-lt"/>
              </a:rPr>
              <a:t>number_times</a:t>
            </a:r>
            <a:r>
              <a:rPr lang="en-US" altLang="ko-KR" sz="1200" dirty="0">
                <a:latin typeface="+mn-lt"/>
              </a:rPr>
              <a:t>)</a:t>
            </a:r>
            <a:r>
              <a:rPr lang="en-US" altLang="ko-KR" sz="1200" dirty="0">
                <a:solidFill>
                  <a:srgbClr val="111111"/>
                </a:solidFill>
                <a:latin typeface="+mn-lt"/>
              </a:rPr>
              <a:t>: </a:t>
            </a:r>
            <a:r>
              <a:rPr lang="ko-KR" altLang="en-US" sz="1200" dirty="0">
                <a:solidFill>
                  <a:srgbClr val="111111"/>
                </a:solidFill>
                <a:latin typeface="+mn-lt"/>
              </a:rPr>
              <a:t>설명 텍스트를 지정된 횟수만큼 반복</a:t>
            </a:r>
            <a:endParaRPr lang="en-US" altLang="ko-KR" sz="1200" dirty="0">
              <a:solidFill>
                <a:srgbClr val="111111"/>
              </a:solidFill>
              <a:latin typeface="+mn-lt"/>
            </a:endParaRPr>
          </a:p>
          <a:p>
            <a:r>
              <a:rPr lang="en-US" altLang="ko-KR" sz="1200" dirty="0">
                <a:latin typeface="+mn-lt"/>
              </a:rPr>
              <a:t>COUNTIF(</a:t>
            </a:r>
            <a:r>
              <a:rPr lang="ko-KR" altLang="en-US" sz="1200" dirty="0">
                <a:latin typeface="+mn-lt"/>
              </a:rPr>
              <a:t>범위</a:t>
            </a:r>
            <a:r>
              <a:rPr lang="en-US" altLang="ko-KR" sz="1200" dirty="0">
                <a:latin typeface="+mn-lt"/>
              </a:rPr>
              <a:t>, </a:t>
            </a:r>
            <a:r>
              <a:rPr lang="ko-KR" altLang="en-US" sz="1200" dirty="0">
                <a:latin typeface="+mn-lt"/>
              </a:rPr>
              <a:t>조건</a:t>
            </a:r>
            <a:r>
              <a:rPr lang="en-US" altLang="ko-KR" sz="1200" dirty="0">
                <a:latin typeface="+mn-lt"/>
              </a:rPr>
              <a:t>):</a:t>
            </a:r>
            <a:r>
              <a:rPr lang="ko-KR" altLang="en-US" sz="1200" dirty="0">
                <a:latin typeface="+mn-lt"/>
              </a:rPr>
              <a:t>범위에서 조건을 만족하는 셀의 개수를 구해준다</a:t>
            </a:r>
            <a:r>
              <a:rPr lang="en-US" altLang="ko-KR" sz="1200" dirty="0">
                <a:latin typeface="+mn-lt"/>
              </a:rPr>
              <a:t>.</a:t>
            </a:r>
          </a:p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6216419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198563" y="124481"/>
            <a:ext cx="7259637" cy="609600"/>
          </a:xfrm>
        </p:spPr>
        <p:txBody>
          <a:bodyPr/>
          <a:lstStyle/>
          <a:p>
            <a:pPr eaLnBrk="1" hangingPunct="1"/>
            <a:r>
              <a:rPr lang="en-US" altLang="ko-KR" dirty="0"/>
              <a:t>HW.#1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620688"/>
            <a:ext cx="7772400" cy="4495800"/>
          </a:xfrm>
        </p:spPr>
        <p:txBody>
          <a:bodyPr/>
          <a:lstStyle/>
          <a:p>
            <a:pPr marL="609600" indent="-609600" eaLnBrk="1" hangingPunct="1">
              <a:buFontTx/>
              <a:buAutoNum type="arabicPeriod"/>
            </a:pPr>
            <a:r>
              <a:rPr lang="en-US" altLang="ko-KR" sz="1800" dirty="0"/>
              <a:t>#5.8  (</a:t>
            </a:r>
            <a:r>
              <a:rPr lang="ko-KR" altLang="en-US" sz="1800" dirty="0"/>
              <a:t>출력결과를 레포트에 편집해서 낼 것</a:t>
            </a:r>
            <a:r>
              <a:rPr lang="en-US" altLang="ko-KR" sz="1800" dirty="0"/>
              <a:t>)</a:t>
            </a:r>
          </a:p>
          <a:p>
            <a:pPr marL="609600" indent="-609600" eaLnBrk="1" hangingPunct="1">
              <a:buFontTx/>
              <a:buAutoNum type="arabicPeriod"/>
            </a:pPr>
            <a:endParaRPr lang="en-US" altLang="ko-KR" sz="2800" dirty="0"/>
          </a:p>
          <a:p>
            <a:pPr marL="609600" indent="-609600" eaLnBrk="1" hangingPunct="1">
              <a:buFontTx/>
              <a:buAutoNum type="arabicPeriod"/>
            </a:pPr>
            <a:endParaRPr lang="en-US" altLang="ko-KR" sz="2800" dirty="0"/>
          </a:p>
          <a:p>
            <a:pPr marL="609600" indent="-609600" eaLnBrk="1" hangingPunct="1">
              <a:buFontTx/>
              <a:buAutoNum type="arabicPeriod"/>
            </a:pPr>
            <a:endParaRPr lang="en-US" altLang="ko-KR" sz="2800" dirty="0"/>
          </a:p>
          <a:p>
            <a:pPr marL="609600" indent="-609600" eaLnBrk="1" hangingPunct="1">
              <a:buFontTx/>
              <a:buAutoNum type="arabicPeriod"/>
            </a:pPr>
            <a:endParaRPr lang="en-US" altLang="ko-KR" sz="2800" dirty="0"/>
          </a:p>
          <a:p>
            <a:pPr marL="609600" indent="-609600" eaLnBrk="1" hangingPunct="1">
              <a:buFontTx/>
              <a:buAutoNum type="arabicPeriod"/>
            </a:pPr>
            <a:endParaRPr lang="en-US" altLang="ko-KR" sz="2800" dirty="0"/>
          </a:p>
          <a:p>
            <a:pPr marL="609600" indent="-609600" eaLnBrk="1" hangingPunct="1">
              <a:buFontTx/>
              <a:buAutoNum type="arabicPeriod"/>
            </a:pPr>
            <a:r>
              <a:rPr lang="ko-KR" altLang="en-US" sz="2400" dirty="0"/>
              <a:t>자료 조사</a:t>
            </a:r>
            <a:r>
              <a:rPr lang="en-US" altLang="ko-KR" sz="2400" dirty="0"/>
              <a:t>, </a:t>
            </a:r>
            <a:r>
              <a:rPr lang="ko-KR" altLang="en-US" sz="2400" dirty="0"/>
              <a:t>정리 및 요약하기</a:t>
            </a:r>
          </a:p>
          <a:p>
            <a:pPr marL="609600" indent="-609600" eaLnBrk="1" hangingPunct="1">
              <a:buFontTx/>
              <a:buNone/>
            </a:pPr>
            <a:r>
              <a:rPr lang="ko-KR" altLang="en-US" sz="2800" dirty="0"/>
              <a:t>  </a:t>
            </a:r>
            <a:r>
              <a:rPr lang="en-US" altLang="ko-KR" sz="2800" dirty="0"/>
              <a:t>- </a:t>
            </a:r>
            <a:r>
              <a:rPr lang="ko-KR" altLang="en-US" sz="1800" dirty="0"/>
              <a:t>관심대상 분야를 하나 선정하여 자료를 수집하여 그림과 도표 혹은 수치로 수집한 자료를 알기 쉽게 요약 할 것     </a:t>
            </a:r>
            <a:r>
              <a:rPr lang="en-US" altLang="ko-KR" sz="1800" dirty="0"/>
              <a:t>(</a:t>
            </a:r>
            <a:r>
              <a:rPr lang="ko-KR" altLang="en-US" sz="1800" dirty="0"/>
              <a:t>예를 들면 지역별 성비</a:t>
            </a:r>
            <a:r>
              <a:rPr lang="en-US" altLang="ko-KR" sz="1800" dirty="0"/>
              <a:t>(</a:t>
            </a:r>
            <a:r>
              <a:rPr lang="ko-KR" altLang="en-US" sz="1800" dirty="0"/>
              <a:t>남</a:t>
            </a:r>
            <a:r>
              <a:rPr lang="en-US" altLang="ko-KR" sz="1800" dirty="0"/>
              <a:t>/</a:t>
            </a:r>
            <a:r>
              <a:rPr lang="ko-KR" altLang="en-US" sz="1800" dirty="0"/>
              <a:t>여</a:t>
            </a:r>
            <a:r>
              <a:rPr lang="en-US" altLang="ko-KR" sz="1800" dirty="0"/>
              <a:t>), </a:t>
            </a:r>
            <a:r>
              <a:rPr lang="ko-KR" altLang="en-US" sz="1800" dirty="0"/>
              <a:t>대학별 입시 지원율</a:t>
            </a:r>
            <a:r>
              <a:rPr lang="en-US" altLang="ko-KR" sz="1800" dirty="0"/>
              <a:t>, </a:t>
            </a:r>
            <a:r>
              <a:rPr lang="en-US" altLang="ko-KR" sz="1800" dirty="0">
                <a:latin typeface="Times New Roman" pitchFamily="18" charset="0"/>
              </a:rPr>
              <a:t>…</a:t>
            </a:r>
            <a:r>
              <a:rPr lang="en-US" altLang="ko-KR" sz="1800" dirty="0"/>
              <a:t>.)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sz="2000" b="1" dirty="0"/>
              <a:t>   </a:t>
            </a:r>
            <a:r>
              <a:rPr lang="en-US" altLang="ko-KR" sz="2400" b="1" dirty="0"/>
              <a:t>-</a:t>
            </a:r>
            <a:r>
              <a:rPr lang="en-US" altLang="ko-KR" sz="2000" dirty="0"/>
              <a:t> </a:t>
            </a:r>
            <a:r>
              <a:rPr lang="ko-KR" altLang="en-US" sz="1800" dirty="0"/>
              <a:t>공공데이터 포털</a:t>
            </a:r>
            <a:r>
              <a:rPr lang="en-US" altLang="ko-KR" sz="1800" dirty="0"/>
              <a:t>(www.data.go.kr)</a:t>
            </a:r>
            <a:r>
              <a:rPr lang="ko-KR" altLang="en-US" sz="1800" dirty="0"/>
              <a:t> 혹은</a:t>
            </a:r>
            <a:r>
              <a:rPr lang="ko-KR" altLang="en-US" sz="1800" dirty="0">
                <a:solidFill>
                  <a:srgbClr val="FF0000"/>
                </a:solidFill>
              </a:rPr>
              <a:t> </a:t>
            </a:r>
            <a:r>
              <a:rPr lang="en-US" altLang="ko-KR" sz="1800" dirty="0"/>
              <a:t>www.nso.go.kr (</a:t>
            </a:r>
            <a:r>
              <a:rPr lang="ko-KR" altLang="en-US" sz="1800" dirty="0"/>
              <a:t>통계청</a:t>
            </a:r>
            <a:r>
              <a:rPr lang="en-US" altLang="ko-KR" sz="1800" dirty="0"/>
              <a:t>)</a:t>
            </a:r>
            <a:r>
              <a:rPr lang="ko-KR" altLang="en-US" sz="1800" dirty="0"/>
              <a:t>참조 </a:t>
            </a:r>
            <a:r>
              <a:rPr lang="en-US" altLang="ko-KR" sz="1200" dirty="0"/>
              <a:t>(</a:t>
            </a:r>
            <a:r>
              <a:rPr lang="ko-KR" altLang="en-US" sz="1200" dirty="0"/>
              <a:t>예</a:t>
            </a:r>
            <a:r>
              <a:rPr lang="en-US" altLang="ko-KR" sz="1200" dirty="0"/>
              <a:t>) </a:t>
            </a:r>
            <a:r>
              <a:rPr lang="ko-KR" altLang="en-US" sz="1200" dirty="0">
                <a:hlinkClick r:id="rId2"/>
              </a:rPr>
              <a:t>중앙선거관리위원회 국회의원선거 개표결과 정보</a:t>
            </a:r>
            <a:r>
              <a:rPr lang="en-US" altLang="ko-KR" sz="1200" dirty="0">
                <a:hlinkClick r:id="rId2"/>
              </a:rPr>
              <a:t>_20200415 | </a:t>
            </a:r>
            <a:r>
              <a:rPr lang="ko-KR" altLang="en-US" sz="1200" dirty="0" err="1">
                <a:hlinkClick r:id="rId2"/>
              </a:rPr>
              <a:t>공공데이터포털</a:t>
            </a:r>
            <a:endParaRPr lang="ko-KR" altLang="en-US" sz="1200" dirty="0"/>
          </a:p>
          <a:p>
            <a:pPr marL="609600" indent="-609600" eaLnBrk="1" hangingPunct="1">
              <a:buFontTx/>
              <a:buNone/>
            </a:pPr>
            <a:r>
              <a:rPr lang="ko-KR" altLang="en-US" sz="2000" dirty="0"/>
              <a:t>   </a:t>
            </a:r>
            <a:r>
              <a:rPr lang="en-US" altLang="ko-KR" sz="2400" b="1" dirty="0"/>
              <a:t>-</a:t>
            </a:r>
            <a:r>
              <a:rPr lang="en-US" altLang="ko-KR" sz="2000" dirty="0"/>
              <a:t> </a:t>
            </a:r>
            <a:r>
              <a:rPr lang="ko-KR" altLang="en-US" sz="1800" dirty="0" err="1"/>
              <a:t>레포트</a:t>
            </a:r>
            <a:r>
              <a:rPr lang="ko-KR" altLang="en-US" sz="1800" dirty="0"/>
              <a:t> 제출할 때는 자료수집 경과와 자료의 일부</a:t>
            </a:r>
            <a:r>
              <a:rPr lang="en-US" altLang="ko-KR" sz="1800" dirty="0"/>
              <a:t>(</a:t>
            </a:r>
            <a:r>
              <a:rPr lang="ko-KR" altLang="en-US" sz="1800" dirty="0"/>
              <a:t>적절한 양</a:t>
            </a:r>
            <a:r>
              <a:rPr lang="en-US" altLang="ko-KR" sz="1800" dirty="0"/>
              <a:t>)</a:t>
            </a:r>
            <a:r>
              <a:rPr lang="ko-KR" altLang="en-US" sz="1800" dirty="0"/>
              <a:t>를 제출할 것</a:t>
            </a:r>
            <a:r>
              <a:rPr lang="en-US" altLang="ko-KR" sz="1800" dirty="0"/>
              <a:t>. </a:t>
            </a:r>
            <a:r>
              <a:rPr lang="ko-KR" altLang="en-US" sz="1800" dirty="0"/>
              <a:t>물론 자료에 대한 정리</a:t>
            </a:r>
            <a:r>
              <a:rPr lang="en-US" altLang="ko-KR" sz="1800" dirty="0"/>
              <a:t>(</a:t>
            </a:r>
            <a:r>
              <a:rPr lang="ko-KR" altLang="en-US" sz="1800" dirty="0"/>
              <a:t>도수분포표 혹은 차트</a:t>
            </a:r>
            <a:r>
              <a:rPr lang="en-US" altLang="ko-KR" sz="1800" dirty="0"/>
              <a:t>)</a:t>
            </a:r>
            <a:r>
              <a:rPr lang="ko-KR" altLang="en-US" sz="1800" dirty="0"/>
              <a:t>도 같이 할 것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E45B2B7-30AB-4444-A694-862340B10B5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00" r="5502" b="20134"/>
          <a:stretch/>
        </p:blipFill>
        <p:spPr>
          <a:xfrm>
            <a:off x="1064647" y="1230288"/>
            <a:ext cx="6696744" cy="208343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BD76C82-E837-44E2-A373-C25ED229443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2" t="47399" r="9178" b="45309"/>
          <a:stretch/>
        </p:blipFill>
        <p:spPr>
          <a:xfrm>
            <a:off x="1244667" y="3313719"/>
            <a:ext cx="6516724" cy="2743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조화">
  <a:themeElements>
    <a:clrScheme name="조화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조화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조화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조화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조화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조화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조화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조화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조화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조화 2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  <a:fontScheme name="조화">
    <a:majorFont>
      <a:latin typeface="굴림"/>
      <a:ea typeface="굴림"/>
      <a:cs typeface=""/>
    </a:majorFont>
    <a:minorFont>
      <a:latin typeface="굴림"/>
      <a:ea typeface="굴림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Office\Templates\디자인\조화.pot</Template>
  <TotalTime>5786</TotalTime>
  <Words>1643</Words>
  <Application>Microsoft Office PowerPoint</Application>
  <PresentationFormat>화면 슬라이드 쇼(4:3)</PresentationFormat>
  <Paragraphs>283</Paragraphs>
  <Slides>31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41" baseType="lpstr">
      <vt:lpstr>굴림</vt:lpstr>
      <vt:lpstr>나눔고딕</vt:lpstr>
      <vt:lpstr>Dotum</vt:lpstr>
      <vt:lpstr>맑은 고딕</vt:lpstr>
      <vt:lpstr>Arial</vt:lpstr>
      <vt:lpstr>Tahoma</vt:lpstr>
      <vt:lpstr>Times New Roman</vt:lpstr>
      <vt:lpstr>Wingdings</vt:lpstr>
      <vt:lpstr>조화</vt:lpstr>
      <vt:lpstr>차트</vt:lpstr>
      <vt:lpstr>제 2장. 표와 그림을 통한  자료의 요약  jsum@hansung.ac.kr</vt:lpstr>
      <vt:lpstr> 소개</vt:lpstr>
      <vt:lpstr>자료의 종류</vt:lpstr>
      <vt:lpstr>질적자료(qualitative data ,범주형 자료)</vt:lpstr>
      <vt:lpstr>범주형 자료의 요약</vt:lpstr>
      <vt:lpstr>범주형 자료의 요약</vt:lpstr>
      <vt:lpstr>PowerPoint 프레젠테이션</vt:lpstr>
      <vt:lpstr>PowerPoint 프레젠테이션</vt:lpstr>
      <vt:lpstr>그룹화된 막대그래프</vt:lpstr>
      <vt:lpstr>PowerPoint 프레젠테이션</vt:lpstr>
      <vt:lpstr>PowerPoint 프레젠테이션</vt:lpstr>
      <vt:lpstr>PowerPoint 프레젠테이션</vt:lpstr>
      <vt:lpstr>엑셀 데이터 분석 설치</vt:lpstr>
      <vt:lpstr>Excel 실습</vt:lpstr>
      <vt:lpstr>PowerPoint 프레젠테이션</vt:lpstr>
      <vt:lpstr>원형차트(Pie Chart)</vt:lpstr>
      <vt:lpstr>PowerPoint 프레젠테이션</vt:lpstr>
      <vt:lpstr>PowerPoint 프레젠테이션</vt:lpstr>
      <vt:lpstr>  양적자료의 요약</vt:lpstr>
      <vt:lpstr>  양적자료의 요약</vt:lpstr>
      <vt:lpstr>  양적자료의 요약</vt:lpstr>
      <vt:lpstr>  양적자료의 요약</vt:lpstr>
      <vt:lpstr>  양적자료의 요약</vt:lpstr>
      <vt:lpstr>  양적자료의 요약</vt:lpstr>
      <vt:lpstr> Excel 실습</vt:lpstr>
      <vt:lpstr>PowerPoint 프레젠테이션</vt:lpstr>
      <vt:lpstr>PowerPoint 프레젠테이션</vt:lpstr>
      <vt:lpstr>PowerPoint 프레젠테이션</vt:lpstr>
      <vt:lpstr>Excel 실습</vt:lpstr>
      <vt:lpstr>Excel 실습</vt:lpstr>
      <vt:lpstr>HW.#1</vt:lpstr>
    </vt:vector>
  </TitlesOfParts>
  <Company>한성대학교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Ch2. 자료의 정리</dc:title>
  <dc:creator>엄종석</dc:creator>
  <cp:lastModifiedBy>Windows 사용자</cp:lastModifiedBy>
  <cp:revision>144</cp:revision>
  <dcterms:created xsi:type="dcterms:W3CDTF">2002-03-13T07:32:49Z</dcterms:created>
  <dcterms:modified xsi:type="dcterms:W3CDTF">2026-03-15T05:02:31Z</dcterms:modified>
</cp:coreProperties>
</file>