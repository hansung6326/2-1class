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99" r:id="rId3"/>
    <p:sldId id="257" r:id="rId4"/>
    <p:sldId id="300" r:id="rId5"/>
    <p:sldId id="311" r:id="rId6"/>
    <p:sldId id="312" r:id="rId7"/>
    <p:sldId id="313" r:id="rId8"/>
    <p:sldId id="286" r:id="rId9"/>
    <p:sldId id="314" r:id="rId10"/>
    <p:sldId id="301" r:id="rId11"/>
    <p:sldId id="287" r:id="rId12"/>
    <p:sldId id="315" r:id="rId13"/>
    <p:sldId id="258" r:id="rId14"/>
    <p:sldId id="316" r:id="rId15"/>
    <p:sldId id="302" r:id="rId16"/>
    <p:sldId id="317" r:id="rId17"/>
    <p:sldId id="318" r:id="rId18"/>
    <p:sldId id="319" r:id="rId19"/>
    <p:sldId id="320" r:id="rId20"/>
    <p:sldId id="303" r:id="rId21"/>
    <p:sldId id="321" r:id="rId22"/>
    <p:sldId id="296" r:id="rId23"/>
    <p:sldId id="304" r:id="rId24"/>
    <p:sldId id="275" r:id="rId25"/>
    <p:sldId id="307" r:id="rId26"/>
    <p:sldId id="305" r:id="rId27"/>
    <p:sldId id="292" r:id="rId28"/>
    <p:sldId id="322" r:id="rId29"/>
    <p:sldId id="306" r:id="rId30"/>
    <p:sldId id="274" r:id="rId31"/>
    <p:sldId id="323" r:id="rId32"/>
    <p:sldId id="289" r:id="rId33"/>
    <p:sldId id="290" r:id="rId34"/>
    <p:sldId id="291" r:id="rId35"/>
    <p:sldId id="308" r:id="rId36"/>
    <p:sldId id="295" r:id="rId37"/>
    <p:sldId id="309" r:id="rId38"/>
    <p:sldId id="284" r:id="rId39"/>
    <p:sldId id="310" r:id="rId40"/>
    <p:sldId id="324" r:id="rId41"/>
    <p:sldId id="325" r:id="rId42"/>
  </p:sldIdLst>
  <p:sldSz cx="9144000" cy="6858000" type="screen4x3"/>
  <p:notesSz cx="6858000" cy="914400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38" autoAdjust="0"/>
    <p:restoredTop sz="98065" autoAdjust="0"/>
  </p:normalViewPr>
  <p:slideViewPr>
    <p:cSldViewPr>
      <p:cViewPr varScale="1">
        <p:scale>
          <a:sx n="104" d="100"/>
          <a:sy n="104" d="100"/>
        </p:scale>
        <p:origin x="102" y="234"/>
      </p:cViewPr>
      <p:guideLst>
        <p:guide orient="horz" pos="2112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.wmf"/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wmf"/><Relationship Id="rId2" Type="http://schemas.openxmlformats.org/officeDocument/2006/relationships/image" Target="../media/image4.wmf"/><Relationship Id="rId1" Type="http://schemas.openxmlformats.org/officeDocument/2006/relationships/image" Target="../media/image3.wmf"/><Relationship Id="rId4" Type="http://schemas.openxmlformats.org/officeDocument/2006/relationships/image" Target="../media/image6.wmf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8.wmf"/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Relationship Id="rId5" Type="http://schemas.openxmlformats.org/officeDocument/2006/relationships/image" Target="../media/image14.wmf"/><Relationship Id="rId4" Type="http://schemas.openxmlformats.org/officeDocument/2006/relationships/image" Target="../media/image13.w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/Relationships>
</file>

<file path=ppt/drawings/_rels/vmlDrawing8.vml.rels><?xml version="1.0" encoding="UTF-8" standalone="yes"?>
<Relationships xmlns="http://schemas.openxmlformats.org/package/2006/relationships"><Relationship Id="rId3" Type="http://schemas.openxmlformats.org/officeDocument/2006/relationships/image" Target="../media/image14.wmf"/><Relationship Id="rId2" Type="http://schemas.openxmlformats.org/officeDocument/2006/relationships/image" Target="../media/image13.wmf"/><Relationship Id="rId1" Type="http://schemas.openxmlformats.org/officeDocument/2006/relationships/image" Target="../media/image12.wmf"/><Relationship Id="rId5" Type="http://schemas.openxmlformats.org/officeDocument/2006/relationships/image" Target="../media/image10.wmf"/><Relationship Id="rId4" Type="http://schemas.openxmlformats.org/officeDocument/2006/relationships/image" Target="../media/image15.wmf"/></Relationships>
</file>

<file path=ppt/drawings/_rels/vmlDrawing9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image" Target="../media/image16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19.wmf"/><Relationship Id="rId1" Type="http://schemas.openxmlformats.org/officeDocument/2006/relationships/image" Target="../media/image18.wmf"/></Relationships>
</file>

<file path=ppt/drawings/_rels/vmlDrawing1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wmf"/></Relationships>
</file>

<file path=ppt/drawings/_rels/vmlDrawing1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1.wmf"/></Relationships>
</file>

<file path=ppt/drawings/_rels/vmlDrawing1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3.wmf"/><Relationship Id="rId1" Type="http://schemas.openxmlformats.org/officeDocument/2006/relationships/image" Target="../media/image22.wmf"/></Relationships>
</file>

<file path=ppt/drawings/_rels/vmlDrawing14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1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image" Target="../media/image27.wmf"/><Relationship Id="rId1" Type="http://schemas.openxmlformats.org/officeDocument/2006/relationships/image" Target="../media/image26.wmf"/></Relationships>
</file>

<file path=ppt/drawings/_rels/vmlDrawing16.v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image" Target="../media/image30.wmf"/><Relationship Id="rId1" Type="http://schemas.openxmlformats.org/officeDocument/2006/relationships/image" Target="../media/image29.wmf"/><Relationship Id="rId4" Type="http://schemas.openxmlformats.org/officeDocument/2006/relationships/image" Target="../media/image23.wmf"/></Relationships>
</file>

<file path=ppt/drawings/_rels/vmlDrawing17.vml.rels><?xml version="1.0" encoding="UTF-8" standalone="yes"?>
<Relationships xmlns="http://schemas.openxmlformats.org/package/2006/relationships"><Relationship Id="rId1" Type="http://schemas.openxmlformats.org/officeDocument/2006/relationships/image" Target="../media/image32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75E8A4-D2CF-4A9C-8CC3-BF90EDA2D92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1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71AE5A-3656-4B86-961D-A552AC2C4C10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167664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916889-38F8-455B-9C8B-DD2F0A94BC1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9751700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C9D539-5DD4-4610-9526-114F72D9D6F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076302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AD8FA0-B165-434B-8E0D-5F384BE7EFC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2284344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F6DB99-3AA4-4C93-B0B3-942CE202700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15358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8BC03A7-4846-4997-902A-C4A1BBA4529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71736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6F84A8-ACF2-45F4-983F-537EDDF990D2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852455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63042C-E344-4013-836F-2F5622A8AC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19531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AEA4BE-4019-47B1-9DC6-41CCBAE6948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68387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785AEA-3077-4677-9ED9-A3121B8A68E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6833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FDD0C45D-893F-4C5E-B8B3-4ADC4E2346CD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굴림" pitchFamily="50" charset="-127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wmf"/><Relationship Id="rId3" Type="http://schemas.openxmlformats.org/officeDocument/2006/relationships/oleObject" Target="../embeddings/oleObject3.bin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wmf"/><Relationship Id="rId5" Type="http://schemas.openxmlformats.org/officeDocument/2006/relationships/oleObject" Target="../embeddings/oleObject4.bin"/><Relationship Id="rId10" Type="http://schemas.openxmlformats.org/officeDocument/2006/relationships/image" Target="../media/image6.wmf"/><Relationship Id="rId4" Type="http://schemas.openxmlformats.org/officeDocument/2006/relationships/image" Target="../media/image3.wmf"/><Relationship Id="rId9" Type="http://schemas.openxmlformats.org/officeDocument/2006/relationships/oleObject" Target="../embeddings/oleObject6.bin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7.wmf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9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image" Target="../media/image11.wmf"/><Relationship Id="rId5" Type="http://schemas.openxmlformats.org/officeDocument/2006/relationships/oleObject" Target="../embeddings/oleObject11.bin"/><Relationship Id="rId4" Type="http://schemas.openxmlformats.org/officeDocument/2006/relationships/image" Target="../media/image10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wmf"/><Relationship Id="rId3" Type="http://schemas.openxmlformats.org/officeDocument/2006/relationships/oleObject" Target="../embeddings/oleObject12.bin"/><Relationship Id="rId7" Type="http://schemas.openxmlformats.org/officeDocument/2006/relationships/oleObject" Target="../embeddings/oleObject14.bin"/><Relationship Id="rId12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1.wmf"/><Relationship Id="rId11" Type="http://schemas.openxmlformats.org/officeDocument/2006/relationships/oleObject" Target="../embeddings/oleObject16.bin"/><Relationship Id="rId5" Type="http://schemas.openxmlformats.org/officeDocument/2006/relationships/oleObject" Target="../embeddings/oleObject13.bin"/><Relationship Id="rId10" Type="http://schemas.openxmlformats.org/officeDocument/2006/relationships/image" Target="../media/image13.wmf"/><Relationship Id="rId4" Type="http://schemas.openxmlformats.org/officeDocument/2006/relationships/image" Target="../media/image10.wmf"/><Relationship Id="rId9" Type="http://schemas.openxmlformats.org/officeDocument/2006/relationships/oleObject" Target="../embeddings/oleObject15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7.bin"/><Relationship Id="rId7" Type="http://schemas.openxmlformats.org/officeDocument/2006/relationships/oleObject" Target="../embeddings/oleObject1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6" Type="http://schemas.openxmlformats.org/officeDocument/2006/relationships/image" Target="../media/image13.wmf"/><Relationship Id="rId5" Type="http://schemas.openxmlformats.org/officeDocument/2006/relationships/oleObject" Target="../embeddings/oleObject18.bin"/><Relationship Id="rId4" Type="http://schemas.openxmlformats.org/officeDocument/2006/relationships/image" Target="../media/image12.wmf"/><Relationship Id="rId9" Type="http://schemas.openxmlformats.org/officeDocument/2006/relationships/hyperlink" Target="https://wikidocs.net/198153" TargetMode="Externa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2.bin"/><Relationship Id="rId13" Type="http://schemas.openxmlformats.org/officeDocument/2006/relationships/image" Target="../media/image10.wmf"/><Relationship Id="rId3" Type="http://schemas.openxmlformats.org/officeDocument/2006/relationships/image" Target="../media/image17.png"/><Relationship Id="rId7" Type="http://schemas.openxmlformats.org/officeDocument/2006/relationships/image" Target="../media/image13.wmf"/><Relationship Id="rId12" Type="http://schemas.openxmlformats.org/officeDocument/2006/relationships/oleObject" Target="../embeddings/oleObject24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oleObject" Target="../embeddings/oleObject21.bin"/><Relationship Id="rId11" Type="http://schemas.openxmlformats.org/officeDocument/2006/relationships/image" Target="../media/image15.wmf"/><Relationship Id="rId5" Type="http://schemas.openxmlformats.org/officeDocument/2006/relationships/image" Target="../media/image12.wmf"/><Relationship Id="rId10" Type="http://schemas.openxmlformats.org/officeDocument/2006/relationships/oleObject" Target="../embeddings/oleObject23.bin"/><Relationship Id="rId4" Type="http://schemas.openxmlformats.org/officeDocument/2006/relationships/oleObject" Target="../embeddings/oleObject20.bin"/><Relationship Id="rId9" Type="http://schemas.openxmlformats.org/officeDocument/2006/relationships/image" Target="../media/image14.wmf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17.wmf"/><Relationship Id="rId5" Type="http://schemas.openxmlformats.org/officeDocument/2006/relationships/oleObject" Target="../embeddings/oleObject26.bin"/><Relationship Id="rId4" Type="http://schemas.openxmlformats.org/officeDocument/2006/relationships/image" Target="../media/image16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28.bin"/><Relationship Id="rId4" Type="http://schemas.openxmlformats.org/officeDocument/2006/relationships/image" Target="../media/image18.wmf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1.vml"/><Relationship Id="rId4" Type="http://schemas.openxmlformats.org/officeDocument/2006/relationships/image" Target="../media/image20.wmf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2.vml"/><Relationship Id="rId4" Type="http://schemas.openxmlformats.org/officeDocument/2006/relationships/image" Target="../media/image21.wmf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3.vml"/><Relationship Id="rId6" Type="http://schemas.openxmlformats.org/officeDocument/2006/relationships/image" Target="../media/image23.wmf"/><Relationship Id="rId5" Type="http://schemas.openxmlformats.org/officeDocument/2006/relationships/oleObject" Target="../embeddings/oleObject32.bin"/><Relationship Id="rId4" Type="http://schemas.openxmlformats.org/officeDocument/2006/relationships/image" Target="../media/image22.wmf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7" Type="http://schemas.openxmlformats.org/officeDocument/2006/relationships/image" Target="../media/image26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4.v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24.wmf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3" Type="http://schemas.openxmlformats.org/officeDocument/2006/relationships/oleObject" Target="../embeddings/oleObject35.bin"/><Relationship Id="rId7" Type="http://schemas.openxmlformats.org/officeDocument/2006/relationships/oleObject" Target="../embeddings/oleObject3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5.vml"/><Relationship Id="rId6" Type="http://schemas.openxmlformats.org/officeDocument/2006/relationships/image" Target="../media/image27.wmf"/><Relationship Id="rId5" Type="http://schemas.openxmlformats.org/officeDocument/2006/relationships/oleObject" Target="../embeddings/oleObject36.bin"/><Relationship Id="rId4" Type="http://schemas.openxmlformats.org/officeDocument/2006/relationships/image" Target="../media/image26.wmf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wmf"/><Relationship Id="rId3" Type="http://schemas.openxmlformats.org/officeDocument/2006/relationships/oleObject" Target="../embeddings/oleObject38.bin"/><Relationship Id="rId7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6.vml"/><Relationship Id="rId6" Type="http://schemas.openxmlformats.org/officeDocument/2006/relationships/image" Target="../media/image30.wmf"/><Relationship Id="rId5" Type="http://schemas.openxmlformats.org/officeDocument/2006/relationships/oleObject" Target="../embeddings/oleObject39.bin"/><Relationship Id="rId10" Type="http://schemas.openxmlformats.org/officeDocument/2006/relationships/image" Target="../media/image23.wmf"/><Relationship Id="rId4" Type="http://schemas.openxmlformats.org/officeDocument/2006/relationships/image" Target="../media/image29.wmf"/><Relationship Id="rId9" Type="http://schemas.openxmlformats.org/officeDocument/2006/relationships/oleObject" Target="../embeddings/oleObject41.bin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7.vml"/><Relationship Id="rId4" Type="http://schemas.openxmlformats.org/officeDocument/2006/relationships/image" Target="../media/image32.wmf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wikidocs.net/198153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kidocs.net/198153" TargetMode="External"/><Relationship Id="rId4" Type="http://schemas.openxmlformats.org/officeDocument/2006/relationships/image" Target="../media/image35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ikidocs.net/198153" TargetMode="External"/><Relationship Id="rId4" Type="http://schemas.openxmlformats.org/officeDocument/2006/relationships/image" Target="../media/image38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/>
          <a:p>
            <a:pPr eaLnBrk="1" hangingPunct="1"/>
            <a:r>
              <a:rPr lang="en-US" altLang="ko-KR"/>
              <a:t>Ch5. </a:t>
            </a:r>
            <a:r>
              <a:rPr lang="ko-KR" altLang="en-US"/>
              <a:t>확률</a:t>
            </a:r>
            <a:br>
              <a:rPr lang="ko-KR" altLang="en-US"/>
            </a:br>
            <a:endParaRPr lang="ko-KR" altLang="en-US"/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ko-KR"/>
              <a:t>Probability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ko-KR" altLang="en-US"/>
              <a:t>서론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ko-KR" dirty="0"/>
              <a:t> </a:t>
            </a:r>
            <a:r>
              <a:rPr lang="ko-KR" altLang="en-US" dirty="0"/>
              <a:t>확률이란</a:t>
            </a:r>
            <a:r>
              <a:rPr lang="en-US" altLang="ko-KR" dirty="0"/>
              <a:t>?</a:t>
            </a:r>
          </a:p>
          <a:p>
            <a:pPr lvl="1" eaLnBrk="1" hangingPunct="1"/>
            <a:r>
              <a:rPr lang="en-US" altLang="ko-KR" dirty="0"/>
              <a:t>	</a:t>
            </a:r>
            <a:r>
              <a:rPr lang="ko-KR" altLang="en-US" dirty="0"/>
              <a:t>어떤 사건이 일어날 가능성</a:t>
            </a:r>
            <a:r>
              <a:rPr lang="en-US" altLang="ko-KR" dirty="0"/>
              <a:t>(</a:t>
            </a:r>
            <a:r>
              <a:rPr lang="ko-KR" altLang="en-US" dirty="0"/>
              <a:t>불확실성</a:t>
            </a:r>
            <a:r>
              <a:rPr lang="en-US" altLang="ko-KR" dirty="0"/>
              <a:t>)</a:t>
            </a:r>
          </a:p>
          <a:p>
            <a:pPr lvl="1" eaLnBrk="1" hangingPunct="1"/>
            <a:r>
              <a:rPr lang="en-US" altLang="ko-KR" dirty="0"/>
              <a:t> </a:t>
            </a:r>
            <a:r>
              <a:rPr lang="ko-KR" altLang="en-US" dirty="0"/>
              <a:t>불확실성은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사이의 수치로 표현</a:t>
            </a:r>
            <a:endParaRPr lang="en-US" altLang="ko-KR" dirty="0"/>
          </a:p>
          <a:p>
            <a:pPr lvl="1" eaLnBrk="1" hangingPunct="1"/>
            <a:r>
              <a:rPr lang="en-US" altLang="ko-KR" dirty="0"/>
              <a:t> </a:t>
            </a:r>
            <a:r>
              <a:rPr lang="ko-KR" altLang="en-US" dirty="0"/>
              <a:t>통계적 추론에 사용	</a:t>
            </a: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C34DBD1-FDED-4665-A3B9-6EA2CCB88912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참고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확률이란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? - (</a:t>
            </a:r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통계를 위한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) </a:t>
            </a:r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확률 다루기 기초 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(wikidocs.net)</a:t>
            </a:r>
            <a:endParaRPr lang="ko-KR" alt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algn="l" eaLnBrk="1" hangingPunct="1"/>
            <a:r>
              <a:rPr lang="en-US" altLang="ko-KR" sz="3600" dirty="0">
                <a:solidFill>
                  <a:schemeClr val="accent2"/>
                </a:solidFill>
              </a:rPr>
              <a:t>2. </a:t>
            </a:r>
            <a:r>
              <a:rPr lang="ko-KR" altLang="en-US" sz="3600" dirty="0">
                <a:solidFill>
                  <a:schemeClr val="accent2"/>
                </a:solidFill>
              </a:rPr>
              <a:t>사건의 확률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29" name="Rectangle 3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323528" y="764704"/>
                <a:ext cx="8820472" cy="5186362"/>
              </a:xfrm>
            </p:spPr>
            <p:txBody>
              <a:bodyPr/>
              <a:lstStyle/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600" dirty="0"/>
                  <a:t>- </a:t>
                </a:r>
                <a:r>
                  <a:rPr lang="ko-KR" altLang="en-US" sz="2600" dirty="0"/>
                  <a:t>어떤</a:t>
                </a:r>
                <a:r>
                  <a:rPr lang="ko-KR" altLang="en-US" sz="2400" dirty="0"/>
                  <a:t> 사건이 일어날 가능성을 나타내 주는 수치</a:t>
                </a:r>
                <a:r>
                  <a:rPr lang="en-US" altLang="ko-KR" sz="2400" dirty="0"/>
                  <a:t> 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- Experiment(</a:t>
                </a:r>
                <a:r>
                  <a:rPr lang="ko-KR" altLang="en-US" sz="2400" dirty="0"/>
                  <a:t>실험</a:t>
                </a:r>
                <a:r>
                  <a:rPr lang="en-US" altLang="ko-KR" sz="2400" dirty="0"/>
                  <a:t>): </a:t>
                </a:r>
                <a:r>
                  <a:rPr lang="ko-KR" altLang="en-US" sz="2400" dirty="0"/>
                  <a:t>다양한 결과가 예측되는 행위 일체</a:t>
                </a:r>
                <a:endParaRPr lang="en-US" altLang="ko-KR" sz="2400" dirty="0"/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- Sample space(</a:t>
                </a:r>
                <a:r>
                  <a:rPr lang="en-US" altLang="ko-KR" sz="2400" dirty="0">
                    <a:ea typeface="바탕" pitchFamily="18" charset="-127"/>
                  </a:rPr>
                  <a:t>Ω:</a:t>
                </a:r>
                <a:r>
                  <a:rPr lang="ko-KR" altLang="en-US" sz="2400" dirty="0">
                    <a:ea typeface="바탕" pitchFamily="18" charset="-127"/>
                  </a:rPr>
                  <a:t>표본공간</a:t>
                </a:r>
                <a:r>
                  <a:rPr lang="en-US" altLang="ko-KR" sz="2400" dirty="0"/>
                  <a:t>) : Collection of all  possible outcomes(</a:t>
                </a:r>
                <a:r>
                  <a:rPr lang="ko-KR" altLang="en-US" sz="2400" dirty="0"/>
                  <a:t>한 실험에서 나올 수 있는 모든 결과들의 모임</a:t>
                </a:r>
                <a:r>
                  <a:rPr lang="en-US" altLang="ko-KR" sz="2400" dirty="0"/>
                  <a:t>)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 - Elementary Event(</a:t>
                </a:r>
                <a:r>
                  <a:rPr lang="ko-KR" altLang="en-US" sz="2400" dirty="0"/>
                  <a:t>근원사건</a:t>
                </a:r>
                <a:r>
                  <a:rPr lang="en-US" altLang="ko-KR" sz="2400" dirty="0"/>
                  <a:t>: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 smtClean="0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sz="2400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2400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sz="2400" dirty="0"/>
                  <a:t>    )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     </a:t>
                </a:r>
                <a:r>
                  <a:rPr lang="en-US" altLang="ko-KR" sz="2400" dirty="0">
                    <a:ea typeface="바탕" pitchFamily="18" charset="-127"/>
                  </a:rPr>
                  <a:t>Ω={                 }: </a:t>
                </a:r>
                <a:r>
                  <a:rPr lang="ko-KR" altLang="en-US" sz="2400" dirty="0">
                    <a:ea typeface="바탕" pitchFamily="18" charset="-127"/>
                  </a:rPr>
                  <a:t>표본공간을 구성하는 개개의 결과</a:t>
                </a:r>
                <a:endParaRPr lang="en-US" altLang="ko-KR" sz="2400" dirty="0">
                  <a:ea typeface="바탕" pitchFamily="18" charset="-127"/>
                </a:endParaRP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>
                    <a:ea typeface="바탕" pitchFamily="18" charset="-127"/>
                  </a:rPr>
                  <a:t> - </a:t>
                </a:r>
                <a:r>
                  <a:rPr lang="en-US" altLang="ko-KR" sz="2400" dirty="0"/>
                  <a:t>Event(A,B,C,…:</a:t>
                </a:r>
                <a:r>
                  <a:rPr lang="ko-KR" altLang="en-US" sz="2400" dirty="0"/>
                  <a:t>사건</a:t>
                </a:r>
                <a:r>
                  <a:rPr lang="en-US" altLang="ko-KR" sz="2400" dirty="0"/>
                  <a:t>) : </a:t>
                </a:r>
                <a:r>
                  <a:rPr lang="ko-KR" altLang="en-US" sz="2400" dirty="0"/>
                  <a:t>표본공간의 부분집합으로 어떤 특성을 갖는 결과들의 모임</a:t>
                </a:r>
                <a:r>
                  <a:rPr lang="en-US" altLang="ko-KR" sz="2400" dirty="0"/>
                  <a:t>(</a:t>
                </a:r>
                <a:r>
                  <a:rPr lang="ko-KR" altLang="en-US" sz="2400" dirty="0"/>
                  <a:t>근원사건들의 집합</a:t>
                </a:r>
                <a:r>
                  <a:rPr lang="en-US" altLang="ko-KR" sz="2400" dirty="0"/>
                  <a:t>)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 - </a:t>
                </a:r>
                <a:r>
                  <a:rPr lang="ko-KR" altLang="en-US" sz="2400" dirty="0"/>
                  <a:t>사건의 확률</a:t>
                </a:r>
                <a:r>
                  <a:rPr lang="en-US" altLang="ko-KR" sz="2400" dirty="0"/>
                  <a:t>: </a:t>
                </a:r>
                <a:r>
                  <a:rPr lang="ko-KR" altLang="en-US" sz="2400" dirty="0"/>
                  <a:t>동일한 조건 하에서 한가지 실험을 반복할 때 전체 실험 횟수에서 그 사건이 일어나리라고 예상되는 비율</a:t>
                </a:r>
                <a:endParaRPr lang="en-US" altLang="ko-KR" sz="2400" dirty="0"/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(</a:t>
                </a:r>
                <a:r>
                  <a:rPr lang="ko-KR" altLang="en-US" sz="2400" dirty="0"/>
                  <a:t>예제</a:t>
                </a:r>
                <a:r>
                  <a:rPr lang="en-US" altLang="ko-KR" sz="2400" dirty="0"/>
                  <a:t>) </a:t>
                </a:r>
                <a:r>
                  <a:rPr lang="ko-KR" altLang="en-US" sz="2400" dirty="0"/>
                  <a:t>주사위를 한 번 던진다</a:t>
                </a:r>
                <a:r>
                  <a:rPr lang="en-US" altLang="ko-KR" sz="2400" dirty="0"/>
                  <a:t>. 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  </a:t>
                </a:r>
                <a:r>
                  <a:rPr lang="ko-KR" altLang="en-US" sz="2400" dirty="0"/>
                  <a:t>결과</a:t>
                </a:r>
                <a:r>
                  <a:rPr lang="en-US" altLang="ko-KR" sz="2400" dirty="0"/>
                  <a:t>:</a:t>
                </a:r>
                <a:r>
                  <a:rPr lang="ko-KR" altLang="en-US" sz="2400" dirty="0"/>
                  <a:t>윗면에 나오는 숫자</a:t>
                </a:r>
                <a:endParaRPr lang="en-US" altLang="ko-KR" sz="2400" dirty="0"/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  </a:t>
                </a:r>
                <a:r>
                  <a:rPr lang="ko-KR" altLang="en-US" sz="2400" dirty="0"/>
                  <a:t>표본공간</a:t>
                </a:r>
                <a:r>
                  <a:rPr lang="en-US" altLang="ko-KR" sz="2400" dirty="0"/>
                  <a:t>: </a:t>
                </a:r>
                <a:r>
                  <a:rPr lang="en-US" altLang="ko-KR" sz="2400" dirty="0">
                    <a:ea typeface="바탕" pitchFamily="18" charset="-127"/>
                  </a:rPr>
                  <a:t>Ω</a:t>
                </a:r>
                <a:r>
                  <a:rPr lang="en-US" altLang="ko-KR" sz="2400" dirty="0"/>
                  <a:t> ={1,2,3,4,5,6}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  </a:t>
                </a:r>
                <a:r>
                  <a:rPr lang="ko-KR" altLang="en-US" sz="2400" dirty="0"/>
                  <a:t>근원사상</a:t>
                </a:r>
                <a:r>
                  <a:rPr lang="en-US" altLang="ko-KR" sz="2400" dirty="0"/>
                  <a:t>: </a:t>
                </a:r>
                <a:r>
                  <a:rPr lang="ko-KR" altLang="en-US" sz="2400" dirty="0"/>
                  <a:t>표본공간의 원소 중에서 하나</a:t>
                </a:r>
              </a:p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ko-KR" altLang="en-US" sz="2400" dirty="0"/>
                  <a:t>  사건</a:t>
                </a:r>
                <a:r>
                  <a:rPr lang="en-US" altLang="ko-KR" sz="2400" dirty="0"/>
                  <a:t>:A={</a:t>
                </a:r>
                <a:r>
                  <a:rPr lang="ko-KR" altLang="en-US" sz="2400" dirty="0"/>
                  <a:t>짝수인 경우</a:t>
                </a:r>
                <a:r>
                  <a:rPr lang="en-US" altLang="ko-KR" sz="2400" dirty="0"/>
                  <a:t>}={2,4,6}, P(A)=3/6</a:t>
                </a:r>
                <a:r>
                  <a:rPr lang="en-US" altLang="ko-KR" sz="2400" b="1" dirty="0"/>
                  <a:t>     </a:t>
                </a:r>
              </a:p>
            </p:txBody>
          </p:sp>
        </mc:Choice>
        <mc:Fallback xmlns="">
          <p:sp>
            <p:nvSpPr>
              <p:cNvPr id="1029" name="Rectangle 3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3528" y="764704"/>
                <a:ext cx="8820472" cy="5186362"/>
              </a:xfrm>
              <a:blipFill>
                <a:blip r:embed="rId2"/>
                <a:stretch>
                  <a:fillRect l="-1244" t="-1763" r="-1106" b="-1562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직사각형 1"/>
              <p:cNvSpPr/>
              <p:nvPr/>
            </p:nvSpPr>
            <p:spPr>
              <a:xfrm>
                <a:off x="1619672" y="2636912"/>
                <a:ext cx="1592872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latin typeface="Cambria Math" panose="02040503050406030204" pitchFamily="18" charset="0"/>
                          </a:rPr>
                          <m:t>𝜔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lang="en-US" altLang="ko-KR" dirty="0"/>
                  <a:t> 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2" name="직사각형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9672" y="2636912"/>
                <a:ext cx="1592872" cy="461665"/>
              </a:xfrm>
              <a:prstGeom prst="rect">
                <a:avLst/>
              </a:prstGeom>
              <a:blipFill>
                <a:blip r:embed="rId3"/>
                <a:stretch>
                  <a:fillRect t="-14667" b="-2666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algn="l" eaLnBrk="1" hangingPunct="1"/>
            <a:r>
              <a:rPr lang="en-US" altLang="ko-KR" sz="3600">
                <a:solidFill>
                  <a:schemeClr val="accent2"/>
                </a:solidFill>
              </a:rPr>
              <a:t>2. </a:t>
            </a:r>
            <a:r>
              <a:rPr lang="ko-KR" altLang="en-US" sz="3600">
                <a:solidFill>
                  <a:schemeClr val="accent2"/>
                </a:solidFill>
              </a:rPr>
              <a:t>사건의 확률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76300"/>
            <a:ext cx="7772400" cy="4953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1) </a:t>
            </a:r>
            <a:r>
              <a:rPr lang="ko-KR" altLang="en-US" sz="2800" dirty="0"/>
              <a:t>과거</a:t>
            </a:r>
            <a:r>
              <a:rPr lang="en-US" altLang="ko-KR" sz="2800" dirty="0"/>
              <a:t> </a:t>
            </a:r>
            <a:r>
              <a:rPr lang="ko-KR" altLang="en-US" sz="2800" dirty="0"/>
              <a:t>두 차례의 대통령 선거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X={</a:t>
            </a:r>
            <a:r>
              <a:rPr lang="ko-KR" altLang="en-US" sz="2800" dirty="0"/>
              <a:t>여당 후보 선택</a:t>
            </a:r>
            <a:r>
              <a:rPr lang="en-US" altLang="ko-KR" sz="2800" dirty="0"/>
              <a:t>}, Y={</a:t>
            </a:r>
            <a:r>
              <a:rPr lang="ko-KR" altLang="en-US" sz="2800" dirty="0"/>
              <a:t>야당 후보 선택</a:t>
            </a:r>
            <a:r>
              <a:rPr lang="en-US" altLang="ko-KR" sz="2800" dirty="0"/>
              <a:t>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A={</a:t>
            </a:r>
            <a:r>
              <a:rPr lang="ko-KR" altLang="en-US" sz="2800" dirty="0"/>
              <a:t>두 번 선거에서 여당 후보 한번 선택</a:t>
            </a:r>
            <a:r>
              <a:rPr lang="en-US" altLang="ko-KR" sz="2800" dirty="0"/>
              <a:t>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B={</a:t>
            </a:r>
            <a:r>
              <a:rPr lang="ko-KR" altLang="en-US" sz="2800" dirty="0"/>
              <a:t>두 번 다 야당 만 선택</a:t>
            </a:r>
            <a:r>
              <a:rPr lang="en-US" altLang="ko-KR" sz="2800" dirty="0"/>
              <a:t>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1)</a:t>
            </a:r>
            <a:r>
              <a:rPr lang="ko-KR" altLang="en-US" dirty="0"/>
              <a:t>표본공간은</a:t>
            </a:r>
            <a:r>
              <a:rPr lang="en-US" altLang="ko-KR" dirty="0"/>
              <a:t>? 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     </a:t>
            </a:r>
            <a:r>
              <a:rPr lang="en-US" altLang="ko-KR" dirty="0">
                <a:ea typeface="바탕" pitchFamily="18" charset="-127"/>
              </a:rPr>
              <a:t>Ω = </a:t>
            </a:r>
            <a:r>
              <a:rPr lang="en-US" altLang="ko-KR" dirty="0"/>
              <a:t>{XX, XY, YX, YY}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2) </a:t>
            </a:r>
            <a:r>
              <a:rPr lang="ko-KR" altLang="en-US" dirty="0"/>
              <a:t>사건 </a:t>
            </a:r>
            <a:r>
              <a:rPr lang="en-US" altLang="ko-KR" dirty="0"/>
              <a:t>A, B</a:t>
            </a:r>
            <a:r>
              <a:rPr lang="ko-KR" altLang="en-US" dirty="0"/>
              <a:t>는 </a:t>
            </a:r>
            <a:r>
              <a:rPr lang="en-US" altLang="ko-KR" dirty="0"/>
              <a:t>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E5DFA8D-6507-434E-BE6B-70B982C9FF6E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876300"/>
            <a:ext cx="7772400" cy="4953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2) </a:t>
            </a:r>
            <a:r>
              <a:rPr lang="ko-KR" altLang="en-US" sz="2800" dirty="0"/>
              <a:t>주말 오후 경부고속도로상에서 버스 전용차로제를 위반하는 </a:t>
            </a:r>
            <a:r>
              <a:rPr lang="ko-KR" altLang="en-US" sz="2800" u="sng" dirty="0"/>
              <a:t>차량의 </a:t>
            </a:r>
            <a:r>
              <a:rPr lang="ko-KR" altLang="en-US" sz="2800" u="sng" dirty="0" err="1"/>
              <a:t>댓수</a:t>
            </a:r>
            <a:r>
              <a:rPr lang="ko-KR" altLang="en-US" sz="2800" u="sng" dirty="0"/>
              <a:t> </a:t>
            </a:r>
            <a:r>
              <a:rPr lang="ko-KR" altLang="en-US" sz="2800" dirty="0"/>
              <a:t>조사</a:t>
            </a:r>
            <a:r>
              <a:rPr lang="en-US" altLang="ko-KR" sz="2800" dirty="0"/>
              <a:t>.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	</a:t>
            </a:r>
            <a:r>
              <a:rPr lang="ko-KR" altLang="en-US" sz="2800" dirty="0"/>
              <a:t>조사 대상의 승용차가 </a:t>
            </a:r>
            <a:r>
              <a:rPr lang="en-US" altLang="ko-KR" sz="2800" dirty="0"/>
              <a:t>143</a:t>
            </a:r>
            <a:r>
              <a:rPr lang="ko-KR" altLang="en-US" sz="2800" dirty="0"/>
              <a:t>대이다</a:t>
            </a:r>
            <a:r>
              <a:rPr lang="en-US" altLang="ko-KR" sz="2800" dirty="0"/>
              <a:t>.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   1) </a:t>
            </a:r>
            <a:r>
              <a:rPr lang="ko-KR" altLang="en-US" sz="2800" dirty="0" err="1"/>
              <a:t>표본공간은</a:t>
            </a:r>
            <a:r>
              <a:rPr lang="en-US" altLang="ko-KR" sz="2800" dirty="0"/>
              <a:t>?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		</a:t>
            </a:r>
            <a:r>
              <a:rPr lang="en-US" altLang="ko-KR" sz="2800" dirty="0">
                <a:ea typeface="바탕" pitchFamily="18" charset="-127"/>
              </a:rPr>
              <a:t>Ω = { 0, 1, 2, …, 143 }</a:t>
            </a:r>
            <a:endParaRPr lang="en-US" altLang="ko-KR" sz="2800" dirty="0"/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    2) </a:t>
            </a:r>
            <a:r>
              <a:rPr lang="ko-KR" altLang="en-US" sz="2800" dirty="0"/>
              <a:t>사상 </a:t>
            </a:r>
            <a:r>
              <a:rPr lang="en-US" altLang="ko-KR" sz="2800" dirty="0"/>
              <a:t>A</a:t>
            </a:r>
            <a:r>
              <a:rPr lang="ko-KR" altLang="en-US" sz="2800" dirty="0"/>
              <a:t>는 </a:t>
            </a:r>
            <a:r>
              <a:rPr lang="en-US" altLang="ko-KR" sz="2800" dirty="0"/>
              <a:t>60%</a:t>
            </a:r>
            <a:r>
              <a:rPr lang="ko-KR" altLang="en-US" sz="2800" dirty="0"/>
              <a:t>이상이 </a:t>
            </a:r>
            <a:r>
              <a:rPr lang="ko-KR" altLang="en-US" sz="2800" dirty="0" err="1"/>
              <a:t>버스전용차로제를</a:t>
            </a:r>
            <a:r>
              <a:rPr lang="ko-KR" altLang="en-US" sz="2800" dirty="0"/>
              <a:t> 위반하는 경우이다</a:t>
            </a:r>
            <a:r>
              <a:rPr lang="en-US" altLang="ko-KR" sz="2800" dirty="0"/>
              <a:t>. 143*0.6=85.8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     A= { 86, 87, …, 143 }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281062-BCAF-4DC1-A65D-C3984803AB93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ko-KR" altLang="en-US" sz="3200"/>
              <a:t>생각해 봅시다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문제</a:t>
            </a:r>
            <a:r>
              <a:rPr lang="en-US" altLang="ko-KR" sz="2800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어떤 사람이 같은 상표의 </a:t>
            </a:r>
            <a:r>
              <a:rPr lang="en-US" altLang="ko-KR" sz="2800" dirty="0"/>
              <a:t>3</a:t>
            </a:r>
            <a:r>
              <a:rPr lang="ko-KR" altLang="en-US" sz="2800" dirty="0"/>
              <a:t>종류맥주</a:t>
            </a:r>
            <a:r>
              <a:rPr lang="en-US" altLang="ko-KR" sz="2800" dirty="0"/>
              <a:t>(</a:t>
            </a:r>
            <a:r>
              <a:rPr lang="ko-KR" altLang="en-US" sz="2800" dirty="0"/>
              <a:t>병</a:t>
            </a:r>
            <a:r>
              <a:rPr lang="en-US" altLang="ko-KR" sz="2800" dirty="0"/>
              <a:t>,</a:t>
            </a:r>
            <a:r>
              <a:rPr lang="ko-KR" altLang="en-US" sz="2800" dirty="0"/>
              <a:t>캔</a:t>
            </a:r>
            <a:r>
              <a:rPr lang="en-US" altLang="ko-KR" sz="2800" dirty="0"/>
              <a:t>,</a:t>
            </a:r>
            <a:r>
              <a:rPr lang="ko-KR" altLang="en-US" sz="2800" dirty="0"/>
              <a:t>생</a:t>
            </a:r>
            <a:r>
              <a:rPr lang="en-US" altLang="ko-KR" sz="2800" dirty="0"/>
              <a:t>)</a:t>
            </a:r>
            <a:r>
              <a:rPr lang="ko-KR" altLang="en-US" sz="2800" dirty="0"/>
              <a:t>를 구분할 수 있다고 주장</a:t>
            </a:r>
            <a:r>
              <a:rPr lang="en-US" altLang="ko-KR" sz="2800" dirty="0"/>
              <a:t>. </a:t>
            </a:r>
            <a:r>
              <a:rPr lang="ko-KR" altLang="en-US" sz="2800" dirty="0"/>
              <a:t>세 종류의 맥주를 무작위 순서로 주었을 때 그 사람이 어떤 맥주인지 </a:t>
            </a:r>
            <a:r>
              <a:rPr lang="ko-KR" altLang="en-US" sz="2800" u="sng" dirty="0"/>
              <a:t>맞춘 횟수</a:t>
            </a:r>
            <a:r>
              <a:rPr lang="ko-KR" altLang="en-US" sz="2800" dirty="0"/>
              <a:t>를 기록한다</a:t>
            </a:r>
            <a:r>
              <a:rPr lang="en-US" altLang="ko-KR" sz="2800" dirty="0"/>
              <a:t>.</a:t>
            </a:r>
          </a:p>
          <a:p>
            <a:pPr marL="990600" lvl="1" indent="-533400" eaLnBrk="1" hangingPunct="1">
              <a:buFontTx/>
              <a:buAutoNum type="arabicParenR"/>
            </a:pPr>
            <a:r>
              <a:rPr lang="ko-KR" altLang="en-US" dirty="0"/>
              <a:t>표본공간은</a:t>
            </a:r>
            <a:r>
              <a:rPr lang="en-US" altLang="ko-KR" dirty="0"/>
              <a:t>?</a:t>
            </a:r>
          </a:p>
          <a:p>
            <a:pPr marL="457200" lvl="1" indent="0" eaLnBrk="1" hangingPunct="1">
              <a:buNone/>
            </a:pPr>
            <a:r>
              <a:rPr lang="en-US" altLang="ko-KR" dirty="0">
                <a:ea typeface="바탕" pitchFamily="18" charset="-127"/>
              </a:rPr>
              <a:t>	Ω = {</a:t>
            </a:r>
          </a:p>
          <a:p>
            <a:pPr marL="457200" lvl="1" indent="0" eaLnBrk="1" hangingPunct="1">
              <a:buNone/>
            </a:pPr>
            <a:r>
              <a:rPr lang="en-US" altLang="ko-KR" dirty="0"/>
              <a:t>2)  </a:t>
            </a:r>
            <a:r>
              <a:rPr lang="ko-KR" altLang="en-US" dirty="0"/>
              <a:t>사상 </a:t>
            </a:r>
            <a:r>
              <a:rPr lang="en-US" altLang="ko-KR" dirty="0"/>
              <a:t>A</a:t>
            </a:r>
            <a:r>
              <a:rPr lang="ko-KR" altLang="en-US" dirty="0"/>
              <a:t>는 하나 이상 맞춘 경우이다</a:t>
            </a:r>
            <a:r>
              <a:rPr lang="en-US" altLang="ko-KR" dirty="0"/>
              <a:t>. A</a:t>
            </a:r>
            <a:r>
              <a:rPr lang="ko-KR" altLang="en-US" dirty="0"/>
              <a:t>를 구성하는 근원사상은</a:t>
            </a:r>
            <a:r>
              <a:rPr lang="en-US" altLang="ko-KR" dirty="0"/>
              <a:t>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C5282A6-8E3E-4599-9908-9455ADF733E2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457200"/>
          </a:xfrm>
        </p:spPr>
        <p:txBody>
          <a:bodyPr/>
          <a:lstStyle/>
          <a:p>
            <a:pPr eaLnBrk="1" hangingPunct="1"/>
            <a:r>
              <a:rPr lang="ko-KR" altLang="en-US" sz="3200"/>
              <a:t>생각해 봅시다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5334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문제</a:t>
            </a:r>
            <a:r>
              <a:rPr lang="en-US" altLang="ko-KR" sz="2800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한 지방에서 올해 일어난 교통사고 사망자수를 기록한다</a:t>
            </a:r>
            <a:r>
              <a:rPr lang="en-US" altLang="ko-KR" sz="2800" dirty="0"/>
              <a:t>.</a:t>
            </a:r>
          </a:p>
          <a:p>
            <a:pPr marL="990600" lvl="1" indent="-533400" eaLnBrk="1" hangingPunct="1">
              <a:buFontTx/>
              <a:buAutoNum type="arabicParenR"/>
            </a:pPr>
            <a:r>
              <a:rPr lang="ko-KR" altLang="en-US" dirty="0"/>
              <a:t>표본공간은</a:t>
            </a:r>
            <a:r>
              <a:rPr lang="en-US" altLang="ko-KR" dirty="0"/>
              <a:t>?</a:t>
            </a:r>
          </a:p>
          <a:p>
            <a:pPr marL="457200" lvl="1" indent="0" eaLnBrk="1" hangingPunct="1">
              <a:buNone/>
            </a:pPr>
            <a:r>
              <a:rPr lang="en-US" altLang="ko-KR" dirty="0"/>
              <a:t>  	</a:t>
            </a:r>
            <a:r>
              <a:rPr lang="en-US" altLang="ko-KR" dirty="0">
                <a:ea typeface="바탕" pitchFamily="18" charset="-127"/>
              </a:rPr>
              <a:t>Ω = { </a:t>
            </a:r>
            <a:endParaRPr lang="en-US" altLang="ko-KR" dirty="0"/>
          </a:p>
          <a:p>
            <a:pPr marL="990600" lvl="1" indent="-533400" eaLnBrk="1" hangingPunct="1">
              <a:buFontTx/>
              <a:buNone/>
            </a:pPr>
            <a:r>
              <a:rPr lang="en-US" altLang="ko-KR" dirty="0"/>
              <a:t>2)  </a:t>
            </a:r>
            <a:r>
              <a:rPr lang="ko-KR" altLang="en-US" dirty="0"/>
              <a:t>사상 </a:t>
            </a:r>
            <a:r>
              <a:rPr lang="en-US" altLang="ko-KR" dirty="0"/>
              <a:t>A</a:t>
            </a:r>
            <a:r>
              <a:rPr lang="ko-KR" altLang="en-US" dirty="0"/>
              <a:t>는 </a:t>
            </a:r>
            <a:r>
              <a:rPr lang="en-US" altLang="ko-KR" dirty="0"/>
              <a:t>345</a:t>
            </a:r>
            <a:r>
              <a:rPr lang="ko-KR" altLang="en-US" dirty="0"/>
              <a:t>건 이상 발생한 경우이다</a:t>
            </a:r>
            <a:r>
              <a:rPr lang="en-US" altLang="ko-KR" dirty="0"/>
              <a:t>. A</a:t>
            </a:r>
            <a:r>
              <a:rPr lang="ko-KR" altLang="en-US" dirty="0"/>
              <a:t>를 구성하는 근원사상은</a:t>
            </a:r>
            <a:r>
              <a:rPr lang="en-US" altLang="ko-KR" dirty="0"/>
              <a:t>?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BF99A0A-1E52-49B3-8621-F61DD3A577BA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ko-KR" sz="3600">
                <a:solidFill>
                  <a:schemeClr val="accent2"/>
                </a:solidFill>
              </a:rPr>
              <a:t>3. </a:t>
            </a:r>
            <a:r>
              <a:rPr lang="ko-KR" altLang="en-US" sz="3600">
                <a:solidFill>
                  <a:schemeClr val="accent2"/>
                </a:solidFill>
              </a:rPr>
              <a:t>확률 계산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14400"/>
            <a:ext cx="7772400" cy="5334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3600" dirty="0"/>
              <a:t> </a:t>
            </a:r>
            <a:r>
              <a:rPr lang="ko-KR" altLang="en-US" dirty="0"/>
              <a:t>확률이란  </a:t>
            </a:r>
            <a:r>
              <a:rPr lang="en-US" altLang="ko-KR" dirty="0"/>
              <a:t>- </a:t>
            </a:r>
            <a:r>
              <a:rPr lang="ko-KR" altLang="en-US" dirty="0"/>
              <a:t>사건의 발생 가능성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dirty="0"/>
              <a:t>               </a:t>
            </a:r>
            <a:r>
              <a:rPr lang="en-US" altLang="ko-KR" dirty="0"/>
              <a:t>- </a:t>
            </a:r>
            <a:r>
              <a:rPr lang="ko-KR" altLang="en-US" dirty="0"/>
              <a:t>불확실성에 대한 측도</a:t>
            </a:r>
          </a:p>
          <a:p>
            <a:pPr marL="609600" indent="-609600" eaLnBrk="1" hangingPunct="1">
              <a:buFontTx/>
              <a:buNone/>
            </a:pPr>
            <a:endParaRPr lang="ko-KR" altLang="en-US" dirty="0"/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Note: </a:t>
            </a:r>
            <a:r>
              <a:rPr lang="ko-KR" altLang="en-US" dirty="0">
                <a:solidFill>
                  <a:schemeClr val="accent2"/>
                </a:solidFill>
              </a:rPr>
              <a:t>확률의 공리</a:t>
            </a:r>
            <a:r>
              <a:rPr lang="en-US" altLang="ko-KR" dirty="0"/>
              <a:t>(Axiom)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   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   </a:t>
            </a:r>
          </a:p>
        </p:txBody>
      </p:sp>
      <p:graphicFrame>
        <p:nvGraphicFramePr>
          <p:cNvPr id="2050" name="Object 7"/>
          <p:cNvGraphicFramePr>
            <a:graphicFrameLocks noChangeAspect="1"/>
          </p:cNvGraphicFramePr>
          <p:nvPr/>
        </p:nvGraphicFramePr>
        <p:xfrm>
          <a:off x="990600" y="3505200"/>
          <a:ext cx="42672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2" name="Equation" r:id="rId3" imgW="1930320" imgH="355320" progId="Equation.3">
                  <p:embed/>
                </p:oleObj>
              </mc:Choice>
              <mc:Fallback>
                <p:oleObj name="Equation" r:id="rId3" imgW="1930320" imgH="35532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3505200"/>
                        <a:ext cx="42672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" name="Object 9"/>
          <p:cNvGraphicFramePr>
            <a:graphicFrameLocks noChangeAspect="1"/>
          </p:cNvGraphicFramePr>
          <p:nvPr/>
        </p:nvGraphicFramePr>
        <p:xfrm>
          <a:off x="990600" y="4343400"/>
          <a:ext cx="3733800" cy="785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73" name="Equation" r:id="rId5" imgW="1688760" imgH="355320" progId="Equation.3">
                  <p:embed/>
                </p:oleObj>
              </mc:Choice>
              <mc:Fallback>
                <p:oleObj name="Equation" r:id="rId5" imgW="1688760" imgH="355320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0600" y="4343400"/>
                        <a:ext cx="3733800" cy="785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304800"/>
            <a:ext cx="7772400" cy="5334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연습</a:t>
            </a:r>
            <a:r>
              <a:rPr lang="en-US" altLang="ko-KR" sz="2800" dirty="0"/>
              <a:t> </a:t>
            </a:r>
            <a:r>
              <a:rPr lang="ko-KR" altLang="en-US" sz="2800" dirty="0"/>
              <a:t>문제</a:t>
            </a:r>
            <a:r>
              <a:rPr lang="en-US" altLang="ko-KR" sz="2800" dirty="0"/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dirty="0"/>
              <a:t>표본공간이 </a:t>
            </a:r>
            <a:r>
              <a:rPr lang="en-US" altLang="ko-KR" dirty="0"/>
              <a:t>4</a:t>
            </a:r>
            <a:r>
              <a:rPr lang="ko-KR" altLang="en-US" dirty="0"/>
              <a:t>개의 근원사상으로 이루어 졌을 때</a:t>
            </a:r>
            <a:r>
              <a:rPr lang="en-US" altLang="ko-KR" dirty="0"/>
              <a:t>, 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	</a:t>
            </a:r>
            <a:r>
              <a:rPr lang="ko-KR" altLang="en-US" dirty="0"/>
              <a:t>이라면</a:t>
            </a:r>
            <a:r>
              <a:rPr lang="en-US" altLang="ko-KR" dirty="0"/>
              <a:t>,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연습</a:t>
            </a:r>
            <a:r>
              <a:rPr lang="en-US" altLang="ko-KR" sz="2800" dirty="0"/>
              <a:t> </a:t>
            </a:r>
            <a:r>
              <a:rPr lang="ko-KR" altLang="en-US" sz="2800" dirty="0"/>
              <a:t>문제</a:t>
            </a:r>
            <a:r>
              <a:rPr lang="en-US" altLang="ko-KR" sz="2800" dirty="0"/>
              <a:t>)</a:t>
            </a:r>
            <a:r>
              <a:rPr lang="en-US" altLang="ko-KR" dirty="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dirty="0"/>
              <a:t>표본공간이                   의 </a:t>
            </a:r>
            <a:r>
              <a:rPr lang="en-US" altLang="ko-KR" dirty="0"/>
              <a:t>4</a:t>
            </a:r>
            <a:r>
              <a:rPr lang="ko-KR" altLang="en-US" dirty="0"/>
              <a:t>개의 근원사상으로 이루어졌을 때</a:t>
            </a:r>
            <a:r>
              <a:rPr lang="en-US" altLang="ko-KR" dirty="0"/>
              <a:t>, </a:t>
            </a:r>
            <a:r>
              <a:rPr lang="ko-KR" altLang="en-US" dirty="0"/>
              <a:t>각 근원사상의 확률의 비가 </a:t>
            </a:r>
            <a:r>
              <a:rPr lang="en-US" altLang="ko-KR" dirty="0"/>
              <a:t>1: 4: 9: 6 </a:t>
            </a:r>
            <a:r>
              <a:rPr lang="ko-KR" altLang="en-US" dirty="0"/>
              <a:t>이라 한다</a:t>
            </a:r>
            <a:r>
              <a:rPr lang="en-US" altLang="ko-KR" dirty="0"/>
              <a:t>. </a:t>
            </a:r>
            <a:r>
              <a:rPr lang="ko-KR" altLang="en-US" dirty="0"/>
              <a:t>만약 사상 </a:t>
            </a:r>
            <a:r>
              <a:rPr lang="en-US" altLang="ko-KR" dirty="0"/>
              <a:t>A={        } </a:t>
            </a:r>
            <a:r>
              <a:rPr lang="ko-KR" altLang="en-US" dirty="0"/>
              <a:t>이라면 </a:t>
            </a:r>
            <a:r>
              <a:rPr lang="en-US" altLang="ko-KR" dirty="0"/>
              <a:t>, p(A)=? </a:t>
            </a:r>
          </a:p>
          <a:p>
            <a:pPr marL="609600" indent="-609600" eaLnBrk="1" hangingPunct="1">
              <a:buFontTx/>
              <a:buNone/>
            </a:pPr>
            <a:endParaRPr lang="en-US" altLang="ko-KR" dirty="0"/>
          </a:p>
        </p:txBody>
      </p:sp>
      <p:graphicFrame>
        <p:nvGraphicFramePr>
          <p:cNvPr id="3074" name="Object 4"/>
          <p:cNvGraphicFramePr>
            <a:graphicFrameLocks noChangeAspect="1"/>
          </p:cNvGraphicFramePr>
          <p:nvPr/>
        </p:nvGraphicFramePr>
        <p:xfrm>
          <a:off x="3124200" y="1447800"/>
          <a:ext cx="4886325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5" name="Equation" r:id="rId3" imgW="2666880" imgH="241200" progId="Equation.3">
                  <p:embed/>
                </p:oleObj>
              </mc:Choice>
              <mc:Fallback>
                <p:oleObj name="Equation" r:id="rId3" imgW="266688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447800"/>
                        <a:ext cx="4886325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5"/>
          <p:cNvGraphicFramePr>
            <a:graphicFrameLocks noChangeAspect="1"/>
          </p:cNvGraphicFramePr>
          <p:nvPr/>
        </p:nvGraphicFramePr>
        <p:xfrm>
          <a:off x="3200400" y="1981200"/>
          <a:ext cx="1371600" cy="4651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6" name="Equation" r:id="rId5" imgW="711000" imgH="241200" progId="Equation.3">
                  <p:embed/>
                </p:oleObj>
              </mc:Choice>
              <mc:Fallback>
                <p:oleObj name="Equation" r:id="rId5" imgW="71100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0400" y="1981200"/>
                        <a:ext cx="1371600" cy="4651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" name="Object 6"/>
          <p:cNvGraphicFramePr>
            <a:graphicFrameLocks noChangeAspect="1"/>
          </p:cNvGraphicFramePr>
          <p:nvPr/>
        </p:nvGraphicFramePr>
        <p:xfrm>
          <a:off x="3048000" y="3097213"/>
          <a:ext cx="2259013" cy="509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7" name="Equation" r:id="rId7" imgW="1066680" imgH="241200" progId="Equation.3">
                  <p:embed/>
                </p:oleObj>
              </mc:Choice>
              <mc:Fallback>
                <p:oleObj name="Equation" r:id="rId7" imgW="1066680" imgH="2412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48000" y="3097213"/>
                        <a:ext cx="2259013" cy="509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" name="Object 7"/>
          <p:cNvGraphicFramePr>
            <a:graphicFrameLocks noChangeAspect="1"/>
          </p:cNvGraphicFramePr>
          <p:nvPr/>
        </p:nvGraphicFramePr>
        <p:xfrm>
          <a:off x="3657600" y="4572000"/>
          <a:ext cx="1020763" cy="509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318" name="Equation" r:id="rId9" imgW="482400" imgH="241200" progId="Equation.3">
                  <p:embed/>
                </p:oleObj>
              </mc:Choice>
              <mc:Fallback>
                <p:oleObj name="Equation" r:id="rId9" imgW="48240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4572000"/>
                        <a:ext cx="1020763" cy="509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</p:spPr>
        <p:txBody>
          <a:bodyPr/>
          <a:lstStyle/>
          <a:p>
            <a:pPr algn="l" eaLnBrk="1" hangingPunct="1"/>
            <a:r>
              <a:rPr lang="en-US" altLang="ko-KR" sz="3600">
                <a:solidFill>
                  <a:schemeClr val="accent2"/>
                </a:solidFill>
              </a:rPr>
              <a:t>3. </a:t>
            </a:r>
            <a:r>
              <a:rPr lang="ko-KR" altLang="en-US" sz="3600">
                <a:solidFill>
                  <a:schemeClr val="accent2"/>
                </a:solidFill>
              </a:rPr>
              <a:t>확률 계산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14400"/>
            <a:ext cx="7772400" cy="5334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dirty="0"/>
              <a:t>1. </a:t>
            </a:r>
            <a:r>
              <a:rPr lang="ko-KR" altLang="en-US" dirty="0"/>
              <a:t>고전적</a:t>
            </a:r>
            <a:r>
              <a:rPr lang="en-US" altLang="ko-KR" dirty="0"/>
              <a:t>(</a:t>
            </a:r>
            <a:r>
              <a:rPr lang="ko-KR" altLang="en-US" dirty="0"/>
              <a:t>논리적</a:t>
            </a:r>
            <a:r>
              <a:rPr lang="en-US" altLang="ko-KR" dirty="0"/>
              <a:t>) </a:t>
            </a:r>
            <a:r>
              <a:rPr lang="ko-KR" altLang="en-US" dirty="0"/>
              <a:t>확률  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dirty="0"/>
              <a:t>     </a:t>
            </a:r>
            <a:r>
              <a:rPr lang="en-US" altLang="ko-KR" dirty="0"/>
              <a:t>- games of chance: </a:t>
            </a:r>
            <a:r>
              <a:rPr lang="ko-KR" altLang="en-US" dirty="0"/>
              <a:t>근원사상</a:t>
            </a:r>
            <a:r>
              <a:rPr lang="en-US" altLang="ko-KR" dirty="0"/>
              <a:t>(</a:t>
            </a:r>
            <a:r>
              <a:rPr lang="ko-KR" altLang="en-US" dirty="0"/>
              <a:t>표본공간의 원소</a:t>
            </a:r>
            <a:r>
              <a:rPr lang="en-US" altLang="ko-KR" dirty="0"/>
              <a:t>)</a:t>
            </a:r>
            <a:r>
              <a:rPr lang="ko-KR" altLang="en-US" dirty="0"/>
              <a:t>의 발생 확률이 모두 동일함</a:t>
            </a:r>
            <a:r>
              <a:rPr lang="en-US" altLang="ko-KR" dirty="0"/>
              <a:t>.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     - </a:t>
            </a:r>
            <a:r>
              <a:rPr lang="ko-KR" altLang="en-US" dirty="0"/>
              <a:t>사상    가 발생할 확률</a:t>
            </a:r>
            <a:r>
              <a:rPr lang="en-US" altLang="ko-KR" dirty="0"/>
              <a:t>:</a:t>
            </a:r>
          </a:p>
        </p:txBody>
      </p:sp>
      <p:graphicFrame>
        <p:nvGraphicFramePr>
          <p:cNvPr id="4098" name="Object 4"/>
          <p:cNvGraphicFramePr>
            <a:graphicFrameLocks noChangeAspect="1"/>
          </p:cNvGraphicFramePr>
          <p:nvPr/>
        </p:nvGraphicFramePr>
        <p:xfrm>
          <a:off x="1373188" y="4156075"/>
          <a:ext cx="5865812" cy="930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0" name="수식" r:id="rId3" imgW="2323800" imgH="419040" progId="Equation.3">
                  <p:embed/>
                </p:oleObj>
              </mc:Choice>
              <mc:Fallback>
                <p:oleObj name="수식" r:id="rId3" imgW="2323800" imgH="41904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3188" y="4156075"/>
                        <a:ext cx="5865812" cy="930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099" name="Object 5"/>
          <p:cNvGraphicFramePr>
            <a:graphicFrameLocks noChangeAspect="1"/>
          </p:cNvGraphicFramePr>
          <p:nvPr/>
        </p:nvGraphicFramePr>
        <p:xfrm>
          <a:off x="2806700" y="3162300"/>
          <a:ext cx="3810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21" name="Equation" r:id="rId5" imgW="177480" imgH="177480" progId="Equation.3">
                  <p:embed/>
                </p:oleObj>
              </mc:Choice>
              <mc:Fallback>
                <p:oleObj name="Equation" r:id="rId5" imgW="177480" imgH="17748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6700" y="3162300"/>
                        <a:ext cx="3810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76300"/>
            <a:ext cx="7772400" cy="4953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3) </a:t>
            </a:r>
            <a:r>
              <a:rPr lang="ko-KR" altLang="en-US" sz="2800" dirty="0"/>
              <a:t>한 개의 동전을 두 번 던지는 실험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 </a:t>
            </a:r>
            <a:r>
              <a:rPr lang="en-US" altLang="ko-KR" sz="2800" dirty="0"/>
              <a:t>H: </a:t>
            </a:r>
            <a:r>
              <a:rPr lang="ko-KR" altLang="en-US" sz="2800" dirty="0"/>
              <a:t>앞면</a:t>
            </a:r>
            <a:r>
              <a:rPr lang="en-US" altLang="ko-KR" sz="2800" dirty="0"/>
              <a:t>, T: </a:t>
            </a:r>
            <a:r>
              <a:rPr lang="ko-KR" altLang="en-US" sz="2800" dirty="0"/>
              <a:t>뒷면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 표본공간</a:t>
            </a:r>
            <a:r>
              <a:rPr lang="en-US" altLang="ko-KR" sz="2800" dirty="0"/>
              <a:t>: </a:t>
            </a:r>
            <a:r>
              <a:rPr lang="en-US" altLang="ko-KR" sz="2800" dirty="0">
                <a:ea typeface="바탕" pitchFamily="18" charset="-127"/>
              </a:rPr>
              <a:t>Ω</a:t>
            </a:r>
            <a:r>
              <a:rPr lang="en-US" altLang="ko-KR" sz="2800" dirty="0"/>
              <a:t> ={HH,HT,TH,TT}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</a:t>
            </a:r>
            <a:r>
              <a:rPr lang="ko-KR" altLang="en-US" sz="2800" dirty="0"/>
              <a:t>근원사상</a:t>
            </a:r>
            <a:r>
              <a:rPr lang="en-US" altLang="ko-KR" sz="2800" dirty="0"/>
              <a:t>: </a:t>
            </a:r>
            <a:r>
              <a:rPr lang="ko-KR" altLang="en-US" sz="2800" dirty="0"/>
              <a:t>표본공간의 원소 중에서 하나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 근원사상이 발생할 확률</a:t>
            </a:r>
            <a:r>
              <a:rPr lang="en-US" altLang="ko-KR" sz="2800" dirty="0"/>
              <a:t>=1/4: </a:t>
            </a:r>
            <a:r>
              <a:rPr lang="ko-KR" altLang="en-US" sz="2800" dirty="0"/>
              <a:t>모두 동일</a:t>
            </a:r>
          </a:p>
          <a:p>
            <a:pPr marL="609600" indent="-609600" eaLnBrk="1" hangingPunct="1">
              <a:buFontTx/>
              <a:buNone/>
            </a:pPr>
            <a:endParaRPr lang="ko-KR" altLang="en-US" sz="2800" dirty="0"/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 사상</a:t>
            </a:r>
            <a:r>
              <a:rPr lang="en-US" altLang="ko-KR" sz="2800" dirty="0"/>
              <a:t>:A={</a:t>
            </a:r>
            <a:r>
              <a:rPr lang="ko-KR" altLang="en-US" sz="2800" dirty="0"/>
              <a:t>앞면이 한 번 나오는 경우</a:t>
            </a:r>
            <a:r>
              <a:rPr lang="en-US" altLang="ko-KR" sz="2800" dirty="0"/>
              <a:t>} ={HT,TH}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=&gt; p(A)= 2/4 = 1/2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876300"/>
            <a:ext cx="7772400" cy="4953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4) </a:t>
            </a:r>
            <a:r>
              <a:rPr lang="ko-KR" altLang="en-US" sz="2800" dirty="0"/>
              <a:t>한 반의 학생 </a:t>
            </a:r>
            <a:r>
              <a:rPr lang="en-US" altLang="ko-KR" sz="2800" dirty="0"/>
              <a:t>50</a:t>
            </a:r>
            <a:r>
              <a:rPr lang="ko-KR" altLang="en-US" sz="2800" dirty="0"/>
              <a:t>명중 </a:t>
            </a:r>
            <a:r>
              <a:rPr lang="en-US" altLang="ko-KR" sz="2800" dirty="0"/>
              <a:t>42</a:t>
            </a:r>
            <a:r>
              <a:rPr lang="ko-KR" altLang="en-US" sz="2800" dirty="0"/>
              <a:t>명이 오른손잡이고 </a:t>
            </a:r>
            <a:r>
              <a:rPr lang="en-US" altLang="ko-KR" sz="2800" dirty="0"/>
              <a:t>8</a:t>
            </a:r>
            <a:r>
              <a:rPr lang="ko-KR" altLang="en-US" sz="2800" dirty="0"/>
              <a:t>명이 왼손잡이다</a:t>
            </a:r>
            <a:r>
              <a:rPr lang="en-US" altLang="ko-KR" sz="2800" dirty="0"/>
              <a:t>. </a:t>
            </a:r>
            <a:r>
              <a:rPr lang="ko-KR" altLang="en-US" sz="2800" dirty="0"/>
              <a:t>이중 </a:t>
            </a:r>
            <a:r>
              <a:rPr lang="en-US" altLang="ko-KR" sz="2800" dirty="0"/>
              <a:t>1</a:t>
            </a:r>
            <a:r>
              <a:rPr lang="ko-KR" altLang="en-US" sz="2800" dirty="0"/>
              <a:t>명을 임의로 선택할 경우 이 학생이 왼손잡이일 확률은</a:t>
            </a:r>
            <a:r>
              <a:rPr lang="en-US" altLang="ko-KR" sz="2800" dirty="0"/>
              <a:t>?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	- </a:t>
            </a:r>
            <a:r>
              <a:rPr lang="ko-KR" altLang="en-US" sz="2800" dirty="0"/>
              <a:t>임의로 학생을 선택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       </a:t>
            </a:r>
            <a:r>
              <a:rPr lang="en-US" altLang="ko-KR" sz="2800" dirty="0">
                <a:ea typeface="바탕" pitchFamily="18" charset="-127"/>
              </a:rPr>
              <a:t>Ω={1,2,3,</a:t>
            </a:r>
            <a:r>
              <a:rPr lang="en-US" altLang="ko-KR" sz="2800" dirty="0">
                <a:latin typeface="Times New Roman" pitchFamily="18" charset="0"/>
                <a:ea typeface="바탕" pitchFamily="18" charset="-127"/>
              </a:rPr>
              <a:t>…</a:t>
            </a:r>
            <a:r>
              <a:rPr lang="en-US" altLang="ko-KR" sz="2800" dirty="0">
                <a:ea typeface="바탕" pitchFamily="18" charset="-127"/>
              </a:rPr>
              <a:t>.,50}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ea typeface="바탕" pitchFamily="18" charset="-127"/>
              </a:rPr>
              <a:t>        A={</a:t>
            </a:r>
            <a:r>
              <a:rPr lang="ko-KR" altLang="en-US" sz="2800" dirty="0">
                <a:ea typeface="바탕" pitchFamily="18" charset="-127"/>
              </a:rPr>
              <a:t>왼손잡이</a:t>
            </a:r>
            <a:r>
              <a:rPr lang="en-US" altLang="ko-KR" sz="2800" dirty="0">
                <a:ea typeface="바탕" pitchFamily="18" charset="-127"/>
              </a:rPr>
              <a:t>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ea typeface="바탕" pitchFamily="18" charset="-127"/>
              </a:rPr>
              <a:t>        p(A)= 8/50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519ABD4-7C63-4F8F-85EA-922FF12A63CE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6"/>
          <p:cNvSpPr>
            <a:spLocks noGrp="1" noChangeArrowheads="1"/>
          </p:cNvSpPr>
          <p:nvPr>
            <p:ph type="title"/>
          </p:nvPr>
        </p:nvSpPr>
        <p:spPr>
          <a:xfrm>
            <a:off x="685800" y="152400"/>
            <a:ext cx="7772400" cy="533400"/>
          </a:xfrm>
          <a:noFill/>
        </p:spPr>
        <p:txBody>
          <a:bodyPr/>
          <a:lstStyle/>
          <a:p>
            <a:pPr algn="l" eaLnBrk="1" hangingPunct="1"/>
            <a:r>
              <a:rPr lang="en-US" altLang="ko-KR" sz="3600">
                <a:solidFill>
                  <a:schemeClr val="accent2"/>
                </a:solidFill>
              </a:rPr>
              <a:t>3. </a:t>
            </a:r>
            <a:r>
              <a:rPr lang="ko-KR" altLang="en-US" sz="3600">
                <a:solidFill>
                  <a:schemeClr val="accent2"/>
                </a:solidFill>
              </a:rPr>
              <a:t>확률 계산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idx="1"/>
          </p:nvPr>
        </p:nvSpPr>
        <p:spPr>
          <a:xfrm>
            <a:off x="395536" y="876300"/>
            <a:ext cx="8495828" cy="5105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2. </a:t>
            </a:r>
            <a:r>
              <a:rPr lang="ko-KR" altLang="en-US" dirty="0"/>
              <a:t>경험적</a:t>
            </a:r>
            <a:r>
              <a:rPr lang="en-US" altLang="ko-KR" dirty="0"/>
              <a:t>(</a:t>
            </a:r>
            <a:r>
              <a:rPr lang="ko-KR" altLang="en-US" dirty="0"/>
              <a:t>상대적</a:t>
            </a:r>
            <a:r>
              <a:rPr lang="en-US" altLang="ko-KR" dirty="0"/>
              <a:t>)</a:t>
            </a:r>
            <a:r>
              <a:rPr lang="ko-KR" altLang="en-US" dirty="0"/>
              <a:t>확률</a:t>
            </a:r>
            <a:endParaRPr lang="en-US" altLang="ko-KR" dirty="0"/>
          </a:p>
          <a:p>
            <a:pPr eaLnBrk="1" hangingPunct="1">
              <a:buNone/>
            </a:pPr>
            <a:r>
              <a:rPr lang="en-US" altLang="ko-KR" dirty="0"/>
              <a:t>- </a:t>
            </a:r>
            <a:r>
              <a:rPr lang="ko-KR" altLang="en-US" sz="2800" dirty="0"/>
              <a:t>근원사상의 발생 확률이 모두 동일하지 않은 경우</a:t>
            </a:r>
            <a:endParaRPr lang="en-US" altLang="ko-KR" sz="2800" dirty="0"/>
          </a:p>
          <a:p>
            <a:pPr eaLnBrk="1" hangingPunct="1">
              <a:buFontTx/>
              <a:buNone/>
            </a:pPr>
            <a:r>
              <a:rPr lang="ko-KR" altLang="en-US" dirty="0"/>
              <a:t>    </a:t>
            </a:r>
            <a:r>
              <a:rPr lang="en-US" altLang="ko-KR" sz="2800" dirty="0"/>
              <a:t>N: #of experiments conducted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 N</a:t>
            </a:r>
            <a:r>
              <a:rPr lang="en-US" altLang="ko-KR" sz="2800" baseline="-25000" dirty="0"/>
              <a:t>A</a:t>
            </a:r>
            <a:r>
              <a:rPr lang="en-US" altLang="ko-KR" sz="2800" dirty="0"/>
              <a:t> : #of times that event A occurs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</a:t>
            </a:r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r>
              <a:rPr lang="en-US" altLang="ko-KR" dirty="0"/>
              <a:t>  </a:t>
            </a:r>
            <a:r>
              <a:rPr lang="ko-KR" altLang="en-US" sz="2800" dirty="0"/>
              <a:t>예</a:t>
            </a:r>
            <a:r>
              <a:rPr lang="en-US" altLang="ko-KR" sz="2800" dirty="0"/>
              <a:t>) </a:t>
            </a:r>
            <a:r>
              <a:rPr lang="ko-KR" altLang="en-US" sz="2800" dirty="0"/>
              <a:t>새로 개발한 상품이 시장에서 성공할 확률</a:t>
            </a:r>
            <a:endParaRPr lang="en-US" altLang="ko-KR" sz="2800" dirty="0"/>
          </a:p>
          <a:p>
            <a:pPr eaLnBrk="1" hangingPunct="1">
              <a:buFontTx/>
              <a:buNone/>
            </a:pPr>
            <a:r>
              <a:rPr lang="en-US" altLang="ko-KR" sz="2800" dirty="0"/>
              <a:t>       </a:t>
            </a:r>
            <a:r>
              <a:rPr lang="en-US" altLang="ko-KR" sz="2400" dirty="0"/>
              <a:t>- </a:t>
            </a:r>
            <a:r>
              <a:rPr lang="ko-KR" altLang="en-US" sz="2400" dirty="0"/>
              <a:t>시제품을 이용한 사전 시장조사를 통해</a:t>
            </a:r>
            <a:endParaRPr lang="en-US" altLang="ko-KR" dirty="0"/>
          </a:p>
        </p:txBody>
      </p:sp>
      <p:graphicFrame>
        <p:nvGraphicFramePr>
          <p:cNvPr id="5122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3889182"/>
              </p:ext>
            </p:extLst>
          </p:nvPr>
        </p:nvGraphicFramePr>
        <p:xfrm>
          <a:off x="2627784" y="3501008"/>
          <a:ext cx="2209800" cy="1222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86" name="Equation" r:id="rId3" imgW="825480" imgH="457200" progId="Equation.3">
                  <p:embed/>
                </p:oleObj>
              </mc:Choice>
              <mc:Fallback>
                <p:oleObj name="Equation" r:id="rId3" imgW="825480" imgH="457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784" y="3501008"/>
                        <a:ext cx="2209800" cy="1222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idx="1"/>
          </p:nvPr>
        </p:nvSpPr>
        <p:spPr>
          <a:xfrm>
            <a:off x="395536" y="876300"/>
            <a:ext cx="8424936" cy="4953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5) </a:t>
            </a:r>
            <a:r>
              <a:rPr lang="ko-KR" altLang="en-US" sz="2800" dirty="0"/>
              <a:t>대한민국에서 </a:t>
            </a:r>
            <a:r>
              <a:rPr lang="en-US" altLang="ko-KR" sz="2800" dirty="0"/>
              <a:t>20</a:t>
            </a:r>
            <a:r>
              <a:rPr lang="ko-KR" altLang="en-US" sz="2800" dirty="0"/>
              <a:t>세의 남자가 생명보험 가입</a:t>
            </a:r>
            <a:r>
              <a:rPr lang="en-US" altLang="ko-KR" sz="2800" dirty="0"/>
              <a:t>. </a:t>
            </a:r>
            <a:r>
              <a:rPr lang="ko-KR" altLang="en-US" sz="2800" dirty="0"/>
              <a:t>이 사람이 </a:t>
            </a:r>
            <a:r>
              <a:rPr lang="en-US" altLang="ko-KR" sz="2800" dirty="0"/>
              <a:t>30</a:t>
            </a:r>
            <a:r>
              <a:rPr lang="ko-KR" altLang="en-US" sz="2800" dirty="0"/>
              <a:t>세에서도 생존할 확률</a:t>
            </a:r>
            <a:r>
              <a:rPr lang="en-US" altLang="ko-KR" sz="2800" dirty="0"/>
              <a:t>?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      N</a:t>
            </a:r>
            <a:r>
              <a:rPr lang="en-US" altLang="ko-KR" sz="2800" dirty="0">
                <a:ea typeface="바탕" pitchFamily="18" charset="-127"/>
              </a:rPr>
              <a:t>={</a:t>
            </a:r>
            <a:r>
              <a:rPr lang="ko-KR" altLang="en-US" sz="2800" dirty="0">
                <a:ea typeface="바탕" pitchFamily="18" charset="-127"/>
              </a:rPr>
              <a:t>임의로 잡은 숫자 </a:t>
            </a:r>
            <a:r>
              <a:rPr lang="en-US" altLang="ko-KR" sz="2800" dirty="0">
                <a:ea typeface="바탕" pitchFamily="18" charset="-127"/>
              </a:rPr>
              <a:t>N </a:t>
            </a:r>
            <a:r>
              <a:rPr lang="ko-KR" altLang="en-US" sz="2800" dirty="0">
                <a:ea typeface="바탕" pitchFamily="18" charset="-127"/>
              </a:rPr>
              <a:t>만큼 </a:t>
            </a:r>
            <a:r>
              <a:rPr lang="en-US" altLang="ko-KR" sz="2800" dirty="0">
                <a:ea typeface="바탕" pitchFamily="18" charset="-127"/>
              </a:rPr>
              <a:t>20</a:t>
            </a:r>
            <a:r>
              <a:rPr lang="ko-KR" altLang="en-US" sz="2800" dirty="0">
                <a:ea typeface="바탕" pitchFamily="18" charset="-127"/>
              </a:rPr>
              <a:t>세 남자 조사</a:t>
            </a:r>
            <a:r>
              <a:rPr lang="en-US" altLang="ko-KR" sz="2800" dirty="0">
                <a:ea typeface="바탕" pitchFamily="18" charset="-127"/>
              </a:rPr>
              <a:t>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ea typeface="바탕" pitchFamily="18" charset="-127"/>
              </a:rPr>
              <a:t>        A={N</a:t>
            </a:r>
            <a:r>
              <a:rPr lang="ko-KR" altLang="en-US" sz="2800" dirty="0">
                <a:ea typeface="바탕" pitchFamily="18" charset="-127"/>
              </a:rPr>
              <a:t>명 중에서 </a:t>
            </a:r>
            <a:r>
              <a:rPr lang="en-US" altLang="ko-KR" sz="2800" dirty="0">
                <a:ea typeface="바탕" pitchFamily="18" charset="-127"/>
              </a:rPr>
              <a:t>30</a:t>
            </a:r>
            <a:r>
              <a:rPr lang="ko-KR" altLang="en-US" sz="2800" dirty="0">
                <a:ea typeface="바탕" pitchFamily="18" charset="-127"/>
              </a:rPr>
              <a:t>세까지 생존 숫자</a:t>
            </a:r>
            <a:r>
              <a:rPr lang="en-US" altLang="ko-KR" sz="2800" dirty="0">
                <a:ea typeface="바탕" pitchFamily="18" charset="-127"/>
              </a:rPr>
              <a:t>}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ea typeface="바탕" pitchFamily="18" charset="-127"/>
              </a:rPr>
              <a:t>        p(A)= </a:t>
            </a:r>
          </a:p>
          <a:p>
            <a:pPr marL="609600" indent="-609600" eaLnBrk="1" hangingPunct="1">
              <a:buFontTx/>
              <a:buNone/>
            </a:pPr>
            <a:endParaRPr lang="en-US" altLang="ko-KR" sz="2800" dirty="0">
              <a:ea typeface="바탕" pitchFamily="18" charset="-127"/>
            </a:endParaRPr>
          </a:p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</a:rPr>
              <a:t>예제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</a:rPr>
              <a:t>6) 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</a:rPr>
              <a:t>서울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</a:rPr>
              <a:t>-&gt;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</a:rPr>
              <a:t> 뉴욕 비행기가 사고로 추락할 확률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</a:rPr>
              <a:t>?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</a:rPr>
              <a:t> </a:t>
            </a:r>
            <a:endParaRPr lang="en-US" altLang="ko-KR" sz="2800" dirty="0">
              <a:latin typeface="바탕" pitchFamily="18" charset="-127"/>
              <a:ea typeface="바탕" pitchFamily="18" charset="-127"/>
            </a:endParaRP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     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556CC39-FD78-49E5-9159-9792ED92F9BD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4953000"/>
          </a:xfrm>
        </p:spPr>
        <p:txBody>
          <a:bodyPr/>
          <a:lstStyle/>
          <a:p>
            <a:pPr marL="609600" indent="-609600" eaLnBrk="1" hangingPunct="1"/>
            <a:r>
              <a:rPr lang="ko-KR" altLang="en-US" dirty="0">
                <a:solidFill>
                  <a:schemeClr val="accent2"/>
                </a:solidFill>
              </a:rPr>
              <a:t>사건들의 기본 연산</a:t>
            </a:r>
          </a:p>
          <a:p>
            <a:pPr marL="990600" lvl="1" indent="-533400" eaLnBrk="1" hangingPunct="1"/>
            <a:r>
              <a:rPr lang="ko-KR" altLang="en-US" dirty="0" err="1">
                <a:solidFill>
                  <a:schemeClr val="accent2"/>
                </a:solidFill>
              </a:rPr>
              <a:t>합사건</a:t>
            </a:r>
            <a:endParaRPr lang="ko-KR" altLang="en-US" dirty="0">
              <a:solidFill>
                <a:schemeClr val="accent2"/>
              </a:solidFill>
            </a:endParaRPr>
          </a:p>
          <a:p>
            <a:pPr marL="1371600" lvl="2" indent="-457200" eaLnBrk="1" hangingPunct="1"/>
            <a:r>
              <a:rPr lang="ko-KR" altLang="en-US" dirty="0"/>
              <a:t>사건 </a:t>
            </a:r>
            <a:r>
              <a:rPr lang="en-US" altLang="ko-KR" dirty="0"/>
              <a:t>A</a:t>
            </a:r>
            <a:r>
              <a:rPr lang="ko-KR" altLang="en-US" dirty="0"/>
              <a:t>와 사건 </a:t>
            </a:r>
            <a:r>
              <a:rPr lang="en-US" altLang="ko-KR" dirty="0"/>
              <a:t>B</a:t>
            </a:r>
            <a:r>
              <a:rPr lang="ko-KR" altLang="en-US" dirty="0"/>
              <a:t>의 합집합</a:t>
            </a:r>
            <a:r>
              <a:rPr lang="en-US" altLang="ko-KR" dirty="0"/>
              <a:t>:  A⋃B</a:t>
            </a:r>
          </a:p>
          <a:p>
            <a:pPr marL="1371600" lvl="2" indent="-457200" eaLnBrk="1" hangingPunct="1"/>
            <a:r>
              <a:rPr lang="en-US" altLang="ko-KR" dirty="0"/>
              <a:t>A </a:t>
            </a:r>
            <a:r>
              <a:rPr lang="ko-KR" altLang="en-US" dirty="0"/>
              <a:t>혹은  </a:t>
            </a:r>
            <a:r>
              <a:rPr lang="en-US" altLang="ko-KR" dirty="0"/>
              <a:t>B</a:t>
            </a:r>
            <a:r>
              <a:rPr lang="ko-KR" altLang="en-US" dirty="0"/>
              <a:t>에 속한 근원사건들의 집합 </a:t>
            </a:r>
          </a:p>
          <a:p>
            <a:pPr marL="990600" lvl="1" indent="-533400" eaLnBrk="1" hangingPunct="1"/>
            <a:r>
              <a:rPr lang="ko-KR" altLang="en-US" dirty="0" err="1">
                <a:solidFill>
                  <a:schemeClr val="accent2"/>
                </a:solidFill>
              </a:rPr>
              <a:t>곱사건</a:t>
            </a:r>
            <a:endParaRPr lang="ko-KR" altLang="en-US" dirty="0">
              <a:solidFill>
                <a:schemeClr val="accent2"/>
              </a:solidFill>
            </a:endParaRPr>
          </a:p>
          <a:p>
            <a:pPr marL="1371600" lvl="2" indent="-457200" eaLnBrk="1" hangingPunct="1"/>
            <a:r>
              <a:rPr lang="ko-KR" altLang="en-US" dirty="0"/>
              <a:t>사건 </a:t>
            </a:r>
            <a:r>
              <a:rPr lang="en-US" altLang="ko-KR" dirty="0"/>
              <a:t>A</a:t>
            </a:r>
            <a:r>
              <a:rPr lang="ko-KR" altLang="en-US" dirty="0"/>
              <a:t>와 사건 </a:t>
            </a:r>
            <a:r>
              <a:rPr lang="en-US" altLang="ko-KR" dirty="0"/>
              <a:t>B</a:t>
            </a:r>
            <a:r>
              <a:rPr lang="ko-KR" altLang="en-US" dirty="0"/>
              <a:t>의 교집합</a:t>
            </a:r>
            <a:r>
              <a:rPr lang="en-US" altLang="ko-KR" dirty="0"/>
              <a:t>:  A∩B</a:t>
            </a:r>
          </a:p>
          <a:p>
            <a:pPr marL="1371600" lvl="2" indent="-457200" eaLnBrk="1" hangingPunct="1"/>
            <a:r>
              <a:rPr lang="en-US" altLang="ko-KR" dirty="0"/>
              <a:t>A 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에 공통으로 속한 근원사건들의 집합</a:t>
            </a:r>
          </a:p>
          <a:p>
            <a:pPr marL="990600" lvl="1" indent="-533400" eaLnBrk="1" hangingPunct="1"/>
            <a:r>
              <a:rPr lang="ko-KR" altLang="en-US" dirty="0">
                <a:solidFill>
                  <a:schemeClr val="accent2"/>
                </a:solidFill>
              </a:rPr>
              <a:t>여집합</a:t>
            </a:r>
            <a:r>
              <a:rPr lang="en-US" altLang="ko-KR" dirty="0">
                <a:solidFill>
                  <a:schemeClr val="accent2"/>
                </a:solidFill>
              </a:rPr>
              <a:t>(Complement)</a:t>
            </a:r>
          </a:p>
          <a:p>
            <a:pPr marL="1371600" lvl="2" indent="-457200" eaLnBrk="1" hangingPunct="1"/>
            <a:r>
              <a:rPr lang="ko-KR" altLang="en-US" dirty="0"/>
              <a:t>사건 </a:t>
            </a:r>
            <a:r>
              <a:rPr lang="en-US" altLang="ko-KR" dirty="0"/>
              <a:t>A</a:t>
            </a:r>
            <a:r>
              <a:rPr lang="ko-KR" altLang="en-US" dirty="0"/>
              <a:t>의 여집합</a:t>
            </a:r>
            <a:r>
              <a:rPr lang="en-US" altLang="ko-KR" dirty="0"/>
              <a:t>:  A</a:t>
            </a:r>
            <a:r>
              <a:rPr lang="en-US" altLang="ko-KR" baseline="30000" dirty="0"/>
              <a:t>c</a:t>
            </a:r>
          </a:p>
          <a:p>
            <a:pPr marL="1371600" lvl="2" indent="-457200" eaLnBrk="1" hangingPunct="1"/>
            <a:r>
              <a:rPr lang="en-US" altLang="ko-KR" dirty="0"/>
              <a:t>A</a:t>
            </a:r>
            <a:r>
              <a:rPr lang="ko-KR" altLang="en-US" dirty="0"/>
              <a:t>에 포함되지 않는 근원사건들의 집합</a:t>
            </a:r>
          </a:p>
        </p:txBody>
      </p:sp>
      <p:sp>
        <p:nvSpPr>
          <p:cNvPr id="29699" name="Rectangle 3"/>
          <p:cNvSpPr>
            <a:spLocks noChangeArrowheads="1"/>
          </p:cNvSpPr>
          <p:nvPr/>
        </p:nvSpPr>
        <p:spPr bwMode="auto">
          <a:xfrm>
            <a:off x="685800" y="1524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4. </a:t>
            </a:r>
            <a:r>
              <a:rPr lang="ko-KR" altLang="en-US" sz="3600">
                <a:solidFill>
                  <a:schemeClr val="accent2"/>
                </a:solidFill>
              </a:rPr>
              <a:t>확률 법칙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381000"/>
            <a:ext cx="7772400" cy="4953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solidFill>
                  <a:schemeClr val="accent2"/>
                </a:solidFill>
              </a:rPr>
              <a:t>(</a:t>
            </a:r>
            <a:r>
              <a:rPr lang="ko-KR" altLang="en-US" sz="2800" dirty="0">
                <a:solidFill>
                  <a:schemeClr val="accent2"/>
                </a:solidFill>
              </a:rPr>
              <a:t>예제</a:t>
            </a:r>
            <a:r>
              <a:rPr lang="en-US" altLang="ko-KR" sz="2800" dirty="0">
                <a:solidFill>
                  <a:schemeClr val="accent2"/>
                </a:solidFill>
              </a:rPr>
              <a:t>7)</a:t>
            </a:r>
            <a:r>
              <a:rPr lang="ko-KR" altLang="en-US" sz="2800" dirty="0">
                <a:solidFill>
                  <a:schemeClr val="accent2"/>
                </a:solidFill>
              </a:rPr>
              <a:t>사건을 근원사건으로 표시</a:t>
            </a:r>
          </a:p>
          <a:p>
            <a:pPr marL="990600" lvl="1" indent="-533400" eaLnBrk="1" hangingPunct="1">
              <a:buFont typeface="Wingdings" pitchFamily="2" charset="2"/>
              <a:buChar char="§"/>
            </a:pPr>
            <a:r>
              <a:rPr lang="ko-KR" altLang="en-US" sz="2400" dirty="0" err="1"/>
              <a:t>네명의</a:t>
            </a:r>
            <a:r>
              <a:rPr lang="ko-KR" altLang="en-US" sz="2400" dirty="0"/>
              <a:t> 의사를 전공분야와 성별로 분류</a:t>
            </a:r>
          </a:p>
          <a:p>
            <a:pPr marL="990600" lvl="1" indent="-533400" eaLnBrk="1" hangingPunct="1">
              <a:buFont typeface="Wingdings" pitchFamily="2" charset="2"/>
              <a:buChar char="§"/>
            </a:pPr>
            <a:r>
              <a:rPr lang="ko-KR" altLang="en-US" sz="2400" dirty="0" err="1"/>
              <a:t>두명을</a:t>
            </a:r>
            <a:r>
              <a:rPr lang="ko-KR" altLang="en-US" sz="2400" dirty="0"/>
              <a:t> 뽑아 다이어트 습관조사</a:t>
            </a:r>
            <a:r>
              <a:rPr lang="en-US" altLang="ko-KR" sz="2400" dirty="0"/>
              <a:t>=&gt; </a:t>
            </a:r>
            <a:r>
              <a:rPr lang="en-US" altLang="ko-KR" sz="2400" dirty="0">
                <a:ea typeface="바탕" pitchFamily="18" charset="-127"/>
              </a:rPr>
              <a:t>Ω</a:t>
            </a:r>
            <a:endParaRPr lang="en-US" altLang="ko-KR" sz="2400" dirty="0"/>
          </a:p>
          <a:p>
            <a:pPr marL="990600" lvl="1" indent="-533400" eaLnBrk="1" hangingPunct="1">
              <a:buFontTx/>
              <a:buNone/>
            </a:pPr>
            <a:endParaRPr lang="en-US" altLang="ko-KR" sz="2400" dirty="0"/>
          </a:p>
          <a:p>
            <a:pPr marL="990600" lvl="1" indent="-533400" eaLnBrk="1" hangingPunct="1">
              <a:buFontTx/>
              <a:buNone/>
            </a:pPr>
            <a:endParaRPr lang="en-US" altLang="ko-KR" sz="2400" dirty="0"/>
          </a:p>
          <a:p>
            <a:pPr marL="990600" lvl="1" indent="-533400" eaLnBrk="1" hangingPunct="1">
              <a:buFontTx/>
              <a:buNone/>
            </a:pPr>
            <a:endParaRPr lang="en-US" altLang="ko-KR" sz="2400" dirty="0"/>
          </a:p>
          <a:p>
            <a:pPr marL="990600" lvl="1" indent="-533400" eaLnBrk="1" hangingPunct="1">
              <a:buFontTx/>
              <a:buNone/>
            </a:pPr>
            <a:endParaRPr lang="en-US" altLang="ko-KR" sz="2400" dirty="0"/>
          </a:p>
          <a:p>
            <a:pPr marL="990600" lvl="1" indent="-533400" eaLnBrk="1" hangingPunct="1">
              <a:buFontTx/>
              <a:buNone/>
            </a:pPr>
            <a:endParaRPr lang="en-US" altLang="ko-KR" sz="2400" dirty="0"/>
          </a:p>
          <a:p>
            <a:pPr marL="990600" lvl="1" indent="-533400" eaLnBrk="1" hangingPunct="1">
              <a:buFontTx/>
              <a:buNone/>
            </a:pPr>
            <a:r>
              <a:rPr lang="en-US" altLang="ko-KR" sz="2400" dirty="0"/>
              <a:t>A= </a:t>
            </a:r>
            <a:r>
              <a:rPr lang="ko-KR" altLang="en-US" sz="2400" dirty="0"/>
              <a:t>서로 같은 분야의 사람을 뽑는다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ko-KR" sz="2400" dirty="0"/>
              <a:t>B= </a:t>
            </a:r>
            <a:r>
              <a:rPr lang="ko-KR" altLang="en-US" sz="2400" dirty="0"/>
              <a:t>서로 성별이 같은 사람을 뽑는다</a:t>
            </a:r>
          </a:p>
          <a:p>
            <a:pPr marL="990600" lvl="1" indent="-533400" eaLnBrk="1" hangingPunct="1">
              <a:buFontTx/>
              <a:buNone/>
            </a:pPr>
            <a:r>
              <a:rPr lang="en-US" altLang="ko-KR" sz="2400" dirty="0"/>
              <a:t>C=</a:t>
            </a:r>
            <a:r>
              <a:rPr lang="ko-KR" altLang="en-US" sz="2400" dirty="0"/>
              <a:t>서로 성별도 다르고</a:t>
            </a:r>
            <a:r>
              <a:rPr lang="en-US" altLang="ko-KR" sz="2400" dirty="0"/>
              <a:t>, </a:t>
            </a:r>
            <a:r>
              <a:rPr lang="ko-KR" altLang="en-US" sz="2400" dirty="0"/>
              <a:t>분야도 다른 사람 선택</a:t>
            </a:r>
          </a:p>
        </p:txBody>
      </p:sp>
      <p:graphicFrame>
        <p:nvGraphicFramePr>
          <p:cNvPr id="69670" name="Group 38"/>
          <p:cNvGraphicFramePr>
            <a:graphicFrameLocks noGrp="1"/>
          </p:cNvGraphicFramePr>
          <p:nvPr/>
        </p:nvGraphicFramePr>
        <p:xfrm>
          <a:off x="2209800" y="1828800"/>
          <a:ext cx="3124200" cy="1981200"/>
        </p:xfrm>
        <a:graphic>
          <a:graphicData uri="http://schemas.openxmlformats.org/drawingml/2006/table">
            <a:tbl>
              <a:tblPr/>
              <a:tblGrid>
                <a:gridCol w="87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사람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전공분야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소아과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소아과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산부인과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산부인과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F24B13E1-1FFE-4F03-BCFB-145C3363D3B4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381000"/>
            <a:ext cx="7772400" cy="38862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solidFill>
                  <a:schemeClr val="accent2"/>
                </a:solidFill>
              </a:rPr>
              <a:t>(</a:t>
            </a:r>
            <a:r>
              <a:rPr lang="ko-KR" altLang="en-US" sz="2800" dirty="0">
                <a:solidFill>
                  <a:schemeClr val="accent2"/>
                </a:solidFill>
              </a:rPr>
              <a:t>예제</a:t>
            </a:r>
            <a:r>
              <a:rPr lang="en-US" altLang="ko-KR" sz="2800" dirty="0">
                <a:solidFill>
                  <a:schemeClr val="accent2"/>
                </a:solidFill>
              </a:rPr>
              <a:t>7)</a:t>
            </a:r>
            <a:r>
              <a:rPr lang="ko-KR" altLang="en-US" sz="2800" dirty="0">
                <a:solidFill>
                  <a:schemeClr val="accent2"/>
                </a:solidFill>
              </a:rPr>
              <a:t>사건을 근원사건으로 표시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ko-KR" altLang="en-US" sz="2400" dirty="0" err="1"/>
              <a:t>네명의</a:t>
            </a:r>
            <a:r>
              <a:rPr lang="ko-KR" altLang="en-US" sz="2400" dirty="0"/>
              <a:t> 의사를 전공분야와 성별로 분류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ko-KR" altLang="en-US" sz="2400" dirty="0" err="1"/>
              <a:t>두명을</a:t>
            </a:r>
            <a:r>
              <a:rPr lang="ko-KR" altLang="en-US" sz="2400" dirty="0"/>
              <a:t> 뽑아 다이어트 습관조사</a:t>
            </a:r>
            <a:r>
              <a:rPr lang="en-US" altLang="ko-KR" sz="2400" dirty="0"/>
              <a:t>=&gt;</a:t>
            </a:r>
            <a:r>
              <a:rPr lang="ko-KR" altLang="en-US" sz="2400" dirty="0"/>
              <a:t>총 </a:t>
            </a:r>
            <a:r>
              <a:rPr lang="en-US" altLang="ko-KR" sz="2400" dirty="0"/>
              <a:t>6</a:t>
            </a:r>
            <a:r>
              <a:rPr lang="ko-KR" altLang="en-US" sz="2400" dirty="0"/>
              <a:t>가지 방법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en-US" altLang="ko-KR" sz="2400" dirty="0"/>
              <a:t>=&gt; </a:t>
            </a:r>
            <a:r>
              <a:rPr lang="en-US" altLang="ko-KR" sz="2400" dirty="0">
                <a:ea typeface="바탕" pitchFamily="18" charset="-127"/>
              </a:rPr>
              <a:t> </a:t>
            </a:r>
            <a:endParaRPr lang="en-US" altLang="ko-KR" sz="2400" dirty="0"/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endParaRPr lang="en-US" altLang="ko-KR" sz="2400" dirty="0"/>
          </a:p>
        </p:txBody>
      </p:sp>
      <p:graphicFrame>
        <p:nvGraphicFramePr>
          <p:cNvPr id="70659" name="Group 3"/>
          <p:cNvGraphicFramePr>
            <a:graphicFrameLocks noGrp="1"/>
          </p:cNvGraphicFramePr>
          <p:nvPr/>
        </p:nvGraphicFramePr>
        <p:xfrm>
          <a:off x="2209800" y="1828800"/>
          <a:ext cx="3124200" cy="1981200"/>
        </p:xfrm>
        <a:graphic>
          <a:graphicData uri="http://schemas.openxmlformats.org/drawingml/2006/table">
            <a:tbl>
              <a:tblPr/>
              <a:tblGrid>
                <a:gridCol w="87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사람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전공분야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소아과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소아과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산부인과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산부인과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6146" name="Object 29"/>
          <p:cNvGraphicFramePr>
            <a:graphicFrameLocks noChangeAspect="1"/>
          </p:cNvGraphicFramePr>
          <p:nvPr/>
        </p:nvGraphicFramePr>
        <p:xfrm>
          <a:off x="2286000" y="4114800"/>
          <a:ext cx="30940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3" name="Equation" r:id="rId3" imgW="1879560" imgH="241200" progId="Equation.3">
                  <p:embed/>
                </p:oleObj>
              </mc:Choice>
              <mc:Fallback>
                <p:oleObj name="Equation" r:id="rId3" imgW="1879560" imgH="241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86000" y="4114800"/>
                        <a:ext cx="30940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47" name="Object 30"/>
          <p:cNvGraphicFramePr>
            <a:graphicFrameLocks noChangeAspect="1"/>
          </p:cNvGraphicFramePr>
          <p:nvPr/>
        </p:nvGraphicFramePr>
        <p:xfrm>
          <a:off x="2209800" y="4572000"/>
          <a:ext cx="2760663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294" name="Equation" r:id="rId5" imgW="1676160" imgH="774360" progId="Equation.3">
                  <p:embed/>
                </p:oleObj>
              </mc:Choice>
              <mc:Fallback>
                <p:oleObj name="Equation" r:id="rId5" imgW="1676160" imgH="7743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09800" y="4572000"/>
                        <a:ext cx="2760663" cy="127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381000"/>
            <a:ext cx="7772400" cy="38862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solidFill>
                  <a:schemeClr val="accent2"/>
                </a:solidFill>
              </a:rPr>
              <a:t>(</a:t>
            </a:r>
            <a:r>
              <a:rPr lang="ko-KR" altLang="en-US" sz="2800" dirty="0">
                <a:solidFill>
                  <a:schemeClr val="accent2"/>
                </a:solidFill>
              </a:rPr>
              <a:t>예제</a:t>
            </a:r>
            <a:r>
              <a:rPr lang="en-US" altLang="ko-KR" sz="2800" dirty="0">
                <a:solidFill>
                  <a:schemeClr val="accent2"/>
                </a:solidFill>
              </a:rPr>
              <a:t>7)</a:t>
            </a:r>
            <a:r>
              <a:rPr lang="ko-KR" altLang="en-US" sz="2800" dirty="0">
                <a:solidFill>
                  <a:schemeClr val="accent2"/>
                </a:solidFill>
              </a:rPr>
              <a:t>사건을 근원사건으로 표시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A= </a:t>
            </a:r>
            <a:r>
              <a:rPr lang="ko-KR" altLang="en-US" sz="2400" dirty="0"/>
              <a:t>서로 같은 분야의 사람을 뽑는다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B= </a:t>
            </a:r>
            <a:r>
              <a:rPr lang="ko-KR" altLang="en-US" sz="2400" dirty="0"/>
              <a:t>서로 성별이 같은 사람을 뽑는다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C=</a:t>
            </a:r>
            <a:r>
              <a:rPr lang="ko-KR" altLang="en-US" sz="2400" dirty="0"/>
              <a:t>서로 성별도 다르고</a:t>
            </a:r>
            <a:r>
              <a:rPr lang="en-US" altLang="ko-KR" sz="2400" dirty="0"/>
              <a:t>, </a:t>
            </a:r>
            <a:r>
              <a:rPr lang="ko-KR" altLang="en-US" sz="2400" dirty="0"/>
              <a:t>분야도 다른 사람 선택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ko-KR" altLang="en-US" sz="2400" dirty="0"/>
              <a:t> </a:t>
            </a:r>
            <a:r>
              <a:rPr lang="ko-KR" altLang="en-US" sz="2400" dirty="0">
                <a:ea typeface="바탕" pitchFamily="18" charset="-127"/>
              </a:rPr>
              <a:t> </a:t>
            </a: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endParaRPr lang="en-US" altLang="ko-KR" sz="2400" dirty="0"/>
          </a:p>
        </p:txBody>
      </p:sp>
      <p:graphicFrame>
        <p:nvGraphicFramePr>
          <p:cNvPr id="71683" name="Group 3"/>
          <p:cNvGraphicFramePr>
            <a:graphicFrameLocks noGrp="1"/>
          </p:cNvGraphicFramePr>
          <p:nvPr/>
        </p:nvGraphicFramePr>
        <p:xfrm>
          <a:off x="1447800" y="2209800"/>
          <a:ext cx="3124200" cy="1981200"/>
        </p:xfrm>
        <a:graphic>
          <a:graphicData uri="http://schemas.openxmlformats.org/drawingml/2006/table">
            <a:tbl>
              <a:tblPr/>
              <a:tblGrid>
                <a:gridCol w="8715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1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71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984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사람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전공분야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성별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소아과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0838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소아과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2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산부인과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산부인과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170" name="Object 29"/>
          <p:cNvGraphicFramePr>
            <a:graphicFrameLocks noChangeAspect="1"/>
          </p:cNvGraphicFramePr>
          <p:nvPr/>
        </p:nvGraphicFramePr>
        <p:xfrm>
          <a:off x="4953000" y="2362200"/>
          <a:ext cx="3094038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7" name="Equation" r:id="rId3" imgW="1879560" imgH="241200" progId="Equation.3">
                  <p:embed/>
                </p:oleObj>
              </mc:Choice>
              <mc:Fallback>
                <p:oleObj name="Equation" r:id="rId3" imgW="1879560" imgH="241200" progId="Equation.3">
                  <p:embed/>
                  <p:pic>
                    <p:nvPicPr>
                      <p:cNvPr id="0" name="Object 2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2362200"/>
                        <a:ext cx="3094038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1" name="Object 30"/>
          <p:cNvGraphicFramePr>
            <a:graphicFrameLocks noChangeAspect="1"/>
          </p:cNvGraphicFramePr>
          <p:nvPr/>
        </p:nvGraphicFramePr>
        <p:xfrm>
          <a:off x="5105400" y="3048000"/>
          <a:ext cx="2760663" cy="1274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8" name="Equation" r:id="rId5" imgW="1676160" imgH="774360" progId="Equation.3">
                  <p:embed/>
                </p:oleObj>
              </mc:Choice>
              <mc:Fallback>
                <p:oleObj name="Equation" r:id="rId5" imgW="1676160" imgH="774360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05400" y="3048000"/>
                        <a:ext cx="2760663" cy="1274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2" name="Object 31"/>
          <p:cNvGraphicFramePr>
            <a:graphicFrameLocks noChangeAspect="1"/>
          </p:cNvGraphicFramePr>
          <p:nvPr/>
        </p:nvGraphicFramePr>
        <p:xfrm>
          <a:off x="1828800" y="4572000"/>
          <a:ext cx="18288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499" name="Equation" r:id="rId7" imgW="863280" imgH="241200" progId="Equation.3">
                  <p:embed/>
                </p:oleObj>
              </mc:Choice>
              <mc:Fallback>
                <p:oleObj name="Equation" r:id="rId7" imgW="863280" imgH="241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8800" y="4572000"/>
                        <a:ext cx="18288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3" name="Object 32"/>
          <p:cNvGraphicFramePr>
            <a:graphicFrameLocks noChangeAspect="1"/>
          </p:cNvGraphicFramePr>
          <p:nvPr/>
        </p:nvGraphicFramePr>
        <p:xfrm>
          <a:off x="4191000" y="4572000"/>
          <a:ext cx="23399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0" name="Equation" r:id="rId9" imgW="1104840" imgH="241200" progId="Equation.3">
                  <p:embed/>
                </p:oleObj>
              </mc:Choice>
              <mc:Fallback>
                <p:oleObj name="Equation" r:id="rId9" imgW="1104840" imgH="24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572000"/>
                        <a:ext cx="23399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174" name="Object 33"/>
          <p:cNvGraphicFramePr>
            <a:graphicFrameLocks noChangeAspect="1"/>
          </p:cNvGraphicFramePr>
          <p:nvPr/>
        </p:nvGraphicFramePr>
        <p:xfrm>
          <a:off x="1752600" y="5105400"/>
          <a:ext cx="18557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501" name="Equation" r:id="rId11" imgW="876240" imgH="241200" progId="Equation.3">
                  <p:embed/>
                </p:oleObj>
              </mc:Choice>
              <mc:Fallback>
                <p:oleObj name="Equation" r:id="rId11" imgW="876240" imgH="2412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52600" y="5105400"/>
                        <a:ext cx="185578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7" name="Rectangle 2"/>
          <p:cNvSpPr>
            <a:spLocks noGrp="1" noChangeArrowheads="1"/>
          </p:cNvSpPr>
          <p:nvPr>
            <p:ph idx="1"/>
          </p:nvPr>
        </p:nvSpPr>
        <p:spPr>
          <a:xfrm>
            <a:off x="323528" y="228600"/>
            <a:ext cx="8134672" cy="4038600"/>
          </a:xfrm>
        </p:spPr>
        <p:txBody>
          <a:bodyPr/>
          <a:lstStyle/>
          <a:p>
            <a:pPr marL="609600" indent="-609600"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solidFill>
                  <a:schemeClr val="accent2"/>
                </a:solidFill>
              </a:rPr>
              <a:t>(</a:t>
            </a:r>
            <a:r>
              <a:rPr lang="ko-KR" altLang="en-US" sz="2800" dirty="0">
                <a:solidFill>
                  <a:schemeClr val="accent2"/>
                </a:solidFill>
              </a:rPr>
              <a:t>예제</a:t>
            </a:r>
            <a:r>
              <a:rPr lang="en-US" altLang="ko-KR" sz="2800" dirty="0">
                <a:solidFill>
                  <a:schemeClr val="accent2"/>
                </a:solidFill>
              </a:rPr>
              <a:t>8) </a:t>
            </a:r>
            <a:r>
              <a:rPr lang="ko-KR" altLang="en-US" sz="2800" dirty="0">
                <a:solidFill>
                  <a:schemeClr val="accent2"/>
                </a:solidFill>
              </a:rPr>
              <a:t>다음사건을 </a:t>
            </a:r>
            <a:r>
              <a:rPr lang="en-US" altLang="ko-KR" sz="2800" dirty="0">
                <a:solidFill>
                  <a:schemeClr val="accent2"/>
                </a:solidFill>
              </a:rPr>
              <a:t>A,B,C</a:t>
            </a:r>
            <a:r>
              <a:rPr lang="ko-KR" altLang="en-US" sz="2800" dirty="0">
                <a:solidFill>
                  <a:schemeClr val="accent2"/>
                </a:solidFill>
              </a:rPr>
              <a:t>와 근원사건으로 표시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A= </a:t>
            </a:r>
            <a:r>
              <a:rPr lang="ko-KR" altLang="en-US" sz="2400" dirty="0"/>
              <a:t>서로 같은 분야의 사람을 뽑는다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B= </a:t>
            </a:r>
            <a:r>
              <a:rPr lang="ko-KR" altLang="en-US" sz="2400" dirty="0"/>
              <a:t>서로 성별이 같은 사람을 뽑는다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r>
              <a:rPr lang="en-US" altLang="ko-KR" sz="2400" dirty="0"/>
              <a:t>C=</a:t>
            </a:r>
            <a:r>
              <a:rPr lang="ko-KR" altLang="en-US" sz="2400" dirty="0"/>
              <a:t>서로 성별도 다르고</a:t>
            </a:r>
            <a:r>
              <a:rPr lang="en-US" altLang="ko-KR" sz="2400" dirty="0"/>
              <a:t>, </a:t>
            </a:r>
            <a:r>
              <a:rPr lang="ko-KR" altLang="en-US" sz="2400" dirty="0"/>
              <a:t>분야도 다른 사람 선택</a:t>
            </a:r>
          </a:p>
          <a:p>
            <a:pPr marL="990600" lvl="1" indent="-533400" eaLnBrk="1" hangingPunct="1">
              <a:lnSpc>
                <a:spcPct val="90000"/>
              </a:lnSpc>
              <a:buFontTx/>
              <a:buNone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ko-KR" altLang="en-US" sz="2400" dirty="0"/>
              <a:t>선택된 사람들의 분야와 성별이 같다 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ko-KR" altLang="en-US" sz="2400" dirty="0"/>
              <a:t>분야가 같고 성별이 다르다</a:t>
            </a:r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endParaRPr lang="ko-KR" altLang="en-US" sz="2400" dirty="0"/>
          </a:p>
          <a:p>
            <a:pPr marL="990600" lvl="1" indent="-533400" eaLnBrk="1" hangingPunct="1">
              <a:lnSpc>
                <a:spcPct val="90000"/>
              </a:lnSpc>
              <a:buFont typeface="Wingdings" pitchFamily="2" charset="2"/>
              <a:buChar char="§"/>
            </a:pPr>
            <a:r>
              <a:rPr lang="ko-KR" altLang="en-US" sz="2400" dirty="0"/>
              <a:t>분야가 다르거나 성별이 같다</a:t>
            </a:r>
          </a:p>
        </p:txBody>
      </p:sp>
      <p:graphicFrame>
        <p:nvGraphicFramePr>
          <p:cNvPr id="8194" name="Object 31"/>
          <p:cNvGraphicFramePr>
            <a:graphicFrameLocks noChangeAspect="1"/>
          </p:cNvGraphicFramePr>
          <p:nvPr/>
        </p:nvGraphicFramePr>
        <p:xfrm>
          <a:off x="1219200" y="2057400"/>
          <a:ext cx="1828800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8" name="Equation" r:id="rId3" imgW="863280" imgH="241200" progId="Equation.3">
                  <p:embed/>
                </p:oleObj>
              </mc:Choice>
              <mc:Fallback>
                <p:oleObj name="Equation" r:id="rId3" imgW="863280" imgH="241200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19200" y="2057400"/>
                        <a:ext cx="1828800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5" name="Object 32"/>
          <p:cNvGraphicFramePr>
            <a:graphicFrameLocks noChangeAspect="1"/>
          </p:cNvGraphicFramePr>
          <p:nvPr/>
        </p:nvGraphicFramePr>
        <p:xfrm>
          <a:off x="3402013" y="2057400"/>
          <a:ext cx="2339975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79" name="Equation" r:id="rId5" imgW="1104840" imgH="241200" progId="Equation.3">
                  <p:embed/>
                </p:oleObj>
              </mc:Choice>
              <mc:Fallback>
                <p:oleObj name="Equation" r:id="rId5" imgW="1104840" imgH="241200" progId="Equation.3">
                  <p:embed/>
                  <p:pic>
                    <p:nvPicPr>
                      <p:cNvPr id="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02013" y="2057400"/>
                        <a:ext cx="2339975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196" name="Object 33"/>
          <p:cNvGraphicFramePr>
            <a:graphicFrameLocks noChangeAspect="1"/>
          </p:cNvGraphicFramePr>
          <p:nvPr/>
        </p:nvGraphicFramePr>
        <p:xfrm>
          <a:off x="5867400" y="2057400"/>
          <a:ext cx="1855788" cy="511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8380" name="Equation" r:id="rId7" imgW="876240" imgH="241200" progId="Equation.3">
                  <p:embed/>
                </p:oleObj>
              </mc:Choice>
              <mc:Fallback>
                <p:oleObj name="Equation" r:id="rId7" imgW="876240" imgH="241200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2057400"/>
                        <a:ext cx="1855788" cy="511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28842CA3-B56B-4EF3-9291-2724246EE150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idx="1"/>
          </p:nvPr>
        </p:nvSpPr>
        <p:spPr>
          <a:xfrm>
            <a:off x="642938" y="857250"/>
            <a:ext cx="7772400" cy="52578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1. </a:t>
            </a:r>
            <a:r>
              <a:rPr lang="ko-KR" altLang="en-US" sz="2800" dirty="0" err="1"/>
              <a:t>여사건</a:t>
            </a:r>
            <a:r>
              <a:rPr lang="ko-KR" altLang="en-US" sz="2800" dirty="0"/>
              <a:t>  </a:t>
            </a:r>
            <a:r>
              <a:rPr lang="en-US" altLang="ko-KR" sz="2800" dirty="0"/>
              <a:t>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={A does not occurs}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/>
              <a:t>       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</a:t>
            </a:r>
            <a:r>
              <a:rPr lang="en-US" altLang="ko-KR" sz="2800" dirty="0"/>
              <a:t> A=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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       p(</a:t>
            </a:r>
            <a:r>
              <a:rPr lang="en-US" altLang="ko-KR" sz="2800" dirty="0"/>
              <a:t>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)+p(A)=1 =&gt; p(A)=1-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p(</a:t>
            </a:r>
            <a:r>
              <a:rPr lang="en-US" altLang="ko-KR" sz="2800" dirty="0"/>
              <a:t>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)</a:t>
            </a:r>
            <a:endParaRPr lang="en-US" altLang="ko-KR" sz="2800" dirty="0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   2. 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확률의 </a:t>
            </a:r>
            <a:r>
              <a:rPr lang="ko-KR" altLang="en-US" sz="2800" dirty="0" err="1">
                <a:latin typeface="바탕" pitchFamily="18" charset="-127"/>
                <a:ea typeface="바탕" pitchFamily="18" charset="-127"/>
                <a:sym typeface="Symbol" pitchFamily="18" charset="2"/>
              </a:rPr>
              <a:t>합법칙</a:t>
            </a:r>
            <a:endParaRPr lang="ko-KR" altLang="en-US" sz="2800" dirty="0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     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p(AB)=p(A)+p(B)-p(A </a:t>
            </a:r>
            <a:r>
              <a:rPr lang="en-US" altLang="ko-KR" sz="2800" dirty="0"/>
              <a:t>∩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 B)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ko-KR" sz="2800" dirty="0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ko-KR" sz="2800" dirty="0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ko-KR" sz="2800" dirty="0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en-US" altLang="ko-KR" sz="2800" dirty="0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(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예제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) p(A)=0.61,p(B)=0.42,p(A</a:t>
            </a:r>
            <a:r>
              <a:rPr lang="en-US" altLang="ko-KR" sz="2800" dirty="0"/>
              <a:t>∩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B)=0.33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 p(AB)=0.61+0.42-0.33=0.70</a:t>
            </a:r>
            <a:r>
              <a:rPr lang="en-US" altLang="ko-KR" sz="2800" b="1" dirty="0">
                <a:latin typeface="바탕" pitchFamily="18" charset="-127"/>
                <a:ea typeface="바탕" pitchFamily="18" charset="-127"/>
                <a:sym typeface="Symbol" pitchFamily="18" charset="2"/>
              </a:rPr>
              <a:t> </a:t>
            </a:r>
          </a:p>
        </p:txBody>
      </p:sp>
      <p:sp>
        <p:nvSpPr>
          <p:cNvPr id="31747" name="Rectangle 3"/>
          <p:cNvSpPr>
            <a:spLocks noChangeArrowheads="1"/>
          </p:cNvSpPr>
          <p:nvPr/>
        </p:nvSpPr>
        <p:spPr bwMode="auto"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4. </a:t>
            </a:r>
            <a:r>
              <a:rPr lang="ko-KR" altLang="en-US" sz="3600">
                <a:solidFill>
                  <a:schemeClr val="accent2"/>
                </a:solidFill>
              </a:rPr>
              <a:t>확률법칙</a:t>
            </a:r>
          </a:p>
        </p:txBody>
      </p:sp>
      <p:graphicFrame>
        <p:nvGraphicFramePr>
          <p:cNvPr id="53252" name="Group 4"/>
          <p:cNvGraphicFramePr>
            <a:graphicFrameLocks noGrp="1"/>
          </p:cNvGraphicFramePr>
          <p:nvPr/>
        </p:nvGraphicFramePr>
        <p:xfrm>
          <a:off x="1905000" y="3352800"/>
          <a:ext cx="4724400" cy="1584960"/>
        </p:xfrm>
        <a:graphic>
          <a:graphicData uri="http://schemas.openxmlformats.org/drawingml/2006/table">
            <a:tbl>
              <a:tblPr/>
              <a:tblGrid>
                <a:gridCol w="1317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23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9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흡연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비흡연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남자</a:t>
                      </a: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여자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1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9223" name="Rectangle 2"/>
              <p:cNvSpPr>
                <a:spLocks noGrp="1" noChangeArrowheads="1"/>
              </p:cNvSpPr>
              <p:nvPr>
                <p:ph idx="1"/>
              </p:nvPr>
            </p:nvSpPr>
            <p:spPr>
              <a:xfrm>
                <a:off x="755576" y="116632"/>
                <a:ext cx="7772400" cy="4038600"/>
              </a:xfrm>
            </p:spPr>
            <p:txBody>
              <a:bodyPr/>
              <a:lstStyle/>
              <a:p>
                <a:pPr marL="609600" indent="-6096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800" dirty="0">
                    <a:solidFill>
                      <a:schemeClr val="accent2"/>
                    </a:solidFill>
                  </a:rPr>
                  <a:t>(</a:t>
                </a:r>
                <a:r>
                  <a:rPr lang="ko-KR" altLang="en-US" sz="2800" dirty="0">
                    <a:solidFill>
                      <a:schemeClr val="accent2"/>
                    </a:solidFill>
                  </a:rPr>
                  <a:t>예제</a:t>
                </a:r>
                <a:r>
                  <a:rPr lang="en-US" altLang="ko-KR" sz="2800" dirty="0">
                    <a:solidFill>
                      <a:schemeClr val="accent2"/>
                    </a:solidFill>
                  </a:rPr>
                  <a:t>9) </a:t>
                </a:r>
                <a:r>
                  <a:rPr lang="ko-KR" altLang="en-US" sz="2800" dirty="0">
                    <a:solidFill>
                      <a:schemeClr val="accent2"/>
                    </a:solidFill>
                  </a:rPr>
                  <a:t>다음사건의 확률을 구하라</a:t>
                </a:r>
              </a:p>
              <a:p>
                <a:pPr marL="990600" lvl="1" indent="-5334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A= </a:t>
                </a:r>
                <a:r>
                  <a:rPr lang="ko-KR" altLang="en-US" sz="2400" dirty="0"/>
                  <a:t>서로 같은 분야의 사람을 뽑는다</a:t>
                </a:r>
              </a:p>
              <a:p>
                <a:pPr marL="990600" lvl="1" indent="-5334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B= </a:t>
                </a:r>
                <a:r>
                  <a:rPr lang="ko-KR" altLang="en-US" sz="2400" dirty="0"/>
                  <a:t>서로 성별이 같은 사람을 뽑는다</a:t>
                </a:r>
              </a:p>
              <a:p>
                <a:pPr marL="990600" lvl="1" indent="-533400" eaLnBrk="1" hangingPunct="1">
                  <a:lnSpc>
                    <a:spcPct val="90000"/>
                  </a:lnSpc>
                  <a:buFontTx/>
                  <a:buNone/>
                </a:pPr>
                <a:r>
                  <a:rPr lang="en-US" altLang="ko-KR" sz="2400" dirty="0"/>
                  <a:t>C=</a:t>
                </a:r>
                <a:r>
                  <a:rPr lang="ko-KR" altLang="en-US" sz="2400" dirty="0"/>
                  <a:t>서로 성별도 다르고</a:t>
                </a:r>
                <a:r>
                  <a:rPr lang="en-US" altLang="ko-KR" sz="2400" dirty="0"/>
                  <a:t>, </a:t>
                </a:r>
                <a:r>
                  <a:rPr lang="ko-KR" altLang="en-US" sz="2400" dirty="0"/>
                  <a:t>분야도 다른 사람 선택</a:t>
                </a:r>
              </a:p>
              <a:p>
                <a:pPr marL="990600" lvl="1" indent="-533400" eaLnBrk="1" hangingPunct="1">
                  <a:lnSpc>
                    <a:spcPct val="90000"/>
                  </a:lnSpc>
                  <a:buFontTx/>
                  <a:buNone/>
                </a:pPr>
                <a:endParaRPr lang="ko-KR" altLang="en-US" sz="2400" dirty="0"/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endParaRPr lang="ko-KR" altLang="en-US" sz="2400" dirty="0"/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endParaRPr lang="ko-KR" altLang="en-US" sz="2400" dirty="0"/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r>
                  <a:rPr lang="ko-KR" altLang="en-US" sz="2400" dirty="0"/>
                  <a:t>선택된 사람들의 분야가 다르거나 성별이 다른 사상의 확률은</a:t>
                </a:r>
                <a:r>
                  <a:rPr lang="en-US" altLang="ko-KR" sz="2400" dirty="0"/>
                  <a:t>? ( </a:t>
                </a:r>
                <a:r>
                  <a:rPr lang="ko-KR" altLang="en-US" sz="2400" dirty="0"/>
                  <a:t>여사상 사용</a:t>
                </a:r>
                <a:r>
                  <a:rPr lang="en-US" altLang="ko-KR" sz="2400" dirty="0"/>
                  <a:t>)</a:t>
                </a:r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endParaRPr lang="en-US" altLang="ko-KR" sz="2400" dirty="0"/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endParaRPr lang="en-US" altLang="ko-KR" sz="2400" dirty="0"/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r>
                  <a:rPr lang="en-US" altLang="ko-KR" sz="2400" dirty="0"/>
                  <a:t>         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𝐵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ko-KR" dirty="0"/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endParaRPr lang="en-US" altLang="ko-KR" sz="2400" dirty="0"/>
              </a:p>
              <a:p>
                <a:pPr marL="990600" lvl="1" indent="-533400" eaLnBrk="1" hangingPunct="1">
                  <a:lnSpc>
                    <a:spcPct val="90000"/>
                  </a:lnSpc>
                  <a:buFont typeface="Wingdings" pitchFamily="2" charset="2"/>
                  <a:buChar char="§"/>
                </a:pPr>
                <a:r>
                  <a:rPr lang="en-US" altLang="ko-KR" dirty="0"/>
                  <a:t>        (</a:t>
                </a:r>
                <a:r>
                  <a:rPr lang="ko-KR" altLang="en-US" dirty="0" err="1"/>
                  <a:t>상호배반</a:t>
                </a:r>
                <a:r>
                  <a:rPr lang="en-US" altLang="ko-KR" dirty="0"/>
                  <a:t>), 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∪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𝐶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9223" name="Rectang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755576" y="116632"/>
                <a:ext cx="7772400" cy="4038600"/>
              </a:xfrm>
              <a:blipFill>
                <a:blip r:embed="rId3"/>
                <a:stretch>
                  <a:fillRect l="-1647" t="-2564" b="-466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9218" name="Object 3"/>
          <p:cNvGraphicFramePr>
            <a:graphicFrameLocks noChangeAspect="1"/>
          </p:cNvGraphicFramePr>
          <p:nvPr/>
        </p:nvGraphicFramePr>
        <p:xfrm>
          <a:off x="1447800" y="2438400"/>
          <a:ext cx="1676400" cy="468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19" name="Equation" r:id="rId4" imgW="863280" imgH="241200" progId="Equation.3">
                  <p:embed/>
                </p:oleObj>
              </mc:Choice>
              <mc:Fallback>
                <p:oleObj name="Equation" r:id="rId4" imgW="86328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47800" y="2438400"/>
                        <a:ext cx="1676400" cy="468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19" name="Object 4"/>
          <p:cNvGraphicFramePr>
            <a:graphicFrameLocks noChangeAspect="1"/>
          </p:cNvGraphicFramePr>
          <p:nvPr/>
        </p:nvGraphicFramePr>
        <p:xfrm>
          <a:off x="3505200" y="2438400"/>
          <a:ext cx="2133600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0" name="Equation" r:id="rId6" imgW="1104840" imgH="241200" progId="Equation.3">
                  <p:embed/>
                </p:oleObj>
              </mc:Choice>
              <mc:Fallback>
                <p:oleObj name="Equation" r:id="rId6" imgW="1104840" imgH="2412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438400"/>
                        <a:ext cx="2133600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0" name="Object 5"/>
          <p:cNvGraphicFramePr>
            <a:graphicFrameLocks noChangeAspect="1"/>
          </p:cNvGraphicFramePr>
          <p:nvPr/>
        </p:nvGraphicFramePr>
        <p:xfrm>
          <a:off x="6019800" y="2459038"/>
          <a:ext cx="1600200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1" name="Equation" r:id="rId8" imgW="876240" imgH="241200" progId="Equation.3">
                  <p:embed/>
                </p:oleObj>
              </mc:Choice>
              <mc:Fallback>
                <p:oleObj name="Equation" r:id="rId8" imgW="87624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19800" y="2459038"/>
                        <a:ext cx="1600200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1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0491227"/>
              </p:ext>
            </p:extLst>
          </p:nvPr>
        </p:nvGraphicFramePr>
        <p:xfrm>
          <a:off x="1691680" y="4581128"/>
          <a:ext cx="850900" cy="129614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2" name="Equation" r:id="rId10" imgW="482400" imgH="723600" progId="Equation.3">
                  <p:embed/>
                </p:oleObj>
              </mc:Choice>
              <mc:Fallback>
                <p:oleObj name="Equation" r:id="rId10" imgW="482400" imgH="723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91680" y="4581128"/>
                        <a:ext cx="850900" cy="1296144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22" name="Object 7"/>
          <p:cNvGraphicFramePr>
            <a:graphicFrameLocks noChangeAspect="1"/>
          </p:cNvGraphicFramePr>
          <p:nvPr/>
        </p:nvGraphicFramePr>
        <p:xfrm>
          <a:off x="1477963" y="1981200"/>
          <a:ext cx="3094037" cy="3968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523" name="Equation" r:id="rId12" imgW="1879560" imgH="241200" progId="Equation.3">
                  <p:embed/>
                </p:oleObj>
              </mc:Choice>
              <mc:Fallback>
                <p:oleObj name="Equation" r:id="rId12" imgW="1879560" imgH="2412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1981200"/>
                        <a:ext cx="3094037" cy="3968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76300"/>
            <a:ext cx="7772400" cy="49530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endParaRPr lang="en-US" altLang="ko-KR" dirty="0"/>
          </a:p>
          <a:p>
            <a:pPr marL="609600" indent="-609600" eaLnBrk="1" hangingPunct="1">
              <a:buFontTx/>
              <a:buNone/>
            </a:pPr>
            <a:endParaRPr lang="en-US" altLang="ko-KR" dirty="0"/>
          </a:p>
          <a:p>
            <a:pPr marL="609600" indent="-609600" eaLnBrk="1" hangingPunct="1">
              <a:buFontTx/>
              <a:buNone/>
            </a:pPr>
            <a:r>
              <a:rPr lang="ko-KR" altLang="en-US" sz="3600" dirty="0">
                <a:solidFill>
                  <a:schemeClr val="accent2"/>
                </a:solidFill>
              </a:rPr>
              <a:t>상호 배반사건</a:t>
            </a:r>
            <a:r>
              <a:rPr lang="en-US" altLang="ko-KR" dirty="0"/>
              <a:t>(Mutually Exclusive): </a:t>
            </a:r>
            <a:r>
              <a:rPr lang="ko-KR" altLang="en-US" dirty="0"/>
              <a:t>동시에 발생할 수 없는 사건</a:t>
            </a:r>
            <a:r>
              <a:rPr lang="ko-KR" altLang="en-US" sz="4000" b="1" dirty="0"/>
              <a:t> 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b="1" dirty="0"/>
              <a:t>Note: </a:t>
            </a:r>
            <a:r>
              <a:rPr lang="ko-KR" altLang="en-US" dirty="0"/>
              <a:t>두 사건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가 </a:t>
            </a:r>
            <a:r>
              <a:rPr lang="ko-KR" altLang="en-US" dirty="0" err="1"/>
              <a:t>상호배반이면</a:t>
            </a:r>
            <a:endParaRPr lang="ko-KR" altLang="en-US" dirty="0"/>
          </a:p>
          <a:p>
            <a:pPr marL="609600" indent="-609600" eaLnBrk="1" hangingPunct="1">
              <a:buFontTx/>
              <a:buNone/>
            </a:pPr>
            <a:r>
              <a:rPr lang="ko-KR" altLang="en-US" dirty="0"/>
              <a:t>       </a:t>
            </a:r>
            <a:r>
              <a:rPr lang="en-US" altLang="ko-KR" dirty="0"/>
              <a:t>&lt;=&gt; A∩B=∅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dirty="0"/>
              <a:t>       &lt;=&gt; </a:t>
            </a:r>
            <a:r>
              <a:rPr lang="en-US" altLang="ko-KR" sz="2800" dirty="0">
                <a:sym typeface="Symbol" pitchFamily="18" charset="2"/>
              </a:rPr>
              <a:t>p(A</a:t>
            </a:r>
            <a:r>
              <a:rPr lang="en-US" altLang="ko-KR" dirty="0"/>
              <a:t>∩</a:t>
            </a:r>
            <a:r>
              <a:rPr lang="en-US" altLang="ko-KR" sz="2800" dirty="0">
                <a:sym typeface="Symbol" pitchFamily="18" charset="2"/>
              </a:rPr>
              <a:t>B)=0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5486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>
                <a:sym typeface="Symbol" pitchFamily="18" charset="2"/>
              </a:rPr>
              <a:t>3. </a:t>
            </a:r>
            <a:r>
              <a:rPr lang="ko-KR" altLang="en-US" sz="2800">
                <a:sym typeface="Symbol" pitchFamily="18" charset="2"/>
              </a:rPr>
              <a:t>확률의 합법칙</a:t>
            </a:r>
          </a:p>
          <a:p>
            <a:pPr eaLnBrk="1" hangingPunct="1">
              <a:buFontTx/>
              <a:buNone/>
            </a:pPr>
            <a:r>
              <a:rPr lang="ko-KR" altLang="en-US" sz="2800">
                <a:sym typeface="Symbol" pitchFamily="18" charset="2"/>
              </a:rPr>
              <a:t>      </a:t>
            </a:r>
            <a:r>
              <a:rPr lang="en-US" altLang="ko-KR" sz="2800">
                <a:sym typeface="Symbol" pitchFamily="18" charset="2"/>
              </a:rPr>
              <a:t>p(AB)=p(A)+p(B)-p(A</a:t>
            </a:r>
            <a:r>
              <a:rPr lang="en-US" altLang="ko-KR"/>
              <a:t>∩</a:t>
            </a:r>
            <a:r>
              <a:rPr lang="en-US" altLang="ko-KR" sz="2800">
                <a:sym typeface="Symbol" pitchFamily="18" charset="2"/>
              </a:rPr>
              <a:t>B)</a:t>
            </a:r>
          </a:p>
          <a:p>
            <a:pPr eaLnBrk="1" hangingPunct="1">
              <a:buFontTx/>
              <a:buNone/>
            </a:pPr>
            <a:r>
              <a:rPr lang="en-US" altLang="ko-KR" sz="2800">
                <a:solidFill>
                  <a:srgbClr val="FF3300"/>
                </a:solidFill>
                <a:sym typeface="Symbol" pitchFamily="18" charset="2"/>
              </a:rPr>
              <a:t>Note</a:t>
            </a:r>
            <a:r>
              <a:rPr lang="en-US" altLang="ko-KR" sz="2800">
                <a:sym typeface="Symbol" pitchFamily="18" charset="2"/>
              </a:rPr>
              <a:t>: A</a:t>
            </a:r>
            <a:r>
              <a:rPr lang="ko-KR" altLang="en-US" sz="2800">
                <a:sym typeface="Symbol" pitchFamily="18" charset="2"/>
              </a:rPr>
              <a:t>와 </a:t>
            </a:r>
            <a:r>
              <a:rPr lang="en-US" altLang="ko-KR" sz="2800">
                <a:sym typeface="Symbol" pitchFamily="18" charset="2"/>
              </a:rPr>
              <a:t>B</a:t>
            </a:r>
            <a:r>
              <a:rPr lang="ko-KR" altLang="en-US" sz="2800">
                <a:sym typeface="Symbol" pitchFamily="18" charset="2"/>
              </a:rPr>
              <a:t>가 상호배반이면  </a:t>
            </a:r>
            <a:r>
              <a:rPr lang="en-US" altLang="ko-KR" sz="2800">
                <a:sym typeface="Symbol" pitchFamily="18" charset="2"/>
              </a:rPr>
              <a:t>p(A</a:t>
            </a:r>
            <a:r>
              <a:rPr lang="en-US" altLang="ko-KR"/>
              <a:t>∩</a:t>
            </a:r>
            <a:r>
              <a:rPr lang="en-US" altLang="ko-KR" sz="2800">
                <a:sym typeface="Symbol" pitchFamily="18" charset="2"/>
              </a:rPr>
              <a:t>B)=0</a:t>
            </a:r>
          </a:p>
          <a:p>
            <a:pPr eaLnBrk="1" hangingPunct="1">
              <a:buFontTx/>
              <a:buNone/>
            </a:pPr>
            <a:r>
              <a:rPr lang="en-US" altLang="ko-KR" sz="2800">
                <a:sym typeface="Symbol" pitchFamily="18" charset="2"/>
              </a:rPr>
              <a:t>       =&gt;p(AB)=p(A)+p(B)</a:t>
            </a:r>
          </a:p>
          <a:p>
            <a:pPr eaLnBrk="1" hangingPunct="1">
              <a:buFontTx/>
              <a:buNone/>
            </a:pPr>
            <a:endParaRPr lang="en-US" altLang="ko-KR" sz="2800">
              <a:sym typeface="Symbol" pitchFamily="18" charset="2"/>
            </a:endParaRPr>
          </a:p>
          <a:p>
            <a:pPr eaLnBrk="1" hangingPunct="1">
              <a:buFontTx/>
              <a:buNone/>
            </a:pPr>
            <a:r>
              <a:rPr lang="en-US" altLang="ko-KR" sz="2800">
                <a:sym typeface="Symbol" pitchFamily="18" charset="2"/>
              </a:rPr>
              <a:t>(</a:t>
            </a:r>
            <a:r>
              <a:rPr lang="ko-KR" altLang="en-US" sz="2800">
                <a:sym typeface="Symbol" pitchFamily="18" charset="2"/>
              </a:rPr>
              <a:t>예제</a:t>
            </a:r>
            <a:r>
              <a:rPr lang="en-US" altLang="ko-KR" sz="2800">
                <a:sym typeface="Symbol" pitchFamily="18" charset="2"/>
              </a:rPr>
              <a:t>) </a:t>
            </a:r>
            <a:r>
              <a:rPr lang="ko-KR" altLang="en-US" sz="2800">
                <a:sym typeface="Symbol" pitchFamily="18" charset="2"/>
              </a:rPr>
              <a:t>한 벌의 카드에서 카드 한 장을 뽑을 때 그것이 스페이드</a:t>
            </a:r>
            <a:r>
              <a:rPr lang="en-US" altLang="ko-KR" sz="2800">
                <a:sym typeface="Symbol" pitchFamily="18" charset="2"/>
              </a:rPr>
              <a:t>(A)</a:t>
            </a:r>
            <a:r>
              <a:rPr lang="ko-KR" altLang="en-US" sz="2800">
                <a:sym typeface="Symbol" pitchFamily="18" charset="2"/>
              </a:rPr>
              <a:t>나 또는 하트</a:t>
            </a:r>
            <a:r>
              <a:rPr lang="en-US" altLang="ko-KR" sz="2800">
                <a:sym typeface="Symbol" pitchFamily="18" charset="2"/>
              </a:rPr>
              <a:t>(B)</a:t>
            </a:r>
            <a:r>
              <a:rPr lang="ko-KR" altLang="en-US" sz="2800">
                <a:sym typeface="Symbol" pitchFamily="18" charset="2"/>
              </a:rPr>
              <a:t>가 뽑힐 확률은</a:t>
            </a:r>
            <a:r>
              <a:rPr lang="en-US" altLang="ko-KR" sz="2800">
                <a:sym typeface="Symbol" pitchFamily="18" charset="2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ko-KR" sz="2800">
                <a:sym typeface="Symbol" pitchFamily="18" charset="2"/>
              </a:rPr>
              <a:t> p(A)=1/4, p(B)=1/4=&gt; p(AB)=1/2</a:t>
            </a:r>
          </a:p>
        </p:txBody>
      </p:sp>
      <p:sp>
        <p:nvSpPr>
          <p:cNvPr id="33795" name="Rectangle 3"/>
          <p:cNvSpPr>
            <a:spLocks noChangeArrowheads="1"/>
          </p:cNvSpPr>
          <p:nvPr/>
        </p:nvSpPr>
        <p:spPr bwMode="auto"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4. </a:t>
            </a:r>
            <a:r>
              <a:rPr lang="ko-KR" altLang="en-US" sz="3600">
                <a:solidFill>
                  <a:schemeClr val="accent2"/>
                </a:solidFill>
              </a:rPr>
              <a:t>확률법칙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54102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 (1) </a:t>
            </a:r>
            <a:r>
              <a:rPr lang="ko-KR" altLang="en-US"/>
              <a:t>조건부확률</a:t>
            </a:r>
            <a:r>
              <a:rPr lang="en-US" altLang="ko-KR"/>
              <a:t>: p(A|B)</a:t>
            </a:r>
          </a:p>
          <a:p>
            <a:pPr eaLnBrk="1" hangingPunct="1">
              <a:buFontTx/>
              <a:buNone/>
            </a:pPr>
            <a:r>
              <a:rPr lang="en-US" altLang="ko-KR"/>
              <a:t>      B</a:t>
            </a:r>
            <a:r>
              <a:rPr lang="ko-KR" altLang="en-US"/>
              <a:t>라는 조건이 주어진 상황에서 </a:t>
            </a:r>
          </a:p>
          <a:p>
            <a:pPr eaLnBrk="1" hangingPunct="1">
              <a:buFontTx/>
              <a:buNone/>
            </a:pPr>
            <a:r>
              <a:rPr lang="ko-KR" altLang="en-US"/>
              <a:t>      </a:t>
            </a:r>
            <a:r>
              <a:rPr lang="en-US" altLang="ko-KR"/>
              <a:t>A</a:t>
            </a:r>
            <a:r>
              <a:rPr lang="ko-KR" altLang="en-US"/>
              <a:t>가 발생될 확률</a:t>
            </a:r>
          </a:p>
          <a:p>
            <a:pPr eaLnBrk="1" hangingPunct="1">
              <a:buFontTx/>
              <a:buNone/>
            </a:pPr>
            <a:endParaRPr lang="ko-KR" altLang="en-US"/>
          </a:p>
          <a:p>
            <a:pPr eaLnBrk="1" hangingPunct="1">
              <a:buFontTx/>
              <a:buNone/>
            </a:pPr>
            <a:endParaRPr lang="ko-KR" altLang="en-US"/>
          </a:p>
          <a:p>
            <a:pPr eaLnBrk="1" hangingPunct="1">
              <a:buFontTx/>
              <a:buNone/>
            </a:pPr>
            <a:endParaRPr lang="ko-KR" altLang="en-US"/>
          </a:p>
          <a:p>
            <a:pPr eaLnBrk="1" hangingPunct="1">
              <a:buFontTx/>
              <a:buNone/>
            </a:pPr>
            <a:r>
              <a:rPr lang="ko-KR" altLang="en-US"/>
              <a:t>    </a:t>
            </a:r>
            <a:r>
              <a:rPr lang="en-US" altLang="ko-KR"/>
              <a:t>Note: </a:t>
            </a:r>
          </a:p>
          <a:p>
            <a:pPr eaLnBrk="1" hangingPunct="1">
              <a:buFontTx/>
              <a:buNone/>
            </a:pPr>
            <a:r>
              <a:rPr lang="en-US" altLang="ko-KR"/>
              <a:t>      </a:t>
            </a:r>
          </a:p>
          <a:p>
            <a:pPr eaLnBrk="1" hangingPunct="1">
              <a:buFontTx/>
              <a:buNone/>
            </a:pPr>
            <a:endParaRPr lang="en-US" altLang="ko-KR"/>
          </a:p>
        </p:txBody>
      </p:sp>
      <p:sp>
        <p:nvSpPr>
          <p:cNvPr id="10245" name="Rectangle 5"/>
          <p:cNvSpPr>
            <a:spLocks noChangeArrowheads="1"/>
          </p:cNvSpPr>
          <p:nvPr/>
        </p:nvSpPr>
        <p:spPr bwMode="auto"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5. </a:t>
            </a:r>
            <a:r>
              <a:rPr lang="ko-KR" altLang="en-US" sz="3600">
                <a:solidFill>
                  <a:schemeClr val="accent2"/>
                </a:solidFill>
              </a:rPr>
              <a:t>조건부확률과 독립성</a:t>
            </a:r>
          </a:p>
        </p:txBody>
      </p:sp>
      <p:graphicFrame>
        <p:nvGraphicFramePr>
          <p:cNvPr id="10242" name="Object 6"/>
          <p:cNvGraphicFramePr>
            <a:graphicFrameLocks noChangeAspect="1"/>
          </p:cNvGraphicFramePr>
          <p:nvPr/>
        </p:nvGraphicFramePr>
        <p:xfrm>
          <a:off x="1612900" y="2876550"/>
          <a:ext cx="29591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2" name="Equation" r:id="rId3" imgW="1498320" imgH="482400" progId="Equation.3">
                  <p:embed/>
                </p:oleObj>
              </mc:Choice>
              <mc:Fallback>
                <p:oleObj name="Equation" r:id="rId3" imgW="149832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2900" y="2876550"/>
                        <a:ext cx="29591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3" name="Object 7"/>
          <p:cNvGraphicFramePr>
            <a:graphicFrameLocks noChangeAspect="1"/>
          </p:cNvGraphicFramePr>
          <p:nvPr/>
        </p:nvGraphicFramePr>
        <p:xfrm>
          <a:off x="2765425" y="4419600"/>
          <a:ext cx="3611563" cy="450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63" name="Equation" r:id="rId5" imgW="1828800" imgH="228600" progId="Equation.3">
                  <p:embed/>
                </p:oleObj>
              </mc:Choice>
              <mc:Fallback>
                <p:oleObj name="Equation" r:id="rId5" imgW="1828800" imgH="2286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4419600"/>
                        <a:ext cx="3611563" cy="450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8382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ko-KR" altLang="en-US" sz="3600" dirty="0">
                <a:solidFill>
                  <a:schemeClr val="accent2"/>
                </a:solidFill>
              </a:rPr>
              <a:t>조건부확률</a:t>
            </a:r>
            <a:r>
              <a:rPr lang="en-US" altLang="ko-KR" sz="3600" dirty="0">
                <a:solidFill>
                  <a:schemeClr val="accent2"/>
                </a:solidFill>
              </a:rPr>
              <a:t>: p(A|B)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p(A|B)</a:t>
            </a:r>
            <a:r>
              <a:rPr lang="ko-KR" altLang="en-US" dirty="0"/>
              <a:t>는 사건 </a:t>
            </a:r>
            <a:r>
              <a:rPr lang="en-US" altLang="ko-KR" dirty="0"/>
              <a:t>B</a:t>
            </a:r>
            <a:r>
              <a:rPr lang="ko-KR" altLang="en-US" dirty="0"/>
              <a:t>를 전체 표본공간으로 간주한다</a:t>
            </a:r>
            <a:r>
              <a:rPr lang="en-US" altLang="ko-KR" dirty="0"/>
              <a:t>.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=&gt; </a:t>
            </a:r>
            <a:r>
              <a:rPr lang="ko-KR" altLang="en-US" dirty="0"/>
              <a:t>축소된 표본공간이다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4953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400" dirty="0"/>
              <a:t>(</a:t>
            </a:r>
            <a:r>
              <a:rPr lang="ko-KR" altLang="en-US" sz="2400" dirty="0"/>
              <a:t>예제</a:t>
            </a:r>
            <a:r>
              <a:rPr lang="en-US" altLang="ko-KR" sz="2400" dirty="0"/>
              <a:t>10) </a:t>
            </a:r>
            <a:r>
              <a:rPr lang="ko-KR" altLang="en-US" sz="2400" dirty="0"/>
              <a:t>대기업체 임원의 몸무게와 혈압</a:t>
            </a:r>
          </a:p>
          <a:p>
            <a:pPr eaLnBrk="1" hangingPunct="1">
              <a:buFontTx/>
              <a:buNone/>
            </a:pPr>
            <a:endParaRPr lang="ko-KR" altLang="en-US" sz="2400" dirty="0"/>
          </a:p>
          <a:p>
            <a:pPr eaLnBrk="1" hangingPunct="1">
              <a:buFontTx/>
              <a:buNone/>
            </a:pPr>
            <a:endParaRPr lang="ko-KR" altLang="en-US" sz="2400" dirty="0"/>
          </a:p>
          <a:p>
            <a:pPr eaLnBrk="1" hangingPunct="1">
              <a:buFontTx/>
              <a:buNone/>
            </a:pPr>
            <a:endParaRPr lang="ko-KR" altLang="en-US" sz="2400" dirty="0"/>
          </a:p>
          <a:p>
            <a:pPr eaLnBrk="1" hangingPunct="1">
              <a:buFontTx/>
              <a:buNone/>
            </a:pPr>
            <a:endParaRPr lang="ko-KR" altLang="en-US" sz="2400" dirty="0"/>
          </a:p>
          <a:p>
            <a:pPr eaLnBrk="1" hangingPunct="1">
              <a:buFontTx/>
              <a:buNone/>
            </a:pPr>
            <a:endParaRPr lang="ko-KR" altLang="en-US" sz="2400" dirty="0"/>
          </a:p>
          <a:p>
            <a:pPr eaLnBrk="1" hangingPunct="1">
              <a:buFontTx/>
              <a:buNone/>
            </a:pPr>
            <a:r>
              <a:rPr lang="ko-KR" altLang="en-US" sz="2400" dirty="0"/>
              <a:t>   </a:t>
            </a:r>
          </a:p>
          <a:p>
            <a:pPr eaLnBrk="1" hangingPunct="1">
              <a:buFontTx/>
              <a:buNone/>
            </a:pPr>
            <a:r>
              <a:rPr lang="ko-KR" altLang="en-US" sz="2400" dirty="0"/>
              <a:t>   </a:t>
            </a:r>
            <a:r>
              <a:rPr lang="en-US" altLang="ko-KR" sz="2400" dirty="0"/>
              <a:t>1) A: </a:t>
            </a:r>
            <a:r>
              <a:rPr lang="ko-KR" altLang="en-US" sz="2400" dirty="0"/>
              <a:t>고혈압</a:t>
            </a:r>
            <a:r>
              <a:rPr lang="en-US" altLang="ko-KR" sz="2400" dirty="0"/>
              <a:t>=&gt; p(A) = 0.20</a:t>
            </a:r>
          </a:p>
          <a:p>
            <a:pPr eaLnBrk="1" hangingPunct="1">
              <a:buFontTx/>
              <a:buNone/>
            </a:pPr>
            <a:r>
              <a:rPr lang="en-US" altLang="ko-KR" sz="2400" dirty="0"/>
              <a:t>   2) </a:t>
            </a:r>
            <a:r>
              <a:rPr lang="ko-KR" altLang="en-US" sz="2400" dirty="0"/>
              <a:t>임의 추출한 사람이 비만이라면 그가 고혈압의 증세를 갖고 있을 확률은</a:t>
            </a:r>
            <a:r>
              <a:rPr lang="en-US" altLang="ko-KR" sz="2400" dirty="0"/>
              <a:t>?</a:t>
            </a:r>
          </a:p>
          <a:p>
            <a:pPr eaLnBrk="1" hangingPunct="1">
              <a:buFontTx/>
              <a:buNone/>
            </a:pPr>
            <a:r>
              <a:rPr lang="en-US" altLang="ko-KR" sz="2400" dirty="0"/>
              <a:t>     B: </a:t>
            </a:r>
            <a:r>
              <a:rPr lang="ko-KR" altLang="en-US" sz="2400" dirty="0"/>
              <a:t>비만</a:t>
            </a:r>
            <a:r>
              <a:rPr lang="en-US" altLang="ko-KR" sz="2400" dirty="0"/>
              <a:t>=&gt; p(A|B)=?</a:t>
            </a:r>
          </a:p>
        </p:txBody>
      </p:sp>
      <p:graphicFrame>
        <p:nvGraphicFramePr>
          <p:cNvPr id="55359" name="Group 63"/>
          <p:cNvGraphicFramePr>
            <a:graphicFrameLocks noGrp="1"/>
          </p:cNvGraphicFramePr>
          <p:nvPr/>
        </p:nvGraphicFramePr>
        <p:xfrm>
          <a:off x="1219200" y="1447800"/>
          <a:ext cx="6400800" cy="1955800"/>
        </p:xfrm>
        <a:graphic>
          <a:graphicData uri="http://schemas.openxmlformats.org/drawingml/2006/table">
            <a:tbl>
              <a:tblPr/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비만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정상이하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고혈압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0.02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정상혈압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0.15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0.80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89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0.53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0.22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1.00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직사각형 3">
            <a:extLst>
              <a:ext uri="{FF2B5EF4-FFF2-40B4-BE49-F238E27FC236}">
                <a16:creationId xmlns:a16="http://schemas.microsoft.com/office/drawing/2014/main" id="{7A6BA477-71A5-43E6-9365-27974020324D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8" name="Rectangle 2050"/>
          <p:cNvSpPr>
            <a:spLocks noGrp="1" noChangeArrowheads="1"/>
          </p:cNvSpPr>
          <p:nvPr>
            <p:ph idx="1"/>
          </p:nvPr>
        </p:nvSpPr>
        <p:spPr>
          <a:xfrm>
            <a:off x="685800" y="381000"/>
            <a:ext cx="7772400" cy="586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>
                <a:sym typeface="Symbol" pitchFamily="18" charset="2"/>
              </a:rPr>
              <a:t>(2). </a:t>
            </a:r>
            <a:r>
              <a:rPr lang="ko-KR" altLang="en-US" dirty="0">
                <a:sym typeface="Symbol" pitchFamily="18" charset="2"/>
              </a:rPr>
              <a:t>확률의 </a:t>
            </a:r>
            <a:r>
              <a:rPr lang="ko-KR" altLang="en-US" dirty="0" err="1">
                <a:sym typeface="Symbol" pitchFamily="18" charset="2"/>
              </a:rPr>
              <a:t>곱법칙</a:t>
            </a:r>
            <a:r>
              <a:rPr lang="ko-KR" altLang="en-US" dirty="0">
                <a:sym typeface="Symbol" pitchFamily="18" charset="2"/>
              </a:rPr>
              <a:t> </a:t>
            </a:r>
          </a:p>
          <a:p>
            <a:pPr eaLnBrk="1" hangingPunct="1">
              <a:buFontTx/>
              <a:buNone/>
            </a:pPr>
            <a:r>
              <a:rPr lang="ko-KR" altLang="en-US" dirty="0">
                <a:sym typeface="Symbol" pitchFamily="18" charset="2"/>
              </a:rPr>
              <a:t>      </a:t>
            </a:r>
          </a:p>
          <a:p>
            <a:pPr eaLnBrk="1" hangingPunct="1">
              <a:buFontTx/>
              <a:buNone/>
            </a:pPr>
            <a:endParaRPr lang="ko-KR" altLang="en-US" dirty="0"/>
          </a:p>
          <a:p>
            <a:pPr eaLnBrk="1" hangingPunct="1">
              <a:buFont typeface="Symbol" pitchFamily="18" charset="2"/>
              <a:buChar char="Þ"/>
            </a:pPr>
            <a:r>
              <a:rPr lang="ko-KR" altLang="en-US" dirty="0"/>
              <a:t>   </a:t>
            </a:r>
            <a:r>
              <a:rPr lang="en-US" altLang="ko-KR" dirty="0"/>
              <a:t>p(A </a:t>
            </a:r>
            <a:r>
              <a:rPr lang="en-US" altLang="ko-KR" sz="3600" dirty="0"/>
              <a:t>∩</a:t>
            </a:r>
            <a:r>
              <a:rPr lang="en-US" altLang="ko-KR" dirty="0">
                <a:sym typeface="Symbol" pitchFamily="18" charset="2"/>
              </a:rPr>
              <a:t> </a:t>
            </a:r>
            <a:r>
              <a:rPr lang="en-US" altLang="ko-KR" dirty="0"/>
              <a:t>B)= p(B) p(A|B)</a:t>
            </a:r>
          </a:p>
          <a:p>
            <a:pPr eaLnBrk="1" hangingPunct="1">
              <a:buFont typeface="Symbol" pitchFamily="18" charset="2"/>
              <a:buChar char="Þ"/>
            </a:pPr>
            <a:endParaRPr lang="en-US" altLang="ko-KR" dirty="0"/>
          </a:p>
          <a:p>
            <a:pPr eaLnBrk="1" hangingPunct="1">
              <a:buFontTx/>
              <a:buNone/>
            </a:pPr>
            <a:r>
              <a:rPr lang="en-US" altLang="ko-KR" dirty="0"/>
              <a:t>      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</a:t>
            </a:r>
          </a:p>
          <a:p>
            <a:pPr eaLnBrk="1" hangingPunct="1">
              <a:buFont typeface="Symbol" pitchFamily="18" charset="2"/>
              <a:buChar char="Þ"/>
            </a:pPr>
            <a:r>
              <a:rPr lang="en-US" altLang="ko-KR" dirty="0"/>
              <a:t>   p(A </a:t>
            </a:r>
            <a:r>
              <a:rPr lang="en-US" altLang="ko-KR" sz="3600" dirty="0"/>
              <a:t>∩</a:t>
            </a:r>
            <a:r>
              <a:rPr lang="en-US" altLang="ko-KR" dirty="0">
                <a:sym typeface="Symbol" pitchFamily="18" charset="2"/>
              </a:rPr>
              <a:t> </a:t>
            </a:r>
            <a:r>
              <a:rPr lang="en-US" altLang="ko-KR" dirty="0"/>
              <a:t>B)= p(A) p(B|A)</a:t>
            </a:r>
          </a:p>
        </p:txBody>
      </p:sp>
      <p:graphicFrame>
        <p:nvGraphicFramePr>
          <p:cNvPr id="11266" name="Object 2054"/>
          <p:cNvGraphicFramePr>
            <a:graphicFrameLocks noChangeAspect="1"/>
          </p:cNvGraphicFramePr>
          <p:nvPr/>
        </p:nvGraphicFramePr>
        <p:xfrm>
          <a:off x="1663700" y="1143000"/>
          <a:ext cx="285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5" name="Equation" r:id="rId3" imgW="1447560" imgH="482400" progId="Equation.3">
                  <p:embed/>
                </p:oleObj>
              </mc:Choice>
              <mc:Fallback>
                <p:oleObj name="Equation" r:id="rId3" imgW="1447560" imgH="482400" progId="Equation.3">
                  <p:embed/>
                  <p:pic>
                    <p:nvPicPr>
                      <p:cNvPr id="0" name="Object 20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63700" y="1143000"/>
                        <a:ext cx="2857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267" name="Object 2055"/>
          <p:cNvGraphicFramePr>
            <a:graphicFrameLocks noChangeAspect="1"/>
          </p:cNvGraphicFramePr>
          <p:nvPr/>
        </p:nvGraphicFramePr>
        <p:xfrm>
          <a:off x="1714500" y="3505200"/>
          <a:ext cx="28575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86" name="Equation" r:id="rId5" imgW="1447560" imgH="482400" progId="Equation.3">
                  <p:embed/>
                </p:oleObj>
              </mc:Choice>
              <mc:Fallback>
                <p:oleObj name="Equation" r:id="rId5" imgW="1447560" imgH="482400" progId="Equation.3">
                  <p:embed/>
                  <p:pic>
                    <p:nvPicPr>
                      <p:cNvPr id="0" name="Object 20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14500" y="3505200"/>
                        <a:ext cx="28575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381000"/>
            <a:ext cx="7990656" cy="586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400" dirty="0"/>
              <a:t>(</a:t>
            </a:r>
            <a:r>
              <a:rPr lang="ko-KR" altLang="en-US" sz="2400" dirty="0"/>
              <a:t>예제</a:t>
            </a:r>
            <a:r>
              <a:rPr lang="en-US" altLang="ko-KR" sz="2400" dirty="0"/>
              <a:t>11) </a:t>
            </a:r>
            <a:r>
              <a:rPr lang="ko-KR" altLang="en-US" sz="2400" dirty="0" err="1"/>
              <a:t>상자안에</a:t>
            </a:r>
            <a:r>
              <a:rPr lang="ko-KR" altLang="en-US" sz="2400" dirty="0"/>
              <a:t> </a:t>
            </a:r>
            <a:r>
              <a:rPr lang="en-US" altLang="ko-KR" sz="2400" dirty="0"/>
              <a:t>3</a:t>
            </a:r>
            <a:r>
              <a:rPr lang="ko-KR" altLang="en-US" sz="2400" dirty="0"/>
              <a:t>개의 </a:t>
            </a:r>
            <a:r>
              <a:rPr lang="ko-KR" altLang="en-US" sz="2400" dirty="0" err="1"/>
              <a:t>흰공과</a:t>
            </a:r>
            <a:r>
              <a:rPr lang="ko-KR" altLang="en-US" sz="2400" dirty="0"/>
              <a:t> </a:t>
            </a:r>
            <a:r>
              <a:rPr lang="en-US" altLang="ko-KR" sz="2400" dirty="0"/>
              <a:t>6</a:t>
            </a:r>
            <a:r>
              <a:rPr lang="ko-KR" altLang="en-US" sz="2400" dirty="0"/>
              <a:t>개의 붉은 공이 있다</a:t>
            </a:r>
            <a:r>
              <a:rPr lang="en-US" altLang="ko-KR" sz="2400" dirty="0"/>
              <a:t>. </a:t>
            </a:r>
            <a:r>
              <a:rPr lang="ko-KR" altLang="en-US" sz="2400" dirty="0" err="1"/>
              <a:t>두개의</a:t>
            </a:r>
            <a:r>
              <a:rPr lang="ko-KR" altLang="en-US" sz="2400" dirty="0"/>
              <a:t> 공을 뽑았을 때 </a:t>
            </a:r>
            <a:endParaRPr lang="en-US" altLang="ko-KR" sz="2400" dirty="0"/>
          </a:p>
          <a:p>
            <a:pPr eaLnBrk="1" hangingPunct="1">
              <a:buFontTx/>
              <a:buNone/>
            </a:pPr>
            <a:r>
              <a:rPr lang="en-US" altLang="ko-KR" sz="2400" dirty="0"/>
              <a:t>   1) </a:t>
            </a:r>
            <a:r>
              <a:rPr lang="ko-KR" altLang="en-US" sz="2400" dirty="0" err="1"/>
              <a:t>두개</a:t>
            </a:r>
            <a:r>
              <a:rPr lang="ko-KR" altLang="en-US" sz="2400" dirty="0"/>
              <a:t> 모두 </a:t>
            </a:r>
            <a:r>
              <a:rPr lang="ko-KR" altLang="en-US" sz="2400" dirty="0" err="1"/>
              <a:t>흰공일</a:t>
            </a:r>
            <a:r>
              <a:rPr lang="ko-KR" altLang="en-US" sz="2400" dirty="0"/>
              <a:t> 확률은</a:t>
            </a:r>
            <a:r>
              <a:rPr lang="en-US" altLang="ko-KR" sz="2400" dirty="0"/>
              <a:t>?(</a:t>
            </a:r>
            <a:r>
              <a:rPr lang="ko-KR" altLang="en-US" sz="2400" dirty="0"/>
              <a:t>꺼낸 공은 다시 넣지 않음</a:t>
            </a:r>
            <a:r>
              <a:rPr lang="en-US" altLang="ko-KR" sz="2400" dirty="0"/>
              <a:t>).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ko-KR" sz="2400" dirty="0"/>
              <a:t>W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첫번째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흰공</a:t>
            </a:r>
            <a:r>
              <a:rPr lang="ko-KR" altLang="en-US" sz="2400" dirty="0"/>
              <a:t>   </a:t>
            </a:r>
            <a:r>
              <a:rPr lang="en-US" altLang="ko-KR" sz="2400" dirty="0"/>
              <a:t>R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첫번째</a:t>
            </a:r>
            <a:r>
              <a:rPr lang="ko-KR" altLang="en-US" sz="2400" dirty="0"/>
              <a:t> 붉은 공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ko-KR" sz="2400" dirty="0"/>
              <a:t>W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두번째</a:t>
            </a:r>
            <a:r>
              <a:rPr lang="ko-KR" altLang="en-US" sz="2400" dirty="0"/>
              <a:t> </a:t>
            </a:r>
            <a:r>
              <a:rPr lang="ko-KR" altLang="en-US" sz="2400" dirty="0" err="1"/>
              <a:t>흰공인</a:t>
            </a:r>
            <a:r>
              <a:rPr lang="ko-KR" altLang="en-US" sz="2400" dirty="0"/>
              <a:t> 사상   </a:t>
            </a:r>
            <a:r>
              <a:rPr lang="en-US" altLang="ko-KR" sz="2400" dirty="0"/>
              <a:t>R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: </a:t>
            </a:r>
            <a:r>
              <a:rPr lang="ko-KR" altLang="en-US" sz="2400" dirty="0" err="1"/>
              <a:t>두번째</a:t>
            </a:r>
            <a:r>
              <a:rPr lang="ko-KR" altLang="en-US" sz="2400" dirty="0"/>
              <a:t> 붉은 공</a:t>
            </a:r>
          </a:p>
          <a:p>
            <a:pPr eaLnBrk="1" hangingPunct="1">
              <a:buFont typeface="Symbol" pitchFamily="18" charset="2"/>
              <a:buNone/>
            </a:pPr>
            <a:r>
              <a:rPr lang="ko-KR" altLang="en-US" sz="2400" dirty="0"/>
              <a:t>		</a:t>
            </a:r>
            <a:r>
              <a:rPr lang="en-US" altLang="ko-KR" sz="2400" dirty="0"/>
              <a:t>p(W</a:t>
            </a:r>
            <a:r>
              <a:rPr lang="en-US" altLang="ko-KR" sz="2400" baseline="-25000" dirty="0"/>
              <a:t>1 </a:t>
            </a:r>
            <a:r>
              <a:rPr lang="en-US" altLang="ko-KR" sz="2400" dirty="0">
                <a:sym typeface="Symbol" pitchFamily="18" charset="2"/>
              </a:rPr>
              <a:t></a:t>
            </a:r>
            <a:r>
              <a:rPr lang="en-US" altLang="ko-KR" sz="2400" baseline="-25000" dirty="0"/>
              <a:t> </a:t>
            </a:r>
            <a:r>
              <a:rPr lang="en-US" altLang="ko-KR" sz="2400" dirty="0"/>
              <a:t>W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)=p(W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)p(W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|W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)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ko-KR" sz="2400" dirty="0"/>
              <a:t>		p(W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)=3/9, 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ko-KR" sz="2400" dirty="0"/>
              <a:t>		p(W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|W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)=2/8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ko-KR" sz="2400" dirty="0"/>
              <a:t>	=&gt;	p(W</a:t>
            </a:r>
            <a:r>
              <a:rPr lang="en-US" altLang="ko-KR" sz="2400" baseline="-25000" dirty="0"/>
              <a:t>1 </a:t>
            </a:r>
            <a:r>
              <a:rPr lang="en-US" altLang="ko-KR" sz="2400" dirty="0">
                <a:sym typeface="Symbol" pitchFamily="18" charset="2"/>
              </a:rPr>
              <a:t></a:t>
            </a:r>
            <a:r>
              <a:rPr lang="en-US" altLang="ko-KR" sz="2400" baseline="-25000" dirty="0"/>
              <a:t> </a:t>
            </a:r>
            <a:r>
              <a:rPr lang="en-US" altLang="ko-KR" sz="2400" dirty="0"/>
              <a:t>W</a:t>
            </a:r>
            <a:r>
              <a:rPr lang="en-US" altLang="ko-KR" sz="2400" baseline="-25000" dirty="0"/>
              <a:t>2</a:t>
            </a:r>
            <a:r>
              <a:rPr lang="en-US" altLang="ko-KR" sz="2400" dirty="0"/>
              <a:t>)=(3/9)*(2/8)=1/12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ko-KR" sz="2400" dirty="0"/>
              <a:t>    2) </a:t>
            </a:r>
            <a:r>
              <a:rPr lang="ko-KR" altLang="en-US" sz="2400" dirty="0"/>
              <a:t>하나는 </a:t>
            </a:r>
            <a:r>
              <a:rPr lang="ko-KR" altLang="en-US" sz="2400" dirty="0" err="1"/>
              <a:t>흰공이고</a:t>
            </a:r>
            <a:r>
              <a:rPr lang="ko-KR" altLang="en-US" sz="2400" dirty="0"/>
              <a:t> 또 다른 하나는 붉은 공일 확률은</a:t>
            </a:r>
            <a:r>
              <a:rPr lang="en-US" altLang="ko-KR" sz="2400" dirty="0"/>
              <a:t>?</a:t>
            </a:r>
          </a:p>
          <a:p>
            <a:pPr eaLnBrk="1" hangingPunct="1">
              <a:buFont typeface="Symbol" pitchFamily="18" charset="2"/>
              <a:buNone/>
            </a:pPr>
            <a:r>
              <a:rPr lang="en-US" altLang="ko-KR" sz="2400" dirty="0"/>
              <a:t>         W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R</a:t>
            </a:r>
            <a:r>
              <a:rPr lang="en-US" altLang="ko-KR" sz="2400" baseline="-25000" dirty="0"/>
              <a:t>2 </a:t>
            </a:r>
            <a:r>
              <a:rPr lang="en-US" altLang="ko-KR" sz="2400" dirty="0"/>
              <a:t>U R</a:t>
            </a:r>
            <a:r>
              <a:rPr lang="en-US" altLang="ko-KR" sz="2400" baseline="-25000" dirty="0"/>
              <a:t>1</a:t>
            </a:r>
            <a:r>
              <a:rPr lang="en-US" altLang="ko-KR" sz="2400" dirty="0"/>
              <a:t>W</a:t>
            </a:r>
            <a:r>
              <a:rPr lang="en-US" altLang="ko-KR" sz="2400" baseline="-25000" dirty="0"/>
              <a:t>2</a:t>
            </a:r>
            <a:endParaRPr lang="en-US" altLang="ko-KR" sz="2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57200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</a:t>
            </a:r>
            <a:r>
              <a:rPr lang="en-US" altLang="ko-KR" sz="2800" dirty="0"/>
              <a:t>12) </a:t>
            </a:r>
            <a:r>
              <a:rPr lang="ko-KR" altLang="en-US" sz="2800" dirty="0"/>
              <a:t>학생이 학교 갈 것인가</a:t>
            </a:r>
            <a:r>
              <a:rPr lang="en-US" altLang="ko-KR" sz="2800" dirty="0"/>
              <a:t>(S) </a:t>
            </a:r>
            <a:r>
              <a:rPr lang="ko-KR" altLang="en-US" sz="2800" dirty="0"/>
              <a:t>영화 볼 것인가</a:t>
            </a:r>
            <a:r>
              <a:rPr lang="en-US" altLang="ko-KR" sz="2800" dirty="0"/>
              <a:t>(M)</a:t>
            </a:r>
            <a:r>
              <a:rPr lang="ko-KR" altLang="en-US" sz="2800" dirty="0"/>
              <a:t>를 동전을 던져서 결정하고</a:t>
            </a:r>
            <a:r>
              <a:rPr lang="en-US" altLang="ko-KR" sz="2800" dirty="0"/>
              <a:t>, 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S</a:t>
            </a:r>
            <a:r>
              <a:rPr lang="ko-KR" altLang="en-US" sz="2800" dirty="0"/>
              <a:t>이면 </a:t>
            </a:r>
            <a:r>
              <a:rPr lang="en-US" altLang="ko-KR" sz="2800" dirty="0"/>
              <a:t>=&gt; A, B, C </a:t>
            </a:r>
            <a:r>
              <a:rPr lang="ko-KR" altLang="en-US" sz="2800" dirty="0" err="1"/>
              <a:t>과목중</a:t>
            </a:r>
            <a:r>
              <a:rPr lang="ko-KR" altLang="en-US" sz="2800" dirty="0"/>
              <a:t> 임의로 선택해서 공부 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M</a:t>
            </a:r>
            <a:r>
              <a:rPr lang="ko-KR" altLang="en-US" sz="2800" dirty="0"/>
              <a:t>이면 </a:t>
            </a:r>
            <a:r>
              <a:rPr lang="en-US" altLang="ko-KR" sz="2800" dirty="0"/>
              <a:t>=&gt; D, E </a:t>
            </a:r>
            <a:r>
              <a:rPr lang="ko-KR" altLang="en-US" sz="2800" dirty="0" err="1"/>
              <a:t>프로중</a:t>
            </a:r>
            <a:r>
              <a:rPr lang="ko-KR" altLang="en-US" sz="2800" dirty="0"/>
              <a:t> 하나를 선택</a:t>
            </a:r>
          </a:p>
          <a:p>
            <a:pPr eaLnBrk="1" hangingPunct="1">
              <a:buFontTx/>
              <a:buNone/>
            </a:pPr>
            <a:r>
              <a:rPr lang="ko-KR" altLang="en-US" sz="2800" dirty="0"/>
              <a:t>이 학생이 학교에 가서 </a:t>
            </a:r>
            <a:r>
              <a:rPr lang="en-US" altLang="ko-KR" sz="2800" dirty="0"/>
              <a:t>C</a:t>
            </a:r>
            <a:r>
              <a:rPr lang="ko-KR" altLang="en-US" sz="2800" dirty="0"/>
              <a:t>과목을 공부할 확률</a:t>
            </a:r>
            <a:r>
              <a:rPr lang="en-US" altLang="ko-KR" sz="2800" dirty="0"/>
              <a:t>?</a:t>
            </a:r>
          </a:p>
        </p:txBody>
      </p:sp>
      <p:graphicFrame>
        <p:nvGraphicFramePr>
          <p:cNvPr id="12290" name="Object 4"/>
          <p:cNvGraphicFramePr>
            <a:graphicFrameLocks noChangeAspect="1"/>
          </p:cNvGraphicFramePr>
          <p:nvPr/>
        </p:nvGraphicFramePr>
        <p:xfrm>
          <a:off x="838200" y="3098800"/>
          <a:ext cx="40449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51" name="Equation" r:id="rId3" imgW="1815840" imgH="228600" progId="Equation.3">
                  <p:embed/>
                </p:oleObj>
              </mc:Choice>
              <mc:Fallback>
                <p:oleObj name="Equation" r:id="rId3" imgW="1815840" imgH="228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098800"/>
                        <a:ext cx="40449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3600" dirty="0"/>
              <a:t> (3) </a:t>
            </a:r>
            <a:r>
              <a:rPr lang="ko-KR" altLang="en-US" sz="3600" dirty="0"/>
              <a:t>독립성</a:t>
            </a:r>
            <a:r>
              <a:rPr lang="ko-KR" altLang="en-US" dirty="0"/>
              <a:t>    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    다음이 성립할 때 두 사건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는 서로 독립이다</a:t>
            </a:r>
            <a:r>
              <a:rPr lang="en-US" altLang="ko-KR" dirty="0"/>
              <a:t>.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		p(B|A) =p(B)   </a:t>
            </a:r>
            <a:r>
              <a:rPr lang="ko-KR" altLang="en-US" dirty="0"/>
              <a:t>또는 </a:t>
            </a:r>
          </a:p>
          <a:p>
            <a:pPr eaLnBrk="1" hangingPunct="1">
              <a:buFontTx/>
              <a:buNone/>
            </a:pPr>
            <a:r>
              <a:rPr lang="ko-KR" altLang="en-US" dirty="0"/>
              <a:t>		</a:t>
            </a:r>
            <a:r>
              <a:rPr lang="en-US" altLang="ko-KR" dirty="0"/>
              <a:t>p(A|B) =p(A)</a:t>
            </a:r>
          </a:p>
        </p:txBody>
      </p:sp>
      <p:sp>
        <p:nvSpPr>
          <p:cNvPr id="13316" name="Rectangle 5"/>
          <p:cNvSpPr>
            <a:spLocks noChangeArrowheads="1"/>
          </p:cNvSpPr>
          <p:nvPr/>
        </p:nvSpPr>
        <p:spPr bwMode="auto"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5. </a:t>
            </a:r>
            <a:r>
              <a:rPr lang="ko-KR" altLang="en-US" sz="3600">
                <a:solidFill>
                  <a:schemeClr val="accent2"/>
                </a:solidFill>
              </a:rPr>
              <a:t>조건부확률과 독립성</a:t>
            </a:r>
          </a:p>
        </p:txBody>
      </p:sp>
      <p:graphicFrame>
        <p:nvGraphicFramePr>
          <p:cNvPr id="13314" name="Object 6"/>
          <p:cNvGraphicFramePr>
            <a:graphicFrameLocks noChangeAspect="1"/>
          </p:cNvGraphicFramePr>
          <p:nvPr/>
        </p:nvGraphicFramePr>
        <p:xfrm>
          <a:off x="1524000" y="4800600"/>
          <a:ext cx="40132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76" name="Equation" r:id="rId3" imgW="2031840" imgH="482400" progId="Equation.3">
                  <p:embed/>
                </p:oleObj>
              </mc:Choice>
              <mc:Fallback>
                <p:oleObj name="Equation" r:id="rId3" imgW="203184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4800600"/>
                        <a:ext cx="40132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17" name="Text Box 7"/>
          <p:cNvSpPr txBox="1">
            <a:spLocks noChangeArrowheads="1"/>
          </p:cNvSpPr>
          <p:nvPr/>
        </p:nvSpPr>
        <p:spPr bwMode="auto">
          <a:xfrm>
            <a:off x="1143000" y="4114800"/>
            <a:ext cx="144780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ko-KR" sz="3200">
                <a:solidFill>
                  <a:srgbClr val="FF3300"/>
                </a:solidFill>
              </a:rPr>
              <a:t>Note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762000"/>
            <a:ext cx="7772400" cy="5181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>
                <a:solidFill>
                  <a:srgbClr val="FF3300"/>
                </a:solidFill>
              </a:rPr>
              <a:t>Note</a:t>
            </a:r>
            <a:r>
              <a:rPr lang="en-US" altLang="ko-KR"/>
              <a:t>: A</a:t>
            </a:r>
            <a:r>
              <a:rPr lang="ko-KR" altLang="en-US"/>
              <a:t>와 </a:t>
            </a:r>
            <a:r>
              <a:rPr lang="en-US" altLang="ko-KR"/>
              <a:t>B</a:t>
            </a:r>
            <a:r>
              <a:rPr lang="ko-KR" altLang="en-US"/>
              <a:t>가 독립이면</a:t>
            </a:r>
          </a:p>
          <a:p>
            <a:pPr eaLnBrk="1" hangingPunct="1">
              <a:buFontTx/>
              <a:buNone/>
            </a:pPr>
            <a:r>
              <a:rPr lang="ko-KR" altLang="en-US"/>
              <a:t>         </a:t>
            </a:r>
            <a:r>
              <a:rPr lang="en-US" altLang="ko-KR"/>
              <a:t>p(A|B)= p(A ∩ B)/p(B)=p(A) </a:t>
            </a:r>
          </a:p>
          <a:p>
            <a:pPr eaLnBrk="1" hangingPunct="1">
              <a:buFontTx/>
              <a:buNone/>
            </a:pPr>
            <a:r>
              <a:rPr lang="en-US" altLang="ko-KR"/>
              <a:t>    =&gt; p(A ∩ B)=p(A)p(B)</a:t>
            </a:r>
          </a:p>
          <a:p>
            <a:pPr eaLnBrk="1" hangingPunct="1">
              <a:buFontTx/>
              <a:buNone/>
            </a:pPr>
            <a:r>
              <a:rPr lang="en-US" altLang="ko-KR"/>
              <a:t>   </a:t>
            </a:r>
            <a:r>
              <a:rPr lang="ko-KR" altLang="en-US"/>
              <a:t>동시에 발생할 확률은 각 각 발생할 확률을 곱한 것과 같다</a:t>
            </a:r>
            <a:r>
              <a:rPr lang="en-US" altLang="ko-KR"/>
              <a:t>.  </a:t>
            </a:r>
            <a:r>
              <a:rPr lang="ko-KR" altLang="en-US"/>
              <a:t>즉 각 각 발생할 확률에 서로 영향을 못 주는 경우로 서로 상관관계가 없는 경우이다</a:t>
            </a:r>
            <a:r>
              <a:rPr lang="en-US" altLang="ko-KR"/>
              <a:t>.  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dirty="0"/>
              <a:t>( </a:t>
            </a:r>
            <a:r>
              <a:rPr lang="ko-KR" altLang="en-US" dirty="0"/>
              <a:t>예제</a:t>
            </a:r>
            <a:r>
              <a:rPr lang="en-US" altLang="ko-KR" dirty="0"/>
              <a:t>13) </a:t>
            </a:r>
            <a:r>
              <a:rPr lang="ko-KR" altLang="en-US" dirty="0"/>
              <a:t>아래 표에서 </a:t>
            </a:r>
            <a:r>
              <a:rPr lang="en-US" altLang="ko-KR" dirty="0"/>
              <a:t>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는 독립인가</a:t>
            </a:r>
            <a:r>
              <a:rPr lang="en-US" altLang="ko-KR" dirty="0"/>
              <a:t>?</a:t>
            </a:r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r>
              <a:rPr lang="en-US" altLang="ko-KR" dirty="0"/>
              <a:t>p(A|B)=p(A∩B)/p(B)=(33/100)/(42/100)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         =33/42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p(A)= 61/100≠ p(A|B)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=&gt; A</a:t>
            </a:r>
            <a:r>
              <a:rPr lang="ko-KR" altLang="en-US" dirty="0"/>
              <a:t>와 </a:t>
            </a:r>
            <a:r>
              <a:rPr lang="en-US" altLang="ko-KR" dirty="0"/>
              <a:t>B</a:t>
            </a:r>
            <a:r>
              <a:rPr lang="ko-KR" altLang="en-US" dirty="0"/>
              <a:t>는 독립이 아니다</a:t>
            </a:r>
            <a:r>
              <a:rPr lang="en-US" altLang="ko-KR" dirty="0"/>
              <a:t>.</a:t>
            </a:r>
          </a:p>
        </p:txBody>
      </p:sp>
      <p:graphicFrame>
        <p:nvGraphicFramePr>
          <p:cNvPr id="37921" name="Group 33"/>
          <p:cNvGraphicFramePr>
            <a:graphicFrameLocks noGrp="1"/>
          </p:cNvGraphicFramePr>
          <p:nvPr/>
        </p:nvGraphicFramePr>
        <p:xfrm>
          <a:off x="2057400" y="1295400"/>
          <a:ext cx="4648200" cy="1831975"/>
        </p:xfrm>
        <a:graphic>
          <a:graphicData uri="http://schemas.openxmlformats.org/drawingml/2006/table">
            <a:tbl>
              <a:tblPr/>
              <a:tblGrid>
                <a:gridCol w="1295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5763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흡연</a:t>
                      </a: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(B)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비흡연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남자</a:t>
                      </a: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(A)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28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61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037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여자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39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002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합계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42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58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100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533400"/>
            <a:ext cx="7772400" cy="55626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(</a:t>
            </a:r>
            <a:r>
              <a:rPr lang="ko-KR" altLang="en-US"/>
              <a:t>연습문제</a:t>
            </a:r>
            <a:r>
              <a:rPr lang="en-US" altLang="ko-KR"/>
              <a:t>) </a:t>
            </a:r>
            <a:r>
              <a:rPr lang="ko-KR" altLang="en-US"/>
              <a:t>흡연과 폐암은 독립인가</a:t>
            </a:r>
            <a:r>
              <a:rPr lang="en-US" altLang="ko-KR"/>
              <a:t>?</a:t>
            </a:r>
          </a:p>
          <a:p>
            <a:pPr eaLnBrk="1" hangingPunct="1">
              <a:buFontTx/>
              <a:buNone/>
            </a:pPr>
            <a:endParaRPr lang="en-US" altLang="ko-KR"/>
          </a:p>
        </p:txBody>
      </p:sp>
      <p:graphicFrame>
        <p:nvGraphicFramePr>
          <p:cNvPr id="38944" name="Group 32"/>
          <p:cNvGraphicFramePr>
            <a:graphicFrameLocks noGrp="1"/>
          </p:cNvGraphicFramePr>
          <p:nvPr/>
        </p:nvGraphicFramePr>
        <p:xfrm>
          <a:off x="2057400" y="1528763"/>
          <a:ext cx="3460750" cy="1371600"/>
        </p:xfrm>
        <a:graphic>
          <a:graphicData uri="http://schemas.openxmlformats.org/drawingml/2006/table">
            <a:tbl>
              <a:tblPr/>
              <a:tblGrid>
                <a:gridCol w="1098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24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굴림" pitchFamily="50" charset="-127"/>
                        <a:ea typeface="굴림" pitchFamily="50" charset="-127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폐암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정상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흡연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45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13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03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비흡연</a:t>
                      </a: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7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24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굴림" pitchFamily="50" charset="-127"/>
                          <a:ea typeface="굴림" pitchFamily="50" charset="-127"/>
                        </a:rPr>
                        <a:t>35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0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7772400" cy="5105400"/>
          </a:xfrm>
        </p:spPr>
        <p:txBody>
          <a:bodyPr/>
          <a:lstStyle/>
          <a:p>
            <a:pPr marL="609600" indent="-609600" eaLnBrk="1" hangingPunct="1">
              <a:buFontTx/>
              <a:buAutoNum type="arabicParenBoth"/>
            </a:pPr>
            <a:r>
              <a:rPr lang="ko-KR" altLang="en-US" sz="2800">
                <a:sym typeface="Symbol" pitchFamily="18" charset="2"/>
              </a:rPr>
              <a:t>표본공간의 분할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>
                <a:sym typeface="Symbol" pitchFamily="18" charset="2"/>
              </a:rPr>
              <a:t>      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>
                <a:sym typeface="Symbol" pitchFamily="18" charset="2"/>
              </a:rPr>
              <a:t>      </a:t>
            </a:r>
            <a:endParaRPr lang="ko-KR" altLang="en-US" sz="2800"/>
          </a:p>
        </p:txBody>
      </p:sp>
      <p:sp>
        <p:nvSpPr>
          <p:cNvPr id="14341" name="Rectangle 6"/>
          <p:cNvSpPr>
            <a:spLocks noChangeArrowheads="1"/>
          </p:cNvSpPr>
          <p:nvPr/>
        </p:nvSpPr>
        <p:spPr bwMode="auto"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6. </a:t>
            </a:r>
            <a:r>
              <a:rPr lang="ko-KR" altLang="en-US" sz="3600">
                <a:solidFill>
                  <a:schemeClr val="accent2"/>
                </a:solidFill>
              </a:rPr>
              <a:t>공간의 분할과 베이지 정리</a:t>
            </a:r>
          </a:p>
        </p:txBody>
      </p:sp>
      <p:graphicFrame>
        <p:nvGraphicFramePr>
          <p:cNvPr id="14338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870578"/>
              </p:ext>
            </p:extLst>
          </p:nvPr>
        </p:nvGraphicFramePr>
        <p:xfrm>
          <a:off x="1331640" y="1724025"/>
          <a:ext cx="6096000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8" name="Equation" r:id="rId3" imgW="2755800" imgH="253800" progId="Equation.3">
                  <p:embed/>
                </p:oleObj>
              </mc:Choice>
              <mc:Fallback>
                <p:oleObj name="Equation" r:id="rId3" imgW="2755800" imgH="2538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1724025"/>
                        <a:ext cx="6096000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3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51417726"/>
              </p:ext>
            </p:extLst>
          </p:nvPr>
        </p:nvGraphicFramePr>
        <p:xfrm>
          <a:off x="1475656" y="2480098"/>
          <a:ext cx="3567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459" name="Equation" r:id="rId5" imgW="1612800" imgH="241200" progId="Equation.3">
                  <p:embed/>
                </p:oleObj>
              </mc:Choice>
              <mc:Fallback>
                <p:oleObj name="Equation" r:id="rId5" imgW="1612800" imgH="2412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2480098"/>
                        <a:ext cx="3567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4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457200"/>
            <a:ext cx="8134672" cy="56388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sym typeface="Symbol" pitchFamily="18" charset="2"/>
              </a:rPr>
              <a:t> </a:t>
            </a:r>
            <a:r>
              <a:rPr lang="en-US" altLang="ko-KR" dirty="0">
                <a:sym typeface="Symbol" pitchFamily="18" charset="2"/>
              </a:rPr>
              <a:t>(2) </a:t>
            </a:r>
            <a:r>
              <a:rPr lang="ko-KR" altLang="en-US" dirty="0" err="1">
                <a:sym typeface="Symbol" pitchFamily="18" charset="2"/>
              </a:rPr>
              <a:t>총확률의</a:t>
            </a:r>
            <a:r>
              <a:rPr lang="ko-KR" altLang="en-US" dirty="0">
                <a:sym typeface="Symbol" pitchFamily="18" charset="2"/>
              </a:rPr>
              <a:t> 법칙       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>
                <a:sym typeface="Symbol" pitchFamily="18" charset="2"/>
              </a:rPr>
              <a:t>      </a:t>
            </a:r>
            <a:r>
              <a:rPr lang="en-US" altLang="ko-KR" sz="2800" dirty="0">
                <a:sym typeface="Symbol" pitchFamily="18" charset="2"/>
              </a:rPr>
              <a:t>B=(B </a:t>
            </a:r>
            <a:r>
              <a:rPr lang="en-US" altLang="ko-KR" sz="2800" dirty="0"/>
              <a:t>∩</a:t>
            </a:r>
            <a:r>
              <a:rPr lang="en-US" altLang="ko-KR" sz="2800" dirty="0">
                <a:sym typeface="Symbol" pitchFamily="18" charset="2"/>
              </a:rPr>
              <a:t> A)(B </a:t>
            </a:r>
            <a:r>
              <a:rPr lang="en-US" altLang="ko-KR" sz="2800" dirty="0"/>
              <a:t>∩</a:t>
            </a:r>
            <a:r>
              <a:rPr lang="en-US" altLang="ko-KR" sz="2800" dirty="0">
                <a:sym typeface="Symbol" pitchFamily="18" charset="2"/>
              </a:rPr>
              <a:t> A</a:t>
            </a:r>
            <a:r>
              <a:rPr lang="en-US" altLang="ko-KR" sz="2800" baseline="30000" dirty="0"/>
              <a:t>c</a:t>
            </a:r>
            <a:r>
              <a:rPr lang="en-US" altLang="ko-KR" sz="2800" dirty="0">
                <a:sym typeface="Symbol" pitchFamily="18" charset="2"/>
              </a:rPr>
              <a:t>) 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>
                <a:sym typeface="Symbol" pitchFamily="18" charset="2"/>
              </a:rPr>
              <a:t>      (B </a:t>
            </a:r>
            <a:r>
              <a:rPr lang="en-US" altLang="ko-KR" sz="2800" dirty="0"/>
              <a:t>∩</a:t>
            </a:r>
            <a:r>
              <a:rPr lang="en-US" altLang="ko-KR" sz="2800" dirty="0">
                <a:sym typeface="Symbol" pitchFamily="18" charset="2"/>
              </a:rPr>
              <a:t> A) </a:t>
            </a:r>
            <a:r>
              <a:rPr lang="ko-KR" altLang="en-US" sz="2800" dirty="0">
                <a:sym typeface="Symbol" pitchFamily="18" charset="2"/>
              </a:rPr>
              <a:t>와 </a:t>
            </a:r>
            <a:r>
              <a:rPr lang="en-US" altLang="ko-KR" sz="2800" dirty="0">
                <a:sym typeface="Symbol" pitchFamily="18" charset="2"/>
              </a:rPr>
              <a:t>(B </a:t>
            </a:r>
            <a:r>
              <a:rPr lang="en-US" altLang="ko-KR" sz="2800" dirty="0"/>
              <a:t>∩</a:t>
            </a:r>
            <a:r>
              <a:rPr lang="en-US" altLang="ko-KR" sz="2800" dirty="0">
                <a:sym typeface="Symbol" pitchFamily="18" charset="2"/>
              </a:rPr>
              <a:t> A</a:t>
            </a:r>
            <a:r>
              <a:rPr lang="en-US" altLang="ko-KR" sz="2800" baseline="30000" dirty="0"/>
              <a:t>c</a:t>
            </a:r>
            <a:r>
              <a:rPr lang="en-US" altLang="ko-KR" sz="2800" dirty="0">
                <a:sym typeface="Symbol" pitchFamily="18" charset="2"/>
              </a:rPr>
              <a:t>) </a:t>
            </a:r>
            <a:r>
              <a:rPr lang="ko-KR" altLang="en-US" sz="2800" dirty="0">
                <a:sym typeface="Symbol" pitchFamily="18" charset="2"/>
              </a:rPr>
              <a:t>는 </a:t>
            </a:r>
            <a:r>
              <a:rPr lang="ko-KR" altLang="en-US" sz="2800" dirty="0" err="1">
                <a:sym typeface="Symbol" pitchFamily="18" charset="2"/>
              </a:rPr>
              <a:t>상호배반</a:t>
            </a:r>
            <a:endParaRPr lang="ko-KR" altLang="en-US" sz="2800" dirty="0">
              <a:sym typeface="Symbol" pitchFamily="18" charset="2"/>
            </a:endParaRPr>
          </a:p>
          <a:p>
            <a:pPr marL="609600" indent="-609600" eaLnBrk="1" hangingPunct="1">
              <a:buFontTx/>
              <a:buNone/>
            </a:pPr>
            <a:r>
              <a:rPr lang="ko-KR" altLang="en-US" sz="2800" dirty="0">
                <a:sym typeface="Symbol" pitchFamily="18" charset="2"/>
              </a:rPr>
              <a:t>      </a:t>
            </a:r>
            <a:r>
              <a:rPr lang="en-US" altLang="ko-KR" sz="2800" dirty="0">
                <a:sym typeface="Symbol" pitchFamily="18" charset="2"/>
              </a:rPr>
              <a:t>p(B)=p(B </a:t>
            </a:r>
            <a:r>
              <a:rPr lang="en-US" altLang="ko-KR" sz="2800" dirty="0"/>
              <a:t>∩</a:t>
            </a:r>
            <a:r>
              <a:rPr lang="en-US" altLang="ko-KR" sz="2800" dirty="0">
                <a:sym typeface="Symbol" pitchFamily="18" charset="2"/>
              </a:rPr>
              <a:t> A)+p(B </a:t>
            </a:r>
            <a:r>
              <a:rPr lang="en-US" altLang="ko-KR" sz="2800" dirty="0"/>
              <a:t>∩</a:t>
            </a:r>
            <a:r>
              <a:rPr lang="en-US" altLang="ko-KR" sz="2800" dirty="0">
                <a:sym typeface="Symbol" pitchFamily="18" charset="2"/>
              </a:rPr>
              <a:t> A</a:t>
            </a:r>
            <a:r>
              <a:rPr lang="en-US" altLang="ko-KR" sz="2800" baseline="30000" dirty="0"/>
              <a:t>c</a:t>
            </a:r>
            <a:r>
              <a:rPr lang="en-US" altLang="ko-KR" sz="2800" dirty="0">
                <a:sym typeface="Symbol" pitchFamily="18" charset="2"/>
              </a:rPr>
              <a:t>)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    p(B)= p(A) p(B|A)+p(A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) p(</a:t>
            </a:r>
            <a:r>
              <a:rPr lang="en-US" altLang="ko-KR" sz="2800" dirty="0" err="1"/>
              <a:t>B|A</a:t>
            </a:r>
            <a:r>
              <a:rPr lang="en-US" altLang="ko-KR" sz="2800" baseline="30000" dirty="0" err="1"/>
              <a:t>c</a:t>
            </a:r>
            <a:r>
              <a:rPr lang="en-US" altLang="ko-KR" sz="2800" dirty="0"/>
              <a:t>)</a:t>
            </a:r>
            <a:r>
              <a:rPr lang="en-US" altLang="ko-KR" sz="2800" dirty="0">
                <a:sym typeface="Symbol" pitchFamily="18" charset="2"/>
              </a:rPr>
              <a:t> </a:t>
            </a:r>
          </a:p>
        </p:txBody>
      </p:sp>
      <p:graphicFrame>
        <p:nvGraphicFramePr>
          <p:cNvPr id="15362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3726516"/>
              </p:ext>
            </p:extLst>
          </p:nvPr>
        </p:nvGraphicFramePr>
        <p:xfrm>
          <a:off x="1115616" y="4149080"/>
          <a:ext cx="6880225" cy="1150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1" name="Equation" r:id="rId3" imgW="3111480" imgH="520560" progId="Equation.3">
                  <p:embed/>
                </p:oleObj>
              </mc:Choice>
              <mc:Fallback>
                <p:oleObj name="Equation" r:id="rId3" imgW="3111480" imgH="52056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4149080"/>
                        <a:ext cx="6880225" cy="1150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363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53702050"/>
              </p:ext>
            </p:extLst>
          </p:nvPr>
        </p:nvGraphicFramePr>
        <p:xfrm>
          <a:off x="2195736" y="5337752"/>
          <a:ext cx="2819400" cy="558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82" name="Equation" r:id="rId5" imgW="1218960" imgH="241200" progId="Equation.3">
                  <p:embed/>
                </p:oleObj>
              </mc:Choice>
              <mc:Fallback>
                <p:oleObj name="Equation" r:id="rId5" imgW="1218960" imgH="2412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736" y="5337752"/>
                        <a:ext cx="2819400" cy="558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직사각형 2"/>
              <p:cNvSpPr/>
              <p:nvPr/>
            </p:nvSpPr>
            <p:spPr>
              <a:xfrm>
                <a:off x="827584" y="3573016"/>
                <a:ext cx="6912768" cy="46166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609600" indent="-609600" eaLnBrk="1" hangingPunct="1">
                  <a:buFontTx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+⋯+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US" altLang="ko-KR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∩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직사각형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7584" y="3573016"/>
                <a:ext cx="6912768" cy="461665"/>
              </a:xfrm>
              <a:prstGeom prst="rect">
                <a:avLst/>
              </a:prstGeom>
              <a:blipFill>
                <a:blip r:embed="rId7"/>
                <a:stretch>
                  <a:fillRect b="-39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9" name="Rectangle 1026"/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7772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  </a:t>
            </a:r>
          </a:p>
          <a:p>
            <a:pPr eaLnBrk="1" hangingPunct="1">
              <a:buFontTx/>
              <a:buNone/>
            </a:pPr>
            <a:endParaRPr lang="en-US" altLang="ko-KR"/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</p:txBody>
      </p:sp>
      <p:sp>
        <p:nvSpPr>
          <p:cNvPr id="16390" name="Rectangle 1027"/>
          <p:cNvSpPr>
            <a:spLocks noChangeArrowheads="1"/>
          </p:cNvSpPr>
          <p:nvPr/>
        </p:nvSpPr>
        <p:spPr bwMode="auto"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(3) </a:t>
            </a:r>
            <a:r>
              <a:rPr lang="ko-KR" altLang="en-US" sz="3600">
                <a:solidFill>
                  <a:schemeClr val="accent2"/>
                </a:solidFill>
              </a:rPr>
              <a:t>베이즈정리</a:t>
            </a:r>
          </a:p>
        </p:txBody>
      </p:sp>
      <p:graphicFrame>
        <p:nvGraphicFramePr>
          <p:cNvPr id="16386" name="Object 1024"/>
          <p:cNvGraphicFramePr>
            <a:graphicFrameLocks noChangeAspect="1"/>
          </p:cNvGraphicFramePr>
          <p:nvPr/>
        </p:nvGraphicFramePr>
        <p:xfrm>
          <a:off x="2879725" y="3505200"/>
          <a:ext cx="4602163" cy="10398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5" name="Equation" r:id="rId3" imgW="2133360" imgH="482400" progId="Equation.3">
                  <p:embed/>
                </p:oleObj>
              </mc:Choice>
              <mc:Fallback>
                <p:oleObj name="Equation" r:id="rId3" imgW="2133360" imgH="482400" progId="Equation.3">
                  <p:embed/>
                  <p:pic>
                    <p:nvPicPr>
                      <p:cNvPr id="0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79725" y="3505200"/>
                        <a:ext cx="4602163" cy="10398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7" name="Object 1025"/>
          <p:cNvGraphicFramePr>
            <a:graphicFrameLocks noChangeAspect="1"/>
          </p:cNvGraphicFramePr>
          <p:nvPr/>
        </p:nvGraphicFramePr>
        <p:xfrm>
          <a:off x="1143000" y="914400"/>
          <a:ext cx="3738563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6" name="Equation" r:id="rId5" imgW="1460160" imgH="482400" progId="Equation.3">
                  <p:embed/>
                </p:oleObj>
              </mc:Choice>
              <mc:Fallback>
                <p:oleObj name="Equation" r:id="rId5" imgW="1460160" imgH="482400" progId="Equation.3">
                  <p:embed/>
                  <p:pic>
                    <p:nvPicPr>
                      <p:cNvPr id="0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43000" y="914400"/>
                        <a:ext cx="3738563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88" name="Object 1026"/>
          <p:cNvGraphicFramePr>
            <a:graphicFrameLocks noChangeAspect="1"/>
          </p:cNvGraphicFramePr>
          <p:nvPr/>
        </p:nvGraphicFramePr>
        <p:xfrm>
          <a:off x="2819400" y="2209800"/>
          <a:ext cx="2438400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567" name="Equation" r:id="rId7" imgW="1015920" imgH="482400" progId="Equation.3">
                  <p:embed/>
                </p:oleObj>
              </mc:Choice>
              <mc:Fallback>
                <p:oleObj name="Equation" r:id="rId7" imgW="1015920" imgH="482400" progId="Equation.3">
                  <p:embed/>
                  <p:pic>
                    <p:nvPicPr>
                      <p:cNvPr id="0" name="Object 10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209800"/>
                        <a:ext cx="2438400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3" name="Rectangle 2"/>
          <p:cNvSpPr>
            <a:spLocks noGrp="1" noChangeArrowheads="1"/>
          </p:cNvSpPr>
          <p:nvPr>
            <p:ph idx="1"/>
          </p:nvPr>
        </p:nvSpPr>
        <p:spPr>
          <a:xfrm>
            <a:off x="685800" y="990600"/>
            <a:ext cx="7772400" cy="45720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/>
              <a:t>  </a:t>
            </a:r>
          </a:p>
          <a:p>
            <a:pPr eaLnBrk="1" hangingPunct="1">
              <a:buFontTx/>
              <a:buNone/>
            </a:pPr>
            <a:endParaRPr lang="en-US" altLang="ko-KR"/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  <a:p>
            <a:pPr eaLnBrk="1" hangingPunct="1">
              <a:buFontTx/>
              <a:buNone/>
            </a:pPr>
            <a:endParaRPr lang="en-US" altLang="ko-KR">
              <a:latin typeface="바탕" pitchFamily="18" charset="-127"/>
              <a:ea typeface="바탕" pitchFamily="18" charset="-127"/>
              <a:sym typeface="Symbol" pitchFamily="18" charset="2"/>
            </a:endParaRPr>
          </a:p>
        </p:txBody>
      </p:sp>
      <p:sp>
        <p:nvSpPr>
          <p:cNvPr id="17414" name="Rectangle 3"/>
          <p:cNvSpPr>
            <a:spLocks noChangeArrowheads="1"/>
          </p:cNvSpPr>
          <p:nvPr/>
        </p:nvSpPr>
        <p:spPr bwMode="auto">
          <a:xfrm>
            <a:off x="685800" y="1524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/>
          <a:p>
            <a:r>
              <a:rPr lang="en-US" altLang="ko-KR" sz="3600">
                <a:solidFill>
                  <a:schemeClr val="accent2"/>
                </a:solidFill>
              </a:rPr>
              <a:t>(3) </a:t>
            </a:r>
            <a:r>
              <a:rPr lang="ko-KR" altLang="en-US" sz="3600">
                <a:solidFill>
                  <a:schemeClr val="accent2"/>
                </a:solidFill>
              </a:rPr>
              <a:t>베이즈정리</a:t>
            </a:r>
          </a:p>
        </p:txBody>
      </p:sp>
      <p:graphicFrame>
        <p:nvGraphicFramePr>
          <p:cNvPr id="17410" name="Object 4"/>
          <p:cNvGraphicFramePr>
            <a:graphicFrameLocks noChangeAspect="1"/>
          </p:cNvGraphicFramePr>
          <p:nvPr/>
        </p:nvGraphicFramePr>
        <p:xfrm>
          <a:off x="2468563" y="3492500"/>
          <a:ext cx="5424487" cy="1066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7" name="Equation" r:id="rId3" imgW="2514600" imgH="495000" progId="Equation.3">
                  <p:embed/>
                </p:oleObj>
              </mc:Choice>
              <mc:Fallback>
                <p:oleObj name="Equation" r:id="rId3" imgW="2514600" imgH="4950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68563" y="3492500"/>
                        <a:ext cx="5424487" cy="1066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1" name="Object 5"/>
          <p:cNvGraphicFramePr>
            <a:graphicFrameLocks noChangeAspect="1"/>
          </p:cNvGraphicFramePr>
          <p:nvPr/>
        </p:nvGraphicFramePr>
        <p:xfrm>
          <a:off x="1093788" y="914400"/>
          <a:ext cx="3900487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8" name="Equation" r:id="rId5" imgW="1523880" imgH="482400" progId="Equation.3">
                  <p:embed/>
                </p:oleObj>
              </mc:Choice>
              <mc:Fallback>
                <p:oleObj name="Equation" r:id="rId5" imgW="1523880" imgH="4824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3788" y="914400"/>
                        <a:ext cx="3900487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2" name="Object 6"/>
          <p:cNvGraphicFramePr>
            <a:graphicFrameLocks noChangeAspect="1"/>
          </p:cNvGraphicFramePr>
          <p:nvPr/>
        </p:nvGraphicFramePr>
        <p:xfrm>
          <a:off x="2728913" y="2209800"/>
          <a:ext cx="2620962" cy="1017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19" name="Equation" r:id="rId7" imgW="1091880" imgH="482400" progId="Equation.3">
                  <p:embed/>
                </p:oleObj>
              </mc:Choice>
              <mc:Fallback>
                <p:oleObj name="Equation" r:id="rId7" imgW="109188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2209800"/>
                        <a:ext cx="2620962" cy="1017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636503"/>
              </p:ext>
            </p:extLst>
          </p:nvPr>
        </p:nvGraphicFramePr>
        <p:xfrm>
          <a:off x="1331640" y="5291478"/>
          <a:ext cx="3567113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620" name="Equation" r:id="rId9" imgW="1612800" imgH="241200" progId="Equation.3">
                  <p:embed/>
                </p:oleObj>
              </mc:Choice>
              <mc:Fallback>
                <p:oleObj name="Equation" r:id="rId9" imgW="1612800" imgH="241200" progId="Equation.3">
                  <p:embed/>
                  <p:pic>
                    <p:nvPicPr>
                      <p:cNvPr id="1433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640" y="5291478"/>
                        <a:ext cx="3567113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685800"/>
            <a:ext cx="8153400" cy="58674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800" dirty="0"/>
              <a:t>  </a:t>
            </a:r>
          </a:p>
          <a:p>
            <a:pPr eaLnBrk="1" hangingPunct="1">
              <a:buFontTx/>
              <a:buNone/>
            </a:pP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(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예제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14) TV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를 생산하는 회사는 두 납품업체로 부터 부품을 공급 받는다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. 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납품업체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1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은 전체의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70%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를 납품하는데 불량률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4%, 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납품업체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2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는 전체의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30%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를 납품하는데 불량률 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6%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이다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. 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납품 받은 부품에서 불량품이 발견되었을 때 그 불량품이 납품업체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1</a:t>
            </a:r>
            <a:r>
              <a:rPr lang="ko-KR" altLang="en-US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로 부터 공급 받았을 확률은</a:t>
            </a:r>
            <a:r>
              <a:rPr lang="en-US" altLang="ko-KR" sz="2800" dirty="0">
                <a:latin typeface="바탕" pitchFamily="18" charset="-127"/>
                <a:ea typeface="바탕" pitchFamily="18" charset="-127"/>
                <a:sym typeface="Symbol" pitchFamily="18" charset="2"/>
              </a:rPr>
              <a:t>?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A: </a:t>
            </a:r>
            <a:r>
              <a:rPr lang="ko-KR" altLang="en-US" sz="2800" dirty="0"/>
              <a:t>납품회사</a:t>
            </a:r>
            <a:r>
              <a:rPr lang="en-US" altLang="ko-KR" sz="2800" dirty="0"/>
              <a:t>1</a:t>
            </a:r>
            <a:r>
              <a:rPr lang="ko-KR" altLang="en-US" sz="2800" dirty="0"/>
              <a:t>의 제품</a:t>
            </a:r>
            <a:r>
              <a:rPr lang="en-US" altLang="ko-KR" sz="2800" dirty="0"/>
              <a:t>  =&gt;p(A)=0.7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:</a:t>
            </a:r>
            <a:r>
              <a:rPr lang="ko-KR" altLang="en-US" sz="2800" dirty="0"/>
              <a:t>납품회사</a:t>
            </a:r>
            <a:r>
              <a:rPr lang="en-US" altLang="ko-KR" sz="2800" dirty="0"/>
              <a:t>2</a:t>
            </a:r>
            <a:r>
              <a:rPr lang="ko-KR" altLang="en-US" sz="2800" dirty="0"/>
              <a:t>의 제품</a:t>
            </a:r>
            <a:r>
              <a:rPr lang="en-US" altLang="ko-KR" sz="2800" dirty="0"/>
              <a:t>  =&gt;p(A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)=0.3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   B: </a:t>
            </a:r>
            <a:r>
              <a:rPr lang="ko-KR" altLang="en-US" sz="2800" dirty="0"/>
              <a:t>불량품 </a:t>
            </a:r>
            <a:r>
              <a:rPr lang="en-US" altLang="ko-KR" sz="2800" dirty="0"/>
              <a:t>p(B|A)=0.04, p(B| A</a:t>
            </a:r>
            <a:r>
              <a:rPr lang="en-US" altLang="ko-KR" sz="2800" baseline="30000" dirty="0"/>
              <a:t>c</a:t>
            </a:r>
            <a:r>
              <a:rPr lang="en-US" altLang="ko-KR" sz="2800" dirty="0"/>
              <a:t>)=0.06</a:t>
            </a:r>
          </a:p>
          <a:p>
            <a:pPr eaLnBrk="1" hangingPunct="1">
              <a:buFontTx/>
              <a:buNone/>
            </a:pPr>
            <a:r>
              <a:rPr lang="en-US" altLang="ko-KR" sz="2800" dirty="0"/>
              <a:t>p(A|B)=0.7*0.04/(0.7*0.04+0.3*0.06)=28/46</a:t>
            </a:r>
          </a:p>
        </p:txBody>
      </p:sp>
      <p:graphicFrame>
        <p:nvGraphicFramePr>
          <p:cNvPr id="18434" name="Object 6"/>
          <p:cNvGraphicFramePr>
            <a:graphicFrameLocks noChangeAspect="1"/>
          </p:cNvGraphicFramePr>
          <p:nvPr/>
        </p:nvGraphicFramePr>
        <p:xfrm>
          <a:off x="914400" y="304800"/>
          <a:ext cx="5084763" cy="8937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95" name="Equation" r:id="rId3" imgW="2743200" imgH="482400" progId="Equation.3">
                  <p:embed/>
                </p:oleObj>
              </mc:Choice>
              <mc:Fallback>
                <p:oleObj name="Equation" r:id="rId3" imgW="2743200" imgH="4824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4400" y="304800"/>
                        <a:ext cx="5084763" cy="8937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457200"/>
            <a:ext cx="7772400" cy="5181600"/>
          </a:xfrm>
        </p:spPr>
        <p:txBody>
          <a:bodyPr/>
          <a:lstStyle/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(</a:t>
            </a:r>
            <a:r>
              <a:rPr lang="ko-KR" altLang="en-US" sz="2800" dirty="0"/>
              <a:t>예제 </a:t>
            </a:r>
            <a:r>
              <a:rPr lang="en-US" altLang="ko-KR" sz="2800" dirty="0"/>
              <a:t>15) </a:t>
            </a:r>
            <a:r>
              <a:rPr lang="ko-KR" altLang="en-US" sz="2800" dirty="0"/>
              <a:t>컴퓨터 </a:t>
            </a:r>
            <a:r>
              <a:rPr lang="ko-KR" altLang="en-US" sz="2800" dirty="0" err="1"/>
              <a:t>주기판</a:t>
            </a:r>
            <a:r>
              <a:rPr lang="ko-KR" altLang="en-US" sz="2800" dirty="0"/>
              <a:t> 제조회사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회사         제조비율   불량률</a:t>
            </a:r>
          </a:p>
          <a:p>
            <a:pPr marL="609600" indent="-609600" eaLnBrk="1" hangingPunct="1">
              <a:buFontTx/>
              <a:buNone/>
            </a:pPr>
            <a:r>
              <a:rPr lang="ko-KR" altLang="en-US" sz="2800" dirty="0"/>
              <a:t> </a:t>
            </a:r>
            <a:r>
              <a:rPr lang="en-US" altLang="ko-KR" sz="2800" dirty="0"/>
              <a:t>A1             30%        0.02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A2             50%        0.01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A3             20%        0.05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1)</a:t>
            </a:r>
            <a:r>
              <a:rPr lang="ko-KR" altLang="en-US" sz="2800" dirty="0"/>
              <a:t>임의로 한 개를 뽑았을 때 불량품일 확률</a:t>
            </a:r>
            <a:r>
              <a:rPr lang="en-US" altLang="ko-KR" sz="2800" dirty="0"/>
              <a:t>?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	=&gt; p(B)=?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2) </a:t>
            </a:r>
            <a:r>
              <a:rPr lang="ko-KR" altLang="en-US" sz="2800" dirty="0" err="1"/>
              <a:t>불량주기판이</a:t>
            </a:r>
            <a:r>
              <a:rPr lang="ko-KR" altLang="en-US" sz="2800" dirty="0"/>
              <a:t> 발견되었을 때 </a:t>
            </a:r>
            <a:r>
              <a:rPr lang="en-US" altLang="ko-KR" sz="2800" dirty="0"/>
              <a:t>A1</a:t>
            </a:r>
            <a:r>
              <a:rPr lang="ko-KR" altLang="en-US" sz="2800" dirty="0"/>
              <a:t>회사 제품일 확률</a:t>
            </a:r>
            <a:r>
              <a:rPr lang="en-US" altLang="ko-KR" sz="2800" dirty="0"/>
              <a:t>?</a:t>
            </a:r>
          </a:p>
          <a:p>
            <a:pPr marL="609600" indent="-609600" eaLnBrk="1" hangingPunct="1">
              <a:buFontTx/>
              <a:buNone/>
            </a:pPr>
            <a:r>
              <a:rPr lang="en-US" altLang="ko-KR" sz="2800" dirty="0"/>
              <a:t>   	=&gt; p(A1|B)=?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91BFF7C2-BA22-45F3-9654-DB44D1207CC8}"/>
              </a:ext>
            </a:extLst>
          </p:cNvPr>
          <p:cNvSpPr/>
          <p:nvPr/>
        </p:nvSpPr>
        <p:spPr>
          <a:xfrm>
            <a:off x="688369" y="6201489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-99392"/>
            <a:ext cx="7772400" cy="648072"/>
          </a:xfrm>
        </p:spPr>
        <p:txBody>
          <a:bodyPr/>
          <a:lstStyle/>
          <a:p>
            <a:pPr eaLnBrk="1" hangingPunct="1"/>
            <a:r>
              <a:rPr lang="en-US" altLang="ko-KR" sz="3600" dirty="0"/>
              <a:t>HW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116632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1600" dirty="0"/>
              <a:t> 1.</a:t>
            </a:r>
          </a:p>
          <a:p>
            <a:pPr eaLnBrk="1" hangingPunct="1">
              <a:buFontTx/>
              <a:buNone/>
            </a:pPr>
            <a:endParaRPr lang="en-US" altLang="ko-KR" sz="1600" b="1" dirty="0"/>
          </a:p>
          <a:p>
            <a:pPr eaLnBrk="1" hangingPunct="1">
              <a:buFontTx/>
              <a:buNone/>
            </a:pPr>
            <a:endParaRPr lang="en-US" altLang="ko-KR" sz="1600" b="1" dirty="0"/>
          </a:p>
          <a:p>
            <a:pPr eaLnBrk="1" hangingPunct="1">
              <a:buFontTx/>
              <a:buNone/>
            </a:pPr>
            <a:endParaRPr lang="en-US" altLang="ko-KR" sz="1600" b="1" dirty="0"/>
          </a:p>
          <a:p>
            <a:pPr eaLnBrk="1" hangingPunct="1">
              <a:buFontTx/>
              <a:buNone/>
            </a:pPr>
            <a:endParaRPr lang="en-US" altLang="ko-KR" sz="1600" b="1" dirty="0"/>
          </a:p>
          <a:p>
            <a:pPr eaLnBrk="1" hangingPunct="1">
              <a:buFontTx/>
              <a:buNone/>
            </a:pPr>
            <a:endParaRPr lang="en-US" altLang="ko-KR" sz="1600" b="1" dirty="0"/>
          </a:p>
          <a:p>
            <a:pPr eaLnBrk="1" hangingPunct="1">
              <a:buFontTx/>
              <a:buNone/>
            </a:pPr>
            <a:endParaRPr lang="en-US" altLang="ko-KR" sz="1600" dirty="0"/>
          </a:p>
          <a:p>
            <a:pPr eaLnBrk="1" hangingPunct="1">
              <a:buFontTx/>
              <a:buNone/>
            </a:pPr>
            <a:endParaRPr lang="en-US" altLang="ko-KR" sz="1600" dirty="0"/>
          </a:p>
          <a:p>
            <a:pPr eaLnBrk="1" hangingPunct="1">
              <a:buFontTx/>
              <a:buNone/>
            </a:pPr>
            <a:endParaRPr lang="en-US" altLang="ko-KR" sz="1600" dirty="0"/>
          </a:p>
          <a:p>
            <a:pPr eaLnBrk="1" hangingPunct="1">
              <a:buFontTx/>
              <a:buNone/>
            </a:pPr>
            <a:endParaRPr lang="en-US" altLang="ko-KR" sz="1600" dirty="0"/>
          </a:p>
          <a:p>
            <a:pPr eaLnBrk="1" hangingPunct="1">
              <a:buFontTx/>
              <a:buNone/>
            </a:pPr>
            <a:endParaRPr lang="en-US" altLang="ko-KR" sz="1600" dirty="0"/>
          </a:p>
          <a:p>
            <a:pPr eaLnBrk="1" hangingPunct="1">
              <a:buFontTx/>
              <a:buNone/>
            </a:pPr>
            <a:r>
              <a:rPr lang="en-US" altLang="ko-KR" sz="1600" dirty="0"/>
              <a:t>2.</a:t>
            </a:r>
          </a:p>
          <a:p>
            <a:pPr eaLnBrk="1" hangingPunct="1">
              <a:buFontTx/>
              <a:buNone/>
            </a:pPr>
            <a:r>
              <a:rPr lang="en-US" altLang="ko-KR" dirty="0"/>
              <a:t> </a:t>
            </a:r>
          </a:p>
          <a:p>
            <a:pPr eaLnBrk="1" hangingPunct="1">
              <a:buFontTx/>
              <a:buNone/>
            </a:pPr>
            <a:endParaRPr lang="en-US" altLang="ko-KR" dirty="0"/>
          </a:p>
          <a:p>
            <a:pPr eaLnBrk="1" hangingPunct="1">
              <a:buFontTx/>
              <a:buNone/>
            </a:pPr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4C89EB-2427-4A1E-B4D2-5AB7C8FB4CB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588" y="460669"/>
            <a:ext cx="8748464" cy="2830796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EDCE003D-1E7D-412C-8252-28E0EF75824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399" y="3605962"/>
            <a:ext cx="9144000" cy="3265924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E6C8737-7102-4462-AD1B-69085573D41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1832" y="6397331"/>
            <a:ext cx="3955976" cy="40114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0B71A8AF-F2AB-48F1-9605-4D0E21047964}"/>
              </a:ext>
            </a:extLst>
          </p:cNvPr>
          <p:cNvSpPr/>
          <p:nvPr/>
        </p:nvSpPr>
        <p:spPr>
          <a:xfrm>
            <a:off x="4463480" y="3291465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331290583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/>
          <p:cNvSpPr>
            <a:spLocks noGrp="1" noChangeArrowheads="1"/>
          </p:cNvSpPr>
          <p:nvPr>
            <p:ph type="title"/>
          </p:nvPr>
        </p:nvSpPr>
        <p:spPr>
          <a:xfrm>
            <a:off x="685800" y="76200"/>
            <a:ext cx="7772400" cy="330840"/>
          </a:xfrm>
        </p:spPr>
        <p:txBody>
          <a:bodyPr/>
          <a:lstStyle/>
          <a:p>
            <a:pPr eaLnBrk="1" hangingPunct="1"/>
            <a:r>
              <a:rPr lang="en-US" altLang="ko-KR" sz="3600" dirty="0"/>
              <a:t>HW</a:t>
            </a:r>
          </a:p>
        </p:txBody>
      </p:sp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255984" y="661787"/>
            <a:ext cx="7772400" cy="4114800"/>
          </a:xfrm>
        </p:spPr>
        <p:txBody>
          <a:bodyPr/>
          <a:lstStyle/>
          <a:p>
            <a:pPr eaLnBrk="1" hangingPunct="1">
              <a:buFontTx/>
              <a:buNone/>
            </a:pPr>
            <a:r>
              <a:rPr lang="en-US" altLang="ko-KR" sz="2400" dirty="0"/>
              <a:t> 3.</a:t>
            </a:r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endParaRPr lang="en-US" altLang="ko-KR" sz="2400" dirty="0"/>
          </a:p>
          <a:p>
            <a:pPr eaLnBrk="1" hangingPunct="1">
              <a:buFontTx/>
              <a:buNone/>
            </a:pPr>
            <a:r>
              <a:rPr lang="en-US" altLang="ko-KR" sz="2400" dirty="0"/>
              <a:t>4.</a:t>
            </a:r>
          </a:p>
          <a:p>
            <a:pPr eaLnBrk="1" hangingPunct="1">
              <a:buFontTx/>
              <a:buNone/>
            </a:pPr>
            <a:endParaRPr lang="en-US" altLang="ko-KR" sz="24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8A3B670-2B0F-4754-8F0C-D9963A9B7DB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04" y="458254"/>
            <a:ext cx="6012160" cy="3202427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0C1986A8-04D9-45C0-BD63-307145EA73C7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55" t="8410" r="19823"/>
          <a:stretch/>
        </p:blipFill>
        <p:spPr>
          <a:xfrm>
            <a:off x="1115616" y="3660681"/>
            <a:ext cx="3744416" cy="1398002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3982BE8-F578-47BD-B038-2C9C76F5320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6104" y="5234867"/>
            <a:ext cx="6012160" cy="1546933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0066F83-4B78-4D0B-A98D-E5F316C05AFF}"/>
              </a:ext>
            </a:extLst>
          </p:cNvPr>
          <p:cNvSpPr/>
          <p:nvPr/>
        </p:nvSpPr>
        <p:spPr>
          <a:xfrm>
            <a:off x="4808004" y="4988646"/>
            <a:ext cx="4680520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출처</a:t>
            </a:r>
            <a:r>
              <a:rPr lang="en-US" altLang="ko-KR" sz="1000" dirty="0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: </a:t>
            </a:r>
            <a:r>
              <a:rPr lang="ko-KR" altLang="en-US" sz="1000" dirty="0" err="1"/>
              <a:t>부교제</a:t>
            </a:r>
            <a:r>
              <a:rPr lang="ko-KR" altLang="en-US" sz="1000" dirty="0"/>
              <a:t> 통계학 </a:t>
            </a:r>
            <a:r>
              <a:rPr lang="en-US" altLang="ko-KR" sz="1000" dirty="0"/>
              <a:t>–</a:t>
            </a:r>
            <a:r>
              <a:rPr lang="ko-KR" altLang="en-US" sz="1000" dirty="0"/>
              <a:t>엑셀을 이용한 분석</a:t>
            </a:r>
            <a:r>
              <a:rPr lang="en-US" altLang="ko-KR" sz="1000" dirty="0"/>
              <a:t>, </a:t>
            </a:r>
            <a:r>
              <a:rPr lang="ko-KR" altLang="en-US" sz="1000" dirty="0"/>
              <a:t>자유아카데미</a:t>
            </a:r>
            <a:r>
              <a:rPr lang="en-US" altLang="ko-KR" sz="1000" dirty="0"/>
              <a:t>, </a:t>
            </a:r>
            <a:r>
              <a:rPr lang="ko-KR" altLang="en-US" sz="1000" dirty="0" err="1"/>
              <a:t>김진경외</a:t>
            </a:r>
            <a:r>
              <a:rPr lang="ko-KR" altLang="en-US" sz="1000" dirty="0"/>
              <a:t> </a:t>
            </a:r>
            <a:r>
              <a:rPr lang="en-US" altLang="ko-KR" sz="1000" dirty="0"/>
              <a:t>5</a:t>
            </a:r>
            <a:r>
              <a:rPr lang="ko-KR" altLang="en-US" sz="1000" dirty="0"/>
              <a:t>명</a:t>
            </a:r>
          </a:p>
        </p:txBody>
      </p:sp>
    </p:spTree>
    <p:extLst>
      <p:ext uri="{BB962C8B-B14F-4D97-AF65-F5344CB8AC3E}">
        <p14:creationId xmlns:p14="http://schemas.microsoft.com/office/powerpoint/2010/main" val="2592562307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굴림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4885</TotalTime>
  <Words>2358</Words>
  <Application>Microsoft Office PowerPoint</Application>
  <PresentationFormat>화면 슬라이드 쇼(4:3)</PresentationFormat>
  <Paragraphs>429</Paragraphs>
  <Slides>41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41</vt:i4>
      </vt:variant>
    </vt:vector>
  </HeadingPairs>
  <TitlesOfParts>
    <vt:vector size="50" baseType="lpstr">
      <vt:lpstr>굴림</vt:lpstr>
      <vt:lpstr>바탕</vt:lpstr>
      <vt:lpstr>Cambria Math</vt:lpstr>
      <vt:lpstr>Symbol</vt:lpstr>
      <vt:lpstr>Times New Roman</vt:lpstr>
      <vt:lpstr>Wingdings</vt:lpstr>
      <vt:lpstr>기본 디자인</vt:lpstr>
      <vt:lpstr>Equation</vt:lpstr>
      <vt:lpstr>수식</vt:lpstr>
      <vt:lpstr>Ch5. 확률 </vt:lpstr>
      <vt:lpstr>서론</vt:lpstr>
      <vt:lpstr>2. 사건의 확률</vt:lpstr>
      <vt:lpstr>2. 사건의 확률</vt:lpstr>
      <vt:lpstr>PowerPoint 프레젠테이션</vt:lpstr>
      <vt:lpstr>생각해 봅시다</vt:lpstr>
      <vt:lpstr>생각해 봅시다</vt:lpstr>
      <vt:lpstr>3. 확률 계산</vt:lpstr>
      <vt:lpstr>PowerPoint 프레젠테이션</vt:lpstr>
      <vt:lpstr>3. 확률 계산</vt:lpstr>
      <vt:lpstr>PowerPoint 프레젠테이션</vt:lpstr>
      <vt:lpstr>PowerPoint 프레젠테이션</vt:lpstr>
      <vt:lpstr>3. 확률 계산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HW</vt:lpstr>
      <vt:lpstr>HW</vt:lpstr>
    </vt:vector>
  </TitlesOfParts>
  <Company>한성대학교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Ch3. 확률과 확률분포</dc:title>
  <dc:creator>엄종석</dc:creator>
  <cp:lastModifiedBy>Windows 사용자</cp:lastModifiedBy>
  <cp:revision>112</cp:revision>
  <dcterms:created xsi:type="dcterms:W3CDTF">2002-03-21T01:11:23Z</dcterms:created>
  <dcterms:modified xsi:type="dcterms:W3CDTF">2026-03-24T01:24:42Z</dcterms:modified>
</cp:coreProperties>
</file>