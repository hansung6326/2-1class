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259" r:id="rId3"/>
    <p:sldId id="277" r:id="rId4"/>
    <p:sldId id="349" r:id="rId5"/>
    <p:sldId id="320" r:id="rId6"/>
    <p:sldId id="321" r:id="rId7"/>
    <p:sldId id="286" r:id="rId8"/>
    <p:sldId id="350" r:id="rId9"/>
    <p:sldId id="260" r:id="rId10"/>
    <p:sldId id="278" r:id="rId11"/>
    <p:sldId id="322" r:id="rId12"/>
    <p:sldId id="288" r:id="rId13"/>
    <p:sldId id="323" r:id="rId14"/>
    <p:sldId id="324" r:id="rId15"/>
    <p:sldId id="351" r:id="rId16"/>
    <p:sldId id="287" r:id="rId17"/>
    <p:sldId id="326" r:id="rId18"/>
    <p:sldId id="347" r:id="rId19"/>
    <p:sldId id="325" r:id="rId20"/>
    <p:sldId id="289" r:id="rId21"/>
    <p:sldId id="348" r:id="rId22"/>
    <p:sldId id="327" r:id="rId23"/>
    <p:sldId id="328" r:id="rId24"/>
    <p:sldId id="337" r:id="rId25"/>
    <p:sldId id="329" r:id="rId26"/>
    <p:sldId id="330" r:id="rId27"/>
    <p:sldId id="331" r:id="rId28"/>
    <p:sldId id="332" r:id="rId29"/>
    <p:sldId id="345" r:id="rId30"/>
    <p:sldId id="346" r:id="rId31"/>
    <p:sldId id="338" r:id="rId32"/>
    <p:sldId id="333" r:id="rId33"/>
    <p:sldId id="339" r:id="rId34"/>
    <p:sldId id="334" r:id="rId35"/>
    <p:sldId id="335" r:id="rId36"/>
    <p:sldId id="336" r:id="rId37"/>
    <p:sldId id="343" r:id="rId38"/>
    <p:sldId id="344" r:id="rId39"/>
    <p:sldId id="341" r:id="rId40"/>
    <p:sldId id="342" r:id="rId41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47" autoAdjust="0"/>
    <p:restoredTop sz="92730" autoAdjust="0"/>
  </p:normalViewPr>
  <p:slideViewPr>
    <p:cSldViewPr>
      <p:cViewPr varScale="1">
        <p:scale>
          <a:sx n="106" d="100"/>
          <a:sy n="106" d="100"/>
        </p:scale>
        <p:origin x="174" y="-210"/>
      </p:cViewPr>
      <p:guideLst>
        <p:guide orient="horz" pos="211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26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4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13" Type="http://schemas.openxmlformats.org/officeDocument/2006/relationships/image" Target="../media/image33.wmf"/><Relationship Id="rId18" Type="http://schemas.openxmlformats.org/officeDocument/2006/relationships/image" Target="../media/image38.wmf"/><Relationship Id="rId3" Type="http://schemas.openxmlformats.org/officeDocument/2006/relationships/image" Target="../media/image23.wmf"/><Relationship Id="rId21" Type="http://schemas.openxmlformats.org/officeDocument/2006/relationships/image" Target="../media/image41.wmf"/><Relationship Id="rId7" Type="http://schemas.openxmlformats.org/officeDocument/2006/relationships/image" Target="../media/image27.wmf"/><Relationship Id="rId12" Type="http://schemas.openxmlformats.org/officeDocument/2006/relationships/image" Target="../media/image32.wmf"/><Relationship Id="rId17" Type="http://schemas.openxmlformats.org/officeDocument/2006/relationships/image" Target="../media/image37.wmf"/><Relationship Id="rId2" Type="http://schemas.openxmlformats.org/officeDocument/2006/relationships/image" Target="../media/image22.wmf"/><Relationship Id="rId16" Type="http://schemas.openxmlformats.org/officeDocument/2006/relationships/image" Target="../media/image36.wmf"/><Relationship Id="rId20" Type="http://schemas.openxmlformats.org/officeDocument/2006/relationships/image" Target="../media/image40.wmf"/><Relationship Id="rId1" Type="http://schemas.openxmlformats.org/officeDocument/2006/relationships/image" Target="../media/image21.wmf"/><Relationship Id="rId6" Type="http://schemas.openxmlformats.org/officeDocument/2006/relationships/image" Target="../media/image26.wmf"/><Relationship Id="rId11" Type="http://schemas.openxmlformats.org/officeDocument/2006/relationships/image" Target="../media/image31.wmf"/><Relationship Id="rId5" Type="http://schemas.openxmlformats.org/officeDocument/2006/relationships/image" Target="../media/image25.wmf"/><Relationship Id="rId15" Type="http://schemas.openxmlformats.org/officeDocument/2006/relationships/image" Target="../media/image35.wmf"/><Relationship Id="rId23" Type="http://schemas.openxmlformats.org/officeDocument/2006/relationships/image" Target="../media/image43.wmf"/><Relationship Id="rId10" Type="http://schemas.openxmlformats.org/officeDocument/2006/relationships/image" Target="../media/image30.wmf"/><Relationship Id="rId19" Type="http://schemas.openxmlformats.org/officeDocument/2006/relationships/image" Target="../media/image39.wmf"/><Relationship Id="rId4" Type="http://schemas.openxmlformats.org/officeDocument/2006/relationships/image" Target="../media/image24.wmf"/><Relationship Id="rId9" Type="http://schemas.openxmlformats.org/officeDocument/2006/relationships/image" Target="../media/image29.wmf"/><Relationship Id="rId14" Type="http://schemas.openxmlformats.org/officeDocument/2006/relationships/image" Target="../media/image34.wmf"/><Relationship Id="rId22" Type="http://schemas.openxmlformats.org/officeDocument/2006/relationships/image" Target="../media/image42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501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BE2039A-88D8-4AA2-BB21-E5E9FA61F72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8393798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17415F-22D6-46C8-B0E5-39FC4FA27BD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97280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3EECCD-9083-4DFD-8571-D1AF211F8BE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09693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BC5B07-BCB4-435E-910D-88D5A6EFAB2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37089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5800" y="15240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A140CA-EA0F-4566-8304-CB62B4763E6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58251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0B8400-3E3F-446F-9C77-45A51687A4E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774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220C70-B016-4606-AE57-96932F7151E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37567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BAEBAD-A1DE-4D22-808D-DCC567CA79C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40595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5E7AC1-7056-4A9F-B5EF-183AF8C3452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76216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CBC1A-36AF-42CC-B6B8-56059907E34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56549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5A0820-8D9B-4276-AB33-DCFA661544A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33559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733818-1EDF-47B3-9922-142F68BA2E6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71880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5240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A72F151-EB33-4ECA-8A4E-D7BBFCD9055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ikidocs.net/162463#probability-axioms" TargetMode="Externa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ikidocs.net/198153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ikidocs.net/198153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wmf"/><Relationship Id="rId11" Type="http://schemas.openxmlformats.org/officeDocument/2006/relationships/image" Target="../media/image10.png"/><Relationship Id="rId5" Type="http://schemas.openxmlformats.org/officeDocument/2006/relationships/oleObject" Target="../embeddings/oleObject4.bin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6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ikidocs.net/198153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hyperlink" Target="https://wikidocs.net/198153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5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ikidocs.net/198153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ikidocs.net/198153" TargetMode="Externa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6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hyperlink" Target="https://wikidocs.net/198153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0.wmf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7.bin"/><Relationship Id="rId18" Type="http://schemas.openxmlformats.org/officeDocument/2006/relationships/image" Target="../media/image28.wmf"/><Relationship Id="rId26" Type="http://schemas.openxmlformats.org/officeDocument/2006/relationships/image" Target="../media/image32.wmf"/><Relationship Id="rId39" Type="http://schemas.openxmlformats.org/officeDocument/2006/relationships/image" Target="../media/image37.wmf"/><Relationship Id="rId21" Type="http://schemas.openxmlformats.org/officeDocument/2006/relationships/oleObject" Target="../embeddings/oleObject21.bin"/><Relationship Id="rId34" Type="http://schemas.openxmlformats.org/officeDocument/2006/relationships/image" Target="../media/image36.wmf"/><Relationship Id="rId42" Type="http://schemas.openxmlformats.org/officeDocument/2006/relationships/oleObject" Target="../embeddings/oleObject34.bin"/><Relationship Id="rId47" Type="http://schemas.openxmlformats.org/officeDocument/2006/relationships/oleObject" Target="../embeddings/oleObject37.bin"/><Relationship Id="rId50" Type="http://schemas.openxmlformats.org/officeDocument/2006/relationships/image" Target="../media/image41.wmf"/><Relationship Id="rId55" Type="http://schemas.openxmlformats.org/officeDocument/2006/relationships/oleObject" Target="../embeddings/oleObject41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7.wmf"/><Relationship Id="rId29" Type="http://schemas.openxmlformats.org/officeDocument/2006/relationships/oleObject" Target="../embeddings/oleObject25.bin"/><Relationship Id="rId11" Type="http://schemas.openxmlformats.org/officeDocument/2006/relationships/oleObject" Target="../embeddings/oleObject16.bin"/><Relationship Id="rId24" Type="http://schemas.openxmlformats.org/officeDocument/2006/relationships/image" Target="../media/image31.wmf"/><Relationship Id="rId32" Type="http://schemas.openxmlformats.org/officeDocument/2006/relationships/image" Target="../media/image35.wmf"/><Relationship Id="rId37" Type="http://schemas.openxmlformats.org/officeDocument/2006/relationships/oleObject" Target="../embeddings/oleObject30.bin"/><Relationship Id="rId40" Type="http://schemas.openxmlformats.org/officeDocument/2006/relationships/oleObject" Target="../embeddings/oleObject32.bin"/><Relationship Id="rId45" Type="http://schemas.openxmlformats.org/officeDocument/2006/relationships/oleObject" Target="../embeddings/oleObject36.bin"/><Relationship Id="rId53" Type="http://schemas.openxmlformats.org/officeDocument/2006/relationships/oleObject" Target="../embeddings/oleObject40.bin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24.wmf"/><Relationship Id="rId19" Type="http://schemas.openxmlformats.org/officeDocument/2006/relationships/oleObject" Target="../embeddings/oleObject20.bin"/><Relationship Id="rId31" Type="http://schemas.openxmlformats.org/officeDocument/2006/relationships/oleObject" Target="../embeddings/oleObject26.bin"/><Relationship Id="rId44" Type="http://schemas.openxmlformats.org/officeDocument/2006/relationships/image" Target="../media/image38.wmf"/><Relationship Id="rId52" Type="http://schemas.openxmlformats.org/officeDocument/2006/relationships/image" Target="../media/image42.wmf"/><Relationship Id="rId4" Type="http://schemas.openxmlformats.org/officeDocument/2006/relationships/image" Target="../media/image21.wmf"/><Relationship Id="rId9" Type="http://schemas.openxmlformats.org/officeDocument/2006/relationships/oleObject" Target="../embeddings/oleObject15.bin"/><Relationship Id="rId14" Type="http://schemas.openxmlformats.org/officeDocument/2006/relationships/image" Target="../media/image26.wmf"/><Relationship Id="rId22" Type="http://schemas.openxmlformats.org/officeDocument/2006/relationships/image" Target="../media/image30.wmf"/><Relationship Id="rId27" Type="http://schemas.openxmlformats.org/officeDocument/2006/relationships/oleObject" Target="../embeddings/oleObject24.bin"/><Relationship Id="rId30" Type="http://schemas.openxmlformats.org/officeDocument/2006/relationships/image" Target="../media/image34.wmf"/><Relationship Id="rId35" Type="http://schemas.openxmlformats.org/officeDocument/2006/relationships/oleObject" Target="../embeddings/oleObject28.bin"/><Relationship Id="rId43" Type="http://schemas.openxmlformats.org/officeDocument/2006/relationships/oleObject" Target="../embeddings/oleObject35.bin"/><Relationship Id="rId48" Type="http://schemas.openxmlformats.org/officeDocument/2006/relationships/image" Target="../media/image40.wmf"/><Relationship Id="rId56" Type="http://schemas.openxmlformats.org/officeDocument/2006/relationships/oleObject" Target="../embeddings/oleObject42.bin"/><Relationship Id="rId8" Type="http://schemas.openxmlformats.org/officeDocument/2006/relationships/image" Target="../media/image23.wmf"/><Relationship Id="rId51" Type="http://schemas.openxmlformats.org/officeDocument/2006/relationships/oleObject" Target="../embeddings/oleObject39.bin"/><Relationship Id="rId3" Type="http://schemas.openxmlformats.org/officeDocument/2006/relationships/oleObject" Target="../embeddings/oleObject12.bin"/><Relationship Id="rId12" Type="http://schemas.openxmlformats.org/officeDocument/2006/relationships/image" Target="../media/image25.wmf"/><Relationship Id="rId17" Type="http://schemas.openxmlformats.org/officeDocument/2006/relationships/oleObject" Target="../embeddings/oleObject19.bin"/><Relationship Id="rId25" Type="http://schemas.openxmlformats.org/officeDocument/2006/relationships/oleObject" Target="../embeddings/oleObject23.bin"/><Relationship Id="rId33" Type="http://schemas.openxmlformats.org/officeDocument/2006/relationships/oleObject" Target="../embeddings/oleObject27.bin"/><Relationship Id="rId38" Type="http://schemas.openxmlformats.org/officeDocument/2006/relationships/oleObject" Target="../embeddings/oleObject31.bin"/><Relationship Id="rId46" Type="http://schemas.openxmlformats.org/officeDocument/2006/relationships/image" Target="../media/image39.wmf"/><Relationship Id="rId20" Type="http://schemas.openxmlformats.org/officeDocument/2006/relationships/image" Target="../media/image29.wmf"/><Relationship Id="rId41" Type="http://schemas.openxmlformats.org/officeDocument/2006/relationships/oleObject" Target="../embeddings/oleObject33.bin"/><Relationship Id="rId54" Type="http://schemas.openxmlformats.org/officeDocument/2006/relationships/image" Target="../media/image43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22.wmf"/><Relationship Id="rId15" Type="http://schemas.openxmlformats.org/officeDocument/2006/relationships/oleObject" Target="../embeddings/oleObject18.bin"/><Relationship Id="rId23" Type="http://schemas.openxmlformats.org/officeDocument/2006/relationships/oleObject" Target="../embeddings/oleObject22.bin"/><Relationship Id="rId28" Type="http://schemas.openxmlformats.org/officeDocument/2006/relationships/image" Target="../media/image33.wmf"/><Relationship Id="rId36" Type="http://schemas.openxmlformats.org/officeDocument/2006/relationships/oleObject" Target="../embeddings/oleObject29.bin"/><Relationship Id="rId49" Type="http://schemas.openxmlformats.org/officeDocument/2006/relationships/oleObject" Target="../embeddings/oleObject38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44.bin"/><Relationship Id="rId4" Type="http://schemas.openxmlformats.org/officeDocument/2006/relationships/image" Target="../media/image44.w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wikidocs.net/198153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hyperlink" Target="https://wikidocs.net/198153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48.w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49.w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50.w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51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hyperlink" Target="https://wikidocs.net/198153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ko-KR"/>
              <a:t>Ch6. </a:t>
            </a:r>
            <a:r>
              <a:rPr lang="ko-KR" altLang="en-US"/>
              <a:t>확률분포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ko-KR" altLang="ko-K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609600"/>
          </a:xfrm>
        </p:spPr>
        <p:txBody>
          <a:bodyPr/>
          <a:lstStyle/>
          <a:p>
            <a:pPr algn="l" eaLnBrk="1" hangingPunct="1"/>
            <a:r>
              <a:rPr lang="en-US" altLang="ko-KR">
                <a:solidFill>
                  <a:schemeClr val="accent2"/>
                </a:solidFill>
              </a:rPr>
              <a:t>6.2 </a:t>
            </a:r>
            <a:r>
              <a:rPr lang="ko-KR" altLang="en-US">
                <a:solidFill>
                  <a:schemeClr val="accent2"/>
                </a:solidFill>
              </a:rPr>
              <a:t>확률변수</a:t>
            </a:r>
            <a:r>
              <a:rPr lang="en-US" altLang="ko-KR">
                <a:solidFill>
                  <a:schemeClr val="accent2"/>
                </a:solidFill>
              </a:rPr>
              <a:t>(random variable)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ko-KR" altLang="en-US" dirty="0"/>
              <a:t>확률변수</a:t>
            </a:r>
            <a:r>
              <a:rPr lang="en-US" altLang="ko-KR" dirty="0"/>
              <a:t>( X )</a:t>
            </a:r>
            <a:r>
              <a:rPr lang="ko-KR" altLang="en-US" dirty="0"/>
              <a:t>란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ko-KR" altLang="en-US" dirty="0"/>
              <a:t>    </a:t>
            </a:r>
            <a:r>
              <a:rPr lang="en-US" altLang="ko-KR" dirty="0"/>
              <a:t>X :  </a:t>
            </a:r>
            <a:r>
              <a:rPr lang="ko-KR" altLang="en-US" dirty="0"/>
              <a:t>근원사건 </a:t>
            </a:r>
            <a:r>
              <a:rPr lang="en-US" altLang="ko-KR" dirty="0"/>
              <a:t>--&gt;</a:t>
            </a:r>
            <a:r>
              <a:rPr lang="en-US" altLang="ko-KR" dirty="0">
                <a:sym typeface="Wingdings" pitchFamily="2" charset="2"/>
              </a:rPr>
              <a:t> </a:t>
            </a:r>
            <a:r>
              <a:rPr lang="ko-KR" altLang="en-US" dirty="0">
                <a:sym typeface="Wingdings" pitchFamily="2" charset="2"/>
              </a:rPr>
              <a:t>실수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ko-KR" altLang="en-US" dirty="0">
                <a:sym typeface="Wingdings" pitchFamily="2" charset="2"/>
              </a:rPr>
              <a:t>    표본공간의 근원사건에 하나의 </a:t>
            </a:r>
            <a:r>
              <a:rPr lang="ko-KR" altLang="en-US" dirty="0" err="1">
                <a:sym typeface="Wingdings" pitchFamily="2" charset="2"/>
              </a:rPr>
              <a:t>실수값을</a:t>
            </a:r>
            <a:r>
              <a:rPr lang="ko-KR" altLang="en-US" dirty="0">
                <a:sym typeface="Wingdings" pitchFamily="2" charset="2"/>
              </a:rPr>
              <a:t> 대응시키는 함수이다</a:t>
            </a:r>
            <a:r>
              <a:rPr lang="en-US" altLang="ko-KR" dirty="0">
                <a:sym typeface="Wingdings" pitchFamily="2" charset="2"/>
              </a:rPr>
              <a:t>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ko-KR" dirty="0">
                <a:sym typeface="Wingdings" pitchFamily="2" charset="2"/>
              </a:rPr>
              <a:t>(</a:t>
            </a:r>
            <a:r>
              <a:rPr lang="en-US" altLang="ko-KR" sz="2800" dirty="0">
                <a:sym typeface="Wingdings" pitchFamily="2" charset="2"/>
              </a:rPr>
              <a:t>Note)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ko-KR" sz="2800" dirty="0">
                <a:sym typeface="Wingdings" pitchFamily="2" charset="2"/>
              </a:rPr>
              <a:t>   event(</a:t>
            </a:r>
            <a:r>
              <a:rPr lang="ko-KR" altLang="en-US" sz="2800" dirty="0">
                <a:sym typeface="Wingdings" pitchFamily="2" charset="2"/>
              </a:rPr>
              <a:t>사건</a:t>
            </a:r>
            <a:r>
              <a:rPr lang="en-US" altLang="ko-KR" sz="2800" dirty="0">
                <a:sym typeface="Wingdings" pitchFamily="2" charset="2"/>
              </a:rPr>
              <a:t>)</a:t>
            </a:r>
            <a:r>
              <a:rPr lang="ko-KR" altLang="en-US" sz="2800" dirty="0">
                <a:sym typeface="Wingdings" pitchFamily="2" charset="2"/>
              </a:rPr>
              <a:t>에는 발생할 확률이 있으므로 이에 대응하는 확률변수가 취하는 실수 값에도 발생할 확률이 있다</a:t>
            </a:r>
            <a:r>
              <a:rPr lang="en-US" altLang="ko-KR" sz="2800" dirty="0">
                <a:sym typeface="Wingdings" pitchFamily="2" charset="2"/>
              </a:rPr>
              <a:t>. </a:t>
            </a:r>
            <a:r>
              <a:rPr lang="ko-KR" altLang="en-US" sz="2800" dirty="0">
                <a:sym typeface="Wingdings" pitchFamily="2" charset="2"/>
              </a:rPr>
              <a:t>이를  </a:t>
            </a:r>
            <a:r>
              <a:rPr lang="en-US" altLang="ko-KR" sz="2800" dirty="0">
                <a:sym typeface="Wingdings" pitchFamily="2" charset="2"/>
              </a:rPr>
              <a:t>f(x)</a:t>
            </a:r>
            <a:r>
              <a:rPr lang="ko-KR" altLang="en-US" sz="2800" dirty="0">
                <a:sym typeface="Wingdings" pitchFamily="2" charset="2"/>
              </a:rPr>
              <a:t>  라 하자</a:t>
            </a:r>
            <a:r>
              <a:rPr lang="en-US" altLang="ko-KR" sz="2800" dirty="0">
                <a:sym typeface="Wingdings" pitchFamily="2" charset="2"/>
              </a:rPr>
              <a:t>.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ko-KR" sz="2800" dirty="0">
                <a:sym typeface="Wingdings" pitchFamily="2" charset="2"/>
              </a:rPr>
              <a:t>    f(x)  </a:t>
            </a:r>
            <a:r>
              <a:rPr lang="ko-KR" altLang="en-US" sz="2800" dirty="0">
                <a:sym typeface="Wingdings" pitchFamily="2" charset="2"/>
              </a:rPr>
              <a:t>를 확률분포라 한다</a:t>
            </a:r>
            <a:r>
              <a:rPr lang="en-US" altLang="ko-KR" sz="2800" dirty="0">
                <a:sym typeface="Wingdings" pitchFamily="2" charset="2"/>
              </a:rPr>
              <a:t>.</a:t>
            </a:r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2824163" y="6689725"/>
          <a:ext cx="537845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2" name="문서" r:id="rId3" imgW="5383440" imgH="682920" progId="Word.Document.8">
                  <p:embed/>
                </p:oleObj>
              </mc:Choice>
              <mc:Fallback>
                <p:oleObj name="문서" r:id="rId3" imgW="5383440" imgH="682920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4163" y="6689725"/>
                        <a:ext cx="537845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381000"/>
            <a:ext cx="7772400" cy="4876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ko-KR" sz="2800"/>
              <a:t>(</a:t>
            </a:r>
            <a:r>
              <a:rPr lang="ko-KR" altLang="en-US" sz="2800"/>
              <a:t>예제</a:t>
            </a:r>
            <a:r>
              <a:rPr lang="en-US" altLang="ko-KR" sz="2800"/>
              <a:t>1) </a:t>
            </a:r>
            <a:r>
              <a:rPr lang="ko-KR" altLang="en-US" sz="2800"/>
              <a:t>동전 </a:t>
            </a:r>
            <a:r>
              <a:rPr lang="en-US" altLang="ko-KR" sz="2800"/>
              <a:t>2</a:t>
            </a:r>
            <a:r>
              <a:rPr lang="ko-KR" altLang="en-US" sz="2800"/>
              <a:t>개를 던졌을 때</a:t>
            </a:r>
          </a:p>
          <a:p>
            <a:pPr eaLnBrk="1" hangingPunct="1">
              <a:buFontTx/>
              <a:buNone/>
            </a:pPr>
            <a:r>
              <a:rPr lang="ko-KR" altLang="en-US" sz="2800"/>
              <a:t>     표본공간</a:t>
            </a:r>
            <a:r>
              <a:rPr lang="en-US" altLang="ko-KR" sz="2800"/>
              <a:t>: HH,HT,TH,TT</a:t>
            </a:r>
          </a:p>
          <a:p>
            <a:pPr eaLnBrk="1" hangingPunct="1">
              <a:buFontTx/>
              <a:buNone/>
            </a:pPr>
            <a:r>
              <a:rPr lang="en-US" altLang="ko-KR" sz="2800"/>
              <a:t>     </a:t>
            </a:r>
            <a:r>
              <a:rPr lang="ko-KR" altLang="en-US" sz="2800"/>
              <a:t>확률변수 </a:t>
            </a:r>
            <a:r>
              <a:rPr lang="en-US" altLang="ko-KR" sz="2800"/>
              <a:t>X</a:t>
            </a:r>
            <a:r>
              <a:rPr lang="ko-KR" altLang="en-US" sz="2800"/>
              <a:t>는 앞면의 수</a:t>
            </a:r>
          </a:p>
          <a:p>
            <a:pPr eaLnBrk="1" hangingPunct="1">
              <a:buFontTx/>
              <a:buNone/>
            </a:pPr>
            <a:r>
              <a:rPr lang="ko-KR" altLang="en-US" sz="2800"/>
              <a:t>          </a:t>
            </a:r>
            <a:r>
              <a:rPr lang="en-US" altLang="ko-KR" sz="2800"/>
              <a:t>X :      2   1   1   0</a:t>
            </a:r>
          </a:p>
          <a:p>
            <a:pPr eaLnBrk="1" hangingPunct="1">
              <a:buFontTx/>
              <a:buNone/>
            </a:pPr>
            <a:r>
              <a:rPr lang="en-US" altLang="ko-KR" sz="2800"/>
              <a:t>(</a:t>
            </a:r>
            <a:r>
              <a:rPr lang="ko-KR" altLang="en-US" sz="2800"/>
              <a:t>예제</a:t>
            </a:r>
            <a:r>
              <a:rPr lang="en-US" altLang="ko-KR" sz="2800"/>
              <a:t>2) </a:t>
            </a:r>
            <a:r>
              <a:rPr lang="ko-KR" altLang="en-US" sz="2800"/>
              <a:t>윷놀이</a:t>
            </a:r>
            <a:r>
              <a:rPr lang="en-US" altLang="ko-KR" sz="2800"/>
              <a:t>(4</a:t>
            </a:r>
            <a:r>
              <a:rPr lang="ko-KR" altLang="en-US" sz="2800"/>
              <a:t>개의 윷가락</a:t>
            </a:r>
            <a:r>
              <a:rPr lang="en-US" altLang="ko-KR" sz="2800"/>
              <a:t>)</a:t>
            </a:r>
          </a:p>
          <a:p>
            <a:pPr eaLnBrk="1" hangingPunct="1">
              <a:buFontTx/>
              <a:buNone/>
            </a:pPr>
            <a:r>
              <a:rPr lang="en-US" altLang="ko-KR" sz="2800"/>
              <a:t>      </a:t>
            </a:r>
            <a:r>
              <a:rPr lang="ko-KR" altLang="en-US" sz="2800"/>
              <a:t>표본공간 </a:t>
            </a:r>
            <a:r>
              <a:rPr lang="en-US" altLang="ko-KR" sz="2800"/>
              <a:t>: 16</a:t>
            </a:r>
            <a:r>
              <a:rPr lang="ko-KR" altLang="en-US" sz="2800"/>
              <a:t>개의 원소로 구성</a:t>
            </a:r>
          </a:p>
          <a:p>
            <a:pPr eaLnBrk="1" hangingPunct="1">
              <a:buFontTx/>
              <a:buNone/>
            </a:pPr>
            <a:r>
              <a:rPr lang="ko-KR" altLang="en-US" sz="2800"/>
              <a:t>      </a:t>
            </a:r>
            <a:r>
              <a:rPr lang="en-US" altLang="ko-KR" sz="2800"/>
              <a:t>X: </a:t>
            </a:r>
            <a:r>
              <a:rPr lang="ko-KR" altLang="en-US" sz="2800"/>
              <a:t>말이 움직일 수 있는 거리</a:t>
            </a:r>
          </a:p>
          <a:p>
            <a:pPr eaLnBrk="1" hangingPunct="1">
              <a:buFontTx/>
              <a:buNone/>
            </a:pPr>
            <a:r>
              <a:rPr lang="ko-KR" altLang="en-US" sz="2800"/>
              <a:t>      </a:t>
            </a:r>
            <a:r>
              <a:rPr lang="en-US" altLang="ko-KR" sz="2800"/>
              <a:t>X= 1,2,3,4,5</a:t>
            </a:r>
          </a:p>
          <a:p>
            <a:pPr eaLnBrk="1" hangingPunct="1">
              <a:buFontTx/>
              <a:buNone/>
            </a:pPr>
            <a:r>
              <a:rPr lang="en-US" altLang="ko-KR">
                <a:sym typeface="Wingdings" pitchFamily="2" charset="2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E95E521-EBE9-4749-A70F-2060268409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40" y="260648"/>
            <a:ext cx="3806887" cy="511256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F51410C-5D71-47E6-9029-427BE3E71C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52" y="404664"/>
            <a:ext cx="4887007" cy="382005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5F4313E-42BF-4BD2-B755-EB069F1AEF1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6" r="4023"/>
          <a:stretch/>
        </p:blipFill>
        <p:spPr>
          <a:xfrm>
            <a:off x="3232000" y="4433869"/>
            <a:ext cx="5832648" cy="20194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ED842B-B8CD-497E-BAB5-6B36AD5DDD2C}"/>
              </a:ext>
            </a:extLst>
          </p:cNvPr>
          <p:cNvSpPr txBox="1"/>
          <p:nvPr/>
        </p:nvSpPr>
        <p:spPr>
          <a:xfrm>
            <a:off x="423688" y="6304002"/>
            <a:ext cx="28083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출처</a:t>
            </a:r>
            <a:r>
              <a:rPr lang="en-US" altLang="ko-KR" sz="1000" dirty="0"/>
              <a:t>: </a:t>
            </a:r>
            <a:r>
              <a:rPr lang="en-US" altLang="ko-KR" sz="10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11. </a:t>
            </a:r>
            <a:r>
              <a:rPr lang="ko-KR" altLang="en-US" sz="10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확률분포 </a:t>
            </a:r>
            <a:r>
              <a:rPr lang="en-US" altLang="ko-KR" sz="10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 AI</a:t>
            </a:r>
            <a:r>
              <a:rPr lang="ko-KR" altLang="en-US" sz="10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와 빅데이터의 기본개념인 통계학 </a:t>
            </a:r>
            <a:r>
              <a:rPr lang="en-US" altLang="ko-KR" sz="10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 SPSS</a:t>
            </a:r>
            <a:r>
              <a:rPr lang="ko-KR" altLang="en-US" sz="10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와 </a:t>
            </a:r>
            <a:r>
              <a:rPr lang="en-US" altLang="ko-KR" sz="10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</a:t>
            </a:r>
            <a:r>
              <a:rPr lang="ko-KR" altLang="en-US" sz="10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으로 </a:t>
            </a:r>
            <a:r>
              <a:rPr lang="en-US" altLang="ko-KR" sz="10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(wikidocs.net)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141032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609600"/>
            <a:ext cx="7772400" cy="4572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ko-KR" dirty="0"/>
              <a:t>(</a:t>
            </a:r>
            <a:r>
              <a:rPr lang="ko-KR" altLang="en-US" dirty="0"/>
              <a:t>예제</a:t>
            </a:r>
            <a:r>
              <a:rPr lang="en-US" altLang="ko-KR" dirty="0"/>
              <a:t>4) </a:t>
            </a:r>
            <a:r>
              <a:rPr lang="ko-KR" altLang="en-US" dirty="0"/>
              <a:t>승용차 </a:t>
            </a:r>
            <a:r>
              <a:rPr lang="en-US" altLang="ko-KR" dirty="0"/>
              <a:t>A, B 2 </a:t>
            </a:r>
            <a:r>
              <a:rPr lang="ko-KR" altLang="en-US" dirty="0"/>
              <a:t>종류</a:t>
            </a:r>
          </a:p>
          <a:p>
            <a:pPr eaLnBrk="1" hangingPunct="1">
              <a:buFontTx/>
              <a:buNone/>
            </a:pPr>
            <a:r>
              <a:rPr lang="en-US" altLang="ko-KR" dirty="0"/>
              <a:t>- </a:t>
            </a:r>
            <a:r>
              <a:rPr lang="ko-KR" altLang="en-US" dirty="0"/>
              <a:t>승용차를 소유한 사람 중에서 </a:t>
            </a:r>
            <a:r>
              <a:rPr lang="en-US" altLang="ko-KR" dirty="0"/>
              <a:t>3</a:t>
            </a:r>
            <a:r>
              <a:rPr lang="ko-KR" altLang="en-US" dirty="0"/>
              <a:t>명을 추출하여 소유 자동차 종류 확인</a:t>
            </a:r>
          </a:p>
          <a:p>
            <a:pPr eaLnBrk="1" hangingPunct="1">
              <a:buFontTx/>
              <a:buChar char="-"/>
            </a:pPr>
            <a:r>
              <a:rPr lang="ko-KR" altLang="en-US" dirty="0"/>
              <a:t>확률변수 </a:t>
            </a:r>
            <a:r>
              <a:rPr lang="en-US" altLang="ko-KR" dirty="0"/>
              <a:t>X: A</a:t>
            </a:r>
            <a:r>
              <a:rPr lang="ko-KR" altLang="en-US" dirty="0"/>
              <a:t>종류를 소유한 사람의 수</a:t>
            </a:r>
          </a:p>
          <a:p>
            <a:pPr eaLnBrk="1" hangingPunct="1">
              <a:buFontTx/>
              <a:buChar char="-"/>
            </a:pPr>
            <a:endParaRPr lang="ko-KR" altLang="en-US" dirty="0"/>
          </a:p>
          <a:p>
            <a:pPr eaLnBrk="1" hangingPunct="1">
              <a:buFontTx/>
              <a:buNone/>
            </a:pPr>
            <a:endParaRPr lang="en-US" altLang="ko-KR" dirty="0"/>
          </a:p>
        </p:txBody>
      </p:sp>
      <p:graphicFrame>
        <p:nvGraphicFramePr>
          <p:cNvPr id="73760" name="Group 1056"/>
          <p:cNvGraphicFramePr>
            <a:graphicFrameLocks noGrp="1"/>
          </p:cNvGraphicFramePr>
          <p:nvPr/>
        </p:nvGraphicFramePr>
        <p:xfrm>
          <a:off x="838200" y="3352800"/>
          <a:ext cx="7391400" cy="2590800"/>
        </p:xfrm>
        <a:graphic>
          <a:graphicData uri="http://schemas.openxmlformats.org/drawingml/2006/table">
            <a:tbl>
              <a:tblPr/>
              <a:tblGrid>
                <a:gridCol w="2836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4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확률변수 </a:t>
                      </a:r>
                      <a:r>
                        <a:rPr kumimoji="1" lang="en-US" altLang="ko-K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X</a:t>
                      </a:r>
                      <a:r>
                        <a:rPr kumimoji="1" lang="ko-K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의 값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X</a:t>
                      </a:r>
                      <a:r>
                        <a:rPr kumimoji="1" lang="ko-K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값에 대응되는 근원사상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1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BBB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ABB, BAB, BBA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1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AAB, ABA, BAA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AAA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14541D16-3BDB-4087-9D27-F9784AB28C7A}"/>
              </a:ext>
            </a:extLst>
          </p:cNvPr>
          <p:cNvSpPr/>
          <p:nvPr/>
        </p:nvSpPr>
        <p:spPr>
          <a:xfrm>
            <a:off x="688369" y="6201489"/>
            <a:ext cx="468052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</a:t>
            </a:r>
            <a:r>
              <a:rPr lang="en-US" altLang="ko-KR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ko-KR" altLang="en-US" sz="1000" dirty="0" err="1"/>
              <a:t>부교제</a:t>
            </a:r>
            <a:r>
              <a:rPr lang="ko-KR" altLang="en-US" sz="1000" dirty="0"/>
              <a:t> 통계학 </a:t>
            </a:r>
            <a:r>
              <a:rPr lang="en-US" altLang="ko-KR" sz="1000" dirty="0"/>
              <a:t>–</a:t>
            </a:r>
            <a:r>
              <a:rPr lang="ko-KR" altLang="en-US" sz="1000" dirty="0"/>
              <a:t>엑셀을 이용한 분석</a:t>
            </a:r>
            <a:r>
              <a:rPr lang="en-US" altLang="ko-KR" sz="1000" dirty="0"/>
              <a:t>, </a:t>
            </a:r>
            <a:r>
              <a:rPr lang="ko-KR" altLang="en-US" sz="1000" dirty="0"/>
              <a:t>자유아카데미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김진경외</a:t>
            </a:r>
            <a:r>
              <a:rPr lang="ko-KR" altLang="en-US" sz="1000" dirty="0"/>
              <a:t> </a:t>
            </a:r>
            <a:r>
              <a:rPr lang="en-US" altLang="ko-KR" sz="1000" dirty="0"/>
              <a:t>5</a:t>
            </a:r>
            <a:r>
              <a:rPr lang="ko-KR" altLang="en-US" sz="1000" dirty="0"/>
              <a:t>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772400" cy="4572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ko-KR" dirty="0"/>
              <a:t>(</a:t>
            </a:r>
            <a:r>
              <a:rPr lang="ko-KR" altLang="en-US" dirty="0"/>
              <a:t>예제</a:t>
            </a:r>
            <a:r>
              <a:rPr lang="en-US" altLang="ko-KR" dirty="0"/>
              <a:t>5) </a:t>
            </a:r>
            <a:r>
              <a:rPr lang="ko-KR" altLang="en-US" dirty="0"/>
              <a:t>어느 지역을 통과하는 차량 중에서 외제차 </a:t>
            </a:r>
            <a:r>
              <a:rPr lang="en-US" altLang="ko-KR" dirty="0"/>
              <a:t>BMW</a:t>
            </a:r>
            <a:r>
              <a:rPr lang="ko-KR" altLang="en-US" dirty="0"/>
              <a:t>를 처음 발견하기까지 지나간 차의 대수를 </a:t>
            </a:r>
            <a:r>
              <a:rPr lang="en-US" altLang="ko-KR" dirty="0"/>
              <a:t>X</a:t>
            </a:r>
            <a:r>
              <a:rPr lang="ko-KR" altLang="en-US" dirty="0"/>
              <a:t>라 하면</a:t>
            </a:r>
            <a:r>
              <a:rPr lang="en-US" altLang="ko-KR" dirty="0">
                <a:latin typeface="Times New Roman" pitchFamily="18" charset="0"/>
              </a:rPr>
              <a:t>…</a:t>
            </a:r>
            <a:endParaRPr lang="en-US" altLang="ko-KR" dirty="0"/>
          </a:p>
          <a:p>
            <a:pPr eaLnBrk="1" hangingPunct="1">
              <a:buFontTx/>
              <a:buNone/>
            </a:pPr>
            <a:r>
              <a:rPr lang="en-US" altLang="ko-KR" dirty="0"/>
              <a:t>   </a:t>
            </a:r>
            <a:r>
              <a:rPr lang="ko-KR" altLang="en-US" dirty="0"/>
              <a:t>확률변수 </a:t>
            </a:r>
            <a:r>
              <a:rPr lang="en-US" altLang="ko-KR" dirty="0"/>
              <a:t>X</a:t>
            </a:r>
            <a:r>
              <a:rPr lang="ko-KR" altLang="en-US" dirty="0"/>
              <a:t>가 취할 수 있는 값</a:t>
            </a:r>
            <a:r>
              <a:rPr lang="en-US" altLang="ko-KR" dirty="0"/>
              <a:t>?</a:t>
            </a:r>
          </a:p>
          <a:p>
            <a:pPr eaLnBrk="1" hangingPunct="1">
              <a:buFontTx/>
              <a:buNone/>
            </a:pPr>
            <a:r>
              <a:rPr lang="en-US" altLang="ko-KR" dirty="0"/>
              <a:t>   X=0, 1, 2, 3,</a:t>
            </a:r>
          </a:p>
        </p:txBody>
      </p:sp>
      <p:graphicFrame>
        <p:nvGraphicFramePr>
          <p:cNvPr id="2050" name="Object 0"/>
          <p:cNvGraphicFramePr>
            <a:graphicFrameLocks noChangeAspect="1"/>
          </p:cNvGraphicFramePr>
          <p:nvPr/>
        </p:nvGraphicFramePr>
        <p:xfrm>
          <a:off x="3581400" y="3352800"/>
          <a:ext cx="609600" cy="284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5" name="Equation" r:id="rId3" imgW="190440" imgH="88560" progId="Equation.3">
                  <p:embed/>
                </p:oleObj>
              </mc:Choice>
              <mc:Fallback>
                <p:oleObj name="Equation" r:id="rId3" imgW="190440" imgH="88560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3352800"/>
                        <a:ext cx="609600" cy="284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4664" y="914400"/>
            <a:ext cx="8134672" cy="50292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ko-KR" sz="2800" dirty="0"/>
              <a:t> - </a:t>
            </a:r>
            <a:r>
              <a:rPr lang="ko-KR" altLang="en-US" sz="2800" dirty="0"/>
              <a:t>이산형 확률변수</a:t>
            </a:r>
            <a:r>
              <a:rPr lang="en-US" altLang="ko-KR" sz="2400" dirty="0"/>
              <a:t>(discrete random variable):</a:t>
            </a:r>
            <a:r>
              <a:rPr lang="en-US" altLang="ko-KR" sz="2000" dirty="0"/>
              <a:t> </a:t>
            </a:r>
          </a:p>
          <a:p>
            <a:pPr eaLnBrk="1" hangingPunct="1">
              <a:buFontTx/>
              <a:buNone/>
            </a:pPr>
            <a:r>
              <a:rPr lang="en-US" altLang="ko-KR" sz="2800" dirty="0"/>
              <a:t>   </a:t>
            </a:r>
            <a:r>
              <a:rPr lang="ko-KR" altLang="en-US" sz="2800" dirty="0"/>
              <a:t>확률변수의 취하는 값이 유한</a:t>
            </a:r>
            <a:r>
              <a:rPr lang="en-US" altLang="ko-KR" sz="2800" dirty="0"/>
              <a:t>(finite)</a:t>
            </a:r>
            <a:r>
              <a:rPr lang="ko-KR" altLang="en-US" sz="2800" dirty="0"/>
              <a:t> 개 이거나 셀 수 있을</a:t>
            </a:r>
            <a:r>
              <a:rPr lang="en-US" altLang="ko-KR" sz="2800" dirty="0"/>
              <a:t>(countable)</a:t>
            </a:r>
            <a:r>
              <a:rPr lang="ko-KR" altLang="en-US" sz="2800" dirty="0"/>
              <a:t> 때</a:t>
            </a:r>
          </a:p>
          <a:p>
            <a:pPr eaLnBrk="1" hangingPunct="1">
              <a:buFontTx/>
              <a:buNone/>
            </a:pPr>
            <a:r>
              <a:rPr lang="ko-KR" altLang="en-US" sz="2800" dirty="0"/>
              <a:t>  </a:t>
            </a:r>
            <a:r>
              <a:rPr lang="ko-KR" altLang="en-US" sz="2400" dirty="0"/>
              <a:t>예</a:t>
            </a:r>
            <a:r>
              <a:rPr lang="en-US" altLang="ko-KR" sz="2400" dirty="0"/>
              <a:t>1) </a:t>
            </a:r>
            <a:r>
              <a:rPr lang="ko-KR" altLang="en-US" sz="2400" dirty="0"/>
              <a:t>하룻동안의 발생하는 자동차 사고 건수</a:t>
            </a:r>
          </a:p>
          <a:p>
            <a:pPr eaLnBrk="1" hangingPunct="1">
              <a:buFontTx/>
              <a:buNone/>
            </a:pPr>
            <a:r>
              <a:rPr lang="ko-KR" altLang="en-US" sz="2400" dirty="0"/>
              <a:t>       </a:t>
            </a:r>
            <a:r>
              <a:rPr lang="en-US" altLang="ko-KR" sz="2400" dirty="0"/>
              <a:t>X = 0,1,2,3,⋯,∞</a:t>
            </a:r>
          </a:p>
          <a:p>
            <a:pPr eaLnBrk="1" hangingPunct="1">
              <a:buFontTx/>
              <a:buNone/>
            </a:pPr>
            <a:r>
              <a:rPr lang="en-US" altLang="ko-KR" sz="2400" dirty="0"/>
              <a:t>  </a:t>
            </a:r>
            <a:r>
              <a:rPr lang="ko-KR" altLang="en-US" sz="2400" dirty="0"/>
              <a:t>예</a:t>
            </a:r>
            <a:r>
              <a:rPr lang="en-US" altLang="ko-KR" sz="2400" dirty="0"/>
              <a:t>2) </a:t>
            </a:r>
            <a:r>
              <a:rPr lang="ko-KR" altLang="en-US" sz="2400" dirty="0"/>
              <a:t>특정시간대에 걸려오는 전화 통화 수</a:t>
            </a:r>
            <a:endParaRPr lang="en-US" altLang="ko-KR" sz="2400" dirty="0"/>
          </a:p>
          <a:p>
            <a:pPr eaLnBrk="1" hangingPunct="1">
              <a:buNone/>
            </a:pPr>
            <a:r>
              <a:rPr lang="en-US" altLang="ko-KR" sz="2400" dirty="0"/>
              <a:t>	   X = 0,1,2,3,⋯,∞</a:t>
            </a:r>
          </a:p>
          <a:p>
            <a:pPr eaLnBrk="1" hangingPunct="1">
              <a:buFontTx/>
              <a:buNone/>
            </a:pPr>
            <a:r>
              <a:rPr lang="ko-KR" altLang="en-US" sz="2400" dirty="0"/>
              <a:t>  예</a:t>
            </a:r>
            <a:r>
              <a:rPr lang="en-US" altLang="ko-KR" sz="2400" dirty="0"/>
              <a:t>3) </a:t>
            </a:r>
            <a:r>
              <a:rPr lang="ko-KR" altLang="en-US" sz="2400" dirty="0"/>
              <a:t>주사위를 던졌을 때 윗면의 수</a:t>
            </a:r>
            <a:endParaRPr lang="en-US" altLang="ko-KR" sz="2400" dirty="0"/>
          </a:p>
          <a:p>
            <a:pPr eaLnBrk="1" hangingPunct="1">
              <a:buFontTx/>
              <a:buNone/>
            </a:pPr>
            <a:r>
              <a:rPr lang="en-US" altLang="ko-KR" sz="2400" dirty="0"/>
              <a:t>	   X= 1, 2, 3, 4, 5, 6</a:t>
            </a:r>
          </a:p>
          <a:p>
            <a:pPr eaLnBrk="1" hangingPunct="1">
              <a:buFontTx/>
              <a:buNone/>
            </a:pPr>
            <a:r>
              <a:rPr lang="en-US" altLang="ko-KR" sz="2400" dirty="0"/>
              <a:t> </a:t>
            </a:r>
          </a:p>
        </p:txBody>
      </p:sp>
      <p:sp>
        <p:nvSpPr>
          <p:cNvPr id="17411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116632"/>
            <a:ext cx="7772400" cy="609600"/>
          </a:xfrm>
          <a:noFill/>
        </p:spPr>
        <p:txBody>
          <a:bodyPr/>
          <a:lstStyle/>
          <a:p>
            <a:pPr algn="l" eaLnBrk="1" hangingPunct="1"/>
            <a:r>
              <a:rPr lang="en-US" altLang="ko-KR" dirty="0">
                <a:solidFill>
                  <a:schemeClr val="accent2"/>
                </a:solidFill>
              </a:rPr>
              <a:t>6.2 </a:t>
            </a:r>
            <a:r>
              <a:rPr lang="ko-KR" altLang="en-US" dirty="0">
                <a:solidFill>
                  <a:schemeClr val="accent2"/>
                </a:solidFill>
              </a:rPr>
              <a:t>확률변수</a:t>
            </a:r>
            <a:r>
              <a:rPr lang="en-US" altLang="ko-KR" dirty="0">
                <a:solidFill>
                  <a:schemeClr val="accent2"/>
                </a:solidFill>
              </a:rPr>
              <a:t>(random variable)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4664" y="914400"/>
            <a:ext cx="8134672" cy="50292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ko-KR" sz="2800" dirty="0"/>
              <a:t>- </a:t>
            </a:r>
            <a:r>
              <a:rPr lang="ko-KR" altLang="en-US" sz="2800" dirty="0"/>
              <a:t>연속형 확률변수</a:t>
            </a:r>
            <a:r>
              <a:rPr lang="en-US" altLang="ko-KR" sz="2400" dirty="0"/>
              <a:t>(continuous random variable):</a:t>
            </a:r>
          </a:p>
          <a:p>
            <a:pPr eaLnBrk="1" hangingPunct="1">
              <a:buFontTx/>
              <a:buNone/>
            </a:pPr>
            <a:r>
              <a:rPr lang="en-US" altLang="ko-KR" sz="2800" dirty="0"/>
              <a:t>   </a:t>
            </a:r>
            <a:r>
              <a:rPr lang="ko-KR" altLang="en-US" sz="2800" dirty="0"/>
              <a:t>확률변수가 하나 또는 그 이상의 구간 내에서 임의의 값을 가질 때 </a:t>
            </a:r>
            <a:endParaRPr lang="en-US" altLang="ko-KR" sz="2800" dirty="0"/>
          </a:p>
          <a:p>
            <a:pPr eaLnBrk="1" hangingPunct="1">
              <a:buFontTx/>
              <a:buNone/>
            </a:pPr>
            <a:r>
              <a:rPr lang="en-US" altLang="ko-KR" sz="2800" dirty="0"/>
              <a:t>   </a:t>
            </a:r>
            <a:r>
              <a:rPr lang="ko-KR" altLang="en-US" sz="2800" dirty="0"/>
              <a:t>즉</a:t>
            </a:r>
            <a:r>
              <a:rPr lang="en-US" altLang="ko-KR" sz="2800" dirty="0"/>
              <a:t> </a:t>
            </a:r>
            <a:r>
              <a:rPr lang="ko-KR" altLang="en-US" sz="2800" dirty="0"/>
              <a:t>확률변수의 취하는 값이 무한 개 이며 셀 수 없을</a:t>
            </a:r>
            <a:r>
              <a:rPr lang="en-US" altLang="ko-KR" sz="2800" dirty="0"/>
              <a:t>(uncountable)</a:t>
            </a:r>
            <a:r>
              <a:rPr lang="ko-KR" altLang="en-US" sz="2800" dirty="0"/>
              <a:t> 때</a:t>
            </a:r>
          </a:p>
          <a:p>
            <a:pPr eaLnBrk="1" hangingPunct="1">
              <a:buFontTx/>
              <a:buNone/>
            </a:pPr>
            <a:r>
              <a:rPr lang="ko-KR" altLang="en-US" sz="2800" dirty="0"/>
              <a:t>  </a:t>
            </a:r>
            <a:r>
              <a:rPr lang="ko-KR" altLang="en-US" sz="2400" dirty="0"/>
              <a:t>예</a:t>
            </a:r>
            <a:r>
              <a:rPr lang="en-US" altLang="ko-KR" sz="2400" dirty="0"/>
              <a:t>) </a:t>
            </a:r>
            <a:r>
              <a:rPr lang="ko-KR" altLang="en-US" sz="2400" dirty="0"/>
              <a:t>몸무게</a:t>
            </a:r>
            <a:r>
              <a:rPr lang="en-US" altLang="ko-KR" sz="2400" dirty="0"/>
              <a:t>, </a:t>
            </a:r>
            <a:r>
              <a:rPr lang="ko-KR" altLang="en-US" sz="2400" dirty="0"/>
              <a:t>키</a:t>
            </a:r>
            <a:r>
              <a:rPr lang="en-US" altLang="ko-KR" sz="2400" dirty="0"/>
              <a:t>, </a:t>
            </a:r>
          </a:p>
          <a:p>
            <a:pPr eaLnBrk="1" hangingPunct="1">
              <a:buFontTx/>
              <a:buNone/>
            </a:pPr>
            <a:r>
              <a:rPr lang="en-US" altLang="ko-KR" sz="2400" dirty="0"/>
              <a:t>        0 &lt; X &lt; M </a:t>
            </a:r>
          </a:p>
          <a:p>
            <a:pPr eaLnBrk="1" hangingPunct="1">
              <a:buFontTx/>
              <a:buNone/>
            </a:pPr>
            <a:r>
              <a:rPr lang="en-US" altLang="ko-KR" sz="2400" dirty="0"/>
              <a:t>  </a:t>
            </a:r>
            <a:r>
              <a:rPr lang="ko-KR" altLang="en-US" sz="2400" dirty="0"/>
              <a:t>예</a:t>
            </a:r>
            <a:r>
              <a:rPr lang="en-US" altLang="ko-KR" sz="2400" dirty="0"/>
              <a:t>)</a:t>
            </a:r>
            <a:r>
              <a:rPr lang="ko-KR" altLang="en-US" sz="2400" dirty="0"/>
              <a:t>제품의 수명</a:t>
            </a:r>
          </a:p>
          <a:p>
            <a:pPr eaLnBrk="1" hangingPunct="1">
              <a:buFontTx/>
              <a:buNone/>
            </a:pPr>
            <a:r>
              <a:rPr lang="ko-KR" altLang="en-US" sz="2400" dirty="0"/>
              <a:t>        </a:t>
            </a:r>
            <a:r>
              <a:rPr lang="en-US" altLang="ko-KR" sz="2400" dirty="0"/>
              <a:t>- ∞ &lt; X &lt; ∞  </a:t>
            </a:r>
          </a:p>
          <a:p>
            <a:pPr eaLnBrk="1" hangingPunct="1">
              <a:buFontTx/>
              <a:buNone/>
            </a:pPr>
            <a:r>
              <a:rPr lang="en-US" altLang="ko-KR" sz="2400" dirty="0"/>
              <a:t>  </a:t>
            </a:r>
            <a:r>
              <a:rPr lang="ko-KR" altLang="en-US" sz="2400" dirty="0"/>
              <a:t>예</a:t>
            </a:r>
            <a:r>
              <a:rPr lang="en-US" altLang="ko-KR" sz="2400" dirty="0"/>
              <a:t>) </a:t>
            </a:r>
            <a:r>
              <a:rPr lang="ko-KR" altLang="en-US" sz="2400" dirty="0"/>
              <a:t>사건발생 시간 간격</a:t>
            </a:r>
            <a:endParaRPr lang="en-US" altLang="ko-KR" sz="2400" dirty="0"/>
          </a:p>
          <a:p>
            <a:pPr eaLnBrk="1" hangingPunct="1">
              <a:buFontTx/>
              <a:buNone/>
            </a:pPr>
            <a:r>
              <a:rPr lang="en-US" altLang="ko-KR" sz="2400" dirty="0"/>
              <a:t>        0 &lt; X &lt; ∞</a:t>
            </a:r>
          </a:p>
        </p:txBody>
      </p:sp>
      <p:sp>
        <p:nvSpPr>
          <p:cNvPr id="17411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116632"/>
            <a:ext cx="7772400" cy="609600"/>
          </a:xfrm>
          <a:noFill/>
        </p:spPr>
        <p:txBody>
          <a:bodyPr/>
          <a:lstStyle/>
          <a:p>
            <a:pPr algn="l" eaLnBrk="1" hangingPunct="1"/>
            <a:r>
              <a:rPr lang="en-US" altLang="ko-KR" dirty="0">
                <a:solidFill>
                  <a:schemeClr val="accent2"/>
                </a:solidFill>
              </a:rPr>
              <a:t>6.2 </a:t>
            </a:r>
            <a:r>
              <a:rPr lang="ko-KR" altLang="en-US" dirty="0">
                <a:solidFill>
                  <a:schemeClr val="accent2"/>
                </a:solidFill>
              </a:rPr>
              <a:t>확률변수</a:t>
            </a:r>
            <a:r>
              <a:rPr lang="en-US" altLang="ko-KR" dirty="0">
                <a:solidFill>
                  <a:schemeClr val="accent2"/>
                </a:solidFill>
              </a:rPr>
              <a:t>(random variable)</a:t>
            </a:r>
          </a:p>
        </p:txBody>
      </p:sp>
    </p:spTree>
    <p:extLst>
      <p:ext uri="{BB962C8B-B14F-4D97-AF65-F5344CB8AC3E}">
        <p14:creationId xmlns:p14="http://schemas.microsoft.com/office/powerpoint/2010/main" val="1807692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762000"/>
            <a:ext cx="7772400" cy="5715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ko-KR" altLang="en-US" dirty="0"/>
              <a:t>확률분포</a:t>
            </a:r>
            <a:r>
              <a:rPr lang="en-US" altLang="ko-KR" dirty="0"/>
              <a:t>(probability distribution):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ko-KR" dirty="0"/>
              <a:t>   -</a:t>
            </a:r>
            <a:r>
              <a:rPr lang="ko-KR" altLang="en-US" sz="2800" dirty="0"/>
              <a:t>확률분포란 확률변수가 취할 수 있는 값에    </a:t>
            </a:r>
            <a:endParaRPr lang="en-US" altLang="ko-KR" sz="2800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ko-KR" sz="2800" dirty="0"/>
              <a:t>     </a:t>
            </a:r>
            <a:r>
              <a:rPr lang="ko-KR" altLang="en-US" sz="2800" dirty="0"/>
              <a:t>확률을 대응시켜 주는 표나 수식이다</a:t>
            </a:r>
            <a:r>
              <a:rPr lang="en-US" altLang="ko-KR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ko-KR" altLang="en-US" dirty="0"/>
              <a:t>이산확률분포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ko-KR" sz="2800" dirty="0"/>
              <a:t>    - </a:t>
            </a:r>
            <a:r>
              <a:rPr lang="ko-KR" altLang="en-US" sz="2800" dirty="0"/>
              <a:t>이산확률변수가 가질 수 있는 값에 확률을 </a:t>
            </a:r>
            <a:endParaRPr lang="en-US" altLang="ko-KR" sz="2800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ko-KR" sz="2800" dirty="0"/>
              <a:t>      </a:t>
            </a:r>
            <a:r>
              <a:rPr lang="ko-KR" altLang="en-US" sz="2800" dirty="0"/>
              <a:t>대응시켜 준 것을 말한다</a:t>
            </a:r>
            <a:r>
              <a:rPr lang="en-US" altLang="ko-KR" sz="2800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2400" dirty="0"/>
              <a:t>(</a:t>
            </a:r>
            <a:r>
              <a:rPr lang="ko-KR" altLang="en-US" sz="2400" dirty="0"/>
              <a:t>예제</a:t>
            </a:r>
            <a:r>
              <a:rPr lang="en-US" altLang="ko-KR" sz="2400" dirty="0"/>
              <a:t>) </a:t>
            </a:r>
            <a:r>
              <a:rPr lang="ko-KR" altLang="en-US" sz="2400" dirty="0"/>
              <a:t>동전 </a:t>
            </a:r>
            <a:r>
              <a:rPr lang="ko-KR" altLang="en-US" sz="2400" dirty="0" err="1"/>
              <a:t>두개</a:t>
            </a:r>
            <a:r>
              <a:rPr lang="ko-KR" altLang="en-US" sz="2400" dirty="0"/>
              <a:t> 던지는 실험</a:t>
            </a:r>
            <a:r>
              <a:rPr lang="en-US" altLang="ko-KR" sz="2400" dirty="0"/>
              <a:t>: X=</a:t>
            </a:r>
            <a:r>
              <a:rPr lang="ko-KR" altLang="en-US" sz="2400" dirty="0"/>
              <a:t>앞면의 수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ko-KR" altLang="en-US" sz="2400" dirty="0"/>
              <a:t>    </a:t>
            </a:r>
            <a:r>
              <a:rPr lang="ko-KR" altLang="en-US" sz="2400" u="sng" dirty="0"/>
              <a:t>사상      </a:t>
            </a:r>
            <a:r>
              <a:rPr lang="en-US" altLang="ko-KR" sz="2400" u="sng" dirty="0"/>
              <a:t>X                </a:t>
            </a:r>
            <a:r>
              <a:rPr lang="en-US" altLang="ko-KR" sz="2400" dirty="0"/>
              <a:t>      </a:t>
            </a:r>
            <a:r>
              <a:rPr lang="en-US" altLang="ko-KR" sz="2400" u="sng" dirty="0"/>
              <a:t>    </a:t>
            </a:r>
            <a:r>
              <a:rPr lang="en-US" altLang="ko-KR" sz="2400" u="sng" dirty="0" err="1"/>
              <a:t>X</a:t>
            </a:r>
            <a:r>
              <a:rPr lang="en-US" altLang="ko-KR" sz="2400" u="sng" dirty="0"/>
              <a:t>      p(X=x)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ko-KR" sz="2400" dirty="0"/>
              <a:t>      </a:t>
            </a:r>
            <a:r>
              <a:rPr lang="en-US" altLang="ko-KR" sz="2800" dirty="0"/>
              <a:t>HH     2      1/4           2       1/4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ko-KR" sz="2800" dirty="0"/>
              <a:t>     HT     1       1/4           1       1/2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ko-KR" sz="2800" dirty="0"/>
              <a:t>     TH     1       1/4           0       1/4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ko-KR" sz="2800" dirty="0"/>
              <a:t>     TT     0       1/4</a:t>
            </a:r>
            <a:r>
              <a:rPr lang="en-US" altLang="ko-KR" sz="2800" baseline="30000" dirty="0"/>
              <a:t>     </a:t>
            </a:r>
          </a:p>
        </p:txBody>
      </p:sp>
      <p:sp>
        <p:nvSpPr>
          <p:cNvPr id="18435" name="Rectangle 4"/>
          <p:cNvSpPr>
            <a:spLocks noChangeArrowheads="1"/>
          </p:cNvSpPr>
          <p:nvPr/>
        </p:nvSpPr>
        <p:spPr bwMode="auto">
          <a:xfrm>
            <a:off x="685800" y="152400"/>
            <a:ext cx="7772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altLang="ko-KR" sz="3600">
                <a:solidFill>
                  <a:schemeClr val="accent2"/>
                </a:solidFill>
              </a:rPr>
              <a:t>6.3 </a:t>
            </a:r>
            <a:r>
              <a:rPr lang="ko-KR" altLang="en-US" sz="3600">
                <a:solidFill>
                  <a:schemeClr val="accent2"/>
                </a:solidFill>
              </a:rPr>
              <a:t>이산확률변수와  확률분포</a:t>
            </a:r>
          </a:p>
        </p:txBody>
      </p:sp>
      <p:sp>
        <p:nvSpPr>
          <p:cNvPr id="18436" name="Line 5"/>
          <p:cNvSpPr>
            <a:spLocks noChangeShapeType="1"/>
          </p:cNvSpPr>
          <p:nvPr/>
        </p:nvSpPr>
        <p:spPr bwMode="auto">
          <a:xfrm>
            <a:off x="5943600" y="4267200"/>
            <a:ext cx="0" cy="198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8437" name="Line 6"/>
          <p:cNvSpPr>
            <a:spLocks noChangeShapeType="1"/>
          </p:cNvSpPr>
          <p:nvPr/>
        </p:nvSpPr>
        <p:spPr bwMode="auto">
          <a:xfrm>
            <a:off x="3200400" y="43434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8438" name="Line 7"/>
          <p:cNvSpPr>
            <a:spLocks noChangeShapeType="1"/>
          </p:cNvSpPr>
          <p:nvPr/>
        </p:nvSpPr>
        <p:spPr bwMode="auto">
          <a:xfrm>
            <a:off x="2209800" y="4343400"/>
            <a:ext cx="0" cy="228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8439" name="Line 8"/>
          <p:cNvSpPr>
            <a:spLocks noChangeShapeType="1"/>
          </p:cNvSpPr>
          <p:nvPr/>
        </p:nvSpPr>
        <p:spPr bwMode="auto">
          <a:xfrm>
            <a:off x="1143000" y="6629400"/>
            <a:ext cx="3276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8440" name="Line 11"/>
          <p:cNvSpPr>
            <a:spLocks noChangeShapeType="1"/>
          </p:cNvSpPr>
          <p:nvPr/>
        </p:nvSpPr>
        <p:spPr bwMode="auto">
          <a:xfrm>
            <a:off x="4953000" y="6248400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381000"/>
            <a:ext cx="8229600" cy="6019800"/>
          </a:xfrm>
        </p:spPr>
        <p:txBody>
          <a:bodyPr/>
          <a:lstStyle/>
          <a:p>
            <a:pPr marL="533400" indent="-533400" eaLnBrk="1" hangingPunct="1">
              <a:buFontTx/>
              <a:buNone/>
            </a:pPr>
            <a:r>
              <a:rPr lang="ko-KR" altLang="en-US" sz="2800" dirty="0"/>
              <a:t>예제</a:t>
            </a:r>
            <a:r>
              <a:rPr lang="en-US" altLang="ko-KR" sz="2800" dirty="0"/>
              <a:t>6) </a:t>
            </a:r>
            <a:r>
              <a:rPr lang="ko-KR" altLang="en-US" sz="2800" dirty="0"/>
              <a:t>윷놀이 </a:t>
            </a:r>
            <a:r>
              <a:rPr lang="en-US" altLang="ko-KR" sz="2800" dirty="0"/>
              <a:t>: 4</a:t>
            </a:r>
            <a:r>
              <a:rPr lang="ko-KR" altLang="en-US" sz="2800" dirty="0"/>
              <a:t>개의 윷가락</a:t>
            </a:r>
          </a:p>
          <a:p>
            <a:pPr marL="533400" indent="-533400" eaLnBrk="1" hangingPunct="1">
              <a:buFontTx/>
              <a:buNone/>
            </a:pPr>
            <a:r>
              <a:rPr lang="ko-KR" altLang="en-US" sz="2800" dirty="0"/>
              <a:t>        윷가락이 엎어지면    </a:t>
            </a:r>
            <a:r>
              <a:rPr lang="en-US" altLang="ko-KR" sz="2800" dirty="0"/>
              <a:t>H</a:t>
            </a:r>
          </a:p>
          <a:p>
            <a:pPr marL="533400" indent="-533400" eaLnBrk="1" hangingPunct="1">
              <a:buFontTx/>
              <a:buNone/>
            </a:pPr>
            <a:r>
              <a:rPr lang="en-US" altLang="ko-KR" sz="2800" dirty="0"/>
              <a:t>        </a:t>
            </a:r>
            <a:r>
              <a:rPr lang="ko-KR" altLang="en-US" sz="2800" dirty="0"/>
              <a:t>윷가락이 뒤집히면    </a:t>
            </a:r>
            <a:r>
              <a:rPr lang="en-US" altLang="ko-KR" sz="2800" dirty="0"/>
              <a:t>T</a:t>
            </a:r>
          </a:p>
          <a:p>
            <a:pPr marL="533400" indent="-533400" eaLnBrk="1" hangingPunct="1">
              <a:buFontTx/>
              <a:buNone/>
            </a:pPr>
            <a:r>
              <a:rPr lang="en-US" altLang="ko-KR" sz="2800" dirty="0"/>
              <a:t>        X : </a:t>
            </a:r>
            <a:r>
              <a:rPr lang="ko-KR" altLang="en-US" sz="2800" dirty="0"/>
              <a:t>말이 움직일 수 있는 거리</a:t>
            </a:r>
          </a:p>
          <a:p>
            <a:pPr marL="533400" indent="-533400" eaLnBrk="1" hangingPunct="1">
              <a:buFontTx/>
              <a:buNone/>
            </a:pPr>
            <a:r>
              <a:rPr lang="ko-KR" altLang="en-US" sz="2800" dirty="0">
                <a:solidFill>
                  <a:srgbClr val="FF3300"/>
                </a:solidFill>
              </a:rPr>
              <a:t>확률변수 </a:t>
            </a:r>
            <a:r>
              <a:rPr lang="en-US" altLang="ko-KR" sz="2800" dirty="0">
                <a:solidFill>
                  <a:srgbClr val="FF3300"/>
                </a:solidFill>
              </a:rPr>
              <a:t>X      </a:t>
            </a:r>
            <a:r>
              <a:rPr lang="ko-KR" altLang="en-US" sz="2800" dirty="0">
                <a:solidFill>
                  <a:srgbClr val="FF3300"/>
                </a:solidFill>
              </a:rPr>
              <a:t>표본공간                           확률</a:t>
            </a:r>
          </a:p>
          <a:p>
            <a:pPr marL="533400" indent="-533400" eaLnBrk="1" hangingPunct="1">
              <a:buFontTx/>
              <a:buNone/>
            </a:pPr>
            <a:r>
              <a:rPr lang="ko-KR" altLang="en-US" sz="2800" dirty="0"/>
              <a:t>           </a:t>
            </a:r>
            <a:r>
              <a:rPr lang="en-US" altLang="ko-KR" sz="2800" dirty="0"/>
              <a:t>1   THHH, HTHH, HHTH, HHHT    4/16</a:t>
            </a:r>
          </a:p>
          <a:p>
            <a:pPr marL="533400" indent="-533400" eaLnBrk="1" hangingPunct="1">
              <a:buFontTx/>
              <a:buNone/>
            </a:pPr>
            <a:r>
              <a:rPr lang="en-US" altLang="ko-KR" sz="2800" dirty="0"/>
              <a:t>           2   HHTT, HTHT, THHT, TTHH,</a:t>
            </a:r>
          </a:p>
          <a:p>
            <a:pPr marL="533400" indent="-533400" eaLnBrk="1" hangingPunct="1">
              <a:buFontTx/>
              <a:buNone/>
            </a:pPr>
            <a:r>
              <a:rPr lang="en-US" altLang="ko-KR" sz="2800" dirty="0"/>
              <a:t>                 HTTH,THHT                          6/16</a:t>
            </a:r>
          </a:p>
          <a:p>
            <a:pPr marL="533400" indent="-533400" eaLnBrk="1" hangingPunct="1">
              <a:buFontTx/>
              <a:buNone/>
            </a:pPr>
            <a:r>
              <a:rPr lang="en-US" altLang="ko-KR" sz="2800" dirty="0"/>
              <a:t>           3   HTTT, THTT, TTHT, TTTH        4/16</a:t>
            </a:r>
          </a:p>
          <a:p>
            <a:pPr marL="533400" indent="-533400" eaLnBrk="1" hangingPunct="1">
              <a:buFontTx/>
              <a:buNone/>
            </a:pPr>
            <a:r>
              <a:rPr lang="en-US" altLang="ko-KR" sz="2800" dirty="0"/>
              <a:t>           4   TTTT                                     1/16</a:t>
            </a:r>
          </a:p>
          <a:p>
            <a:pPr marL="533400" indent="-533400" eaLnBrk="1" hangingPunct="1">
              <a:buFontTx/>
              <a:buNone/>
            </a:pPr>
            <a:r>
              <a:rPr lang="en-US" altLang="ko-KR" sz="2800" dirty="0"/>
              <a:t>           5   HHHH                                   1/16</a:t>
            </a:r>
          </a:p>
        </p:txBody>
      </p:sp>
      <p:sp>
        <p:nvSpPr>
          <p:cNvPr id="19459" name="Line 4"/>
          <p:cNvSpPr>
            <a:spLocks noChangeShapeType="1"/>
          </p:cNvSpPr>
          <p:nvPr/>
        </p:nvSpPr>
        <p:spPr bwMode="auto">
          <a:xfrm>
            <a:off x="2133600" y="2514600"/>
            <a:ext cx="0" cy="3581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9460" name="Line 5"/>
          <p:cNvSpPr>
            <a:spLocks noChangeShapeType="1"/>
          </p:cNvSpPr>
          <p:nvPr/>
        </p:nvSpPr>
        <p:spPr bwMode="auto">
          <a:xfrm>
            <a:off x="304800" y="29718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9461" name="Line 6"/>
          <p:cNvSpPr>
            <a:spLocks noChangeShapeType="1"/>
          </p:cNvSpPr>
          <p:nvPr/>
        </p:nvSpPr>
        <p:spPr bwMode="auto">
          <a:xfrm>
            <a:off x="7010400" y="2514600"/>
            <a:ext cx="0" cy="3581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9462" name="Line 7"/>
          <p:cNvSpPr>
            <a:spLocks noChangeShapeType="1"/>
          </p:cNvSpPr>
          <p:nvPr/>
        </p:nvSpPr>
        <p:spPr bwMode="auto">
          <a:xfrm>
            <a:off x="520700" y="6096000"/>
            <a:ext cx="807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381000"/>
            <a:ext cx="7772400" cy="4572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ko-KR" dirty="0"/>
              <a:t>(</a:t>
            </a:r>
            <a:r>
              <a:rPr lang="ko-KR" altLang="en-US" dirty="0"/>
              <a:t>예제</a:t>
            </a:r>
            <a:r>
              <a:rPr lang="en-US" altLang="ko-KR" dirty="0"/>
              <a:t>7) </a:t>
            </a:r>
            <a:r>
              <a:rPr lang="ko-KR" altLang="en-US" dirty="0" err="1"/>
              <a:t>세명의</a:t>
            </a:r>
            <a:r>
              <a:rPr lang="ko-KR" altLang="en-US" dirty="0"/>
              <a:t> 학생이 백화점에서 구두</a:t>
            </a:r>
            <a:r>
              <a:rPr lang="en-US" altLang="ko-KR" dirty="0"/>
              <a:t>(A)</a:t>
            </a:r>
            <a:r>
              <a:rPr lang="ko-KR" altLang="en-US" dirty="0"/>
              <a:t>나 운동화</a:t>
            </a:r>
            <a:r>
              <a:rPr lang="en-US" altLang="ko-KR" dirty="0"/>
              <a:t>(B)</a:t>
            </a:r>
            <a:r>
              <a:rPr lang="ko-KR" altLang="en-US" dirty="0"/>
              <a:t>를 구매</a:t>
            </a:r>
            <a:r>
              <a:rPr lang="en-US" altLang="ko-KR" dirty="0"/>
              <a:t>. </a:t>
            </a:r>
          </a:p>
          <a:p>
            <a:pPr eaLnBrk="1" hangingPunct="1">
              <a:buFontTx/>
              <a:buChar char="-"/>
            </a:pPr>
            <a:r>
              <a:rPr lang="ko-KR" altLang="en-US" dirty="0"/>
              <a:t>서로의 구매에 영향을 받지 않고 </a:t>
            </a:r>
          </a:p>
          <a:p>
            <a:pPr eaLnBrk="1" hangingPunct="1">
              <a:buFontTx/>
              <a:buChar char="-"/>
            </a:pPr>
            <a:r>
              <a:rPr lang="ko-KR" altLang="en-US" dirty="0"/>
              <a:t>반 반의 가능성을 가지고 품목 결정</a:t>
            </a:r>
            <a:r>
              <a:rPr lang="en-US" altLang="ko-KR" dirty="0"/>
              <a:t>. </a:t>
            </a:r>
          </a:p>
          <a:p>
            <a:pPr eaLnBrk="1" hangingPunct="1">
              <a:buFontTx/>
              <a:buChar char="-"/>
            </a:pPr>
            <a:r>
              <a:rPr lang="ko-KR" altLang="en-US" dirty="0"/>
              <a:t>확률변수 </a:t>
            </a:r>
            <a:r>
              <a:rPr lang="en-US" altLang="ko-KR" dirty="0"/>
              <a:t>X</a:t>
            </a:r>
            <a:r>
              <a:rPr lang="ko-KR" altLang="en-US" dirty="0"/>
              <a:t>는 세 명 중 구두를 구매한 학생의 수</a:t>
            </a:r>
          </a:p>
          <a:p>
            <a:pPr eaLnBrk="1" hangingPunct="1">
              <a:buFontTx/>
              <a:buChar char="-"/>
            </a:pPr>
            <a:r>
              <a:rPr lang="en-US" altLang="ko-KR" dirty="0"/>
              <a:t>X</a:t>
            </a:r>
            <a:r>
              <a:rPr lang="ko-KR" altLang="en-US" dirty="0"/>
              <a:t>의 확률분포는</a:t>
            </a:r>
            <a:r>
              <a:rPr lang="en-US" altLang="ko-KR" dirty="0"/>
              <a:t>?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5B5C03C-7C15-4AA5-B112-3839814CE3CC}"/>
              </a:ext>
            </a:extLst>
          </p:cNvPr>
          <p:cNvSpPr/>
          <p:nvPr/>
        </p:nvSpPr>
        <p:spPr>
          <a:xfrm>
            <a:off x="688369" y="6201489"/>
            <a:ext cx="468052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</a:t>
            </a:r>
            <a:r>
              <a:rPr lang="en-US" altLang="ko-KR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ko-KR" altLang="en-US" sz="1000" dirty="0" err="1"/>
              <a:t>부교제</a:t>
            </a:r>
            <a:r>
              <a:rPr lang="ko-KR" altLang="en-US" sz="1000" dirty="0"/>
              <a:t> 통계학 </a:t>
            </a:r>
            <a:r>
              <a:rPr lang="en-US" altLang="ko-KR" sz="1000" dirty="0"/>
              <a:t>–</a:t>
            </a:r>
            <a:r>
              <a:rPr lang="ko-KR" altLang="en-US" sz="1000" dirty="0"/>
              <a:t>엑셀을 이용한 분석</a:t>
            </a:r>
            <a:r>
              <a:rPr lang="en-US" altLang="ko-KR" sz="1000" dirty="0"/>
              <a:t>, </a:t>
            </a:r>
            <a:r>
              <a:rPr lang="ko-KR" altLang="en-US" sz="1000" dirty="0"/>
              <a:t>자유아카데미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김진경외</a:t>
            </a:r>
            <a:r>
              <a:rPr lang="ko-KR" altLang="en-US" sz="1000" dirty="0"/>
              <a:t> </a:t>
            </a:r>
            <a:r>
              <a:rPr lang="en-US" altLang="ko-KR" sz="1000" dirty="0"/>
              <a:t>5</a:t>
            </a:r>
            <a:r>
              <a:rPr lang="ko-KR" altLang="en-US" sz="1000" dirty="0"/>
              <a:t>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876300"/>
            <a:ext cx="7772400" cy="4953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ko-KR" dirty="0"/>
              <a:t> </a:t>
            </a:r>
            <a:r>
              <a:rPr lang="ko-KR" altLang="en-US" dirty="0"/>
              <a:t>특성</a:t>
            </a:r>
            <a:r>
              <a:rPr lang="en-US" altLang="ko-KR" dirty="0"/>
              <a:t>:</a:t>
            </a:r>
          </a:p>
          <a:p>
            <a:pPr eaLnBrk="1" hangingPunct="1">
              <a:buFontTx/>
              <a:buNone/>
            </a:pPr>
            <a:r>
              <a:rPr lang="en-US" altLang="ko-KR" dirty="0"/>
              <a:t>  </a:t>
            </a:r>
          </a:p>
          <a:p>
            <a:pPr eaLnBrk="1" hangingPunct="1">
              <a:buFontTx/>
              <a:buNone/>
            </a:pPr>
            <a:r>
              <a:rPr lang="en-US" altLang="ko-KR" dirty="0"/>
              <a:t>  1) </a:t>
            </a:r>
            <a:r>
              <a:rPr lang="ko-KR" altLang="en-US" dirty="0"/>
              <a:t>모든   에 대하여</a:t>
            </a:r>
          </a:p>
          <a:p>
            <a:pPr eaLnBrk="1" hangingPunct="1">
              <a:buFontTx/>
              <a:buNone/>
            </a:pPr>
            <a:r>
              <a:rPr lang="ko-KR" altLang="en-US" dirty="0"/>
              <a:t>  </a:t>
            </a:r>
            <a:r>
              <a:rPr lang="en-US" altLang="ko-KR" dirty="0"/>
              <a:t>2)</a:t>
            </a:r>
          </a:p>
          <a:p>
            <a:pPr eaLnBrk="1" hangingPunct="1">
              <a:buFontTx/>
              <a:buNone/>
            </a:pPr>
            <a:endParaRPr lang="en-US" altLang="ko-KR" dirty="0"/>
          </a:p>
          <a:p>
            <a:pPr eaLnBrk="1" hangingPunct="1">
              <a:buFontTx/>
              <a:buNone/>
            </a:pPr>
            <a:r>
              <a:rPr lang="en-US" altLang="ko-KR" dirty="0"/>
              <a:t>  </a:t>
            </a:r>
          </a:p>
        </p:txBody>
      </p:sp>
      <p:graphicFrame>
        <p:nvGraphicFramePr>
          <p:cNvPr id="3074" name="Object 1024"/>
          <p:cNvGraphicFramePr>
            <a:graphicFrameLocks noChangeAspect="1"/>
          </p:cNvGraphicFramePr>
          <p:nvPr/>
        </p:nvGraphicFramePr>
        <p:xfrm>
          <a:off x="1752600" y="2743200"/>
          <a:ext cx="1819275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2" name="Equation" r:id="rId3" imgW="888840" imgH="355320" progId="Equation.3">
                  <p:embed/>
                </p:oleObj>
              </mc:Choice>
              <mc:Fallback>
                <p:oleObj name="Equation" r:id="rId3" imgW="888840" imgH="355320" progId="Equation.3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743200"/>
                        <a:ext cx="1819275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9" name="Rectangle 1031"/>
          <p:cNvSpPr>
            <a:spLocks noChangeArrowheads="1"/>
          </p:cNvSpPr>
          <p:nvPr/>
        </p:nvSpPr>
        <p:spPr bwMode="auto">
          <a:xfrm>
            <a:off x="685800" y="152400"/>
            <a:ext cx="7772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altLang="ko-KR" sz="3600">
                <a:solidFill>
                  <a:schemeClr val="accent2"/>
                </a:solidFill>
              </a:rPr>
              <a:t>6.3 </a:t>
            </a:r>
            <a:r>
              <a:rPr lang="ko-KR" altLang="en-US" sz="3600">
                <a:solidFill>
                  <a:schemeClr val="accent2"/>
                </a:solidFill>
              </a:rPr>
              <a:t>이산형 확률변수와  확률분포</a:t>
            </a:r>
          </a:p>
        </p:txBody>
      </p:sp>
      <p:graphicFrame>
        <p:nvGraphicFramePr>
          <p:cNvPr id="3075" name="Object 1025"/>
          <p:cNvGraphicFramePr>
            <a:graphicFrameLocks noChangeAspect="1"/>
          </p:cNvGraphicFramePr>
          <p:nvPr/>
        </p:nvGraphicFramePr>
        <p:xfrm>
          <a:off x="1981200" y="1524000"/>
          <a:ext cx="2362200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3" name="Equation" r:id="rId5" imgW="1295280" imgH="241200" progId="Equation.3">
                  <p:embed/>
                </p:oleObj>
              </mc:Choice>
              <mc:Fallback>
                <p:oleObj name="Equation" r:id="rId5" imgW="1295280" imgH="241200" progId="Equation.3">
                  <p:embed/>
                  <p:pic>
                    <p:nvPicPr>
                      <p:cNvPr id="0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524000"/>
                        <a:ext cx="2362200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" name="Object 1026"/>
          <p:cNvGraphicFramePr>
            <a:graphicFrameLocks noChangeAspect="1"/>
          </p:cNvGraphicFramePr>
          <p:nvPr/>
        </p:nvGraphicFramePr>
        <p:xfrm>
          <a:off x="2438400" y="2057400"/>
          <a:ext cx="3651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4" name="Equation" r:id="rId7" imgW="164880" imgH="241200" progId="Equation.3">
                  <p:embed/>
                </p:oleObj>
              </mc:Choice>
              <mc:Fallback>
                <p:oleObj name="Equation" r:id="rId7" imgW="164880" imgH="241200" progId="Equation.3">
                  <p:embed/>
                  <p:pic>
                    <p:nvPicPr>
                      <p:cNvPr id="0" name="Object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057400"/>
                        <a:ext cx="36512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7" name="Object 1027"/>
          <p:cNvGraphicFramePr>
            <a:graphicFrameLocks noChangeAspect="1"/>
          </p:cNvGraphicFramePr>
          <p:nvPr/>
        </p:nvGraphicFramePr>
        <p:xfrm>
          <a:off x="4876800" y="2133600"/>
          <a:ext cx="19050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5" name="Equation" r:id="rId9" imgW="901440" imgH="241200" progId="Equation.3">
                  <p:embed/>
                </p:oleObj>
              </mc:Choice>
              <mc:Fallback>
                <p:oleObj name="Equation" r:id="rId9" imgW="901440" imgH="241200" progId="Equation.3">
                  <p:embed/>
                  <p:pic>
                    <p:nvPicPr>
                      <p:cNvPr id="0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2133600"/>
                        <a:ext cx="190500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DA15B6C-3A00-48E9-969C-1726618D63AA}"/>
                  </a:ext>
                </a:extLst>
              </p:cNvPr>
              <p:cNvSpPr txBox="1"/>
              <p:nvPr/>
            </p:nvSpPr>
            <p:spPr>
              <a:xfrm>
                <a:off x="1043608" y="3826828"/>
                <a:ext cx="6727804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ko-KR" altLang="en-US" i="1"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ko-KR" altLang="en-US" dirty="0"/>
                  <a:t> 확률함수 혹은 </a:t>
                </a:r>
                <a:endParaRPr lang="en-US" altLang="ko-KR" dirty="0"/>
              </a:p>
              <a:p>
                <a:r>
                  <a:rPr lang="en-US" altLang="ko-KR" dirty="0"/>
                  <a:t>          </a:t>
                </a:r>
                <a:r>
                  <a:rPr lang="ko-KR" altLang="en-US" dirty="0"/>
                  <a:t>확률질량함수</a:t>
                </a:r>
                <a:r>
                  <a:rPr lang="en-US" altLang="ko-KR" dirty="0"/>
                  <a:t>(probability mass function)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DA15B6C-3A00-48E9-969C-1726618D63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3826828"/>
                <a:ext cx="6727804" cy="738664"/>
              </a:xfrm>
              <a:prstGeom prst="rect">
                <a:avLst/>
              </a:prstGeom>
              <a:blipFill>
                <a:blip r:embed="rId11"/>
                <a:stretch>
                  <a:fillRect l="-2083" t="-15702" r="-1902" b="-239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762000"/>
            <a:ext cx="7772400" cy="4876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ko-KR" dirty="0"/>
              <a:t>(</a:t>
            </a:r>
            <a:r>
              <a:rPr lang="ko-KR" altLang="en-US" dirty="0"/>
              <a:t>예제</a:t>
            </a:r>
            <a:r>
              <a:rPr lang="en-US" altLang="ko-KR" dirty="0"/>
              <a:t>8) </a:t>
            </a:r>
            <a:r>
              <a:rPr lang="ko-KR" altLang="en-US" dirty="0"/>
              <a:t>요즘 대학생이 사용하는 </a:t>
            </a:r>
            <a:r>
              <a:rPr lang="ko-KR" altLang="en-US" dirty="0" err="1"/>
              <a:t>이메일</a:t>
            </a:r>
            <a:r>
              <a:rPr lang="ko-KR" altLang="en-US" dirty="0"/>
              <a:t> 계정 수를 </a:t>
            </a:r>
            <a:r>
              <a:rPr lang="en-US" altLang="ko-KR" dirty="0"/>
              <a:t>X</a:t>
            </a:r>
            <a:r>
              <a:rPr lang="ko-KR" altLang="en-US" dirty="0"/>
              <a:t>라 하자</a:t>
            </a:r>
            <a:r>
              <a:rPr lang="en-US" altLang="ko-KR" dirty="0"/>
              <a:t>. </a:t>
            </a:r>
            <a:r>
              <a:rPr lang="ko-KR" altLang="en-US" dirty="0"/>
              <a:t>전국에서 </a:t>
            </a:r>
            <a:r>
              <a:rPr lang="en-US" altLang="ko-KR" dirty="0"/>
              <a:t>400</a:t>
            </a:r>
            <a:r>
              <a:rPr lang="ko-KR" altLang="en-US" dirty="0"/>
              <a:t>명 조사</a:t>
            </a:r>
          </a:p>
        </p:txBody>
      </p:sp>
      <p:graphicFrame>
        <p:nvGraphicFramePr>
          <p:cNvPr id="76840" name="Group 40"/>
          <p:cNvGraphicFramePr>
            <a:graphicFrameLocks noGrp="1"/>
          </p:cNvGraphicFramePr>
          <p:nvPr/>
        </p:nvGraphicFramePr>
        <p:xfrm>
          <a:off x="1905000" y="2362200"/>
          <a:ext cx="5791200" cy="3441066"/>
        </p:xfrm>
        <a:graphic>
          <a:graphicData uri="http://schemas.openxmlformats.org/drawingml/2006/table">
            <a:tbl>
              <a:tblPr/>
              <a:tblGrid>
                <a:gridCol w="193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11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이메일 계정의 수</a:t>
                      </a:r>
                      <a:r>
                        <a:rPr kumimoji="1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(X)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돗수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상대돗수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7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61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153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106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56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0.15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0.38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0.27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0.14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0.06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합계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400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1.00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68EB10AF-4533-4679-9455-07F84C26F4B3}"/>
              </a:ext>
            </a:extLst>
          </p:cNvPr>
          <p:cNvSpPr/>
          <p:nvPr/>
        </p:nvSpPr>
        <p:spPr>
          <a:xfrm>
            <a:off x="688369" y="6201489"/>
            <a:ext cx="468052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</a:t>
            </a:r>
            <a:r>
              <a:rPr lang="en-US" altLang="ko-KR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ko-KR" altLang="en-US" sz="1000" dirty="0" err="1"/>
              <a:t>부교제</a:t>
            </a:r>
            <a:r>
              <a:rPr lang="ko-KR" altLang="en-US" sz="1000" dirty="0"/>
              <a:t> 통계학 </a:t>
            </a:r>
            <a:r>
              <a:rPr lang="en-US" altLang="ko-KR" sz="1000" dirty="0"/>
              <a:t>–</a:t>
            </a:r>
            <a:r>
              <a:rPr lang="ko-KR" altLang="en-US" sz="1000" dirty="0"/>
              <a:t>엑셀을 이용한 분석</a:t>
            </a:r>
            <a:r>
              <a:rPr lang="en-US" altLang="ko-KR" sz="1000" dirty="0"/>
              <a:t>, </a:t>
            </a:r>
            <a:r>
              <a:rPr lang="ko-KR" altLang="en-US" sz="1000" dirty="0"/>
              <a:t>자유아카데미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김진경외</a:t>
            </a:r>
            <a:r>
              <a:rPr lang="ko-KR" altLang="en-US" sz="1000" dirty="0"/>
              <a:t> </a:t>
            </a:r>
            <a:r>
              <a:rPr lang="en-US" altLang="ko-KR" sz="1000" dirty="0"/>
              <a:t>5</a:t>
            </a:r>
            <a:r>
              <a:rPr lang="ko-KR" altLang="en-US" sz="1000" dirty="0"/>
              <a:t>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6632"/>
            <a:ext cx="7772400" cy="6192688"/>
          </a:xfrm>
        </p:spPr>
        <p:txBody>
          <a:bodyPr/>
          <a:lstStyle/>
          <a:p>
            <a:pPr eaLnBrk="1" hangingPunct="1"/>
            <a:r>
              <a:rPr lang="ko-KR" altLang="en-US" dirty="0"/>
              <a:t>예제</a:t>
            </a:r>
            <a:r>
              <a:rPr lang="en-US" altLang="ko-KR" dirty="0"/>
              <a:t>)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FF5B354-6547-4B95-A85C-151863E436F0}"/>
              </a:ext>
            </a:extLst>
          </p:cNvPr>
          <p:cNvSpPr/>
          <p:nvPr/>
        </p:nvSpPr>
        <p:spPr>
          <a:xfrm>
            <a:off x="539552" y="6503675"/>
            <a:ext cx="468052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</a:t>
            </a:r>
            <a:r>
              <a:rPr lang="en-US" altLang="ko-KR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ko-KR" altLang="en-US" sz="1000" dirty="0" err="1"/>
              <a:t>부교제</a:t>
            </a:r>
            <a:r>
              <a:rPr lang="ko-KR" altLang="en-US" sz="1000" dirty="0"/>
              <a:t> 통계학 </a:t>
            </a:r>
            <a:r>
              <a:rPr lang="en-US" altLang="ko-KR" sz="1000" dirty="0"/>
              <a:t>–</a:t>
            </a:r>
            <a:r>
              <a:rPr lang="ko-KR" altLang="en-US" sz="1000" dirty="0"/>
              <a:t>엑셀을 이용한 분석</a:t>
            </a:r>
            <a:r>
              <a:rPr lang="en-US" altLang="ko-KR" sz="1000" dirty="0"/>
              <a:t>, </a:t>
            </a:r>
            <a:r>
              <a:rPr lang="ko-KR" altLang="en-US" sz="1000" dirty="0"/>
              <a:t>자유아카데미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김진경외</a:t>
            </a:r>
            <a:r>
              <a:rPr lang="ko-KR" altLang="en-US" sz="1000" dirty="0"/>
              <a:t> </a:t>
            </a:r>
            <a:r>
              <a:rPr lang="en-US" altLang="ko-KR" sz="1000" dirty="0"/>
              <a:t>5</a:t>
            </a:r>
            <a:r>
              <a:rPr lang="ko-KR" altLang="en-US" sz="1000" dirty="0"/>
              <a:t>명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0ECCC94-08B2-4C08-BAF7-1878039CDB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8964488" cy="210831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87DDB70-1542-47D3-A269-884DCF4840C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9" r="1724"/>
          <a:stretch/>
        </p:blipFill>
        <p:spPr>
          <a:xfrm>
            <a:off x="-18256" y="2150533"/>
            <a:ext cx="5890574" cy="213512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3B0BA23-63F3-4DE3-ACA4-5FE8A86765D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39" r="11414"/>
          <a:stretch/>
        </p:blipFill>
        <p:spPr>
          <a:xfrm>
            <a:off x="5975372" y="2156482"/>
            <a:ext cx="2989116" cy="429340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1F366CB-3DE0-4D01-B2C5-7D84D1C5C15E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2" r="7606"/>
          <a:stretch/>
        </p:blipFill>
        <p:spPr>
          <a:xfrm>
            <a:off x="-18256" y="4326329"/>
            <a:ext cx="5890574" cy="21351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HW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5046294-31A7-454F-8ED2-A3ADD7A2FAE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72816"/>
            <a:ext cx="9144000" cy="243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83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  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772400" cy="5562600"/>
          </a:xfrm>
        </p:spPr>
        <p:txBody>
          <a:bodyPr/>
          <a:lstStyle/>
          <a:p>
            <a:pPr eaLnBrk="1" hangingPunct="1">
              <a:buFont typeface="Wingdings" pitchFamily="2" charset="2"/>
              <a:buChar char="§"/>
            </a:pPr>
            <a:r>
              <a:rPr lang="ko-KR" altLang="en-US"/>
              <a:t>기대값</a:t>
            </a:r>
            <a:r>
              <a:rPr lang="en-US" altLang="ko-KR"/>
              <a:t>(expectation) : </a:t>
            </a:r>
            <a:r>
              <a:rPr lang="ko-KR" altLang="en-US"/>
              <a:t>모집단의 평균</a:t>
            </a:r>
          </a:p>
          <a:p>
            <a:pPr eaLnBrk="1" hangingPunct="1">
              <a:buFontTx/>
              <a:buNone/>
            </a:pPr>
            <a:r>
              <a:rPr lang="ko-KR" altLang="en-US"/>
              <a:t>    </a:t>
            </a:r>
          </a:p>
          <a:p>
            <a:pPr eaLnBrk="1" hangingPunct="1">
              <a:buFontTx/>
              <a:buNone/>
            </a:pPr>
            <a:endParaRPr lang="ko-KR" altLang="en-US" sz="2800"/>
          </a:p>
          <a:p>
            <a:pPr eaLnBrk="1" hangingPunct="1">
              <a:buFontTx/>
              <a:buNone/>
            </a:pPr>
            <a:endParaRPr lang="ko-KR" altLang="en-US" sz="2800">
              <a:solidFill>
                <a:srgbClr val="FF3300"/>
              </a:solidFill>
            </a:endParaRPr>
          </a:p>
          <a:p>
            <a:pPr eaLnBrk="1" hangingPunct="1">
              <a:buFontTx/>
              <a:buChar char="-"/>
            </a:pPr>
            <a:endParaRPr lang="ko-KR" altLang="en-US" sz="2800">
              <a:solidFill>
                <a:srgbClr val="FF3300"/>
              </a:solidFill>
            </a:endParaRPr>
          </a:p>
          <a:p>
            <a:pPr eaLnBrk="1" hangingPunct="1">
              <a:buFontTx/>
              <a:buChar char="-"/>
            </a:pPr>
            <a:endParaRPr lang="ko-KR" altLang="en-US" sz="2800">
              <a:solidFill>
                <a:srgbClr val="FF3300"/>
              </a:solidFill>
            </a:endParaRPr>
          </a:p>
          <a:p>
            <a:pPr eaLnBrk="1" hangingPunct="1">
              <a:buFontTx/>
              <a:buNone/>
            </a:pPr>
            <a:endParaRPr lang="ko-KR" altLang="en-US" sz="2800">
              <a:solidFill>
                <a:schemeClr val="tx2"/>
              </a:solidFill>
            </a:endParaRPr>
          </a:p>
          <a:p>
            <a:pPr eaLnBrk="1" hangingPunct="1">
              <a:buFontTx/>
              <a:buNone/>
            </a:pPr>
            <a:endParaRPr lang="ko-KR" altLang="en-US" sz="2800" baseline="30000">
              <a:solidFill>
                <a:schemeClr val="tx2"/>
              </a:solidFill>
            </a:endParaRPr>
          </a:p>
          <a:p>
            <a:pPr eaLnBrk="1" hangingPunct="1"/>
            <a:endParaRPr lang="en-US" altLang="ko-KR" sz="2800">
              <a:solidFill>
                <a:schemeClr val="tx2"/>
              </a:solidFill>
            </a:endParaRPr>
          </a:p>
        </p:txBody>
      </p:sp>
      <p:sp>
        <p:nvSpPr>
          <p:cNvPr id="4101" name="Rectangle 4"/>
          <p:cNvSpPr>
            <a:spLocks noChangeArrowheads="1"/>
          </p:cNvSpPr>
          <p:nvPr/>
        </p:nvSpPr>
        <p:spPr bwMode="auto">
          <a:xfrm>
            <a:off x="381000" y="152400"/>
            <a:ext cx="807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altLang="ko-KR" sz="3200">
                <a:solidFill>
                  <a:schemeClr val="accent2"/>
                </a:solidFill>
              </a:rPr>
              <a:t>6.4 </a:t>
            </a:r>
            <a:r>
              <a:rPr lang="ko-KR" altLang="en-US" sz="3200">
                <a:solidFill>
                  <a:schemeClr val="accent2"/>
                </a:solidFill>
              </a:rPr>
              <a:t>확률분포의  기대값</a:t>
            </a:r>
            <a:r>
              <a:rPr lang="en-US" altLang="ko-KR" sz="3200">
                <a:solidFill>
                  <a:schemeClr val="accent2"/>
                </a:solidFill>
              </a:rPr>
              <a:t>(</a:t>
            </a:r>
            <a:r>
              <a:rPr lang="ko-KR" altLang="en-US" sz="3200">
                <a:solidFill>
                  <a:schemeClr val="accent2"/>
                </a:solidFill>
              </a:rPr>
              <a:t>평균</a:t>
            </a:r>
            <a:r>
              <a:rPr lang="en-US" altLang="ko-KR" sz="3200">
                <a:solidFill>
                  <a:schemeClr val="accent2"/>
                </a:solidFill>
              </a:rPr>
              <a:t>) </a:t>
            </a:r>
            <a:r>
              <a:rPr lang="ko-KR" altLang="en-US" sz="3200">
                <a:solidFill>
                  <a:schemeClr val="accent2"/>
                </a:solidFill>
              </a:rPr>
              <a:t>및 표준편차</a:t>
            </a:r>
          </a:p>
        </p:txBody>
      </p:sp>
      <p:graphicFrame>
        <p:nvGraphicFramePr>
          <p:cNvPr id="4098" name="Object 1024"/>
          <p:cNvGraphicFramePr>
            <a:graphicFrameLocks noChangeAspect="1"/>
          </p:cNvGraphicFramePr>
          <p:nvPr/>
        </p:nvGraphicFramePr>
        <p:xfrm>
          <a:off x="1365250" y="2116138"/>
          <a:ext cx="6869113" cy="177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6" name="Equation" r:id="rId3" imgW="3390840" imgH="952200" progId="Equation.3">
                  <p:embed/>
                </p:oleObj>
              </mc:Choice>
              <mc:Fallback>
                <p:oleObj name="Equation" r:id="rId3" imgW="3390840" imgH="952200" progId="Equation.3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5250" y="2116138"/>
                        <a:ext cx="6869113" cy="177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2" name="Text Box 8"/>
          <p:cNvSpPr txBox="1">
            <a:spLocks noChangeArrowheads="1"/>
          </p:cNvSpPr>
          <p:nvPr/>
        </p:nvSpPr>
        <p:spPr bwMode="auto">
          <a:xfrm>
            <a:off x="914400" y="4419600"/>
            <a:ext cx="777240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dirty="0"/>
              <a:t>NOTE: </a:t>
            </a:r>
            <a:r>
              <a:rPr lang="ko-KR" altLang="en-US" dirty="0" err="1"/>
              <a:t>기대값은</a:t>
            </a:r>
            <a:r>
              <a:rPr lang="ko-KR" altLang="en-US" dirty="0"/>
              <a:t> 발생확률로 가중치를 준 가중평균이다</a:t>
            </a:r>
            <a:r>
              <a:rPr lang="en-US" altLang="ko-KR" dirty="0"/>
              <a:t>.</a:t>
            </a:r>
          </a:p>
          <a:p>
            <a:pPr eaLnBrk="1" hangingPunct="1">
              <a:spcBef>
                <a:spcPct val="50000"/>
              </a:spcBef>
            </a:pPr>
            <a:r>
              <a:rPr lang="ko-KR" altLang="en-US" dirty="0"/>
              <a:t>즉</a:t>
            </a:r>
            <a:r>
              <a:rPr lang="en-US" altLang="ko-KR" dirty="0"/>
              <a:t> </a:t>
            </a:r>
            <a:r>
              <a:rPr lang="ko-KR" altLang="en-US" dirty="0"/>
              <a:t>주어진 확률 변수의 가능한 모든 값에 대해 가중 평균</a:t>
            </a:r>
            <a:r>
              <a:rPr lang="en-US" altLang="ko-KR" dirty="0"/>
              <a:t>(Weighted average)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838200"/>
            <a:ext cx="7772400" cy="5257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ko-KR" dirty="0"/>
              <a:t>(</a:t>
            </a:r>
            <a:r>
              <a:rPr lang="ko-KR" altLang="en-US" dirty="0"/>
              <a:t>예제</a:t>
            </a:r>
            <a:r>
              <a:rPr lang="en-US" altLang="ko-KR" dirty="0"/>
              <a:t>9) </a:t>
            </a:r>
            <a:r>
              <a:rPr lang="ko-KR" altLang="en-US" dirty="0"/>
              <a:t>복권의 기대 상금</a:t>
            </a:r>
          </a:p>
          <a:p>
            <a:pPr eaLnBrk="1" hangingPunct="1">
              <a:buFontTx/>
              <a:buNone/>
            </a:pPr>
            <a:r>
              <a:rPr lang="en-US" altLang="ko-KR" dirty="0"/>
              <a:t>- 100,000</a:t>
            </a:r>
            <a:r>
              <a:rPr lang="ko-KR" altLang="en-US" dirty="0"/>
              <a:t>장의 복권</a:t>
            </a:r>
          </a:p>
        </p:txBody>
      </p:sp>
      <p:graphicFrame>
        <p:nvGraphicFramePr>
          <p:cNvPr id="79901" name="Group 1053"/>
          <p:cNvGraphicFramePr>
            <a:graphicFrameLocks noGrp="1"/>
          </p:cNvGraphicFramePr>
          <p:nvPr/>
        </p:nvGraphicFramePr>
        <p:xfrm>
          <a:off x="1371600" y="2286000"/>
          <a:ext cx="3860800" cy="323678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7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상금</a:t>
                      </a: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</a:t>
                      </a:r>
                      <a:r>
                        <a:rPr kumimoji="1" lang="ko-K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만 원</a:t>
                      </a: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장 수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5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1000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100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4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100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99,855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합계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100,000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570" name="Text Box 1054"/>
          <p:cNvSpPr txBox="1">
            <a:spLocks noChangeArrowheads="1"/>
          </p:cNvSpPr>
          <p:nvPr/>
        </p:nvSpPr>
        <p:spPr bwMode="auto">
          <a:xfrm>
            <a:off x="5562600" y="2133600"/>
            <a:ext cx="320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ko-KR" altLang="en-US"/>
              <a:t>기대상금</a:t>
            </a:r>
            <a:r>
              <a:rPr lang="en-US" altLang="ko-KR"/>
              <a:t>=0.016(</a:t>
            </a:r>
            <a:r>
              <a:rPr lang="ko-KR" altLang="en-US"/>
              <a:t>만원</a:t>
            </a:r>
            <a:r>
              <a:rPr lang="en-US" altLang="ko-KR"/>
              <a:t>)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9518B88-562B-4993-9284-ED372C8B1C9B}"/>
              </a:ext>
            </a:extLst>
          </p:cNvPr>
          <p:cNvSpPr/>
          <p:nvPr/>
        </p:nvSpPr>
        <p:spPr>
          <a:xfrm>
            <a:off x="688369" y="6201489"/>
            <a:ext cx="468052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</a:t>
            </a:r>
            <a:r>
              <a:rPr lang="en-US" altLang="ko-KR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ko-KR" altLang="en-US" sz="1000" dirty="0" err="1"/>
              <a:t>부교제</a:t>
            </a:r>
            <a:r>
              <a:rPr lang="ko-KR" altLang="en-US" sz="1000" dirty="0"/>
              <a:t> 통계학 </a:t>
            </a:r>
            <a:r>
              <a:rPr lang="en-US" altLang="ko-KR" sz="1000" dirty="0"/>
              <a:t>–</a:t>
            </a:r>
            <a:r>
              <a:rPr lang="ko-KR" altLang="en-US" sz="1000" dirty="0"/>
              <a:t>엑셀을 이용한 분석</a:t>
            </a:r>
            <a:r>
              <a:rPr lang="en-US" altLang="ko-KR" sz="1000" dirty="0"/>
              <a:t>, </a:t>
            </a:r>
            <a:r>
              <a:rPr lang="ko-KR" altLang="en-US" sz="1000" dirty="0"/>
              <a:t>자유아카데미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김진경외</a:t>
            </a:r>
            <a:r>
              <a:rPr lang="ko-KR" altLang="en-US" sz="1000" dirty="0"/>
              <a:t> </a:t>
            </a:r>
            <a:r>
              <a:rPr lang="en-US" altLang="ko-KR" sz="1000" dirty="0"/>
              <a:t>5</a:t>
            </a:r>
            <a:r>
              <a:rPr lang="ko-KR" altLang="en-US" sz="1000" dirty="0"/>
              <a:t>명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2800">
                <a:solidFill>
                  <a:schemeClr val="accent2"/>
                </a:solidFill>
              </a:rPr>
              <a:t>6.4 </a:t>
            </a:r>
            <a:r>
              <a:rPr lang="ko-KR" altLang="en-US" sz="2800">
                <a:solidFill>
                  <a:schemeClr val="accent2"/>
                </a:solidFill>
              </a:rPr>
              <a:t>확률분포의  기대값</a:t>
            </a:r>
            <a:r>
              <a:rPr lang="en-US" altLang="ko-KR" sz="2800">
                <a:solidFill>
                  <a:schemeClr val="accent2"/>
                </a:solidFill>
              </a:rPr>
              <a:t>(</a:t>
            </a:r>
            <a:r>
              <a:rPr lang="ko-KR" altLang="en-US" sz="2800">
                <a:solidFill>
                  <a:schemeClr val="accent2"/>
                </a:solidFill>
              </a:rPr>
              <a:t>평균</a:t>
            </a:r>
            <a:r>
              <a:rPr lang="en-US" altLang="ko-KR" sz="2800">
                <a:solidFill>
                  <a:schemeClr val="accent2"/>
                </a:solidFill>
              </a:rPr>
              <a:t>) </a:t>
            </a:r>
            <a:r>
              <a:rPr lang="ko-KR" altLang="en-US" sz="2800">
                <a:solidFill>
                  <a:schemeClr val="accent2"/>
                </a:solidFill>
              </a:rPr>
              <a:t>및 표준편차</a:t>
            </a:r>
            <a:br>
              <a:rPr lang="ko-KR" altLang="en-US">
                <a:solidFill>
                  <a:schemeClr val="accent2"/>
                </a:solidFill>
              </a:rPr>
            </a:br>
            <a:endParaRPr lang="ko-KR" altLang="en-US"/>
          </a:p>
        </p:txBody>
      </p:sp>
      <p:sp>
        <p:nvSpPr>
          <p:cNvPr id="24579" name="TextBox 2"/>
          <p:cNvSpPr txBox="1">
            <a:spLocks noChangeArrowheads="1"/>
          </p:cNvSpPr>
          <p:nvPr/>
        </p:nvSpPr>
        <p:spPr bwMode="auto">
          <a:xfrm>
            <a:off x="928688" y="1071563"/>
            <a:ext cx="7572375" cy="446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3200" dirty="0"/>
              <a:t>(</a:t>
            </a:r>
            <a:r>
              <a:rPr lang="ko-KR" altLang="en-US" sz="3200" dirty="0"/>
              <a:t>예제</a:t>
            </a:r>
            <a:r>
              <a:rPr lang="en-US" altLang="ko-KR" sz="3200" dirty="0"/>
              <a:t>10) </a:t>
            </a:r>
            <a:r>
              <a:rPr lang="ko-KR" altLang="en-US" sz="2800" dirty="0"/>
              <a:t>여행보험회사 약관</a:t>
            </a:r>
            <a:r>
              <a:rPr lang="en-US" altLang="ko-KR" sz="2800" dirty="0"/>
              <a:t>: 5</a:t>
            </a:r>
            <a:r>
              <a:rPr lang="ko-KR" altLang="en-US" sz="2800" dirty="0"/>
              <a:t>일간 여행에서 발생하는 도난이나 파손에 의한 손실에 대하여 </a:t>
            </a:r>
            <a:r>
              <a:rPr lang="en-US" altLang="ko-KR" sz="2800" dirty="0"/>
              <a:t>100</a:t>
            </a:r>
            <a:r>
              <a:rPr lang="ko-KR" altLang="en-US" sz="2800" dirty="0"/>
              <a:t>만원 보상</a:t>
            </a:r>
            <a:r>
              <a:rPr lang="en-US" altLang="ko-KR" sz="2800" dirty="0"/>
              <a:t>. </a:t>
            </a:r>
          </a:p>
          <a:p>
            <a:pPr eaLnBrk="1" hangingPunct="1"/>
            <a:endParaRPr lang="en-US" altLang="ko-KR" sz="2800" dirty="0"/>
          </a:p>
          <a:p>
            <a:pPr eaLnBrk="1" hangingPunct="1"/>
            <a:r>
              <a:rPr lang="ko-KR" altLang="en-US" sz="2800" dirty="0"/>
              <a:t>그러한 손실이 </a:t>
            </a:r>
            <a:r>
              <a:rPr lang="en-US" altLang="ko-KR" sz="2800" dirty="0"/>
              <a:t>200</a:t>
            </a:r>
            <a:r>
              <a:rPr lang="ko-KR" altLang="en-US" sz="2800" dirty="0"/>
              <a:t>번 중에 한 번 발생한다면 보험회사가 고객에게 요구하는 공정한 프리미엄은 얼마인가</a:t>
            </a:r>
            <a:r>
              <a:rPr lang="en-US" altLang="ko-KR" sz="2800" dirty="0"/>
              <a:t>?</a:t>
            </a:r>
          </a:p>
          <a:p>
            <a:pPr eaLnBrk="1" hangingPunct="1"/>
            <a:endParaRPr lang="en-US" altLang="ko-KR" sz="2800" dirty="0"/>
          </a:p>
          <a:p>
            <a:pPr eaLnBrk="1" hangingPunct="1"/>
            <a:r>
              <a:rPr lang="en-US" altLang="ko-KR" sz="2800" dirty="0"/>
              <a:t>X=? </a:t>
            </a:r>
            <a:r>
              <a:rPr lang="ko-KR" altLang="en-US" sz="2800" dirty="0"/>
              <a:t>확률분포는 </a:t>
            </a:r>
            <a:r>
              <a:rPr lang="en-US" altLang="ko-KR" sz="2800" dirty="0"/>
              <a:t>?</a:t>
            </a:r>
          </a:p>
          <a:p>
            <a:pPr eaLnBrk="1" hangingPunct="1"/>
            <a:r>
              <a:rPr lang="en-US" altLang="ko-KR" sz="2800" dirty="0"/>
              <a:t>E(X)=?</a:t>
            </a:r>
            <a:endParaRPr lang="ko-KR" altLang="en-US" sz="28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27C7DFE-F122-43CD-B55C-41EE88A0EF24}"/>
              </a:ext>
            </a:extLst>
          </p:cNvPr>
          <p:cNvSpPr/>
          <p:nvPr/>
        </p:nvSpPr>
        <p:spPr>
          <a:xfrm>
            <a:off x="688369" y="6201489"/>
            <a:ext cx="468052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</a:t>
            </a:r>
            <a:r>
              <a:rPr lang="en-US" altLang="ko-KR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ko-KR" altLang="en-US" sz="1000" dirty="0" err="1"/>
              <a:t>부교제</a:t>
            </a:r>
            <a:r>
              <a:rPr lang="ko-KR" altLang="en-US" sz="1000" dirty="0"/>
              <a:t> 통계학 </a:t>
            </a:r>
            <a:r>
              <a:rPr lang="en-US" altLang="ko-KR" sz="1000" dirty="0"/>
              <a:t>–</a:t>
            </a:r>
            <a:r>
              <a:rPr lang="ko-KR" altLang="en-US" sz="1000" dirty="0"/>
              <a:t>엑셀을 이용한 분석</a:t>
            </a:r>
            <a:r>
              <a:rPr lang="en-US" altLang="ko-KR" sz="1000" dirty="0"/>
              <a:t>, </a:t>
            </a:r>
            <a:r>
              <a:rPr lang="ko-KR" altLang="en-US" sz="1000" dirty="0"/>
              <a:t>자유아카데미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김진경외</a:t>
            </a:r>
            <a:r>
              <a:rPr lang="ko-KR" altLang="en-US" sz="1000" dirty="0"/>
              <a:t> </a:t>
            </a:r>
            <a:r>
              <a:rPr lang="en-US" altLang="ko-KR" sz="1000" dirty="0"/>
              <a:t>5</a:t>
            </a:r>
            <a:r>
              <a:rPr lang="ko-KR" altLang="en-US" sz="1000" dirty="0"/>
              <a:t>명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  </a:t>
            </a:r>
          </a:p>
        </p:txBody>
      </p:sp>
      <p:sp>
        <p:nvSpPr>
          <p:cNvPr id="51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762000"/>
            <a:ext cx="7772400" cy="5867400"/>
          </a:xfrm>
        </p:spPr>
        <p:txBody>
          <a:bodyPr/>
          <a:lstStyle/>
          <a:p>
            <a:pPr eaLnBrk="1" hangingPunct="1">
              <a:buFontTx/>
              <a:buChar char="-"/>
            </a:pPr>
            <a:r>
              <a:rPr lang="ko-KR" altLang="en-US"/>
              <a:t>분산</a:t>
            </a:r>
            <a:r>
              <a:rPr lang="en-US" altLang="ko-KR"/>
              <a:t>(variance) :</a:t>
            </a:r>
          </a:p>
          <a:p>
            <a:pPr lvl="1" eaLnBrk="1" hangingPunct="1">
              <a:buFontTx/>
              <a:buNone/>
            </a:pPr>
            <a:r>
              <a:rPr lang="en-US" altLang="ko-KR"/>
              <a:t>X</a:t>
            </a:r>
            <a:r>
              <a:rPr lang="ko-KR" altLang="en-US"/>
              <a:t>의 분산</a:t>
            </a:r>
            <a:r>
              <a:rPr lang="en-US" altLang="ko-KR"/>
              <a:t>=</a:t>
            </a:r>
          </a:p>
          <a:p>
            <a:pPr eaLnBrk="1" hangingPunct="1">
              <a:buFontTx/>
              <a:buChar char="-"/>
            </a:pPr>
            <a:endParaRPr lang="en-US" altLang="ko-KR" sz="2800">
              <a:solidFill>
                <a:srgbClr val="FF3300"/>
              </a:solidFill>
            </a:endParaRPr>
          </a:p>
          <a:p>
            <a:pPr eaLnBrk="1" hangingPunct="1">
              <a:buFontTx/>
              <a:buChar char="-"/>
            </a:pPr>
            <a:endParaRPr lang="en-US" altLang="ko-KR" sz="2800">
              <a:solidFill>
                <a:srgbClr val="FF3300"/>
              </a:solidFill>
            </a:endParaRPr>
          </a:p>
          <a:p>
            <a:pPr eaLnBrk="1" hangingPunct="1">
              <a:buFontTx/>
              <a:buChar char="-"/>
            </a:pPr>
            <a:endParaRPr lang="en-US" altLang="ko-KR" sz="2800">
              <a:solidFill>
                <a:srgbClr val="FF3300"/>
              </a:solidFill>
            </a:endParaRPr>
          </a:p>
          <a:p>
            <a:pPr eaLnBrk="1" hangingPunct="1">
              <a:buFontTx/>
              <a:buNone/>
            </a:pPr>
            <a:endParaRPr lang="en-US" altLang="ko-KR" sz="2800">
              <a:solidFill>
                <a:schemeClr val="tx2"/>
              </a:solidFill>
            </a:endParaRPr>
          </a:p>
          <a:p>
            <a:pPr eaLnBrk="1" hangingPunct="1">
              <a:buFontTx/>
              <a:buNone/>
            </a:pPr>
            <a:endParaRPr lang="en-US" altLang="ko-KR" sz="2800">
              <a:solidFill>
                <a:schemeClr val="tx2"/>
              </a:solidFill>
            </a:endParaRPr>
          </a:p>
          <a:p>
            <a:pPr eaLnBrk="1" hangingPunct="1">
              <a:buFontTx/>
              <a:buNone/>
            </a:pPr>
            <a:endParaRPr lang="en-US" altLang="ko-KR" sz="2800" baseline="30000">
              <a:solidFill>
                <a:schemeClr val="tx2"/>
              </a:solidFill>
            </a:endParaRPr>
          </a:p>
          <a:p>
            <a:pPr eaLnBrk="1" hangingPunct="1"/>
            <a:endParaRPr lang="en-US" altLang="ko-KR" sz="2800">
              <a:solidFill>
                <a:schemeClr val="tx2"/>
              </a:solidFill>
            </a:endParaRPr>
          </a:p>
        </p:txBody>
      </p:sp>
      <p:sp>
        <p:nvSpPr>
          <p:cNvPr id="5127" name="Rectangle 4"/>
          <p:cNvSpPr>
            <a:spLocks noChangeArrowheads="1"/>
          </p:cNvSpPr>
          <p:nvPr/>
        </p:nvSpPr>
        <p:spPr bwMode="auto">
          <a:xfrm>
            <a:off x="381000" y="152400"/>
            <a:ext cx="807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altLang="ko-KR" sz="3200">
                <a:solidFill>
                  <a:schemeClr val="accent2"/>
                </a:solidFill>
              </a:rPr>
              <a:t>6.4 </a:t>
            </a:r>
            <a:r>
              <a:rPr lang="ko-KR" altLang="en-US" sz="3200">
                <a:solidFill>
                  <a:schemeClr val="accent2"/>
                </a:solidFill>
              </a:rPr>
              <a:t>확률분포의  기대값</a:t>
            </a:r>
            <a:r>
              <a:rPr lang="en-US" altLang="ko-KR" sz="3200">
                <a:solidFill>
                  <a:schemeClr val="accent2"/>
                </a:solidFill>
              </a:rPr>
              <a:t>(</a:t>
            </a:r>
            <a:r>
              <a:rPr lang="ko-KR" altLang="en-US" sz="3200">
                <a:solidFill>
                  <a:schemeClr val="accent2"/>
                </a:solidFill>
              </a:rPr>
              <a:t>평균</a:t>
            </a:r>
            <a:r>
              <a:rPr lang="en-US" altLang="ko-KR" sz="3200">
                <a:solidFill>
                  <a:schemeClr val="accent2"/>
                </a:solidFill>
              </a:rPr>
              <a:t>) </a:t>
            </a:r>
            <a:r>
              <a:rPr lang="ko-KR" altLang="en-US" sz="3200">
                <a:solidFill>
                  <a:schemeClr val="accent2"/>
                </a:solidFill>
              </a:rPr>
              <a:t>및 표준편차</a:t>
            </a:r>
          </a:p>
        </p:txBody>
      </p:sp>
      <p:graphicFrame>
        <p:nvGraphicFramePr>
          <p:cNvPr id="5122" name="Object 6"/>
          <p:cNvGraphicFramePr>
            <a:graphicFrameLocks noChangeAspect="1"/>
          </p:cNvGraphicFramePr>
          <p:nvPr/>
        </p:nvGraphicFramePr>
        <p:xfrm>
          <a:off x="936625" y="2438400"/>
          <a:ext cx="7270750" cy="158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7" name="Equation" r:id="rId3" imgW="3213000" imgH="749160" progId="Equation.3">
                  <p:embed/>
                </p:oleObj>
              </mc:Choice>
              <mc:Fallback>
                <p:oleObj name="Equation" r:id="rId3" imgW="3213000" imgH="74916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6625" y="2438400"/>
                        <a:ext cx="7270750" cy="158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7"/>
          <p:cNvGraphicFramePr>
            <a:graphicFrameLocks noChangeAspect="1"/>
          </p:cNvGraphicFramePr>
          <p:nvPr/>
        </p:nvGraphicFramePr>
        <p:xfrm>
          <a:off x="3048000" y="1371600"/>
          <a:ext cx="220980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8" name="Equation" r:id="rId5" imgW="1257120" imgH="279360" progId="Equation.3">
                  <p:embed/>
                </p:oleObj>
              </mc:Choice>
              <mc:Fallback>
                <p:oleObj name="Equation" r:id="rId5" imgW="1257120" imgH="27936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1371600"/>
                        <a:ext cx="2209800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8"/>
          <p:cNvGraphicFramePr>
            <a:graphicFrameLocks noChangeAspect="1"/>
          </p:cNvGraphicFramePr>
          <p:nvPr/>
        </p:nvGraphicFramePr>
        <p:xfrm>
          <a:off x="1066800" y="4191000"/>
          <a:ext cx="4191000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9" name="Equation" r:id="rId7" imgW="1688760" imgH="253800" progId="Equation.3">
                  <p:embed/>
                </p:oleObj>
              </mc:Choice>
              <mc:Fallback>
                <p:oleObj name="Equation" r:id="rId7" imgW="1688760" imgH="2538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191000"/>
                        <a:ext cx="4191000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  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533400"/>
            <a:ext cx="7772400" cy="5334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ko-KR" sz="2800" dirty="0"/>
              <a:t>(</a:t>
            </a:r>
            <a:r>
              <a:rPr lang="ko-KR" altLang="en-US" sz="2800" dirty="0"/>
              <a:t>예제</a:t>
            </a:r>
            <a:r>
              <a:rPr lang="en-US" altLang="ko-KR" sz="2800" dirty="0"/>
              <a:t>6 </a:t>
            </a:r>
            <a:r>
              <a:rPr lang="ko-KR" altLang="en-US" sz="2800" dirty="0"/>
              <a:t>계속</a:t>
            </a:r>
            <a:r>
              <a:rPr lang="en-US" altLang="ko-KR" sz="2800" dirty="0"/>
              <a:t>)</a:t>
            </a:r>
            <a:r>
              <a:rPr lang="ko-KR" altLang="en-US" sz="2800" dirty="0"/>
              <a:t>윷놀이</a:t>
            </a:r>
          </a:p>
          <a:p>
            <a:pPr eaLnBrk="1" hangingPunct="1">
              <a:buFontTx/>
              <a:buNone/>
            </a:pPr>
            <a:r>
              <a:rPr lang="ko-KR" altLang="en-US" sz="2800" dirty="0"/>
              <a:t>   </a:t>
            </a:r>
            <a:r>
              <a:rPr lang="en-US" altLang="ko-KR" sz="2800" dirty="0"/>
              <a:t>X: </a:t>
            </a:r>
            <a:r>
              <a:rPr lang="ko-KR" altLang="en-US" sz="2800" dirty="0"/>
              <a:t>한 번 던져서 말이 움직일 수 있는 거리</a:t>
            </a:r>
          </a:p>
          <a:p>
            <a:pPr eaLnBrk="1" hangingPunct="1">
              <a:buFontTx/>
              <a:buNone/>
            </a:pPr>
            <a:r>
              <a:rPr lang="ko-KR" altLang="en-US" sz="2800" dirty="0"/>
              <a:t>   </a:t>
            </a:r>
            <a:r>
              <a:rPr lang="en-US" altLang="ko-KR" sz="2800" dirty="0"/>
              <a:t>(x, f(x)), (1, 4/16), (2, 6/16), (3, 4/16), (4, 1/16), (5, 1/16)  </a:t>
            </a:r>
          </a:p>
          <a:p>
            <a:pPr eaLnBrk="1" hangingPunct="1">
              <a:buFontTx/>
              <a:buNone/>
            </a:pPr>
            <a:r>
              <a:rPr lang="ko-KR" altLang="en-US" sz="2800" dirty="0" err="1">
                <a:solidFill>
                  <a:srgbClr val="FF3300"/>
                </a:solidFill>
              </a:rPr>
              <a:t>기대값</a:t>
            </a:r>
            <a:r>
              <a:rPr lang="ko-KR" altLang="en-US" sz="2800" dirty="0">
                <a:solidFill>
                  <a:srgbClr val="FF3300"/>
                </a:solidFill>
              </a:rPr>
              <a:t> </a:t>
            </a:r>
            <a:r>
              <a:rPr lang="en-US" altLang="ko-KR" sz="2800" dirty="0"/>
              <a:t>E(X)= 1x(4/16)+2X(6/16)+</a:t>
            </a:r>
            <a:r>
              <a:rPr lang="en-US" altLang="ko-KR" sz="2800" dirty="0">
                <a:latin typeface="Times New Roman" pitchFamily="18" charset="0"/>
              </a:rPr>
              <a:t>…</a:t>
            </a:r>
            <a:r>
              <a:rPr lang="en-US" altLang="ko-KR" sz="2800" dirty="0"/>
              <a:t>5X(1/16)</a:t>
            </a:r>
          </a:p>
          <a:p>
            <a:pPr eaLnBrk="1" hangingPunct="1">
              <a:buFontTx/>
              <a:buNone/>
            </a:pPr>
            <a:r>
              <a:rPr lang="en-US" altLang="ko-KR" sz="2800" dirty="0"/>
              <a:t>                = (37/16) =2.3125</a:t>
            </a:r>
          </a:p>
          <a:p>
            <a:pPr eaLnBrk="1" hangingPunct="1">
              <a:buFontTx/>
              <a:buNone/>
            </a:pPr>
            <a:r>
              <a:rPr lang="ko-KR" altLang="en-US" sz="2800" dirty="0">
                <a:solidFill>
                  <a:srgbClr val="FF3300"/>
                </a:solidFill>
              </a:rPr>
              <a:t>분산</a:t>
            </a:r>
            <a:r>
              <a:rPr lang="ko-KR" altLang="en-US" dirty="0"/>
              <a:t> </a:t>
            </a:r>
            <a:r>
              <a:rPr lang="en-US" altLang="ko-KR" sz="2800" dirty="0"/>
              <a:t>V(X)=(1-2.3125)</a:t>
            </a:r>
            <a:r>
              <a:rPr lang="en-US" altLang="ko-KR" sz="2800" baseline="30000" dirty="0"/>
              <a:t>2</a:t>
            </a:r>
            <a:r>
              <a:rPr lang="en-US" altLang="ko-KR" sz="2800" dirty="0"/>
              <a:t>x(4/16)+</a:t>
            </a:r>
          </a:p>
          <a:p>
            <a:pPr eaLnBrk="1" hangingPunct="1">
              <a:buFontTx/>
              <a:buNone/>
            </a:pPr>
            <a:r>
              <a:rPr lang="en-US" altLang="ko-KR" sz="2800" dirty="0"/>
              <a:t>               (2-2.3125)</a:t>
            </a:r>
            <a:r>
              <a:rPr lang="en-US" altLang="ko-KR" sz="2800" baseline="30000" dirty="0"/>
              <a:t>2</a:t>
            </a:r>
            <a:r>
              <a:rPr lang="en-US" altLang="ko-KR" sz="2800" dirty="0"/>
              <a:t>x(6/16)+ </a:t>
            </a:r>
            <a:r>
              <a:rPr lang="en-US" altLang="ko-KR" sz="2800" dirty="0">
                <a:latin typeface="Times New Roman" pitchFamily="18" charset="0"/>
              </a:rPr>
              <a:t>…</a:t>
            </a:r>
            <a:r>
              <a:rPr lang="en-US" altLang="ko-KR" sz="2800" dirty="0"/>
              <a:t>+</a:t>
            </a:r>
          </a:p>
          <a:p>
            <a:pPr eaLnBrk="1" hangingPunct="1">
              <a:buFontTx/>
              <a:buNone/>
            </a:pPr>
            <a:r>
              <a:rPr lang="en-US" altLang="ko-KR" sz="2800" dirty="0"/>
              <a:t>               (5-2.3125)</a:t>
            </a:r>
            <a:r>
              <a:rPr lang="en-US" altLang="ko-KR" sz="2800" baseline="30000" dirty="0"/>
              <a:t>2</a:t>
            </a:r>
            <a:r>
              <a:rPr lang="en-US" altLang="ko-KR" sz="2800" dirty="0"/>
              <a:t>x(1/16)=4976/4096</a:t>
            </a:r>
          </a:p>
          <a:p>
            <a:pPr eaLnBrk="1" hangingPunct="1">
              <a:buFontTx/>
              <a:buNone/>
            </a:pPr>
            <a:r>
              <a:rPr lang="en-US" altLang="ko-KR" sz="2800" dirty="0"/>
              <a:t>			=1.214844</a:t>
            </a:r>
          </a:p>
          <a:p>
            <a:pPr eaLnBrk="1" hangingPunct="1">
              <a:buFontTx/>
              <a:buNone/>
            </a:pPr>
            <a:r>
              <a:rPr lang="ko-KR" altLang="en-US" sz="2800" dirty="0"/>
              <a:t>표준편차 </a:t>
            </a:r>
            <a:r>
              <a:rPr lang="en-US" altLang="ko-KR" sz="2800" dirty="0"/>
              <a:t>S(X)=SQRT(1.214844)=1.1022</a:t>
            </a:r>
            <a:endParaRPr lang="en-US" altLang="ko-KR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533400"/>
          </a:xfrm>
        </p:spPr>
        <p:txBody>
          <a:bodyPr/>
          <a:lstStyle/>
          <a:p>
            <a:pPr eaLnBrk="1" hangingPunct="1"/>
            <a:r>
              <a:rPr lang="en-US" altLang="ko-KR">
                <a:solidFill>
                  <a:schemeClr val="accent2"/>
                </a:solidFill>
              </a:rPr>
              <a:t>EXCEL </a:t>
            </a:r>
            <a:r>
              <a:rPr lang="ko-KR" altLang="en-US">
                <a:solidFill>
                  <a:schemeClr val="accent2"/>
                </a:solidFill>
              </a:rPr>
              <a:t>실습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90600"/>
            <a:ext cx="7772400" cy="4876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ko-KR" sz="2400" dirty="0"/>
              <a:t>(</a:t>
            </a:r>
            <a:r>
              <a:rPr lang="ko-KR" altLang="en-US" sz="2400" dirty="0"/>
              <a:t>예제</a:t>
            </a:r>
            <a:r>
              <a:rPr lang="en-US" altLang="ko-KR" sz="2400" dirty="0"/>
              <a:t>11) X: </a:t>
            </a:r>
            <a:r>
              <a:rPr lang="ko-KR" altLang="en-US" sz="2400" dirty="0"/>
              <a:t>상자당 불량품 개수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ko-KR" altLang="en-US" sz="2400" dirty="0"/>
              <a:t>  </a:t>
            </a:r>
            <a:r>
              <a:rPr lang="en-US" altLang="ko-KR" sz="2400" dirty="0"/>
              <a:t>1) </a:t>
            </a:r>
            <a:r>
              <a:rPr lang="ko-KR" altLang="en-US" sz="2400" dirty="0"/>
              <a:t>평균을 구하라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ko-KR" altLang="en-US" sz="2400" dirty="0"/>
              <a:t>  </a:t>
            </a:r>
            <a:r>
              <a:rPr lang="en-US" altLang="ko-KR" sz="2400" dirty="0"/>
              <a:t>2) </a:t>
            </a:r>
            <a:r>
              <a:rPr lang="ko-KR" altLang="en-US" sz="2400" dirty="0"/>
              <a:t>분산과 표준편차를 구하라</a:t>
            </a:r>
            <a:r>
              <a:rPr lang="en-US" altLang="ko-KR" sz="2400" dirty="0"/>
              <a:t>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ko-KR" sz="2400" dirty="0"/>
              <a:t>        x     f(x)        EXCEL </a:t>
            </a:r>
            <a:r>
              <a:rPr lang="ko-KR" altLang="en-US" sz="2400" dirty="0"/>
              <a:t>에서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ko-KR" altLang="en-US" sz="2400" dirty="0"/>
              <a:t>        </a:t>
            </a:r>
            <a:r>
              <a:rPr lang="en-US" altLang="ko-KR" sz="2400" dirty="0"/>
              <a:t>0    0.005         0) </a:t>
            </a:r>
            <a:r>
              <a:rPr lang="ko-KR" altLang="en-US" sz="2400" dirty="0"/>
              <a:t>확률변수 값과 </a:t>
            </a:r>
            <a:r>
              <a:rPr lang="ko-KR" altLang="en-US" sz="2400" dirty="0" err="1"/>
              <a:t>확률값</a:t>
            </a:r>
            <a:r>
              <a:rPr lang="ko-KR" altLang="en-US" sz="2400" dirty="0"/>
              <a:t> 입력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ko-KR" altLang="en-US" sz="2400" dirty="0"/>
              <a:t>        </a:t>
            </a:r>
            <a:r>
              <a:rPr lang="en-US" altLang="ko-KR" sz="2400" dirty="0"/>
              <a:t>1    0.03           1) x*f(x) </a:t>
            </a:r>
            <a:r>
              <a:rPr lang="ko-KR" altLang="en-US" sz="2400" dirty="0"/>
              <a:t>계산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ko-KR" altLang="en-US" sz="2400" dirty="0"/>
              <a:t>        </a:t>
            </a:r>
            <a:r>
              <a:rPr lang="en-US" altLang="ko-KR" sz="2400" dirty="0"/>
              <a:t>2    0.17           2) </a:t>
            </a:r>
            <a:r>
              <a:rPr lang="ko-KR" altLang="en-US" sz="2400" dirty="0" err="1"/>
              <a:t>기대값</a:t>
            </a:r>
            <a:r>
              <a:rPr lang="ko-KR" altLang="en-US" sz="2400" dirty="0"/>
              <a:t> 계산</a:t>
            </a:r>
            <a:r>
              <a:rPr lang="en-US" altLang="ko-KR" sz="2400" dirty="0"/>
              <a:t>:SUM </a:t>
            </a:r>
            <a:r>
              <a:rPr lang="ko-KR" altLang="en-US" sz="2400" dirty="0"/>
              <a:t>이용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ko-KR" altLang="en-US" sz="2400" dirty="0"/>
              <a:t>        </a:t>
            </a:r>
            <a:r>
              <a:rPr lang="en-US" altLang="ko-KR" sz="2400" dirty="0"/>
              <a:t>3    0.27           3) X-E(X)</a:t>
            </a:r>
            <a:r>
              <a:rPr lang="ko-KR" altLang="en-US" sz="2400" dirty="0"/>
              <a:t>계산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ko-KR" altLang="en-US" sz="2400" dirty="0"/>
              <a:t>        </a:t>
            </a:r>
            <a:r>
              <a:rPr lang="en-US" altLang="ko-KR" sz="2400" dirty="0"/>
              <a:t>4    0.35           4) (X-E(X))^2 </a:t>
            </a:r>
            <a:r>
              <a:rPr lang="ko-KR" altLang="en-US" sz="2400" dirty="0"/>
              <a:t>계산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ko-KR" altLang="en-US" sz="2400" dirty="0"/>
              <a:t>        </a:t>
            </a:r>
            <a:r>
              <a:rPr lang="en-US" altLang="ko-KR" sz="2400" dirty="0"/>
              <a:t>5    0.175         5) (X-E(X))^2 *f(x) </a:t>
            </a:r>
            <a:r>
              <a:rPr lang="ko-KR" altLang="en-US" sz="2400" dirty="0"/>
              <a:t>계산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ko-KR" altLang="en-US" sz="2400" dirty="0"/>
              <a:t>                               </a:t>
            </a:r>
            <a:r>
              <a:rPr lang="en-US" altLang="ko-KR" sz="2400" dirty="0"/>
              <a:t>6) </a:t>
            </a:r>
            <a:r>
              <a:rPr lang="ko-KR" altLang="en-US" sz="2400" dirty="0"/>
              <a:t>분산계산</a:t>
            </a:r>
            <a:r>
              <a:rPr lang="en-US" altLang="ko-KR" sz="2400" dirty="0"/>
              <a:t>: SUM </a:t>
            </a:r>
            <a:r>
              <a:rPr lang="ko-KR" altLang="en-US" sz="2400" dirty="0"/>
              <a:t>이용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ko-KR" altLang="en-US" sz="2400" dirty="0"/>
              <a:t>                               </a:t>
            </a:r>
            <a:r>
              <a:rPr lang="en-US" altLang="ko-KR" sz="2400" dirty="0"/>
              <a:t>7) </a:t>
            </a:r>
            <a:r>
              <a:rPr lang="ko-KR" altLang="en-US" sz="2400" dirty="0"/>
              <a:t>표준편차 계산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HW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B6D1991-125D-451F-9F98-D554C7DF9F06}"/>
              </a:ext>
            </a:extLst>
          </p:cNvPr>
          <p:cNvSpPr/>
          <p:nvPr/>
        </p:nvSpPr>
        <p:spPr>
          <a:xfrm>
            <a:off x="688369" y="6201489"/>
            <a:ext cx="468052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</a:t>
            </a:r>
            <a:r>
              <a:rPr lang="en-US" altLang="ko-KR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ko-KR" altLang="en-US" sz="1000" dirty="0" err="1"/>
              <a:t>부교제</a:t>
            </a:r>
            <a:r>
              <a:rPr lang="ko-KR" altLang="en-US" sz="1000" dirty="0"/>
              <a:t> 통계학 </a:t>
            </a:r>
            <a:r>
              <a:rPr lang="en-US" altLang="ko-KR" sz="1000" dirty="0"/>
              <a:t>–</a:t>
            </a:r>
            <a:r>
              <a:rPr lang="ko-KR" altLang="en-US" sz="1000" dirty="0"/>
              <a:t>엑셀을 이용한 분석</a:t>
            </a:r>
            <a:r>
              <a:rPr lang="en-US" altLang="ko-KR" sz="1000" dirty="0"/>
              <a:t>, </a:t>
            </a:r>
            <a:r>
              <a:rPr lang="ko-KR" altLang="en-US" sz="1000" dirty="0"/>
              <a:t>자유아카데미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김진경외</a:t>
            </a:r>
            <a:r>
              <a:rPr lang="ko-KR" altLang="en-US" sz="1000" dirty="0"/>
              <a:t> </a:t>
            </a:r>
            <a:r>
              <a:rPr lang="en-US" altLang="ko-KR" sz="1000" dirty="0"/>
              <a:t>5</a:t>
            </a:r>
            <a:r>
              <a:rPr lang="ko-KR" altLang="en-US" sz="1000" dirty="0"/>
              <a:t>명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A0B0BCFC-076B-4715-830E-7716234168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56792"/>
            <a:ext cx="8859116" cy="1944216"/>
          </a:xfr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762000"/>
          </a:xfrm>
        </p:spPr>
        <p:txBody>
          <a:bodyPr/>
          <a:lstStyle/>
          <a:p>
            <a:pPr algn="l" eaLnBrk="1" hangingPunct="1"/>
            <a:r>
              <a:rPr lang="en-US" altLang="ko-KR">
                <a:solidFill>
                  <a:schemeClr val="accent2"/>
                </a:solidFill>
              </a:rPr>
              <a:t>6.5 </a:t>
            </a:r>
            <a:r>
              <a:rPr lang="ko-KR" altLang="en-US">
                <a:solidFill>
                  <a:schemeClr val="accent2"/>
                </a:solidFill>
              </a:rPr>
              <a:t>두개의 확률변수의 결합분포</a:t>
            </a:r>
            <a:endParaRPr lang="ko-KR" altLang="en-US"/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7772400" cy="4724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ko-KR" dirty="0"/>
              <a:t>  (1) </a:t>
            </a:r>
            <a:r>
              <a:rPr lang="ko-KR" altLang="en-US" dirty="0"/>
              <a:t>결합확률분포</a:t>
            </a:r>
            <a:r>
              <a:rPr lang="en-US" altLang="ko-KR" sz="2400" dirty="0"/>
              <a:t>(joint </a:t>
            </a:r>
            <a:r>
              <a:rPr lang="en-US" altLang="ko-KR" sz="2400" dirty="0" err="1"/>
              <a:t>probabiliry</a:t>
            </a:r>
            <a:r>
              <a:rPr lang="en-US" altLang="ko-KR" sz="2400" dirty="0"/>
              <a:t> distribution)</a:t>
            </a:r>
          </a:p>
          <a:p>
            <a:pPr eaLnBrk="1" hangingPunct="1">
              <a:buFontTx/>
              <a:buNone/>
            </a:pPr>
            <a:r>
              <a:rPr lang="en-US" altLang="ko-KR" dirty="0"/>
              <a:t>    - 2</a:t>
            </a:r>
            <a:r>
              <a:rPr lang="ko-KR" altLang="en-US" dirty="0"/>
              <a:t>개 이상의 확률변수 </a:t>
            </a:r>
            <a:r>
              <a:rPr lang="en-US" altLang="ko-KR" dirty="0"/>
              <a:t>X</a:t>
            </a:r>
            <a:r>
              <a:rPr lang="ko-KR" altLang="en-US" dirty="0"/>
              <a:t>와 </a:t>
            </a:r>
            <a:r>
              <a:rPr lang="en-US" altLang="ko-KR" dirty="0"/>
              <a:t>Y</a:t>
            </a:r>
            <a:r>
              <a:rPr lang="ko-KR" altLang="en-US" dirty="0"/>
              <a:t>가 취하는 값의 각 쌍에 대응 하는 확률</a:t>
            </a:r>
            <a:r>
              <a:rPr lang="en-US" altLang="ko-KR" dirty="0"/>
              <a:t>.</a:t>
            </a:r>
          </a:p>
          <a:p>
            <a:pPr eaLnBrk="1" hangingPunct="1">
              <a:buFontTx/>
              <a:buNone/>
            </a:pPr>
            <a:endParaRPr lang="en-US" altLang="ko-KR" dirty="0"/>
          </a:p>
          <a:p>
            <a:pPr eaLnBrk="1" hangingPunct="1">
              <a:buFontTx/>
              <a:buNone/>
            </a:pPr>
            <a:endParaRPr lang="en-US" altLang="ko-KR" dirty="0"/>
          </a:p>
          <a:p>
            <a:pPr eaLnBrk="1" hangingPunct="1">
              <a:buFontTx/>
              <a:buNone/>
            </a:pPr>
            <a:r>
              <a:rPr lang="en-US" altLang="ko-KR" dirty="0"/>
              <a:t>    - </a:t>
            </a:r>
            <a:r>
              <a:rPr lang="ko-KR" altLang="en-US" dirty="0" err="1"/>
              <a:t>두변수간의</a:t>
            </a:r>
            <a:r>
              <a:rPr lang="ko-KR" altLang="en-US" dirty="0"/>
              <a:t> 관계</a:t>
            </a:r>
            <a:r>
              <a:rPr lang="en-US" altLang="ko-KR" dirty="0"/>
              <a:t>, </a:t>
            </a:r>
            <a:r>
              <a:rPr lang="ko-KR" altLang="en-US" dirty="0" err="1"/>
              <a:t>관계정도에</a:t>
            </a:r>
            <a:r>
              <a:rPr lang="ko-KR" altLang="en-US" dirty="0"/>
              <a:t> 관심</a:t>
            </a:r>
          </a:p>
          <a:p>
            <a:pPr eaLnBrk="1" hangingPunct="1">
              <a:buFontTx/>
              <a:buNone/>
            </a:pPr>
            <a:r>
              <a:rPr lang="ko-KR" altLang="en-US" dirty="0"/>
              <a:t>        </a:t>
            </a:r>
            <a:r>
              <a:rPr lang="en-US" altLang="ko-KR" dirty="0"/>
              <a:t>=&gt; </a:t>
            </a:r>
            <a:r>
              <a:rPr lang="ko-KR" altLang="en-US" dirty="0" err="1"/>
              <a:t>공분산</a:t>
            </a:r>
            <a:r>
              <a:rPr lang="en-US" altLang="ko-KR" dirty="0"/>
              <a:t>, </a:t>
            </a:r>
            <a:r>
              <a:rPr lang="ko-KR" altLang="en-US" dirty="0"/>
              <a:t>상관계수</a:t>
            </a:r>
            <a:r>
              <a:rPr lang="en-US" altLang="ko-KR" dirty="0"/>
              <a:t>, </a:t>
            </a:r>
            <a:r>
              <a:rPr lang="ko-KR" altLang="en-US" dirty="0"/>
              <a:t>독립성 등</a:t>
            </a:r>
          </a:p>
        </p:txBody>
      </p:sp>
      <p:graphicFrame>
        <p:nvGraphicFramePr>
          <p:cNvPr id="6146" name="Object 2048"/>
          <p:cNvGraphicFramePr>
            <a:graphicFrameLocks noChangeAspect="1"/>
          </p:cNvGraphicFramePr>
          <p:nvPr/>
        </p:nvGraphicFramePr>
        <p:xfrm>
          <a:off x="1550988" y="3109913"/>
          <a:ext cx="4392612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2" name="Equation" r:id="rId3" imgW="2019240" imgH="266400" progId="Equation.3">
                  <p:embed/>
                </p:oleObj>
              </mc:Choice>
              <mc:Fallback>
                <p:oleObj name="Equation" r:id="rId3" imgW="2019240" imgH="266400" progId="Equation.3">
                  <p:embed/>
                  <p:pic>
                    <p:nvPicPr>
                      <p:cNvPr id="0" name="Object 20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0988" y="3109913"/>
                        <a:ext cx="4392612" cy="57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1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685800"/>
            <a:ext cx="7772400" cy="4572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ko-KR"/>
              <a:t>X</a:t>
            </a:r>
            <a:r>
              <a:rPr lang="ko-KR" altLang="en-US"/>
              <a:t>와 </a:t>
            </a:r>
            <a:r>
              <a:rPr lang="en-US" altLang="ko-KR"/>
              <a:t>Y</a:t>
            </a:r>
            <a:r>
              <a:rPr lang="ko-KR" altLang="en-US"/>
              <a:t>의 결합확률분포</a:t>
            </a:r>
          </a:p>
        </p:txBody>
      </p:sp>
      <p:graphicFrame>
        <p:nvGraphicFramePr>
          <p:cNvPr id="92338" name="Group 1202"/>
          <p:cNvGraphicFramePr>
            <a:graphicFrameLocks noGrp="1"/>
          </p:cNvGraphicFramePr>
          <p:nvPr/>
        </p:nvGraphicFramePr>
        <p:xfrm>
          <a:off x="1524000" y="1397000"/>
          <a:ext cx="6096000" cy="4081465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77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합계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7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7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7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합계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170" name="Object 1024"/>
          <p:cNvGraphicFramePr>
            <a:graphicFrameLocks noChangeAspect="1"/>
          </p:cNvGraphicFramePr>
          <p:nvPr/>
        </p:nvGraphicFramePr>
        <p:xfrm>
          <a:off x="2743200" y="1524000"/>
          <a:ext cx="3365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07" name="Equation" r:id="rId3" imgW="177480" imgH="241200" progId="Equation.3">
                  <p:embed/>
                </p:oleObj>
              </mc:Choice>
              <mc:Fallback>
                <p:oleObj name="Equation" r:id="rId3" imgW="177480" imgH="241200" progId="Equation.3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524000"/>
                        <a:ext cx="33655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Object 1025"/>
          <p:cNvGraphicFramePr>
            <a:graphicFrameLocks noChangeAspect="1"/>
          </p:cNvGraphicFramePr>
          <p:nvPr/>
        </p:nvGraphicFramePr>
        <p:xfrm>
          <a:off x="3797300" y="1524000"/>
          <a:ext cx="3619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08" name="Equation" r:id="rId5" imgW="190440" imgH="241200" progId="Equation.3">
                  <p:embed/>
                </p:oleObj>
              </mc:Choice>
              <mc:Fallback>
                <p:oleObj name="Equation" r:id="rId5" imgW="190440" imgH="241200" progId="Equation.3">
                  <p:embed/>
                  <p:pic>
                    <p:nvPicPr>
                      <p:cNvPr id="0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7300" y="1524000"/>
                        <a:ext cx="36195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1026"/>
          <p:cNvGraphicFramePr>
            <a:graphicFrameLocks noChangeAspect="1"/>
          </p:cNvGraphicFramePr>
          <p:nvPr/>
        </p:nvGraphicFramePr>
        <p:xfrm>
          <a:off x="5856288" y="1524000"/>
          <a:ext cx="36036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09" name="Equation" r:id="rId7" imgW="190440" imgH="241200" progId="Equation.3">
                  <p:embed/>
                </p:oleObj>
              </mc:Choice>
              <mc:Fallback>
                <p:oleObj name="Equation" r:id="rId7" imgW="190440" imgH="241200" progId="Equation.3">
                  <p:embed/>
                  <p:pic>
                    <p:nvPicPr>
                      <p:cNvPr id="0" name="Object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6288" y="1524000"/>
                        <a:ext cx="360362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" name="Object 1027"/>
          <p:cNvGraphicFramePr>
            <a:graphicFrameLocks noChangeAspect="1"/>
          </p:cNvGraphicFramePr>
          <p:nvPr/>
        </p:nvGraphicFramePr>
        <p:xfrm>
          <a:off x="1916113" y="2209800"/>
          <a:ext cx="31273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10" name="Equation" r:id="rId9" imgW="164880" imgH="241200" progId="Equation.3">
                  <p:embed/>
                </p:oleObj>
              </mc:Choice>
              <mc:Fallback>
                <p:oleObj name="Equation" r:id="rId9" imgW="164880" imgH="241200" progId="Equation.3">
                  <p:embed/>
                  <p:pic>
                    <p:nvPicPr>
                      <p:cNvPr id="0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6113" y="2209800"/>
                        <a:ext cx="31273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4" name="Object 1028"/>
          <p:cNvGraphicFramePr>
            <a:graphicFrameLocks noChangeAspect="1"/>
          </p:cNvGraphicFramePr>
          <p:nvPr/>
        </p:nvGraphicFramePr>
        <p:xfrm>
          <a:off x="1893888" y="2895600"/>
          <a:ext cx="3365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11" name="Equation" r:id="rId11" imgW="177480" imgH="241200" progId="Equation.3">
                  <p:embed/>
                </p:oleObj>
              </mc:Choice>
              <mc:Fallback>
                <p:oleObj name="Equation" r:id="rId11" imgW="177480" imgH="241200" progId="Equation.3">
                  <p:embed/>
                  <p:pic>
                    <p:nvPicPr>
                      <p:cNvPr id="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3888" y="2895600"/>
                        <a:ext cx="33655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5" name="Object 1029"/>
          <p:cNvGraphicFramePr>
            <a:graphicFrameLocks noChangeAspect="1"/>
          </p:cNvGraphicFramePr>
          <p:nvPr/>
        </p:nvGraphicFramePr>
        <p:xfrm>
          <a:off x="1870075" y="4191000"/>
          <a:ext cx="3841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12" name="Equation" r:id="rId13" imgW="203040" imgH="241200" progId="Equation.3">
                  <p:embed/>
                </p:oleObj>
              </mc:Choice>
              <mc:Fallback>
                <p:oleObj name="Equation" r:id="rId13" imgW="203040" imgH="241200" progId="Equation.3">
                  <p:embed/>
                  <p:pic>
                    <p:nvPicPr>
                      <p:cNvPr id="0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0075" y="4191000"/>
                        <a:ext cx="38417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6" name="Object 1030"/>
          <p:cNvGraphicFramePr>
            <a:graphicFrameLocks noChangeAspect="1"/>
          </p:cNvGraphicFramePr>
          <p:nvPr/>
        </p:nvGraphicFramePr>
        <p:xfrm>
          <a:off x="2514600" y="2286000"/>
          <a:ext cx="990600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13" name="Equation" r:id="rId15" imgW="634680" imgH="241200" progId="Equation.3">
                  <p:embed/>
                </p:oleObj>
              </mc:Choice>
              <mc:Fallback>
                <p:oleObj name="Equation" r:id="rId15" imgW="634680" imgH="241200" progId="Equation.3">
                  <p:embed/>
                  <p:pic>
                    <p:nvPicPr>
                      <p:cNvPr id="0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286000"/>
                        <a:ext cx="990600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7" name="Object 1031"/>
          <p:cNvGraphicFramePr>
            <a:graphicFrameLocks noChangeAspect="1"/>
          </p:cNvGraphicFramePr>
          <p:nvPr/>
        </p:nvGraphicFramePr>
        <p:xfrm>
          <a:off x="5543550" y="2976563"/>
          <a:ext cx="1030288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14" name="Equation" r:id="rId17" imgW="660240" imgH="241200" progId="Equation.3">
                  <p:embed/>
                </p:oleObj>
              </mc:Choice>
              <mc:Fallback>
                <p:oleObj name="Equation" r:id="rId17" imgW="660240" imgH="241200" progId="Equation.3">
                  <p:embed/>
                  <p:pic>
                    <p:nvPicPr>
                      <p:cNvPr id="0" name="Object 10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3550" y="2976563"/>
                        <a:ext cx="1030288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8" name="Object 1032"/>
          <p:cNvGraphicFramePr>
            <a:graphicFrameLocks noChangeAspect="1"/>
          </p:cNvGraphicFramePr>
          <p:nvPr/>
        </p:nvGraphicFramePr>
        <p:xfrm>
          <a:off x="2505075" y="2976563"/>
          <a:ext cx="1009650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15" name="Equation" r:id="rId19" imgW="647640" imgH="241200" progId="Equation.3">
                  <p:embed/>
                </p:oleObj>
              </mc:Choice>
              <mc:Fallback>
                <p:oleObj name="Equation" r:id="rId19" imgW="647640" imgH="241200" progId="Equation.3">
                  <p:embed/>
                  <p:pic>
                    <p:nvPicPr>
                      <p:cNvPr id="0" name="Object 10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5075" y="2976563"/>
                        <a:ext cx="1009650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9" name="Object 1033"/>
          <p:cNvGraphicFramePr>
            <a:graphicFrameLocks noChangeAspect="1"/>
          </p:cNvGraphicFramePr>
          <p:nvPr/>
        </p:nvGraphicFramePr>
        <p:xfrm>
          <a:off x="3562350" y="2976563"/>
          <a:ext cx="1030288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16" name="Equation" r:id="rId21" imgW="660240" imgH="241200" progId="Equation.3">
                  <p:embed/>
                </p:oleObj>
              </mc:Choice>
              <mc:Fallback>
                <p:oleObj name="Equation" r:id="rId21" imgW="660240" imgH="241200" progId="Equation.3">
                  <p:embed/>
                  <p:pic>
                    <p:nvPicPr>
                      <p:cNvPr id="0" name="Object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2350" y="2976563"/>
                        <a:ext cx="1030288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0" name="Object 1034"/>
          <p:cNvGraphicFramePr>
            <a:graphicFrameLocks noChangeAspect="1"/>
          </p:cNvGraphicFramePr>
          <p:nvPr/>
        </p:nvGraphicFramePr>
        <p:xfrm>
          <a:off x="3571875" y="2286000"/>
          <a:ext cx="1011238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17" name="Equation" r:id="rId23" imgW="647640" imgH="241200" progId="Equation.3">
                  <p:embed/>
                </p:oleObj>
              </mc:Choice>
              <mc:Fallback>
                <p:oleObj name="Equation" r:id="rId23" imgW="647640" imgH="241200" progId="Equation.3">
                  <p:embed/>
                  <p:pic>
                    <p:nvPicPr>
                      <p:cNvPr id="0" name="Object 10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75" y="2286000"/>
                        <a:ext cx="1011238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1" name="Object 1035"/>
          <p:cNvGraphicFramePr>
            <a:graphicFrameLocks noChangeAspect="1"/>
          </p:cNvGraphicFramePr>
          <p:nvPr/>
        </p:nvGraphicFramePr>
        <p:xfrm>
          <a:off x="3541713" y="4267200"/>
          <a:ext cx="1069975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18" name="Equation" r:id="rId25" imgW="685800" imgH="241200" progId="Equation.3">
                  <p:embed/>
                </p:oleObj>
              </mc:Choice>
              <mc:Fallback>
                <p:oleObj name="Equation" r:id="rId25" imgW="685800" imgH="241200" progId="Equation.3">
                  <p:embed/>
                  <p:pic>
                    <p:nvPicPr>
                      <p:cNvPr id="0" name="Object 10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1713" y="4267200"/>
                        <a:ext cx="1069975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2" name="Object 1036"/>
          <p:cNvGraphicFramePr>
            <a:graphicFrameLocks noChangeAspect="1"/>
          </p:cNvGraphicFramePr>
          <p:nvPr/>
        </p:nvGraphicFramePr>
        <p:xfrm>
          <a:off x="2486025" y="4267200"/>
          <a:ext cx="1049338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19" name="Equation" r:id="rId27" imgW="672840" imgH="241200" progId="Equation.3">
                  <p:embed/>
                </p:oleObj>
              </mc:Choice>
              <mc:Fallback>
                <p:oleObj name="Equation" r:id="rId27" imgW="672840" imgH="241200" progId="Equation.3">
                  <p:embed/>
                  <p:pic>
                    <p:nvPicPr>
                      <p:cNvPr id="0" name="Object 10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6025" y="4267200"/>
                        <a:ext cx="1049338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3" name="Object 1037"/>
          <p:cNvGraphicFramePr>
            <a:graphicFrameLocks noChangeAspect="1"/>
          </p:cNvGraphicFramePr>
          <p:nvPr/>
        </p:nvGraphicFramePr>
        <p:xfrm>
          <a:off x="5629275" y="2286000"/>
          <a:ext cx="1011238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20" name="Equation" r:id="rId29" imgW="647640" imgH="241200" progId="Equation.3">
                  <p:embed/>
                </p:oleObj>
              </mc:Choice>
              <mc:Fallback>
                <p:oleObj name="Equation" r:id="rId29" imgW="647640" imgH="241200" progId="Equation.3">
                  <p:embed/>
                  <p:pic>
                    <p:nvPicPr>
                      <p:cNvPr id="0" name="Object 10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9275" y="2286000"/>
                        <a:ext cx="1011238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4" name="Object 1038"/>
          <p:cNvGraphicFramePr>
            <a:graphicFrameLocks noChangeAspect="1"/>
          </p:cNvGraphicFramePr>
          <p:nvPr/>
        </p:nvGraphicFramePr>
        <p:xfrm>
          <a:off x="5599113" y="4343400"/>
          <a:ext cx="1069975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21" name="Equation" r:id="rId31" imgW="685800" imgH="241200" progId="Equation.3">
                  <p:embed/>
                </p:oleObj>
              </mc:Choice>
              <mc:Fallback>
                <p:oleObj name="Equation" r:id="rId31" imgW="685800" imgH="241200" progId="Equation.3">
                  <p:embed/>
                  <p:pic>
                    <p:nvPicPr>
                      <p:cNvPr id="0" name="Object 10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9113" y="4343400"/>
                        <a:ext cx="1069975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5" name="Object 1039"/>
          <p:cNvGraphicFramePr>
            <a:graphicFrameLocks noChangeAspect="1"/>
          </p:cNvGraphicFramePr>
          <p:nvPr/>
        </p:nvGraphicFramePr>
        <p:xfrm>
          <a:off x="4800600" y="2362200"/>
          <a:ext cx="533400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22" name="Equation" r:id="rId33" imgW="190440" imgH="88560" progId="Equation.3">
                  <p:embed/>
                </p:oleObj>
              </mc:Choice>
              <mc:Fallback>
                <p:oleObj name="Equation" r:id="rId33" imgW="190440" imgH="88560" progId="Equation.3">
                  <p:embed/>
                  <p:pic>
                    <p:nvPicPr>
                      <p:cNvPr id="0" name="Object 10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2362200"/>
                        <a:ext cx="533400" cy="24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6" name="Object 1040"/>
          <p:cNvGraphicFramePr>
            <a:graphicFrameLocks noChangeAspect="1"/>
          </p:cNvGraphicFramePr>
          <p:nvPr/>
        </p:nvGraphicFramePr>
        <p:xfrm>
          <a:off x="4800600" y="1600200"/>
          <a:ext cx="533400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23" name="Equation" r:id="rId35" imgW="190440" imgH="88560" progId="Equation.3">
                  <p:embed/>
                </p:oleObj>
              </mc:Choice>
              <mc:Fallback>
                <p:oleObj name="Equation" r:id="rId35" imgW="190440" imgH="88560" progId="Equation.3">
                  <p:embed/>
                  <p:pic>
                    <p:nvPicPr>
                      <p:cNvPr id="0" name="Object 10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1600200"/>
                        <a:ext cx="533400" cy="24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7" name="Object 1041"/>
          <p:cNvGraphicFramePr>
            <a:graphicFrameLocks noChangeAspect="1"/>
          </p:cNvGraphicFramePr>
          <p:nvPr/>
        </p:nvGraphicFramePr>
        <p:xfrm>
          <a:off x="4800600" y="2971800"/>
          <a:ext cx="533400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24" name="Equation" r:id="rId36" imgW="190440" imgH="88560" progId="Equation.3">
                  <p:embed/>
                </p:oleObj>
              </mc:Choice>
              <mc:Fallback>
                <p:oleObj name="Equation" r:id="rId36" imgW="190440" imgH="88560" progId="Equation.3">
                  <p:embed/>
                  <p:pic>
                    <p:nvPicPr>
                      <p:cNvPr id="0" name="Object 10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2971800"/>
                        <a:ext cx="533400" cy="24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8" name="Object 1042"/>
          <p:cNvGraphicFramePr>
            <a:graphicFrameLocks noChangeAspect="1"/>
          </p:cNvGraphicFramePr>
          <p:nvPr/>
        </p:nvGraphicFramePr>
        <p:xfrm>
          <a:off x="4800600" y="4267200"/>
          <a:ext cx="533400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25" name="Equation" r:id="rId37" imgW="190440" imgH="88560" progId="Equation.3">
                  <p:embed/>
                </p:oleObj>
              </mc:Choice>
              <mc:Fallback>
                <p:oleObj name="Equation" r:id="rId37" imgW="190440" imgH="88560" progId="Equation.3">
                  <p:embed/>
                  <p:pic>
                    <p:nvPicPr>
                      <p:cNvPr id="0" name="Object 10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4267200"/>
                        <a:ext cx="533400" cy="24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9" name="Object 1043"/>
          <p:cNvGraphicFramePr>
            <a:graphicFrameLocks noChangeAspect="1"/>
          </p:cNvGraphicFramePr>
          <p:nvPr/>
        </p:nvGraphicFramePr>
        <p:xfrm>
          <a:off x="1905000" y="3505200"/>
          <a:ext cx="2000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26" name="Equation" r:id="rId38" imgW="75960" imgH="203040" progId="Equation.3">
                  <p:embed/>
                </p:oleObj>
              </mc:Choice>
              <mc:Fallback>
                <p:oleObj name="Equation" r:id="rId38" imgW="75960" imgH="203040" progId="Equation.3">
                  <p:embed/>
                  <p:pic>
                    <p:nvPicPr>
                      <p:cNvPr id="0" name="Object 10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3505200"/>
                        <a:ext cx="20002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90" name="Object 1044"/>
          <p:cNvGraphicFramePr>
            <a:graphicFrameLocks noChangeAspect="1"/>
          </p:cNvGraphicFramePr>
          <p:nvPr/>
        </p:nvGraphicFramePr>
        <p:xfrm>
          <a:off x="2895600" y="3581400"/>
          <a:ext cx="2000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27" name="Equation" r:id="rId40" imgW="75960" imgH="203040" progId="Equation.3">
                  <p:embed/>
                </p:oleObj>
              </mc:Choice>
              <mc:Fallback>
                <p:oleObj name="Equation" r:id="rId40" imgW="75960" imgH="203040" progId="Equation.3">
                  <p:embed/>
                  <p:pic>
                    <p:nvPicPr>
                      <p:cNvPr id="0" name="Object 10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3581400"/>
                        <a:ext cx="20002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91" name="Object 1045"/>
          <p:cNvGraphicFramePr>
            <a:graphicFrameLocks noChangeAspect="1"/>
          </p:cNvGraphicFramePr>
          <p:nvPr/>
        </p:nvGraphicFramePr>
        <p:xfrm>
          <a:off x="3962400" y="3505200"/>
          <a:ext cx="2000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28" name="Equation" r:id="rId41" imgW="75960" imgH="203040" progId="Equation.3">
                  <p:embed/>
                </p:oleObj>
              </mc:Choice>
              <mc:Fallback>
                <p:oleObj name="Equation" r:id="rId41" imgW="75960" imgH="203040" progId="Equation.3">
                  <p:embed/>
                  <p:pic>
                    <p:nvPicPr>
                      <p:cNvPr id="0" name="Object 10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3505200"/>
                        <a:ext cx="20002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92" name="Object 1046"/>
          <p:cNvGraphicFramePr>
            <a:graphicFrameLocks noChangeAspect="1"/>
          </p:cNvGraphicFramePr>
          <p:nvPr/>
        </p:nvGraphicFramePr>
        <p:xfrm>
          <a:off x="5943600" y="3505200"/>
          <a:ext cx="2000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29" name="Equation" r:id="rId42" imgW="75960" imgH="203040" progId="Equation.3">
                  <p:embed/>
                </p:oleObj>
              </mc:Choice>
              <mc:Fallback>
                <p:oleObj name="Equation" r:id="rId42" imgW="75960" imgH="203040" progId="Equation.3">
                  <p:embed/>
                  <p:pic>
                    <p:nvPicPr>
                      <p:cNvPr id="0" name="Object 10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3505200"/>
                        <a:ext cx="20002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93" name="Object 1047"/>
          <p:cNvGraphicFramePr>
            <a:graphicFrameLocks noChangeAspect="1"/>
          </p:cNvGraphicFramePr>
          <p:nvPr/>
        </p:nvGraphicFramePr>
        <p:xfrm>
          <a:off x="6781800" y="2286000"/>
          <a:ext cx="673100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30" name="Equation" r:id="rId43" imgW="431640" imgH="241200" progId="Equation.3">
                  <p:embed/>
                </p:oleObj>
              </mc:Choice>
              <mc:Fallback>
                <p:oleObj name="Equation" r:id="rId43" imgW="431640" imgH="241200" progId="Equation.3">
                  <p:embed/>
                  <p:pic>
                    <p:nvPicPr>
                      <p:cNvPr id="0" name="Object 10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2286000"/>
                        <a:ext cx="673100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94" name="Object 1048"/>
          <p:cNvGraphicFramePr>
            <a:graphicFrameLocks noChangeAspect="1"/>
          </p:cNvGraphicFramePr>
          <p:nvPr/>
        </p:nvGraphicFramePr>
        <p:xfrm>
          <a:off x="6788150" y="2976563"/>
          <a:ext cx="692150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31" name="Equation" r:id="rId45" imgW="444240" imgH="241200" progId="Equation.3">
                  <p:embed/>
                </p:oleObj>
              </mc:Choice>
              <mc:Fallback>
                <p:oleObj name="Equation" r:id="rId45" imgW="444240" imgH="241200" progId="Equation.3">
                  <p:embed/>
                  <p:pic>
                    <p:nvPicPr>
                      <p:cNvPr id="0" name="Object 10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8150" y="2976563"/>
                        <a:ext cx="692150" cy="376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95" name="Object 1049"/>
          <p:cNvGraphicFramePr>
            <a:graphicFrameLocks noChangeAspect="1"/>
          </p:cNvGraphicFramePr>
          <p:nvPr/>
        </p:nvGraphicFramePr>
        <p:xfrm>
          <a:off x="2671763" y="4876800"/>
          <a:ext cx="693737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32" name="Equation" r:id="rId47" imgW="444240" imgH="241200" progId="Equation.3">
                  <p:embed/>
                </p:oleObj>
              </mc:Choice>
              <mc:Fallback>
                <p:oleObj name="Equation" r:id="rId47" imgW="444240" imgH="241200" progId="Equation.3">
                  <p:embed/>
                  <p:pic>
                    <p:nvPicPr>
                      <p:cNvPr id="0" name="Object 10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1763" y="4876800"/>
                        <a:ext cx="693737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96" name="Object 1050"/>
          <p:cNvGraphicFramePr>
            <a:graphicFrameLocks noChangeAspect="1"/>
          </p:cNvGraphicFramePr>
          <p:nvPr/>
        </p:nvGraphicFramePr>
        <p:xfrm>
          <a:off x="3700463" y="4876800"/>
          <a:ext cx="712787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33" name="Equation" r:id="rId49" imgW="457200" imgH="241200" progId="Equation.3">
                  <p:embed/>
                </p:oleObj>
              </mc:Choice>
              <mc:Fallback>
                <p:oleObj name="Equation" r:id="rId49" imgW="457200" imgH="241200" progId="Equation.3">
                  <p:embed/>
                  <p:pic>
                    <p:nvPicPr>
                      <p:cNvPr id="0" name="Object 10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0463" y="4876800"/>
                        <a:ext cx="712787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97" name="Object 1051"/>
          <p:cNvGraphicFramePr>
            <a:graphicFrameLocks noChangeAspect="1"/>
          </p:cNvGraphicFramePr>
          <p:nvPr/>
        </p:nvGraphicFramePr>
        <p:xfrm>
          <a:off x="6797675" y="4267200"/>
          <a:ext cx="733425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34" name="Equation" r:id="rId51" imgW="469800" imgH="241200" progId="Equation.3">
                  <p:embed/>
                </p:oleObj>
              </mc:Choice>
              <mc:Fallback>
                <p:oleObj name="Equation" r:id="rId51" imgW="469800" imgH="241200" progId="Equation.3">
                  <p:embed/>
                  <p:pic>
                    <p:nvPicPr>
                      <p:cNvPr id="0" name="Object 10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7675" y="4267200"/>
                        <a:ext cx="733425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98" name="Object 1052"/>
          <p:cNvGraphicFramePr>
            <a:graphicFrameLocks noChangeAspect="1"/>
          </p:cNvGraphicFramePr>
          <p:nvPr/>
        </p:nvGraphicFramePr>
        <p:xfrm>
          <a:off x="5740400" y="4953000"/>
          <a:ext cx="712788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35" name="Equation" r:id="rId53" imgW="457200" imgH="241200" progId="Equation.3">
                  <p:embed/>
                </p:oleObj>
              </mc:Choice>
              <mc:Fallback>
                <p:oleObj name="Equation" r:id="rId53" imgW="457200" imgH="241200" progId="Equation.3">
                  <p:embed/>
                  <p:pic>
                    <p:nvPicPr>
                      <p:cNvPr id="0" name="Object 10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0400" y="4953000"/>
                        <a:ext cx="712788" cy="37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99" name="Object 1053"/>
          <p:cNvGraphicFramePr>
            <a:graphicFrameLocks noChangeAspect="1"/>
          </p:cNvGraphicFramePr>
          <p:nvPr/>
        </p:nvGraphicFramePr>
        <p:xfrm>
          <a:off x="4876800" y="4953000"/>
          <a:ext cx="533400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36" name="Equation" r:id="rId55" imgW="190440" imgH="88560" progId="Equation.3">
                  <p:embed/>
                </p:oleObj>
              </mc:Choice>
              <mc:Fallback>
                <p:oleObj name="Equation" r:id="rId55" imgW="190440" imgH="88560" progId="Equation.3">
                  <p:embed/>
                  <p:pic>
                    <p:nvPicPr>
                      <p:cNvPr id="0" name="Object 10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4953000"/>
                        <a:ext cx="533400" cy="24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00" name="Object 1054"/>
          <p:cNvGraphicFramePr>
            <a:graphicFrameLocks noChangeAspect="1"/>
          </p:cNvGraphicFramePr>
          <p:nvPr/>
        </p:nvGraphicFramePr>
        <p:xfrm>
          <a:off x="7010400" y="3505200"/>
          <a:ext cx="2000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37" name="Equation" r:id="rId56" imgW="75960" imgH="203040" progId="Equation.3">
                  <p:embed/>
                </p:oleObj>
              </mc:Choice>
              <mc:Fallback>
                <p:oleObj name="Equation" r:id="rId56" imgW="75960" imgH="203040" progId="Equation.3">
                  <p:embed/>
                  <p:pic>
                    <p:nvPicPr>
                      <p:cNvPr id="0" name="Object 10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3505200"/>
                        <a:ext cx="20002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94556" y="620688"/>
            <a:ext cx="8354888" cy="4114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ko-KR" sz="2800" dirty="0"/>
              <a:t>(</a:t>
            </a:r>
            <a:r>
              <a:rPr lang="ko-KR" altLang="en-US" sz="2800" dirty="0"/>
              <a:t>예제</a:t>
            </a:r>
            <a:r>
              <a:rPr lang="en-US" altLang="ko-KR" sz="2800" dirty="0"/>
              <a:t>12) </a:t>
            </a:r>
            <a:r>
              <a:rPr lang="ko-KR" altLang="en-US" sz="2800" dirty="0"/>
              <a:t>동전을 </a:t>
            </a:r>
            <a:r>
              <a:rPr lang="en-US" altLang="ko-KR" sz="2800" dirty="0"/>
              <a:t>3</a:t>
            </a:r>
            <a:r>
              <a:rPr lang="ko-KR" altLang="en-US" sz="2800" dirty="0"/>
              <a:t>번 던진다</a:t>
            </a:r>
            <a:r>
              <a:rPr lang="en-US" altLang="ko-KR" sz="2800" dirty="0"/>
              <a:t>.</a:t>
            </a:r>
            <a:r>
              <a:rPr lang="ko-KR" altLang="en-US" sz="2800" dirty="0"/>
              <a:t>한번 시행결과 </a:t>
            </a:r>
            <a:r>
              <a:rPr lang="en-US" altLang="ko-KR" sz="2800" dirty="0"/>
              <a:t>H or T</a:t>
            </a:r>
          </a:p>
          <a:p>
            <a:pPr eaLnBrk="1" hangingPunct="1">
              <a:buFontTx/>
              <a:buNone/>
            </a:pPr>
            <a:r>
              <a:rPr lang="en-US" altLang="ko-KR" sz="2800" dirty="0"/>
              <a:t> X = </a:t>
            </a:r>
            <a:r>
              <a:rPr lang="ko-KR" altLang="en-US" sz="2800" dirty="0"/>
              <a:t>앞면이 나온 횟수</a:t>
            </a:r>
          </a:p>
          <a:p>
            <a:pPr eaLnBrk="1" hangingPunct="1">
              <a:buFontTx/>
              <a:buNone/>
            </a:pPr>
            <a:r>
              <a:rPr lang="ko-KR" altLang="en-US" sz="2800" dirty="0"/>
              <a:t> </a:t>
            </a:r>
            <a:r>
              <a:rPr lang="en-US" altLang="ko-KR" sz="2800" dirty="0"/>
              <a:t>Y = </a:t>
            </a:r>
            <a:r>
              <a:rPr lang="ko-KR" altLang="en-US" sz="2800" dirty="0"/>
              <a:t>처음 </a:t>
            </a:r>
            <a:r>
              <a:rPr lang="ko-KR" altLang="en-US" sz="2800" dirty="0" err="1"/>
              <a:t>두번</a:t>
            </a:r>
            <a:r>
              <a:rPr lang="ko-KR" altLang="en-US" sz="2800" dirty="0"/>
              <a:t> 시행에서 뒷면이 나온 횟수</a:t>
            </a:r>
          </a:p>
          <a:p>
            <a:pPr eaLnBrk="1" hangingPunct="1">
              <a:buFontTx/>
              <a:buNone/>
            </a:pPr>
            <a:r>
              <a:rPr lang="ko-KR" altLang="en-US" sz="2800" dirty="0"/>
              <a:t> </a:t>
            </a:r>
            <a:r>
              <a:rPr lang="en-US" altLang="ko-KR" sz="2800" dirty="0">
                <a:ea typeface="바탕" pitchFamily="18" charset="-127"/>
              </a:rPr>
              <a:t>Ω = {HHH,HHT,HTH,THH,HTT,THT,TTH,TTT}</a:t>
            </a:r>
          </a:p>
          <a:p>
            <a:pPr eaLnBrk="1" hangingPunct="1">
              <a:buFontTx/>
              <a:buNone/>
            </a:pPr>
            <a:r>
              <a:rPr lang="en-US" altLang="ko-KR" sz="2800" dirty="0">
                <a:ea typeface="바탕" pitchFamily="18" charset="-127"/>
              </a:rPr>
              <a:t> X =     3      2      2     2     1     1     1     0</a:t>
            </a:r>
          </a:p>
          <a:p>
            <a:pPr eaLnBrk="1" hangingPunct="1">
              <a:buFontTx/>
              <a:buNone/>
            </a:pPr>
            <a:r>
              <a:rPr lang="en-US" altLang="ko-KR" sz="2800" dirty="0">
                <a:ea typeface="바탕" pitchFamily="18" charset="-127"/>
              </a:rPr>
              <a:t> Y =     0      0      1     1     1     1     2     2</a:t>
            </a:r>
            <a:r>
              <a:rPr lang="en-US" altLang="ko-KR" sz="2800" dirty="0"/>
              <a:t> </a:t>
            </a:r>
          </a:p>
          <a:p>
            <a:pPr eaLnBrk="1" hangingPunct="1"/>
            <a:endParaRPr lang="en-US" altLang="ko-KR" sz="2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381000"/>
            <a:ext cx="7772400" cy="5181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ko-KR" altLang="en-US" sz="2800"/>
              <a:t>아래표는 </a:t>
            </a:r>
            <a:r>
              <a:rPr lang="en-US" altLang="ko-KR" sz="2800"/>
              <a:t>P(X=x,Y=y)</a:t>
            </a:r>
            <a:r>
              <a:rPr lang="ko-KR" altLang="en-US" sz="2800"/>
              <a:t>의 결합분포이다</a:t>
            </a:r>
            <a:r>
              <a:rPr lang="en-US" altLang="ko-KR" sz="2800"/>
              <a:t>.</a:t>
            </a:r>
          </a:p>
          <a:p>
            <a:pPr eaLnBrk="1" hangingPunct="1">
              <a:buFontTx/>
              <a:buNone/>
            </a:pPr>
            <a:endParaRPr lang="en-US" altLang="ko-KR" sz="2800"/>
          </a:p>
          <a:p>
            <a:pPr eaLnBrk="1" hangingPunct="1">
              <a:buFontTx/>
              <a:buNone/>
            </a:pPr>
            <a:endParaRPr lang="en-US" altLang="ko-KR" sz="2800"/>
          </a:p>
          <a:p>
            <a:pPr eaLnBrk="1" hangingPunct="1">
              <a:buFontTx/>
              <a:buNone/>
            </a:pPr>
            <a:endParaRPr lang="en-US" altLang="ko-KR" sz="2800"/>
          </a:p>
          <a:p>
            <a:pPr eaLnBrk="1" hangingPunct="1">
              <a:buFontTx/>
              <a:buNone/>
            </a:pPr>
            <a:endParaRPr lang="en-US" altLang="ko-KR" sz="2800"/>
          </a:p>
          <a:p>
            <a:pPr eaLnBrk="1" hangingPunct="1">
              <a:buFontTx/>
              <a:buNone/>
            </a:pPr>
            <a:endParaRPr lang="en-US" altLang="ko-KR" sz="2800"/>
          </a:p>
          <a:p>
            <a:pPr eaLnBrk="1" hangingPunct="1">
              <a:buFontTx/>
              <a:buNone/>
            </a:pPr>
            <a:endParaRPr lang="en-US" altLang="ko-KR" sz="2800"/>
          </a:p>
          <a:p>
            <a:pPr eaLnBrk="1" hangingPunct="1">
              <a:buFontTx/>
              <a:buNone/>
            </a:pPr>
            <a:endParaRPr lang="en-US" altLang="ko-KR" sz="2800"/>
          </a:p>
          <a:p>
            <a:pPr eaLnBrk="1" hangingPunct="1">
              <a:buFontTx/>
              <a:buNone/>
            </a:pPr>
            <a:r>
              <a:rPr lang="en-US" altLang="ko-KR" sz="2800"/>
              <a:t>P(X&lt;Y)=P(0,2)+P(1,2)</a:t>
            </a:r>
          </a:p>
          <a:p>
            <a:pPr eaLnBrk="1" hangingPunct="1">
              <a:buFontTx/>
              <a:buNone/>
            </a:pPr>
            <a:r>
              <a:rPr lang="en-US" altLang="ko-KR" sz="2800"/>
              <a:t>P(X+Y=2)=P(1,1)+P(2,0)+P(0,2)</a:t>
            </a:r>
          </a:p>
          <a:p>
            <a:pPr eaLnBrk="1" hangingPunct="1">
              <a:buFontTx/>
              <a:buNone/>
            </a:pPr>
            <a:endParaRPr lang="en-US" altLang="ko-KR" sz="2800"/>
          </a:p>
        </p:txBody>
      </p:sp>
      <p:graphicFrame>
        <p:nvGraphicFramePr>
          <p:cNvPr id="84995" name="Group 3"/>
          <p:cNvGraphicFramePr>
            <a:graphicFrameLocks noGrp="1"/>
          </p:cNvGraphicFramePr>
          <p:nvPr/>
        </p:nvGraphicFramePr>
        <p:xfrm>
          <a:off x="990600" y="990600"/>
          <a:ext cx="4546600" cy="3095626"/>
        </p:xfrm>
        <a:graphic>
          <a:graphicData uri="http://schemas.openxmlformats.org/drawingml/2006/table">
            <a:tbl>
              <a:tblPr/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  X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f(Y)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1/8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1/8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2/8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2/8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2/8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4/8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1/8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1/8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2/8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f(X)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1/8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3/8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3/8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1/8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609600"/>
          </a:xfrm>
        </p:spPr>
        <p:txBody>
          <a:bodyPr/>
          <a:lstStyle/>
          <a:p>
            <a:pPr algn="l" eaLnBrk="1" hangingPunct="1"/>
            <a:r>
              <a:rPr lang="en-US" altLang="ko-KR"/>
              <a:t>(2) </a:t>
            </a:r>
            <a:r>
              <a:rPr lang="ko-KR" altLang="en-US"/>
              <a:t>두 확률변수의 함수의 기대값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7772400" cy="4800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ko-KR"/>
              <a:t>   E(g(X,Y)) </a:t>
            </a:r>
          </a:p>
          <a:p>
            <a:pPr eaLnBrk="1" hangingPunct="1">
              <a:buFontTx/>
              <a:buNone/>
            </a:pPr>
            <a:r>
              <a:rPr lang="en-US" altLang="ko-KR"/>
              <a:t>      = </a:t>
            </a:r>
            <a:r>
              <a:rPr lang="en-US" altLang="ko-KR">
                <a:ea typeface="바탕" pitchFamily="18" charset="-127"/>
              </a:rPr>
              <a:t>Σ Σ g(x,y)P(X=x,Y=y)</a:t>
            </a:r>
          </a:p>
          <a:p>
            <a:pPr eaLnBrk="1" hangingPunct="1">
              <a:buFontTx/>
              <a:buNone/>
            </a:pPr>
            <a:r>
              <a:rPr lang="ko-KR" altLang="en-US">
                <a:ea typeface="바탕" pitchFamily="18" charset="-127"/>
              </a:rPr>
              <a:t>예제</a:t>
            </a:r>
            <a:r>
              <a:rPr lang="en-US" altLang="ko-KR">
                <a:ea typeface="바탕" pitchFamily="18" charset="-127"/>
              </a:rPr>
              <a:t>) </a:t>
            </a:r>
            <a:r>
              <a:rPr lang="ko-KR" altLang="en-US">
                <a:ea typeface="바탕" pitchFamily="18" charset="-127"/>
              </a:rPr>
              <a:t>앞 예제에서 </a:t>
            </a:r>
            <a:r>
              <a:rPr lang="en-US" altLang="ko-KR">
                <a:ea typeface="바탕" pitchFamily="18" charset="-127"/>
              </a:rPr>
              <a:t>g(x,y)=X+Y</a:t>
            </a:r>
            <a:r>
              <a:rPr lang="ko-KR" altLang="en-US">
                <a:ea typeface="바탕" pitchFamily="18" charset="-127"/>
              </a:rPr>
              <a:t>의 기대값을 구하여라</a:t>
            </a:r>
            <a:r>
              <a:rPr lang="en-US" altLang="ko-KR">
                <a:ea typeface="바탕" pitchFamily="18" charset="-127"/>
              </a:rPr>
              <a:t>.</a:t>
            </a:r>
          </a:p>
          <a:p>
            <a:pPr eaLnBrk="1" hangingPunct="1">
              <a:buFontTx/>
              <a:buNone/>
            </a:pPr>
            <a:endParaRPr lang="en-US" altLang="ko-KR">
              <a:ea typeface="바탕" pitchFamily="18" charset="-127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609600"/>
            <a:ext cx="77724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ko-KR" sz="2800"/>
              <a:t> </a:t>
            </a:r>
            <a:r>
              <a:rPr lang="en-US" altLang="ko-KR"/>
              <a:t>(3) </a:t>
            </a:r>
            <a:r>
              <a:rPr lang="ko-KR" altLang="en-US"/>
              <a:t>주변분포</a:t>
            </a:r>
            <a:r>
              <a:rPr lang="en-US" altLang="ko-KR"/>
              <a:t>(marginal distribution)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ko-KR" sz="2800"/>
              <a:t>   - </a:t>
            </a:r>
            <a:r>
              <a:rPr lang="ko-KR" altLang="en-US" sz="2800"/>
              <a:t>결합분포로 부터 얻어진 확률변수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ko-KR" altLang="en-US" sz="2800"/>
              <a:t>   </a:t>
            </a:r>
            <a:r>
              <a:rPr lang="en-US" altLang="ko-KR" sz="2800"/>
              <a:t>- </a:t>
            </a:r>
            <a:r>
              <a:rPr lang="ko-KR" altLang="en-US" sz="2800"/>
              <a:t>확률변수 하나의 확률분포를 말한다</a:t>
            </a:r>
            <a:r>
              <a:rPr lang="en-US" altLang="ko-KR" sz="2800"/>
              <a:t>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ko-KR" sz="2800"/>
              <a:t>X</a:t>
            </a:r>
            <a:r>
              <a:rPr lang="ko-KR" altLang="en-US" sz="2800"/>
              <a:t>와 </a:t>
            </a:r>
            <a:r>
              <a:rPr lang="en-US" altLang="ko-KR" sz="2800"/>
              <a:t>Y</a:t>
            </a:r>
            <a:r>
              <a:rPr lang="ko-KR" altLang="en-US" sz="2800"/>
              <a:t>의 주변확률분포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ko-KR" altLang="en-US" sz="280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ko-KR" altLang="en-US" sz="280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ko-KR" altLang="en-US" sz="200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ko-KR" altLang="en-US" sz="200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ko-KR" altLang="en-US" sz="2000"/>
              <a:t>      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Char char="§"/>
            </a:pPr>
            <a:r>
              <a:rPr lang="ko-KR" altLang="en-US" sz="2800"/>
              <a:t>앞장의 예제에서 주변확률을 확인할 수 있다</a:t>
            </a:r>
            <a:r>
              <a:rPr lang="en-US" altLang="ko-KR" sz="2800"/>
              <a:t>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ko-KR" sz="2800"/>
              <a:t>     E(X)</a:t>
            </a:r>
            <a:r>
              <a:rPr lang="ko-KR" altLang="en-US" sz="2800"/>
              <a:t>와 </a:t>
            </a:r>
            <a:r>
              <a:rPr lang="en-US" altLang="ko-KR" sz="2800"/>
              <a:t>E(Y)</a:t>
            </a:r>
            <a:r>
              <a:rPr lang="ko-KR" altLang="en-US" sz="2800"/>
              <a:t>를 구하여라</a:t>
            </a:r>
            <a:r>
              <a:rPr lang="en-US" altLang="ko-KR" sz="2800"/>
              <a:t>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ko-KR" sz="2000"/>
              <a:t>             </a:t>
            </a:r>
          </a:p>
        </p:txBody>
      </p:sp>
      <p:graphicFrame>
        <p:nvGraphicFramePr>
          <p:cNvPr id="8194" name="Object 1024"/>
          <p:cNvGraphicFramePr>
            <a:graphicFrameLocks noChangeAspect="1"/>
          </p:cNvGraphicFramePr>
          <p:nvPr/>
        </p:nvGraphicFramePr>
        <p:xfrm>
          <a:off x="1981200" y="2519363"/>
          <a:ext cx="4214813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3" name="Equation" r:id="rId3" imgW="2311200" imgH="457200" progId="Equation.3">
                  <p:embed/>
                </p:oleObj>
              </mc:Choice>
              <mc:Fallback>
                <p:oleObj name="Equation" r:id="rId3" imgW="2311200" imgH="457200" progId="Equation.3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519363"/>
                        <a:ext cx="4214813" cy="83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1025"/>
          <p:cNvGraphicFramePr>
            <a:graphicFrameLocks noChangeAspect="1"/>
          </p:cNvGraphicFramePr>
          <p:nvPr/>
        </p:nvGraphicFramePr>
        <p:xfrm>
          <a:off x="1981200" y="3363913"/>
          <a:ext cx="4214813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4" name="Equation" r:id="rId5" imgW="2311200" imgH="444240" progId="Equation.3">
                  <p:embed/>
                </p:oleObj>
              </mc:Choice>
              <mc:Fallback>
                <p:oleObj name="Equation" r:id="rId5" imgW="2311200" imgH="444240" progId="Equation.3">
                  <p:embed/>
                  <p:pic>
                    <p:nvPicPr>
                      <p:cNvPr id="0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363913"/>
                        <a:ext cx="4214813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1314" y="260648"/>
            <a:ext cx="8401372" cy="5486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ko-KR" dirty="0"/>
              <a:t>(</a:t>
            </a:r>
            <a:r>
              <a:rPr lang="ko-KR" altLang="en-US" dirty="0"/>
              <a:t>예제</a:t>
            </a:r>
            <a:r>
              <a:rPr lang="en-US" altLang="ko-KR" dirty="0"/>
              <a:t>13) </a:t>
            </a:r>
            <a:r>
              <a:rPr lang="ko-KR" altLang="en-US" dirty="0"/>
              <a:t>어떤 공장의 </a:t>
            </a:r>
            <a:r>
              <a:rPr lang="en-US" altLang="ko-KR" dirty="0"/>
              <a:t>2</a:t>
            </a:r>
            <a:r>
              <a:rPr lang="ko-KR" altLang="en-US" dirty="0"/>
              <a:t>부제 교대근무</a:t>
            </a:r>
            <a:r>
              <a:rPr lang="en-US" altLang="ko-KR"/>
              <a:t>. </a:t>
            </a:r>
            <a:r>
              <a:rPr lang="ko-KR" altLang="en-US"/>
              <a:t>근로자들의 </a:t>
            </a:r>
            <a:r>
              <a:rPr lang="ko-KR" altLang="en-US" dirty="0"/>
              <a:t>결근율을 조사하기 위해 </a:t>
            </a:r>
            <a:r>
              <a:rPr lang="en-US" altLang="ko-KR" dirty="0"/>
              <a:t>2</a:t>
            </a:r>
            <a:r>
              <a:rPr lang="ko-KR" altLang="en-US" dirty="0"/>
              <a:t>개 확률변수 사용</a:t>
            </a:r>
            <a:r>
              <a:rPr lang="en-US" altLang="ko-KR" dirty="0"/>
              <a:t>. </a:t>
            </a:r>
            <a:r>
              <a:rPr lang="ko-KR" altLang="en-US" dirty="0"/>
              <a:t>과거 자료를 이용한 결합확률분포</a:t>
            </a:r>
            <a:r>
              <a:rPr lang="en-US" altLang="ko-KR" dirty="0"/>
              <a:t>.</a:t>
            </a:r>
            <a:endParaRPr lang="ko-KR" altLang="en-US" dirty="0"/>
          </a:p>
          <a:p>
            <a:pPr eaLnBrk="1" hangingPunct="1">
              <a:buFontTx/>
              <a:buNone/>
            </a:pPr>
            <a:r>
              <a:rPr lang="ko-KR" altLang="en-US" dirty="0"/>
              <a:t>  </a:t>
            </a:r>
            <a:r>
              <a:rPr lang="en-US" altLang="ko-KR" dirty="0"/>
              <a:t>X: </a:t>
            </a:r>
            <a:r>
              <a:rPr lang="ko-KR" altLang="en-US" dirty="0"/>
              <a:t>아침근무자의 결석자 수</a:t>
            </a:r>
          </a:p>
          <a:p>
            <a:pPr eaLnBrk="1" hangingPunct="1">
              <a:buFontTx/>
              <a:buNone/>
            </a:pPr>
            <a:r>
              <a:rPr lang="ko-KR" altLang="en-US" dirty="0"/>
              <a:t>  </a:t>
            </a:r>
            <a:r>
              <a:rPr lang="en-US" altLang="ko-KR" dirty="0"/>
              <a:t>Y: </a:t>
            </a:r>
            <a:r>
              <a:rPr lang="ko-KR" altLang="en-US" dirty="0"/>
              <a:t>같은 날 저녁 근무자의 결석자 수</a:t>
            </a:r>
          </a:p>
        </p:txBody>
      </p:sp>
      <p:graphicFrame>
        <p:nvGraphicFramePr>
          <p:cNvPr id="100416" name="Group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2232763"/>
              </p:ext>
            </p:extLst>
          </p:nvPr>
        </p:nvGraphicFramePr>
        <p:xfrm>
          <a:off x="827584" y="3284984"/>
          <a:ext cx="7315200" cy="2865439"/>
        </p:xfrm>
        <a:graphic>
          <a:graphicData uri="http://schemas.openxmlformats.org/drawingml/2006/table">
            <a:tbl>
              <a:tblPr/>
              <a:tblGrid>
                <a:gridCol w="1416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2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2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51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2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669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9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  Y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행의 합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0.05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0.05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0.10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0.05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0.10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0.25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0.10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0.15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0.10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0.05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열의 합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AECB56C0-7C77-4A60-9DA8-764EF3FD72B1}"/>
              </a:ext>
            </a:extLst>
          </p:cNvPr>
          <p:cNvSpPr/>
          <p:nvPr/>
        </p:nvSpPr>
        <p:spPr>
          <a:xfrm>
            <a:off x="801729" y="6381365"/>
            <a:ext cx="468052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</a:t>
            </a:r>
            <a:r>
              <a:rPr lang="en-US" altLang="ko-KR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ko-KR" altLang="en-US" sz="1000" dirty="0" err="1"/>
              <a:t>부교제</a:t>
            </a:r>
            <a:r>
              <a:rPr lang="ko-KR" altLang="en-US" sz="1000" dirty="0"/>
              <a:t> 통계학 </a:t>
            </a:r>
            <a:r>
              <a:rPr lang="en-US" altLang="ko-KR" sz="1000" dirty="0"/>
              <a:t>–</a:t>
            </a:r>
            <a:r>
              <a:rPr lang="ko-KR" altLang="en-US" sz="1000" dirty="0"/>
              <a:t>엑셀을 이용한 분석</a:t>
            </a:r>
            <a:r>
              <a:rPr lang="en-US" altLang="ko-KR" sz="1000" dirty="0"/>
              <a:t>, </a:t>
            </a:r>
            <a:r>
              <a:rPr lang="ko-KR" altLang="en-US" sz="1000" dirty="0"/>
              <a:t>자유아카데미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김진경외</a:t>
            </a:r>
            <a:r>
              <a:rPr lang="ko-KR" altLang="en-US" sz="1000" dirty="0"/>
              <a:t> </a:t>
            </a:r>
            <a:r>
              <a:rPr lang="en-US" altLang="ko-KR" sz="1000" dirty="0"/>
              <a:t>5</a:t>
            </a:r>
            <a:r>
              <a:rPr lang="ko-KR" altLang="en-US" sz="1000" dirty="0"/>
              <a:t>명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762000"/>
            <a:ext cx="7772400" cy="5334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ko-KR" dirty="0"/>
              <a:t> 1. X</a:t>
            </a:r>
            <a:r>
              <a:rPr lang="ko-KR" altLang="en-US" dirty="0"/>
              <a:t>와 </a:t>
            </a:r>
            <a:r>
              <a:rPr lang="en-US" altLang="ko-KR" dirty="0"/>
              <a:t>Y</a:t>
            </a:r>
            <a:r>
              <a:rPr lang="ko-KR" altLang="en-US" dirty="0"/>
              <a:t>의 주변확률은</a:t>
            </a:r>
          </a:p>
          <a:p>
            <a:pPr eaLnBrk="1" hangingPunct="1">
              <a:buFontTx/>
              <a:buNone/>
            </a:pPr>
            <a:r>
              <a:rPr lang="ko-KR" altLang="en-US" dirty="0"/>
              <a:t> </a:t>
            </a:r>
            <a:r>
              <a:rPr lang="en-US" altLang="ko-KR" dirty="0"/>
              <a:t>2. X</a:t>
            </a:r>
            <a:r>
              <a:rPr lang="ko-KR" altLang="en-US" dirty="0"/>
              <a:t>와 </a:t>
            </a:r>
            <a:r>
              <a:rPr lang="en-US" altLang="ko-KR" dirty="0"/>
              <a:t>Y</a:t>
            </a:r>
            <a:r>
              <a:rPr lang="ko-KR" altLang="en-US" dirty="0"/>
              <a:t>의 </a:t>
            </a:r>
            <a:r>
              <a:rPr lang="ko-KR" altLang="en-US" dirty="0" err="1"/>
              <a:t>기대값과</a:t>
            </a:r>
            <a:r>
              <a:rPr lang="ko-KR" altLang="en-US" dirty="0"/>
              <a:t> 표준편차는</a:t>
            </a:r>
          </a:p>
          <a:p>
            <a:pPr eaLnBrk="1" hangingPunct="1">
              <a:buFontTx/>
              <a:buNone/>
            </a:pPr>
            <a:r>
              <a:rPr lang="ko-KR" altLang="en-US" dirty="0"/>
              <a:t> </a:t>
            </a:r>
            <a:r>
              <a:rPr lang="en-US" altLang="ko-KR" dirty="0"/>
              <a:t>3. p(X&gt;Y)=?</a:t>
            </a:r>
          </a:p>
          <a:p>
            <a:pPr eaLnBrk="1" hangingPunct="1">
              <a:buFontTx/>
              <a:buNone/>
            </a:pPr>
            <a:r>
              <a:rPr lang="en-US" altLang="ko-KR" dirty="0"/>
              <a:t> 4. p(X+Y=3)=?</a:t>
            </a:r>
          </a:p>
          <a:p>
            <a:pPr eaLnBrk="1" hangingPunct="1">
              <a:buFontTx/>
              <a:buNone/>
            </a:pPr>
            <a:r>
              <a:rPr lang="en-US" altLang="ko-KR" dirty="0"/>
              <a:t> 5. Z=X+Y </a:t>
            </a:r>
            <a:r>
              <a:rPr lang="ko-KR" altLang="en-US" dirty="0"/>
              <a:t>의 확률분포는</a:t>
            </a:r>
            <a:r>
              <a:rPr lang="en-US" altLang="ko-KR" dirty="0"/>
              <a:t>?</a:t>
            </a:r>
          </a:p>
          <a:p>
            <a:pPr eaLnBrk="1" hangingPunct="1">
              <a:buFontTx/>
              <a:buNone/>
            </a:pPr>
            <a:r>
              <a:rPr lang="en-US" altLang="ko-KR" dirty="0"/>
              <a:t> 6. Z</a:t>
            </a:r>
            <a:r>
              <a:rPr lang="ko-KR" altLang="en-US" dirty="0"/>
              <a:t>의 </a:t>
            </a:r>
            <a:r>
              <a:rPr lang="ko-KR" altLang="en-US" dirty="0" err="1"/>
              <a:t>기대값과</a:t>
            </a:r>
            <a:r>
              <a:rPr lang="ko-KR" altLang="en-US" dirty="0"/>
              <a:t> 표준편차는</a:t>
            </a:r>
            <a:r>
              <a:rPr lang="en-US" altLang="ko-KR" dirty="0"/>
              <a:t>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143590"/>
            <a:ext cx="7772400" cy="533400"/>
          </a:xfrm>
        </p:spPr>
        <p:txBody>
          <a:bodyPr/>
          <a:lstStyle/>
          <a:p>
            <a:pPr eaLnBrk="1" hangingPunct="1"/>
            <a:r>
              <a:rPr lang="en-US" altLang="ko-KR" dirty="0"/>
              <a:t>HW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F3176D7-975F-4574-9271-2A67AAE681CA}"/>
              </a:ext>
            </a:extLst>
          </p:cNvPr>
          <p:cNvSpPr/>
          <p:nvPr/>
        </p:nvSpPr>
        <p:spPr>
          <a:xfrm>
            <a:off x="688369" y="6201489"/>
            <a:ext cx="468052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</a:t>
            </a:r>
            <a:r>
              <a:rPr lang="en-US" altLang="ko-KR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ko-KR" altLang="en-US" sz="1000" dirty="0" err="1"/>
              <a:t>부교제</a:t>
            </a:r>
            <a:r>
              <a:rPr lang="ko-KR" altLang="en-US" sz="1000" dirty="0"/>
              <a:t> 통계학 </a:t>
            </a:r>
            <a:r>
              <a:rPr lang="en-US" altLang="ko-KR" sz="1000" dirty="0"/>
              <a:t>–</a:t>
            </a:r>
            <a:r>
              <a:rPr lang="ko-KR" altLang="en-US" sz="1000" dirty="0"/>
              <a:t>엑셀을 이용한 분석</a:t>
            </a:r>
            <a:r>
              <a:rPr lang="en-US" altLang="ko-KR" sz="1000" dirty="0"/>
              <a:t>, </a:t>
            </a:r>
            <a:r>
              <a:rPr lang="ko-KR" altLang="en-US" sz="1000" dirty="0"/>
              <a:t>자유아카데미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김진경외</a:t>
            </a:r>
            <a:r>
              <a:rPr lang="ko-KR" altLang="en-US" sz="1000" dirty="0"/>
              <a:t> </a:t>
            </a:r>
            <a:r>
              <a:rPr lang="en-US" altLang="ko-KR" sz="1000" dirty="0"/>
              <a:t>5</a:t>
            </a:r>
            <a:r>
              <a:rPr lang="ko-KR" altLang="en-US" sz="1000" dirty="0"/>
              <a:t>명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997ACC1A-859F-4EF2-854E-6B4DC17C85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642221"/>
            <a:ext cx="7772400" cy="3675905"/>
          </a:xfr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72E6B2D-8F81-45F2-8255-52B7AEABB20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4581128"/>
            <a:ext cx="7772400" cy="151596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7772400" cy="5334000"/>
          </a:xfrm>
        </p:spPr>
        <p:txBody>
          <a:bodyPr/>
          <a:lstStyle/>
          <a:p>
            <a:pPr eaLnBrk="1" hangingPunct="1">
              <a:buFont typeface="Wingdings" pitchFamily="2" charset="2"/>
              <a:buChar char="§"/>
            </a:pPr>
            <a:r>
              <a:rPr lang="ko-KR" altLang="en-US"/>
              <a:t>공분산</a:t>
            </a:r>
            <a:r>
              <a:rPr lang="en-US" altLang="ko-KR"/>
              <a:t>(Covariance)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ko-KR"/>
              <a:t>- </a:t>
            </a:r>
            <a:r>
              <a:rPr lang="ko-KR" altLang="en-US"/>
              <a:t>두 변수사이의 상호 직선적인 관계 척도</a:t>
            </a:r>
            <a:r>
              <a:rPr lang="en-US" altLang="ko-KR"/>
              <a:t>.</a:t>
            </a:r>
          </a:p>
          <a:p>
            <a:pPr eaLnBrk="1" hangingPunct="1">
              <a:buFontTx/>
              <a:buNone/>
            </a:pPr>
            <a:r>
              <a:rPr lang="en-US" altLang="ko-KR"/>
              <a:t>      COV(X,Y)=E[(X-E(X))(Y-E(Y)]</a:t>
            </a:r>
          </a:p>
          <a:p>
            <a:pPr eaLnBrk="1" hangingPunct="1">
              <a:buFontTx/>
              <a:buNone/>
            </a:pPr>
            <a:r>
              <a:rPr lang="en-US" altLang="ko-KR"/>
              <a:t>                   =E(XY)-E(X)E(Y)</a:t>
            </a:r>
          </a:p>
          <a:p>
            <a:pPr eaLnBrk="1" hangingPunct="1">
              <a:buFontTx/>
              <a:buNone/>
            </a:pPr>
            <a:r>
              <a:rPr lang="en-US" altLang="ko-KR"/>
              <a:t>      </a:t>
            </a:r>
          </a:p>
          <a:p>
            <a:pPr eaLnBrk="1" hangingPunct="1">
              <a:buFont typeface="Wingdings" pitchFamily="2" charset="2"/>
              <a:buChar char="§"/>
            </a:pPr>
            <a:endParaRPr lang="en-US" altLang="ko-KR" sz="2800"/>
          </a:p>
          <a:p>
            <a:pPr eaLnBrk="1" hangingPunct="1">
              <a:buFont typeface="Wingdings" pitchFamily="2" charset="2"/>
              <a:buChar char="§"/>
            </a:pPr>
            <a:r>
              <a:rPr lang="ko-KR" altLang="en-US" sz="2800"/>
              <a:t>앞장의 예제를 이용하여 공분산을 구하라</a:t>
            </a:r>
            <a:r>
              <a:rPr lang="en-US" altLang="ko-KR"/>
              <a:t>.</a:t>
            </a:r>
          </a:p>
          <a:p>
            <a:pPr eaLnBrk="1" hangingPunct="1">
              <a:buFontTx/>
              <a:buNone/>
            </a:pPr>
            <a:r>
              <a:rPr lang="en-US" altLang="ko-KR"/>
              <a:t> 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762000"/>
          </a:xfrm>
          <a:noFill/>
        </p:spPr>
        <p:txBody>
          <a:bodyPr/>
          <a:lstStyle/>
          <a:p>
            <a:pPr algn="l" eaLnBrk="1" hangingPunct="1"/>
            <a:r>
              <a:rPr lang="en-US" altLang="ko-KR">
                <a:solidFill>
                  <a:schemeClr val="accent2"/>
                </a:solidFill>
              </a:rPr>
              <a:t>6.6 </a:t>
            </a:r>
            <a:r>
              <a:rPr lang="ko-KR" altLang="en-US">
                <a:solidFill>
                  <a:schemeClr val="accent2"/>
                </a:solidFill>
              </a:rPr>
              <a:t>공분산과 상관계수</a:t>
            </a:r>
            <a:endParaRPr lang="ko-KR" altLang="en-US"/>
          </a:p>
        </p:txBody>
      </p:sp>
      <p:graphicFrame>
        <p:nvGraphicFramePr>
          <p:cNvPr id="9218" name="Object 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6664805"/>
              </p:ext>
            </p:extLst>
          </p:nvPr>
        </p:nvGraphicFramePr>
        <p:xfrm>
          <a:off x="2773363" y="3505200"/>
          <a:ext cx="3597275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4" name="수식" r:id="rId3" imgW="1815840" imgH="457200" progId="Equation.3">
                  <p:embed/>
                </p:oleObj>
              </mc:Choice>
              <mc:Fallback>
                <p:oleObj name="수식" r:id="rId3" imgW="1815840" imgH="457200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3363" y="3505200"/>
                        <a:ext cx="3597275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914400"/>
            <a:ext cx="7772400" cy="5334000"/>
          </a:xfrm>
        </p:spPr>
        <p:txBody>
          <a:bodyPr/>
          <a:lstStyle/>
          <a:p>
            <a:pPr eaLnBrk="1" hangingPunct="1">
              <a:buFont typeface="Wingdings" pitchFamily="2" charset="2"/>
              <a:buChar char="§"/>
            </a:pPr>
            <a:r>
              <a:rPr lang="ko-KR" altLang="en-US"/>
              <a:t>측정단위가 변경되었을 경우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ko-KR"/>
              <a:t>x=&gt; ax,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ko-KR"/>
              <a:t>y=&gt; by </a:t>
            </a:r>
            <a:r>
              <a:rPr lang="ko-KR" altLang="en-US"/>
              <a:t>로 변경</a:t>
            </a:r>
          </a:p>
          <a:p>
            <a:pPr eaLnBrk="1" hangingPunct="1">
              <a:buFontTx/>
              <a:buNone/>
            </a:pPr>
            <a:r>
              <a:rPr lang="ko-KR" altLang="en-US"/>
              <a:t>  </a:t>
            </a:r>
          </a:p>
          <a:p>
            <a:pPr eaLnBrk="1" hangingPunct="1">
              <a:buFontTx/>
              <a:buNone/>
            </a:pPr>
            <a:r>
              <a:rPr lang="en-US" altLang="ko-KR"/>
              <a:t>COV(aX,bY)=E[(aX-E(aX))(bY-E(bY)]</a:t>
            </a:r>
          </a:p>
          <a:p>
            <a:pPr eaLnBrk="1" hangingPunct="1">
              <a:buFontTx/>
              <a:buNone/>
            </a:pPr>
            <a:r>
              <a:rPr lang="en-US" altLang="ko-KR"/>
              <a:t>                =E(aXbY)-E(aX)E(bY)</a:t>
            </a:r>
          </a:p>
          <a:p>
            <a:pPr eaLnBrk="1" hangingPunct="1">
              <a:buFontTx/>
              <a:buNone/>
            </a:pPr>
            <a:r>
              <a:rPr lang="en-US" altLang="ko-KR"/>
              <a:t>                =ab{E(XY)-E(X)E(Y)}      </a:t>
            </a:r>
          </a:p>
          <a:p>
            <a:pPr eaLnBrk="1" hangingPunct="1">
              <a:buFontTx/>
              <a:buNone/>
            </a:pPr>
            <a:r>
              <a:rPr lang="en-US" altLang="ko-KR"/>
              <a:t>                =abCOV(X,Y)</a:t>
            </a:r>
          </a:p>
          <a:p>
            <a:pPr eaLnBrk="1" hangingPunct="1">
              <a:buFontTx/>
              <a:buNone/>
            </a:pPr>
            <a:r>
              <a:rPr lang="en-US" altLang="ko-KR"/>
              <a:t>	=&gt; </a:t>
            </a:r>
            <a:r>
              <a:rPr lang="ko-KR" altLang="en-US"/>
              <a:t>공분산은 측정단위에 영향을 받는다</a:t>
            </a:r>
            <a:r>
              <a:rPr lang="en-US" altLang="ko-KR"/>
              <a:t>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57200"/>
            <a:ext cx="7543800" cy="5029200"/>
          </a:xfrm>
        </p:spPr>
        <p:txBody>
          <a:bodyPr/>
          <a:lstStyle/>
          <a:p>
            <a:pPr eaLnBrk="1" hangingPunct="1">
              <a:buFont typeface="Wingdings" pitchFamily="2" charset="2"/>
              <a:buChar char="§"/>
            </a:pPr>
            <a:r>
              <a:rPr lang="ko-KR" altLang="en-US" sz="2800"/>
              <a:t>상관계수</a:t>
            </a:r>
            <a:r>
              <a:rPr lang="en-US" altLang="ko-KR" sz="2800"/>
              <a:t>(Correlation)</a:t>
            </a:r>
          </a:p>
          <a:p>
            <a:pPr lvl="1" eaLnBrk="1" hangingPunct="1">
              <a:buFontTx/>
              <a:buChar char="-"/>
            </a:pPr>
            <a:r>
              <a:rPr lang="ko-KR" altLang="en-US" sz="2400"/>
              <a:t>관계정도를 </a:t>
            </a:r>
            <a:r>
              <a:rPr lang="en-US" altLang="ko-KR" sz="2400">
                <a:latin typeface="Times New Roman" pitchFamily="18" charset="0"/>
              </a:rPr>
              <a:t>–</a:t>
            </a:r>
            <a:r>
              <a:rPr lang="en-US" altLang="ko-KR" sz="2400"/>
              <a:t>1</a:t>
            </a:r>
            <a:r>
              <a:rPr lang="ko-KR" altLang="en-US" sz="2400"/>
              <a:t>과 </a:t>
            </a:r>
            <a:r>
              <a:rPr lang="en-US" altLang="ko-KR" sz="2400"/>
              <a:t>1</a:t>
            </a:r>
            <a:r>
              <a:rPr lang="ko-KR" altLang="en-US" sz="2400"/>
              <a:t>사의 값으로 변환</a:t>
            </a:r>
          </a:p>
          <a:p>
            <a:pPr lvl="1" eaLnBrk="1" hangingPunct="1">
              <a:buFontTx/>
              <a:buChar char="-"/>
            </a:pPr>
            <a:r>
              <a:rPr lang="ko-KR" altLang="en-US" sz="2400"/>
              <a:t> 측정단위의 변경에 영향을 받지 않는다</a:t>
            </a:r>
          </a:p>
          <a:p>
            <a:pPr eaLnBrk="1" hangingPunct="1">
              <a:buFont typeface="Wingdings" pitchFamily="2" charset="2"/>
              <a:buChar char="§"/>
            </a:pPr>
            <a:endParaRPr lang="ko-KR" altLang="en-US" sz="2400"/>
          </a:p>
          <a:p>
            <a:pPr eaLnBrk="1" hangingPunct="1">
              <a:buFont typeface="Wingdings" pitchFamily="2" charset="2"/>
              <a:buChar char="§"/>
            </a:pPr>
            <a:endParaRPr lang="ko-KR" altLang="en-US" sz="2400"/>
          </a:p>
          <a:p>
            <a:pPr eaLnBrk="1" hangingPunct="1">
              <a:buFont typeface="Wingdings" pitchFamily="2" charset="2"/>
              <a:buChar char="§"/>
            </a:pPr>
            <a:endParaRPr lang="ko-KR" altLang="en-US" sz="2400"/>
          </a:p>
          <a:p>
            <a:pPr eaLnBrk="1" hangingPunct="1">
              <a:buFont typeface="Wingdings" pitchFamily="2" charset="2"/>
              <a:buChar char="§"/>
            </a:pPr>
            <a:endParaRPr lang="ko-KR" altLang="en-US" sz="2400"/>
          </a:p>
          <a:p>
            <a:pPr eaLnBrk="1" hangingPunct="1">
              <a:buFont typeface="Wingdings" pitchFamily="2" charset="2"/>
              <a:buChar char="§"/>
            </a:pPr>
            <a:endParaRPr lang="ko-KR" altLang="en-US" sz="2400"/>
          </a:p>
          <a:p>
            <a:pPr eaLnBrk="1" hangingPunct="1">
              <a:buFont typeface="Wingdings" pitchFamily="2" charset="2"/>
              <a:buChar char="§"/>
            </a:pPr>
            <a:endParaRPr lang="ko-KR" altLang="en-US" sz="2400"/>
          </a:p>
          <a:p>
            <a:pPr eaLnBrk="1" hangingPunct="1">
              <a:buFont typeface="Wingdings" pitchFamily="2" charset="2"/>
              <a:buChar char="§"/>
            </a:pPr>
            <a:endParaRPr lang="ko-KR" altLang="en-US" sz="2400"/>
          </a:p>
          <a:p>
            <a:pPr eaLnBrk="1" hangingPunct="1">
              <a:buFont typeface="Wingdings" pitchFamily="2" charset="2"/>
              <a:buChar char="§"/>
            </a:pPr>
            <a:r>
              <a:rPr lang="ko-KR" altLang="en-US" sz="2400"/>
              <a:t>앞장의 예제를 이용하여 상관계수를 구하라</a:t>
            </a:r>
            <a:r>
              <a:rPr lang="en-US" altLang="ko-KR" sz="2800"/>
              <a:t>.</a:t>
            </a:r>
          </a:p>
        </p:txBody>
      </p:sp>
      <p:graphicFrame>
        <p:nvGraphicFramePr>
          <p:cNvPr id="10242" name="Object 3"/>
          <p:cNvGraphicFramePr>
            <a:graphicFrameLocks noChangeAspect="1"/>
          </p:cNvGraphicFramePr>
          <p:nvPr/>
        </p:nvGraphicFramePr>
        <p:xfrm>
          <a:off x="1660525" y="2252663"/>
          <a:ext cx="5821363" cy="220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7" name="Equation" r:id="rId3" imgW="2654280" imgH="1002960" progId="Equation.3">
                  <p:embed/>
                </p:oleObj>
              </mc:Choice>
              <mc:Fallback>
                <p:oleObj name="Equation" r:id="rId3" imgW="2654280" imgH="100296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0525" y="2252663"/>
                        <a:ext cx="5821363" cy="220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09600" y="533400"/>
            <a:ext cx="7772400" cy="4114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ko-KR"/>
              <a:t>Note:</a:t>
            </a:r>
          </a:p>
          <a:p>
            <a:pPr eaLnBrk="1" hangingPunct="1">
              <a:buFontTx/>
              <a:buNone/>
            </a:pPr>
            <a:r>
              <a:rPr lang="en-US" altLang="ko-KR"/>
              <a:t>      -1 </a:t>
            </a:r>
            <a:r>
              <a:rPr lang="en-US" altLang="ko-KR">
                <a:ea typeface="바탕" pitchFamily="18" charset="-127"/>
              </a:rPr>
              <a:t>≤ CORR(X,Y) ≤ 1</a:t>
            </a:r>
          </a:p>
          <a:p>
            <a:pPr eaLnBrk="1" hangingPunct="1">
              <a:buFontTx/>
              <a:buNone/>
            </a:pPr>
            <a:r>
              <a:rPr lang="en-US" altLang="ko-KR">
                <a:ea typeface="바탕" pitchFamily="18" charset="-127"/>
              </a:rPr>
              <a:t>      COV(aX,bY)=abCOV(X,Y)</a:t>
            </a:r>
          </a:p>
          <a:p>
            <a:pPr eaLnBrk="1" hangingPunct="1">
              <a:buFontTx/>
              <a:buNone/>
            </a:pPr>
            <a:r>
              <a:rPr lang="en-US" altLang="ko-KR">
                <a:ea typeface="바탕" pitchFamily="18" charset="-127"/>
              </a:rPr>
              <a:t>      CORR(aX,bY)=abCORR(X,Y)/|ab|</a:t>
            </a:r>
          </a:p>
          <a:p>
            <a:pPr eaLnBrk="1" hangingPunct="1">
              <a:buFontTx/>
              <a:buNone/>
            </a:pPr>
            <a:r>
              <a:rPr lang="en-US" altLang="ko-KR">
                <a:ea typeface="바탕" pitchFamily="18" charset="-127"/>
              </a:rPr>
              <a:t>      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772400" cy="5334000"/>
          </a:xfrm>
        </p:spPr>
        <p:txBody>
          <a:bodyPr/>
          <a:lstStyle/>
          <a:p>
            <a:pPr eaLnBrk="1" hangingPunct="1">
              <a:buFont typeface="Wingdings" pitchFamily="2" charset="2"/>
              <a:buChar char="§"/>
            </a:pPr>
            <a:r>
              <a:rPr lang="en-US" altLang="ko-KR" dirty="0"/>
              <a:t>(</a:t>
            </a:r>
            <a:r>
              <a:rPr lang="en-US" altLang="ko-KR" dirty="0" err="1"/>
              <a:t>x,y</a:t>
            </a:r>
            <a:r>
              <a:rPr lang="en-US" altLang="ko-KR" dirty="0"/>
              <a:t>) </a:t>
            </a:r>
            <a:r>
              <a:rPr lang="ko-KR" altLang="en-US" dirty="0"/>
              <a:t>모든 쌍에 대하여 다음이 성립할 때 두 변수는 서로 독립이다</a:t>
            </a:r>
            <a:r>
              <a:rPr lang="en-US" altLang="ko-KR" dirty="0"/>
              <a:t>.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dirty="0"/>
              <a:t>       P(X=</a:t>
            </a:r>
            <a:r>
              <a:rPr lang="en-US" altLang="ko-KR" dirty="0" err="1"/>
              <a:t>x,Y</a:t>
            </a:r>
            <a:r>
              <a:rPr lang="en-US" altLang="ko-KR" dirty="0"/>
              <a:t>=y)=P(X=x)P(Y=y)</a:t>
            </a:r>
          </a:p>
          <a:p>
            <a:pPr eaLnBrk="1" hangingPunct="1">
              <a:buFontTx/>
              <a:buNone/>
            </a:pPr>
            <a:r>
              <a:rPr lang="en-US" altLang="ko-KR" dirty="0"/>
              <a:t>   </a:t>
            </a:r>
            <a:r>
              <a:rPr lang="ko-KR" altLang="en-US" dirty="0"/>
              <a:t>동시에 발생할 확률은 각 각 발생할 확률을 곱한 것과 같다</a:t>
            </a:r>
            <a:r>
              <a:rPr lang="en-US" altLang="ko-KR" dirty="0"/>
              <a:t>.  </a:t>
            </a:r>
            <a:r>
              <a:rPr lang="ko-KR" altLang="en-US" dirty="0"/>
              <a:t>즉 각 각 발생할 확률에 서로 영향을 못 주는 경우로 서로 상관관계가 없는 경우이다</a:t>
            </a:r>
            <a:r>
              <a:rPr lang="en-US" altLang="ko-KR" dirty="0"/>
              <a:t>.</a:t>
            </a:r>
          </a:p>
          <a:p>
            <a:pPr eaLnBrk="1" hangingPunct="1">
              <a:buFontTx/>
              <a:buNone/>
            </a:pPr>
            <a:r>
              <a:rPr lang="en-US" altLang="ko-KR" dirty="0"/>
              <a:t>	=&gt;</a:t>
            </a:r>
          </a:p>
          <a:p>
            <a:pPr eaLnBrk="1" hangingPunct="1">
              <a:buFontTx/>
              <a:buNone/>
            </a:pPr>
            <a:endParaRPr lang="en-US" altLang="ko-KR" dirty="0"/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762000"/>
          </a:xfrm>
          <a:noFill/>
        </p:spPr>
        <p:txBody>
          <a:bodyPr/>
          <a:lstStyle/>
          <a:p>
            <a:pPr algn="l" eaLnBrk="1" hangingPunct="1"/>
            <a:r>
              <a:rPr lang="en-US" altLang="ko-KR">
                <a:solidFill>
                  <a:schemeClr val="accent2"/>
                </a:solidFill>
              </a:rPr>
              <a:t>6.7 </a:t>
            </a:r>
            <a:r>
              <a:rPr lang="ko-KR" altLang="en-US">
                <a:solidFill>
                  <a:schemeClr val="accent2"/>
                </a:solidFill>
              </a:rPr>
              <a:t>두 확률변수의 독립성</a:t>
            </a:r>
          </a:p>
        </p:txBody>
      </p:sp>
      <p:graphicFrame>
        <p:nvGraphicFramePr>
          <p:cNvPr id="11266" name="Object 4"/>
          <p:cNvGraphicFramePr>
            <a:graphicFrameLocks noChangeAspect="1"/>
          </p:cNvGraphicFramePr>
          <p:nvPr/>
        </p:nvGraphicFramePr>
        <p:xfrm>
          <a:off x="2133600" y="4953000"/>
          <a:ext cx="3671888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2" name="Equation" r:id="rId3" imgW="1854000" imgH="545760" progId="Equation.3">
                  <p:embed/>
                </p:oleObj>
              </mc:Choice>
              <mc:Fallback>
                <p:oleObj name="Equation" r:id="rId3" imgW="1854000" imgH="5457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953000"/>
                        <a:ext cx="3671888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609600"/>
            <a:ext cx="7772400" cy="4572000"/>
          </a:xfrm>
        </p:spPr>
        <p:txBody>
          <a:bodyPr/>
          <a:lstStyle/>
          <a:p>
            <a:pPr eaLnBrk="1" hangingPunct="1"/>
            <a:r>
              <a:rPr lang="en-US" altLang="ko-KR" dirty="0"/>
              <a:t>(</a:t>
            </a:r>
            <a:r>
              <a:rPr lang="ko-KR" altLang="en-US" dirty="0"/>
              <a:t>예제</a:t>
            </a:r>
            <a:r>
              <a:rPr lang="en-US" altLang="ko-KR" dirty="0"/>
              <a:t>14) </a:t>
            </a:r>
            <a:r>
              <a:rPr lang="ko-KR" altLang="en-US" dirty="0"/>
              <a:t>동전을 </a:t>
            </a:r>
            <a:r>
              <a:rPr lang="en-US" altLang="ko-KR" dirty="0"/>
              <a:t>3</a:t>
            </a:r>
            <a:r>
              <a:rPr lang="ko-KR" altLang="en-US" dirty="0"/>
              <a:t>번 던진다</a:t>
            </a:r>
          </a:p>
          <a:p>
            <a:pPr eaLnBrk="1" hangingPunct="1">
              <a:buFontTx/>
              <a:buNone/>
            </a:pPr>
            <a:r>
              <a:rPr lang="ko-KR" altLang="en-US" dirty="0"/>
              <a:t>  </a:t>
            </a:r>
            <a:r>
              <a:rPr lang="en-US" altLang="ko-KR" dirty="0"/>
              <a:t>X: </a:t>
            </a:r>
            <a:r>
              <a:rPr lang="ko-KR" altLang="en-US" dirty="0"/>
              <a:t>처음 </a:t>
            </a:r>
            <a:r>
              <a:rPr lang="ko-KR" altLang="en-US" dirty="0" err="1"/>
              <a:t>두번</a:t>
            </a:r>
            <a:r>
              <a:rPr lang="ko-KR" altLang="en-US" dirty="0"/>
              <a:t> 던질 때 나오는 표면의 수</a:t>
            </a:r>
          </a:p>
          <a:p>
            <a:pPr eaLnBrk="1" hangingPunct="1">
              <a:buFontTx/>
              <a:buNone/>
            </a:pPr>
            <a:r>
              <a:rPr lang="ko-KR" altLang="en-US" dirty="0"/>
              <a:t>  </a:t>
            </a:r>
            <a:r>
              <a:rPr lang="en-US" altLang="ko-KR" dirty="0"/>
              <a:t>Y: </a:t>
            </a:r>
            <a:r>
              <a:rPr lang="ko-KR" altLang="en-US" dirty="0" err="1"/>
              <a:t>세번째</a:t>
            </a:r>
            <a:r>
              <a:rPr lang="ko-KR" altLang="en-US" dirty="0"/>
              <a:t> 던질 때 나오는 표면의 수</a:t>
            </a:r>
          </a:p>
          <a:p>
            <a:pPr eaLnBrk="1" hangingPunct="1">
              <a:buFontTx/>
              <a:buNone/>
            </a:pPr>
            <a:r>
              <a:rPr lang="en-US" altLang="ko-KR" dirty="0"/>
              <a:t>=&gt; X</a:t>
            </a:r>
            <a:r>
              <a:rPr lang="ko-KR" altLang="en-US" dirty="0"/>
              <a:t>와 </a:t>
            </a:r>
            <a:r>
              <a:rPr lang="en-US" altLang="ko-KR" dirty="0"/>
              <a:t>Y</a:t>
            </a:r>
            <a:r>
              <a:rPr lang="ko-KR" altLang="en-US" dirty="0"/>
              <a:t>는 독립인가</a:t>
            </a:r>
            <a:r>
              <a:rPr lang="en-US" altLang="ko-KR" dirty="0"/>
              <a:t>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762000"/>
            <a:ext cx="7772400" cy="4572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ko-KR" dirty="0"/>
              <a:t>(</a:t>
            </a:r>
            <a:r>
              <a:rPr lang="ko-KR" altLang="en-US" dirty="0"/>
              <a:t>예제</a:t>
            </a:r>
            <a:r>
              <a:rPr lang="en-US" altLang="ko-KR" dirty="0"/>
              <a:t>) </a:t>
            </a:r>
            <a:r>
              <a:rPr lang="ko-KR" altLang="en-US" dirty="0"/>
              <a:t>슬라이드 </a:t>
            </a:r>
            <a:r>
              <a:rPr lang="en-US" altLang="ko-KR" dirty="0"/>
              <a:t>(23)</a:t>
            </a:r>
            <a:r>
              <a:rPr lang="ko-KR" altLang="en-US" dirty="0"/>
              <a:t>에 나오는 예제에서 </a:t>
            </a:r>
            <a:r>
              <a:rPr lang="en-US" altLang="ko-KR" dirty="0"/>
              <a:t>X</a:t>
            </a:r>
            <a:r>
              <a:rPr lang="ko-KR" altLang="en-US" dirty="0"/>
              <a:t>와 </a:t>
            </a:r>
            <a:r>
              <a:rPr lang="en-US" altLang="ko-KR" dirty="0"/>
              <a:t>Y</a:t>
            </a:r>
            <a:r>
              <a:rPr lang="ko-KR" altLang="en-US" dirty="0"/>
              <a:t>는 독립인가</a:t>
            </a:r>
            <a:r>
              <a:rPr lang="en-US" altLang="ko-KR" dirty="0"/>
              <a:t>? </a:t>
            </a:r>
          </a:p>
        </p:txBody>
      </p:sp>
      <p:graphicFrame>
        <p:nvGraphicFramePr>
          <p:cNvPr id="99332" name="Group 4"/>
          <p:cNvGraphicFramePr>
            <a:graphicFrameLocks noGrp="1"/>
          </p:cNvGraphicFramePr>
          <p:nvPr/>
        </p:nvGraphicFramePr>
        <p:xfrm>
          <a:off x="2298700" y="2057400"/>
          <a:ext cx="4546600" cy="3095626"/>
        </p:xfrm>
        <a:graphic>
          <a:graphicData uri="http://schemas.openxmlformats.org/drawingml/2006/table">
            <a:tbl>
              <a:tblPr/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     X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f(Y)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1/8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1/8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2/8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2/8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2/8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4/8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1/8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1/8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2/8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f(X)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1/8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3/8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3/8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1/8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772400" cy="5334000"/>
          </a:xfrm>
        </p:spPr>
        <p:txBody>
          <a:bodyPr/>
          <a:lstStyle/>
          <a:p>
            <a:pPr eaLnBrk="1" hangingPunct="1">
              <a:buFont typeface="Wingdings" pitchFamily="2" charset="2"/>
              <a:buChar char="§"/>
            </a:pPr>
            <a:r>
              <a:rPr lang="en-US" altLang="ko-KR"/>
              <a:t>X</a:t>
            </a:r>
            <a:r>
              <a:rPr lang="ko-KR" altLang="en-US"/>
              <a:t>와 </a:t>
            </a:r>
            <a:r>
              <a:rPr lang="en-US" altLang="ko-KR"/>
              <a:t>Y</a:t>
            </a:r>
            <a:r>
              <a:rPr lang="ko-KR" altLang="en-US"/>
              <a:t>가 독립이면</a:t>
            </a:r>
          </a:p>
          <a:p>
            <a:pPr eaLnBrk="1" hangingPunct="1">
              <a:buFont typeface="Wingdings" pitchFamily="2" charset="2"/>
              <a:buChar char="§"/>
            </a:pPr>
            <a:endParaRPr lang="ko-KR" altLang="en-US"/>
          </a:p>
          <a:p>
            <a:pPr eaLnBrk="1" hangingPunct="1">
              <a:buFont typeface="Wingdings" pitchFamily="2" charset="2"/>
              <a:buChar char="§"/>
            </a:pPr>
            <a:endParaRPr lang="ko-KR" altLang="en-US"/>
          </a:p>
          <a:p>
            <a:pPr eaLnBrk="1" hangingPunct="1">
              <a:buFont typeface="Wingdings" pitchFamily="2" charset="2"/>
              <a:buNone/>
            </a:pPr>
            <a:r>
              <a:rPr lang="ko-KR" altLang="en-US"/>
              <a:t>   </a:t>
            </a:r>
            <a:r>
              <a:rPr lang="en-US" altLang="ko-KR"/>
              <a:t>=&gt; E(XY)=E(X)E(Y)</a:t>
            </a:r>
          </a:p>
          <a:p>
            <a:pPr eaLnBrk="1" hangingPunct="1">
              <a:buFontTx/>
              <a:buNone/>
            </a:pPr>
            <a:r>
              <a:rPr lang="en-US" altLang="ko-KR"/>
              <a:t>   =&gt; COV(X,Y) =E(XY)-E(X)E(Y) =0</a:t>
            </a:r>
          </a:p>
          <a:p>
            <a:pPr eaLnBrk="1" hangingPunct="1">
              <a:buFontTx/>
              <a:buNone/>
            </a:pPr>
            <a:r>
              <a:rPr lang="en-US" altLang="ko-KR"/>
              <a:t>	=&gt; </a:t>
            </a:r>
            <a:r>
              <a:rPr lang="ko-KR" altLang="en-US"/>
              <a:t>공분산이 </a:t>
            </a:r>
            <a:r>
              <a:rPr lang="en-US" altLang="ko-KR"/>
              <a:t>0 </a:t>
            </a:r>
          </a:p>
          <a:p>
            <a:pPr eaLnBrk="1" hangingPunct="1">
              <a:buFontTx/>
              <a:buNone/>
            </a:pPr>
            <a:r>
              <a:rPr lang="en-US" altLang="ko-KR"/>
              <a:t>	=&gt; </a:t>
            </a:r>
            <a:r>
              <a:rPr lang="ko-KR" altLang="en-US"/>
              <a:t>상관계수가 </a:t>
            </a:r>
            <a:r>
              <a:rPr lang="en-US" altLang="ko-KR"/>
              <a:t>0 </a:t>
            </a:r>
          </a:p>
        </p:txBody>
      </p:sp>
      <p:sp>
        <p:nvSpPr>
          <p:cNvPr id="12292" name="Rectangle 1027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762000"/>
          </a:xfrm>
          <a:noFill/>
        </p:spPr>
        <p:txBody>
          <a:bodyPr/>
          <a:lstStyle/>
          <a:p>
            <a:pPr algn="l" eaLnBrk="1" hangingPunct="1"/>
            <a:r>
              <a:rPr lang="en-US" altLang="ko-KR">
                <a:solidFill>
                  <a:schemeClr val="accent2"/>
                </a:solidFill>
              </a:rPr>
              <a:t>6.7 </a:t>
            </a:r>
            <a:r>
              <a:rPr lang="ko-KR" altLang="en-US">
                <a:solidFill>
                  <a:schemeClr val="accent2"/>
                </a:solidFill>
              </a:rPr>
              <a:t>두 확률변수의 독립성</a:t>
            </a:r>
          </a:p>
        </p:txBody>
      </p:sp>
      <p:graphicFrame>
        <p:nvGraphicFramePr>
          <p:cNvPr id="12290" name="Object 1028"/>
          <p:cNvGraphicFramePr>
            <a:graphicFrameLocks noChangeAspect="1"/>
          </p:cNvGraphicFramePr>
          <p:nvPr/>
        </p:nvGraphicFramePr>
        <p:xfrm>
          <a:off x="1295400" y="1905000"/>
          <a:ext cx="6896100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6" name="Equation" r:id="rId3" imgW="3886200" imgH="495000" progId="Equation.3">
                  <p:embed/>
                </p:oleObj>
              </mc:Choice>
              <mc:Fallback>
                <p:oleObj name="Equation" r:id="rId3" imgW="3886200" imgH="495000" progId="Equation.3">
                  <p:embed/>
                  <p:pic>
                    <p:nvPicPr>
                      <p:cNvPr id="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905000"/>
                        <a:ext cx="6896100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HW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2462A72-5D34-4B02-B9C2-7615D708AA5F}"/>
              </a:ext>
            </a:extLst>
          </p:cNvPr>
          <p:cNvSpPr/>
          <p:nvPr/>
        </p:nvSpPr>
        <p:spPr>
          <a:xfrm>
            <a:off x="688369" y="6201489"/>
            <a:ext cx="468052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</a:t>
            </a:r>
            <a:r>
              <a:rPr lang="en-US" altLang="ko-KR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ko-KR" altLang="en-US" sz="1000" dirty="0" err="1"/>
              <a:t>부교제</a:t>
            </a:r>
            <a:r>
              <a:rPr lang="ko-KR" altLang="en-US" sz="1000" dirty="0"/>
              <a:t> 통계학 </a:t>
            </a:r>
            <a:r>
              <a:rPr lang="en-US" altLang="ko-KR" sz="1000" dirty="0"/>
              <a:t>–</a:t>
            </a:r>
            <a:r>
              <a:rPr lang="ko-KR" altLang="en-US" sz="1000" dirty="0"/>
              <a:t>엑셀을 이용한 분석</a:t>
            </a:r>
            <a:r>
              <a:rPr lang="en-US" altLang="ko-KR" sz="1000" dirty="0"/>
              <a:t>, </a:t>
            </a:r>
            <a:r>
              <a:rPr lang="ko-KR" altLang="en-US" sz="1000" dirty="0"/>
              <a:t>자유아카데미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김진경외</a:t>
            </a:r>
            <a:r>
              <a:rPr lang="ko-KR" altLang="en-US" sz="1000" dirty="0"/>
              <a:t> </a:t>
            </a:r>
            <a:r>
              <a:rPr lang="en-US" altLang="ko-KR" sz="1000" dirty="0"/>
              <a:t>5</a:t>
            </a:r>
            <a:r>
              <a:rPr lang="ko-KR" altLang="en-US" sz="1000" dirty="0"/>
              <a:t>명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5167467C-80F4-4707-9DD4-A4BDD25260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153328"/>
            <a:ext cx="8115171" cy="4939968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5435</TotalTime>
  <Words>2086</Words>
  <Application>Microsoft Office PowerPoint</Application>
  <PresentationFormat>화면 슬라이드 쇼(4:3)</PresentationFormat>
  <Paragraphs>387</Paragraphs>
  <Slides>40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3</vt:i4>
      </vt:variant>
      <vt:variant>
        <vt:lpstr>슬라이드 제목</vt:lpstr>
      </vt:variant>
      <vt:variant>
        <vt:i4>40</vt:i4>
      </vt:variant>
    </vt:vector>
  </HeadingPairs>
  <TitlesOfParts>
    <vt:vector size="49" baseType="lpstr">
      <vt:lpstr>굴림</vt:lpstr>
      <vt:lpstr>바탕</vt:lpstr>
      <vt:lpstr>Cambria Math</vt:lpstr>
      <vt:lpstr>Times New Roman</vt:lpstr>
      <vt:lpstr>Wingdings</vt:lpstr>
      <vt:lpstr>기본 디자인</vt:lpstr>
      <vt:lpstr>문서</vt:lpstr>
      <vt:lpstr>Equation</vt:lpstr>
      <vt:lpstr>수식</vt:lpstr>
      <vt:lpstr>Ch6. 확률분포</vt:lpstr>
      <vt:lpstr>6.2 확률변수(random variable)</vt:lpstr>
      <vt:lpstr>PowerPoint 프레젠테이션</vt:lpstr>
      <vt:lpstr>PowerPoint 프레젠테이션</vt:lpstr>
      <vt:lpstr>PowerPoint 프레젠테이션</vt:lpstr>
      <vt:lpstr>PowerPoint 프레젠테이션</vt:lpstr>
      <vt:lpstr>6.2 확률변수(random variable)</vt:lpstr>
      <vt:lpstr>6.2 확률변수(random variable)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HW</vt:lpstr>
      <vt:lpstr>  </vt:lpstr>
      <vt:lpstr>PowerPoint 프레젠테이션</vt:lpstr>
      <vt:lpstr>6.4 확률분포의  기대값(평균) 및 표준편차 </vt:lpstr>
      <vt:lpstr>  </vt:lpstr>
      <vt:lpstr>  </vt:lpstr>
      <vt:lpstr>EXCEL 실습</vt:lpstr>
      <vt:lpstr>HW</vt:lpstr>
      <vt:lpstr>6.5 두개의 확률변수의 결합분포</vt:lpstr>
      <vt:lpstr>PowerPoint 프레젠테이션</vt:lpstr>
      <vt:lpstr>PowerPoint 프레젠테이션</vt:lpstr>
      <vt:lpstr>PowerPoint 프레젠테이션</vt:lpstr>
      <vt:lpstr>(2) 두 확률변수의 함수의 기대값</vt:lpstr>
      <vt:lpstr>PowerPoint 프레젠테이션</vt:lpstr>
      <vt:lpstr>PowerPoint 프레젠테이션</vt:lpstr>
      <vt:lpstr>PowerPoint 프레젠테이션</vt:lpstr>
      <vt:lpstr>HW</vt:lpstr>
      <vt:lpstr>6.6 공분산과 상관계수</vt:lpstr>
      <vt:lpstr>PowerPoint 프레젠테이션</vt:lpstr>
      <vt:lpstr>PowerPoint 프레젠테이션</vt:lpstr>
      <vt:lpstr>PowerPoint 프레젠테이션</vt:lpstr>
      <vt:lpstr>6.7 두 확률변수의 독립성</vt:lpstr>
      <vt:lpstr>PowerPoint 프레젠테이션</vt:lpstr>
      <vt:lpstr>PowerPoint 프레젠테이션</vt:lpstr>
      <vt:lpstr>6.7 두 확률변수의 독립성</vt:lpstr>
      <vt:lpstr>HW</vt:lpstr>
    </vt:vector>
  </TitlesOfParts>
  <Company>한성대학교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Ch3. 확률과 확률분포</dc:title>
  <dc:creator>엄종석</dc:creator>
  <cp:lastModifiedBy>Windows 사용자</cp:lastModifiedBy>
  <cp:revision>110</cp:revision>
  <dcterms:created xsi:type="dcterms:W3CDTF">2002-03-21T01:11:23Z</dcterms:created>
  <dcterms:modified xsi:type="dcterms:W3CDTF">2026-03-29T11:07:24Z</dcterms:modified>
</cp:coreProperties>
</file>