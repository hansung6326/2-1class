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6" r:id="rId4"/>
    <p:sldId id="287" r:id="rId5"/>
    <p:sldId id="258" r:id="rId6"/>
    <p:sldId id="259" r:id="rId7"/>
    <p:sldId id="277" r:id="rId8"/>
    <p:sldId id="261" r:id="rId9"/>
    <p:sldId id="262" r:id="rId10"/>
    <p:sldId id="265" r:id="rId11"/>
    <p:sldId id="278" r:id="rId12"/>
    <p:sldId id="266" r:id="rId13"/>
    <p:sldId id="282" r:id="rId14"/>
    <p:sldId id="288" r:id="rId15"/>
    <p:sldId id="283" r:id="rId16"/>
    <p:sldId id="267" r:id="rId17"/>
    <p:sldId id="272" r:id="rId18"/>
    <p:sldId id="274" r:id="rId19"/>
    <p:sldId id="284" r:id="rId20"/>
    <p:sldId id="268" r:id="rId21"/>
    <p:sldId id="269" r:id="rId22"/>
    <p:sldId id="270" r:id="rId23"/>
    <p:sldId id="275" r:id="rId24"/>
    <p:sldId id="285" r:id="rId25"/>
    <p:sldId id="276" r:id="rId26"/>
    <p:sldId id="289" r:id="rId27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 autoAdjust="0"/>
    <p:restoredTop sz="94652" autoAdjust="0"/>
  </p:normalViewPr>
  <p:slideViewPr>
    <p:cSldViewPr>
      <p:cViewPr varScale="1">
        <p:scale>
          <a:sx n="94" d="100"/>
          <a:sy n="94" d="100"/>
        </p:scale>
        <p:origin x="84" y="3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6.wmf"/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AE75B9-7815-47E5-9FD4-78C8A6A791F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53054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E714C2-517F-415A-BF99-24B25A5D65B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63753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99E365-CEBF-4821-B866-C6B27F5C76B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692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341438"/>
            <a:ext cx="4038600" cy="4784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341438"/>
            <a:ext cx="4038600" cy="4784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D6DB6E-F68A-4D6B-8A16-EEF622236B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52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13602-8533-4215-A69F-757EDF26F40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26927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DF3A7F-19A6-4E1D-A86C-AFB9716AD9D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1489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D33A52-16F6-4259-9800-F78A9E8F5B4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2992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C291E0-6189-4417-8848-B2567720EC7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996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B5327-9020-467A-A65B-AD885C0F7C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4811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6B76D8-56D5-4F12-A109-698E8CB9C1E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41909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E2C2AE-47BB-4229-A464-70F5DD453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7875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제목, 텍스트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341438"/>
            <a:ext cx="4038600" cy="47847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648200" y="1341438"/>
            <a:ext cx="4038600" cy="231616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648200" y="3810000"/>
            <a:ext cx="4038600" cy="23161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98C5C1-DD56-41EC-BF3C-A0EC128C7EB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44866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341438"/>
            <a:ext cx="4038600" cy="47847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341438"/>
            <a:ext cx="4038600" cy="47847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366945-B92E-426A-B734-0FE98E37306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0514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41438"/>
            <a:ext cx="8229600" cy="478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C881463-9626-4980-B8F1-729BC2091C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ikidocs.net/book/9637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ikidocs.net/book/963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docs.net/198153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9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3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5.PNG"/><Relationship Id="rId5" Type="http://schemas.openxmlformats.org/officeDocument/2006/relationships/hyperlink" Target="https://wikidocs.net/198153" TargetMode="External"/><Relationship Id="rId4" Type="http://schemas.openxmlformats.org/officeDocument/2006/relationships/image" Target="../media/image14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0.bin"/><Relationship Id="rId10" Type="http://schemas.openxmlformats.org/officeDocument/2006/relationships/oleObject" Target="../embeddings/oleObject14.bin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8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hyperlink" Target="https://wikidocs.net/198153" TargetMode="External"/><Relationship Id="rId4" Type="http://schemas.openxmlformats.org/officeDocument/2006/relationships/image" Target="../media/image1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dirty="0"/>
              <a:t>이산형 변수의 확률분포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ko-KR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88641"/>
            <a:ext cx="8229600" cy="576064"/>
          </a:xfrm>
        </p:spPr>
        <p:txBody>
          <a:bodyPr/>
          <a:lstStyle/>
          <a:p>
            <a:pPr eaLnBrk="1" hangingPunct="1"/>
            <a:r>
              <a:rPr lang="en-US" altLang="ko-KR" sz="3200" dirty="0"/>
              <a:t>1. </a:t>
            </a:r>
            <a:r>
              <a:rPr lang="ko-KR" altLang="en-US" sz="3200" dirty="0"/>
              <a:t>이산형 변수의 확률분포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B5E091-AD12-4E77-8FAA-2D013C3EFCCD}"/>
              </a:ext>
            </a:extLst>
          </p:cNvPr>
          <p:cNvSpPr txBox="1"/>
          <p:nvPr/>
        </p:nvSpPr>
        <p:spPr>
          <a:xfrm>
            <a:off x="683568" y="6553943"/>
            <a:ext cx="36724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05. </a:t>
            </a:r>
            <a:r>
              <a:rPr lang="ko-KR" altLang="en-US" sz="9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이산 확률 분포 </a:t>
            </a:r>
            <a:r>
              <a:rPr lang="en-US" altLang="ko-KR" sz="9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(</a:t>
            </a:r>
            <a:r>
              <a:rPr lang="ko-KR" altLang="en-US" sz="9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통계를 위한</a:t>
            </a:r>
            <a:r>
              <a:rPr lang="en-US" altLang="ko-KR" sz="9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 </a:t>
            </a:r>
            <a:r>
              <a:rPr lang="ko-KR" altLang="en-US" sz="9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확률 다루기 기초 </a:t>
            </a:r>
            <a:r>
              <a:rPr lang="en-US" altLang="ko-KR" sz="9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(wikidocs.net)</a:t>
            </a:r>
            <a:endParaRPr lang="ko-KR" altLang="en-US" sz="9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DC2293C-9355-4F20-80B1-D7E9E8FE27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6" r="35174" b="9056"/>
          <a:stretch/>
        </p:blipFill>
        <p:spPr>
          <a:xfrm>
            <a:off x="899592" y="836712"/>
            <a:ext cx="7797552" cy="5606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88640"/>
            <a:ext cx="8229600" cy="521083"/>
          </a:xfrm>
        </p:spPr>
        <p:txBody>
          <a:bodyPr/>
          <a:lstStyle/>
          <a:p>
            <a:pPr eaLnBrk="1" hangingPunct="1"/>
            <a:r>
              <a:rPr lang="en-US" altLang="ko-KR" sz="3200" dirty="0"/>
              <a:t>2. </a:t>
            </a:r>
            <a:r>
              <a:rPr lang="ko-KR" altLang="en-US" sz="3200" dirty="0"/>
              <a:t>이산 균등분포</a:t>
            </a:r>
            <a:r>
              <a:rPr lang="en-US" altLang="ko-KR" sz="2400" dirty="0"/>
              <a:t>(discrete uniform distribution)</a:t>
            </a:r>
            <a:endParaRPr lang="ko-KR" alt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B5E091-AD12-4E77-8FAA-2D013C3EFCCD}"/>
              </a:ext>
            </a:extLst>
          </p:cNvPr>
          <p:cNvSpPr txBox="1"/>
          <p:nvPr/>
        </p:nvSpPr>
        <p:spPr>
          <a:xfrm>
            <a:off x="683568" y="6523200"/>
            <a:ext cx="36724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05. </a:t>
            </a:r>
            <a:r>
              <a:rPr lang="ko-KR" altLang="en-US" sz="9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이산 확률 분포 </a:t>
            </a:r>
            <a:r>
              <a:rPr lang="en-US" altLang="ko-KR" sz="9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(</a:t>
            </a:r>
            <a:r>
              <a:rPr lang="ko-KR" altLang="en-US" sz="9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통계를 위한</a:t>
            </a:r>
            <a:r>
              <a:rPr lang="en-US" altLang="ko-KR" sz="9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 </a:t>
            </a:r>
            <a:r>
              <a:rPr lang="ko-KR" altLang="en-US" sz="9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확률 다루기 기초 </a:t>
            </a:r>
            <a:r>
              <a:rPr lang="en-US" altLang="ko-KR" sz="9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(wikidocs.net)</a:t>
            </a:r>
            <a:endParaRPr lang="ko-KR" altLang="en-US" sz="9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111CC49-D54E-4696-8998-D85761D7E3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58" r="879"/>
          <a:stretch/>
        </p:blipFill>
        <p:spPr>
          <a:xfrm>
            <a:off x="20851" y="1551802"/>
            <a:ext cx="9123149" cy="48000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E83432A-C820-4DB6-A257-0D2FA0386F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910"/>
          <a:stretch/>
        </p:blipFill>
        <p:spPr>
          <a:xfrm>
            <a:off x="53751" y="1051382"/>
            <a:ext cx="9036497" cy="3390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ADF17DC-4415-46C5-BA71-444D403FF4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5266196"/>
            <a:ext cx="2376222" cy="50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51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88640"/>
            <a:ext cx="8229600" cy="615205"/>
          </a:xfrm>
        </p:spPr>
        <p:txBody>
          <a:bodyPr/>
          <a:lstStyle/>
          <a:p>
            <a:pPr eaLnBrk="1" hangingPunct="1"/>
            <a:r>
              <a:rPr lang="en-US" altLang="ko-KR" dirty="0"/>
              <a:t>3. </a:t>
            </a:r>
            <a:r>
              <a:rPr lang="ko-KR" altLang="en-US" sz="3200" dirty="0"/>
              <a:t>이항분포와 그에 관련된 분포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052736"/>
            <a:ext cx="8136904" cy="5001419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실험의 결과가 오직 </a:t>
            </a:r>
            <a:r>
              <a:rPr lang="ko-KR" altLang="en-US" sz="2800" u="sng" dirty="0">
                <a:solidFill>
                  <a:srgbClr val="FF0000"/>
                </a:solidFill>
              </a:rPr>
              <a:t>두 가지 결과</a:t>
            </a:r>
            <a:r>
              <a:rPr lang="ko-KR" altLang="en-US" sz="2800" dirty="0"/>
              <a:t>만 갖는 경우</a:t>
            </a:r>
          </a:p>
          <a:p>
            <a:pPr lvl="1" eaLnBrk="1" hangingPunct="1"/>
            <a:r>
              <a:rPr lang="ko-KR" altLang="en-US" dirty="0"/>
              <a:t> </a:t>
            </a:r>
            <a:r>
              <a:rPr lang="ko-KR" altLang="en-US" sz="2400" dirty="0"/>
              <a:t>동전던지기</a:t>
            </a:r>
            <a:r>
              <a:rPr lang="en-US" altLang="ko-KR" sz="2400" dirty="0"/>
              <a:t>, </a:t>
            </a:r>
            <a:r>
              <a:rPr lang="ko-KR" altLang="en-US" sz="2400" dirty="0"/>
              <a:t>성공</a:t>
            </a:r>
            <a:r>
              <a:rPr lang="en-US" altLang="ko-KR" sz="2400" dirty="0"/>
              <a:t>(S)</a:t>
            </a:r>
            <a:r>
              <a:rPr lang="ko-KR" altLang="en-US" sz="2400" dirty="0"/>
              <a:t> 혹은 실패</a:t>
            </a:r>
            <a:r>
              <a:rPr lang="en-US" altLang="ko-KR" sz="2400" dirty="0"/>
              <a:t>(F)</a:t>
            </a:r>
            <a:endParaRPr lang="ko-KR" altLang="en-US" sz="2400" dirty="0"/>
          </a:p>
          <a:p>
            <a:pPr eaLnBrk="1" hangingPunct="1"/>
            <a:r>
              <a:rPr lang="ko-KR" altLang="en-US" sz="2800" dirty="0"/>
              <a:t>모집단의 구성원들이 두 그룹</a:t>
            </a:r>
            <a:r>
              <a:rPr lang="en-US" altLang="ko-KR" sz="2800" dirty="0"/>
              <a:t>(</a:t>
            </a:r>
            <a:r>
              <a:rPr lang="ko-KR" altLang="en-US" sz="2800" dirty="0"/>
              <a:t>범주</a:t>
            </a:r>
            <a:r>
              <a:rPr lang="en-US" altLang="ko-KR" sz="2800" dirty="0"/>
              <a:t>)</a:t>
            </a:r>
            <a:r>
              <a:rPr lang="ko-KR" altLang="en-US" sz="2800" dirty="0"/>
              <a:t>으로 나누어져 있는 경우에서 표본 추출의 결과에 관심</a:t>
            </a:r>
          </a:p>
          <a:p>
            <a:pPr eaLnBrk="1" hangingPunct="1"/>
            <a:r>
              <a:rPr lang="ko-KR" altLang="en-US" sz="2800" dirty="0"/>
              <a:t>확률변수 </a:t>
            </a:r>
            <a:r>
              <a:rPr lang="en-US" altLang="ko-KR" sz="2800" dirty="0"/>
              <a:t>X: </a:t>
            </a:r>
            <a:r>
              <a:rPr lang="ko-KR" altLang="en-US" sz="2800" dirty="0"/>
              <a:t>표본에서 우리가 관심 있는 그룹</a:t>
            </a:r>
            <a:r>
              <a:rPr lang="en-US" altLang="ko-KR" sz="2800" dirty="0"/>
              <a:t>(</a:t>
            </a:r>
            <a:r>
              <a:rPr lang="ko-KR" altLang="en-US" sz="2800" dirty="0"/>
              <a:t>범주</a:t>
            </a:r>
            <a:r>
              <a:rPr lang="en-US" altLang="ko-KR" sz="2800" dirty="0"/>
              <a:t>)</a:t>
            </a:r>
            <a:r>
              <a:rPr lang="ko-KR" altLang="en-US" sz="2800" dirty="0"/>
              <a:t>의 발생횟수</a:t>
            </a:r>
            <a:endParaRPr lang="en-US" altLang="ko-KR" sz="2800" dirty="0"/>
          </a:p>
          <a:p>
            <a:pPr eaLnBrk="1" hangingPunct="1"/>
            <a:r>
              <a:rPr lang="ko-KR" altLang="en-US" sz="2800" dirty="0" err="1"/>
              <a:t>모수</a:t>
            </a:r>
            <a:r>
              <a:rPr lang="en-US" altLang="ko-KR" sz="2800" dirty="0"/>
              <a:t>(parameter): </a:t>
            </a:r>
            <a:r>
              <a:rPr lang="ko-KR" altLang="en-US" sz="2800" dirty="0"/>
              <a:t>모집단에서 우리가 관심 가지고 있는 수치</a:t>
            </a:r>
            <a:r>
              <a:rPr lang="en-US" altLang="ko-KR" sz="2800" dirty="0"/>
              <a:t>(</a:t>
            </a:r>
            <a:r>
              <a:rPr lang="ko-KR" altLang="en-US" sz="2800" dirty="0"/>
              <a:t>대부분 알려지지 않음</a:t>
            </a:r>
            <a:r>
              <a:rPr lang="en-US" altLang="ko-KR" sz="2800" dirty="0"/>
              <a:t>)</a:t>
            </a:r>
          </a:p>
          <a:p>
            <a:pPr lvl="1" eaLnBrk="1" hangingPunct="1"/>
            <a:r>
              <a:rPr lang="ko-KR" altLang="en-US" sz="2400" dirty="0"/>
              <a:t>확률분포는 미지의 </a:t>
            </a:r>
            <a:r>
              <a:rPr lang="ko-KR" altLang="en-US" sz="2400" dirty="0" err="1"/>
              <a:t>모수에</a:t>
            </a:r>
            <a:r>
              <a:rPr lang="ko-KR" altLang="en-US" sz="2400" dirty="0"/>
              <a:t> 의해 표현</a:t>
            </a:r>
            <a:endParaRPr lang="en-US" altLang="ko-KR" sz="2400" dirty="0"/>
          </a:p>
          <a:p>
            <a:pPr lvl="2" eaLnBrk="1" hangingPunct="1"/>
            <a:r>
              <a:rPr lang="ko-KR" altLang="en-US" sz="2000" dirty="0"/>
              <a:t>이경우 보통 관심있는 범주의 발생 확률 </a:t>
            </a:r>
            <a:r>
              <a:rPr lang="en-US" altLang="ko-KR" sz="2000" i="1" dirty="0"/>
              <a:t>p</a:t>
            </a:r>
          </a:p>
          <a:p>
            <a:pPr lvl="1" eaLnBrk="1" hangingPunct="1"/>
            <a:r>
              <a:rPr lang="ko-KR" altLang="en-US" sz="2400" dirty="0"/>
              <a:t>확률변수 </a:t>
            </a:r>
            <a:r>
              <a:rPr lang="en-US" altLang="ko-KR" sz="2400" dirty="0"/>
              <a:t>X</a:t>
            </a:r>
            <a:r>
              <a:rPr lang="ko-KR" altLang="en-US" sz="2400" dirty="0"/>
              <a:t>의 </a:t>
            </a:r>
            <a:r>
              <a:rPr lang="ko-KR" altLang="en-US" sz="2400" dirty="0" err="1"/>
              <a:t>관측값으로</a:t>
            </a:r>
            <a:r>
              <a:rPr lang="ko-KR" altLang="en-US" sz="2400" dirty="0"/>
              <a:t> 부터 미지의 </a:t>
            </a:r>
            <a:r>
              <a:rPr lang="ko-KR" altLang="en-US" sz="2400" dirty="0" err="1"/>
              <a:t>모수를</a:t>
            </a:r>
            <a:r>
              <a:rPr lang="ko-KR" altLang="en-US" sz="2400" dirty="0"/>
              <a:t> 추론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735704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8684"/>
            <a:ext cx="8229600" cy="346050"/>
          </a:xfrm>
        </p:spPr>
        <p:txBody>
          <a:bodyPr/>
          <a:lstStyle/>
          <a:p>
            <a:pPr eaLnBrk="1" hangingPunct="1"/>
            <a:r>
              <a:rPr lang="en-US" altLang="ko-KR" sz="3200" dirty="0"/>
              <a:t>4. </a:t>
            </a:r>
            <a:r>
              <a:rPr lang="en-US" altLang="ko-KR" sz="3200" dirty="0" err="1"/>
              <a:t>bernoulli</a:t>
            </a:r>
            <a:r>
              <a:rPr lang="en-US" altLang="ko-KR" sz="3200" dirty="0"/>
              <a:t> trial(</a:t>
            </a:r>
            <a:r>
              <a:rPr lang="ko-KR" altLang="en-US" sz="3200" dirty="0"/>
              <a:t>베르누이 시행</a:t>
            </a:r>
            <a:r>
              <a:rPr lang="en-US" altLang="ko-KR" sz="3200" dirty="0"/>
              <a:t>)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1560" y="662781"/>
            <a:ext cx="8322567" cy="5183188"/>
          </a:xfrm>
        </p:spPr>
        <p:txBody>
          <a:bodyPr/>
          <a:lstStyle/>
          <a:p>
            <a:pPr eaLnBrk="1" hangingPunct="1"/>
            <a:r>
              <a:rPr lang="ko-KR" altLang="en-US" sz="2400" dirty="0"/>
              <a:t>다음 세가지 조건이 만족될 때 </a:t>
            </a:r>
            <a:r>
              <a:rPr lang="ko-KR" altLang="en-US" sz="2400" u="sng" dirty="0">
                <a:solidFill>
                  <a:srgbClr val="FF0000"/>
                </a:solidFill>
              </a:rPr>
              <a:t>베르누이 시행</a:t>
            </a:r>
            <a:r>
              <a:rPr lang="ko-KR" altLang="en-US" sz="2400" dirty="0"/>
              <a:t>이라 함</a:t>
            </a:r>
            <a:endParaRPr lang="en-US" altLang="ko-KR" sz="2400" dirty="0"/>
          </a:p>
          <a:p>
            <a:pPr eaLnBrk="1" hangingPunct="1"/>
            <a:r>
              <a:rPr lang="en-US" altLang="ko-KR" sz="2400" dirty="0"/>
              <a:t>1. </a:t>
            </a:r>
            <a:r>
              <a:rPr lang="ko-KR" altLang="en-US" sz="2400" dirty="0"/>
              <a:t>시행의 결과는 </a:t>
            </a:r>
            <a:r>
              <a:rPr lang="en-US" altLang="ko-KR" sz="2400" dirty="0"/>
              <a:t>two outcomes (</a:t>
            </a:r>
            <a:r>
              <a:rPr lang="ko-KR" altLang="en-US" sz="2400" dirty="0"/>
              <a:t>결과는 </a:t>
            </a:r>
            <a:r>
              <a:rPr lang="en-US" altLang="ko-KR" sz="2400" dirty="0"/>
              <a:t>2</a:t>
            </a:r>
            <a:r>
              <a:rPr lang="ko-KR" altLang="en-US" sz="2400" dirty="0"/>
              <a:t>개</a:t>
            </a:r>
            <a:r>
              <a:rPr lang="en-US" altLang="ko-KR" sz="2400" dirty="0"/>
              <a:t>) </a:t>
            </a:r>
          </a:p>
          <a:p>
            <a:pPr lvl="1" eaLnBrk="1" hangingPunct="1"/>
            <a:r>
              <a:rPr lang="ko-KR" altLang="en-US" sz="2000" dirty="0"/>
              <a:t>성공</a:t>
            </a:r>
            <a:r>
              <a:rPr lang="en-US" altLang="ko-KR" sz="2000" dirty="0"/>
              <a:t>(S </a:t>
            </a:r>
            <a:r>
              <a:rPr lang="ko-KR" altLang="en-US" sz="2000" dirty="0"/>
              <a:t>혹은 </a:t>
            </a:r>
            <a:r>
              <a:rPr lang="en-US" altLang="ko-KR" sz="2000" dirty="0"/>
              <a:t>1:</a:t>
            </a:r>
            <a:r>
              <a:rPr lang="ko-KR" altLang="en-US" sz="2000" dirty="0"/>
              <a:t>관심 있는 결과</a:t>
            </a:r>
            <a:r>
              <a:rPr lang="en-US" altLang="ko-KR" sz="2000" dirty="0"/>
              <a:t>) </a:t>
            </a:r>
            <a:r>
              <a:rPr lang="ko-KR" altLang="en-US" sz="2000" dirty="0"/>
              <a:t>혹은 실패</a:t>
            </a:r>
            <a:r>
              <a:rPr lang="en-US" altLang="ko-KR" sz="2000" dirty="0"/>
              <a:t>(F </a:t>
            </a:r>
            <a:r>
              <a:rPr lang="ko-KR" altLang="en-US" sz="2000" dirty="0"/>
              <a:t>혹은 </a:t>
            </a:r>
            <a:r>
              <a:rPr lang="en-US" altLang="ko-KR" sz="2000" dirty="0"/>
              <a:t>0)</a:t>
            </a:r>
          </a:p>
          <a:p>
            <a:pPr eaLnBrk="1" hangingPunct="1"/>
            <a:r>
              <a:rPr lang="en-US" altLang="ko-KR" sz="2400" dirty="0"/>
              <a:t>2. </a:t>
            </a:r>
            <a:r>
              <a:rPr lang="ko-KR" altLang="en-US" sz="2400" dirty="0"/>
              <a:t>시행의 결과는 </a:t>
            </a:r>
            <a:r>
              <a:rPr lang="en-US" altLang="ko-KR" sz="2400" dirty="0"/>
              <a:t>mutually exclusive(</a:t>
            </a:r>
            <a:r>
              <a:rPr lang="ko-KR" altLang="en-US" sz="2400" dirty="0"/>
              <a:t>상호배반</a:t>
            </a:r>
            <a:r>
              <a:rPr lang="en-US" altLang="ko-KR" sz="2400" dirty="0"/>
              <a:t>)</a:t>
            </a:r>
          </a:p>
          <a:p>
            <a:pPr lvl="1" eaLnBrk="1" hangingPunct="1"/>
            <a:r>
              <a:rPr lang="en-US" altLang="ko-KR" sz="2000" dirty="0"/>
              <a:t> X = 0 or 1 </a:t>
            </a:r>
          </a:p>
          <a:p>
            <a:pPr lvl="1" eaLnBrk="1" hangingPunct="1"/>
            <a:r>
              <a:rPr lang="ko-KR" altLang="en-US" sz="2000" dirty="0"/>
              <a:t>확률분포</a:t>
            </a:r>
            <a:r>
              <a:rPr lang="en-US" altLang="ko-KR" sz="2000" dirty="0"/>
              <a:t>: </a:t>
            </a:r>
            <a:r>
              <a:rPr lang="ko-KR" altLang="en-US" sz="2000" dirty="0"/>
              <a:t>각 시행마다 성공할 확률과 실패할 확률이 일정</a:t>
            </a:r>
          </a:p>
          <a:p>
            <a:pPr lvl="2" eaLnBrk="1" hangingPunct="1">
              <a:buFontTx/>
              <a:buNone/>
            </a:pPr>
            <a:r>
              <a:rPr lang="ko-KR" altLang="en-US" sz="1800" dirty="0"/>
              <a:t> </a:t>
            </a:r>
          </a:p>
          <a:p>
            <a:pPr lvl="2" eaLnBrk="1" hangingPunct="1">
              <a:buFontTx/>
              <a:buNone/>
            </a:pPr>
            <a:endParaRPr lang="ko-KR" altLang="en-US" sz="1800" dirty="0"/>
          </a:p>
          <a:p>
            <a:pPr lvl="2" eaLnBrk="1" hangingPunct="1">
              <a:buFont typeface="Wingdings" pitchFamily="2" charset="2"/>
              <a:buNone/>
            </a:pPr>
            <a:r>
              <a:rPr lang="ko-KR" altLang="en-US" sz="1800" dirty="0"/>
              <a:t> </a:t>
            </a:r>
          </a:p>
          <a:p>
            <a:pPr eaLnBrk="1" hangingPunct="1"/>
            <a:endParaRPr lang="ko-KR" altLang="en-US" sz="1400" dirty="0"/>
          </a:p>
          <a:p>
            <a:pPr eaLnBrk="1" hangingPunct="1"/>
            <a:r>
              <a:rPr lang="en-US" altLang="ko-KR" sz="2400" dirty="0"/>
              <a:t>3. </a:t>
            </a:r>
            <a:r>
              <a:rPr lang="ko-KR" altLang="en-US" sz="2400" dirty="0"/>
              <a:t>반복적으로 시행할 때 각 시행은 서로 독립 </a:t>
            </a:r>
          </a:p>
          <a:p>
            <a:pPr eaLnBrk="1" hangingPunct="1"/>
            <a:r>
              <a:rPr lang="ko-KR" altLang="en-US" sz="2400" dirty="0" err="1"/>
              <a:t>기대값과</a:t>
            </a:r>
            <a:r>
              <a:rPr lang="ko-KR" altLang="en-US" sz="2400" dirty="0"/>
              <a:t> 분산   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sz="2400" dirty="0"/>
              <a:t>      </a:t>
            </a:r>
            <a:r>
              <a:rPr lang="en-US" altLang="ko-KR" sz="2400" dirty="0"/>
              <a:t>E(X)=1xp+0x(1-p)=p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400" dirty="0"/>
              <a:t>      V(X)=(1-p)</a:t>
            </a:r>
            <a:r>
              <a:rPr lang="en-US" altLang="ko-KR" sz="2000" baseline="30000" dirty="0"/>
              <a:t>2</a:t>
            </a:r>
            <a:r>
              <a:rPr lang="en-US" altLang="ko-KR" sz="2400" dirty="0"/>
              <a:t>xp+(0-p)</a:t>
            </a:r>
            <a:r>
              <a:rPr lang="en-US" altLang="ko-KR" sz="2000" baseline="30000" dirty="0"/>
              <a:t>2</a:t>
            </a:r>
            <a:r>
              <a:rPr lang="en-US" altLang="ko-KR" sz="2400" dirty="0"/>
              <a:t>x(1-p)=p(1-p)</a:t>
            </a:r>
          </a:p>
        </p:txBody>
      </p:sp>
      <p:graphicFrame>
        <p:nvGraphicFramePr>
          <p:cNvPr id="1026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828800" y="3810000"/>
          <a:ext cx="367188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" name="Equation" r:id="rId3" imgW="2070000" imgH="228600" progId="Equation.3">
                  <p:embed/>
                </p:oleObj>
              </mc:Choice>
              <mc:Fallback>
                <p:oleObj name="Equation" r:id="rId3" imgW="20700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810000"/>
                        <a:ext cx="3671888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828800" y="3254375"/>
          <a:ext cx="33845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" name="Equation" r:id="rId5" imgW="1981080" imgH="203040" progId="Equation.3">
                  <p:embed/>
                </p:oleObj>
              </mc:Choice>
              <mc:Fallback>
                <p:oleObj name="Equation" r:id="rId5" imgW="198108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254375"/>
                        <a:ext cx="338455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549275"/>
            <a:ext cx="8229600" cy="5360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( </a:t>
            </a:r>
            <a:r>
              <a:rPr lang="ko-KR" altLang="en-US" sz="2800" dirty="0"/>
              <a:t>예제</a:t>
            </a:r>
            <a:r>
              <a:rPr lang="en-US" altLang="ko-KR" sz="2800" dirty="0"/>
              <a:t>1) 15</a:t>
            </a:r>
            <a:r>
              <a:rPr lang="ko-KR" altLang="en-US" sz="2800" dirty="0"/>
              <a:t>개 상품 중 </a:t>
            </a:r>
            <a:r>
              <a:rPr lang="en-US" altLang="ko-KR" sz="2800" dirty="0"/>
              <a:t>5</a:t>
            </a:r>
            <a:r>
              <a:rPr lang="ko-KR" altLang="en-US" sz="2800" dirty="0"/>
              <a:t>개의 불량품이 섞여 있는 어떤 상품의 집합이 모집단이다</a:t>
            </a:r>
            <a:r>
              <a:rPr lang="en-US" altLang="ko-KR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ko-KR" altLang="en-US" sz="2800" dirty="0"/>
              <a:t>복원추출</a:t>
            </a:r>
            <a:r>
              <a:rPr lang="en-US" altLang="ko-KR" sz="2800" dirty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400" dirty="0"/>
              <a:t>하나씩 추출해서 불량 여부를 기록하고 다시 집어 넣어 반복 추출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400" dirty="0"/>
              <a:t> </a:t>
            </a:r>
            <a:r>
              <a:rPr lang="ko-KR" altLang="en-US" sz="2400" dirty="0" err="1"/>
              <a:t>정상품</a:t>
            </a:r>
            <a:r>
              <a:rPr lang="en-US" altLang="ko-KR" sz="2400" dirty="0"/>
              <a:t>(F), </a:t>
            </a:r>
            <a:r>
              <a:rPr lang="ko-KR" altLang="en-US" sz="2400" dirty="0"/>
              <a:t>불량품</a:t>
            </a:r>
            <a:r>
              <a:rPr lang="en-US" altLang="ko-KR" sz="2400" dirty="0"/>
              <a:t>(S)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ko-KR" sz="2400" dirty="0"/>
              <a:t>    =&gt; p=P(S)=1/3, P(F)=1-p=2/3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ko-KR" sz="2400" dirty="0"/>
              <a:t>	 =&gt; </a:t>
            </a:r>
            <a:r>
              <a:rPr lang="ko-KR" altLang="en-US" sz="2400" dirty="0"/>
              <a:t>베르누이 시행</a:t>
            </a:r>
          </a:p>
          <a:p>
            <a:pPr eaLnBrk="1" hangingPunct="1">
              <a:lnSpc>
                <a:spcPct val="90000"/>
              </a:lnSpc>
            </a:pPr>
            <a:r>
              <a:rPr lang="ko-KR" altLang="en-US" sz="2800" dirty="0" err="1"/>
              <a:t>비복원</a:t>
            </a:r>
            <a:r>
              <a:rPr lang="ko-KR" altLang="en-US" sz="2800" dirty="0"/>
              <a:t> 추출</a:t>
            </a:r>
            <a:r>
              <a:rPr lang="en-US" altLang="ko-KR" sz="2800" dirty="0"/>
              <a:t>: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400" dirty="0"/>
              <a:t>하나씩 추출해서 불량 여부를 기록하고 다시 집어 넣지 않고 다음을 추출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/>
              <a:t>P(S)</a:t>
            </a:r>
            <a:r>
              <a:rPr lang="ko-KR" altLang="en-US" sz="2400" dirty="0"/>
              <a:t>가 매 추출마다 달라짐</a:t>
            </a:r>
            <a:r>
              <a:rPr lang="en-US" altLang="ko-KR" sz="2400" dirty="0"/>
              <a:t>=&gt; </a:t>
            </a:r>
            <a:r>
              <a:rPr lang="ko-KR" altLang="en-US" sz="2400" dirty="0" err="1"/>
              <a:t>베르누이시행이</a:t>
            </a:r>
            <a:r>
              <a:rPr lang="ko-KR" altLang="en-US" sz="2400" dirty="0"/>
              <a:t> 아니다</a:t>
            </a:r>
            <a:r>
              <a:rPr lang="en-US" altLang="ko-KR" sz="2400" dirty="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400" dirty="0"/>
              <a:t>모집단의 크기가 표본에 비해 상당히 크면 독립성 위반은 미약 </a:t>
            </a:r>
            <a:r>
              <a:rPr lang="en-US" altLang="ko-KR" sz="2400" dirty="0"/>
              <a:t>=&gt; </a:t>
            </a:r>
            <a:r>
              <a:rPr lang="ko-KR" altLang="en-US" sz="2400" dirty="0"/>
              <a:t>베르누이 시행으로 간주한다</a:t>
            </a:r>
            <a:endParaRPr lang="en-US" altLang="ko-KR" sz="2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F43812-D6BA-4BEB-87B2-17A206F0345F}"/>
              </a:ext>
            </a:extLst>
          </p:cNvPr>
          <p:cNvSpPr/>
          <p:nvPr/>
        </p:nvSpPr>
        <p:spPr>
          <a:xfrm>
            <a:off x="683568" y="6453336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4784725"/>
          </a:xfrm>
        </p:spPr>
        <p:txBody>
          <a:bodyPr/>
          <a:lstStyle/>
          <a:p>
            <a:pPr eaLnBrk="1" hangingPunct="1"/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2) </a:t>
            </a:r>
            <a:r>
              <a:rPr lang="ko-KR" altLang="en-US" dirty="0"/>
              <a:t>새로운 항생제 개발</a:t>
            </a:r>
            <a:r>
              <a:rPr lang="en-US" altLang="ko-KR" dirty="0"/>
              <a:t>=&gt; 10</a:t>
            </a:r>
            <a:r>
              <a:rPr lang="ko-KR" altLang="en-US" dirty="0"/>
              <a:t>명의 환자에게 투약</a:t>
            </a:r>
            <a:r>
              <a:rPr lang="en-US" altLang="ko-KR" dirty="0"/>
              <a:t>=&gt; </a:t>
            </a:r>
            <a:r>
              <a:rPr lang="ko-KR" altLang="en-US" dirty="0"/>
              <a:t>각 환자 치유여부 조사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  결과</a:t>
            </a:r>
            <a:r>
              <a:rPr lang="en-US" altLang="ko-KR" dirty="0"/>
              <a:t>:  </a:t>
            </a:r>
            <a:r>
              <a:rPr lang="ko-KR" altLang="en-US" dirty="0"/>
              <a:t>치유</a:t>
            </a:r>
            <a:r>
              <a:rPr lang="en-US" altLang="ko-KR" dirty="0"/>
              <a:t>=&gt; </a:t>
            </a:r>
            <a:r>
              <a:rPr lang="ko-KR" altLang="en-US" dirty="0"/>
              <a:t>성공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           치유되지 않음</a:t>
            </a:r>
            <a:r>
              <a:rPr lang="en-US" altLang="ko-KR" dirty="0"/>
              <a:t>=&gt; </a:t>
            </a:r>
            <a:r>
              <a:rPr lang="ko-KR" altLang="en-US" dirty="0"/>
              <a:t>실패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  </a:t>
            </a:r>
            <a:r>
              <a:rPr lang="en-US" altLang="ko-KR" dirty="0"/>
              <a:t>=&gt; </a:t>
            </a:r>
            <a:r>
              <a:rPr lang="ko-KR" altLang="en-US" u="sng" dirty="0"/>
              <a:t>각 환자의 조건이 같다</a:t>
            </a:r>
            <a:r>
              <a:rPr lang="ko-KR" altLang="en-US" dirty="0"/>
              <a:t>는 가정아래 </a:t>
            </a:r>
            <a:r>
              <a:rPr lang="en-US" altLang="ko-KR" dirty="0"/>
              <a:t>10</a:t>
            </a:r>
            <a:r>
              <a:rPr lang="ko-KR" altLang="en-US" dirty="0"/>
              <a:t>회의 베르누이 시행으로 간주</a:t>
            </a:r>
            <a:endParaRPr lang="en-US" altLang="ko-KR" dirty="0"/>
          </a:p>
          <a:p>
            <a:pPr eaLnBrk="1" hangingPunct="1">
              <a:buFont typeface="Wingdings" pitchFamily="2" charset="2"/>
              <a:buNone/>
            </a:pPr>
            <a:r>
              <a:rPr lang="en-US" altLang="ko-KR" sz="2400" dirty="0"/>
              <a:t>		- </a:t>
            </a:r>
            <a:r>
              <a:rPr lang="ko-KR" altLang="en-US" sz="2400" dirty="0"/>
              <a:t>확률모형</a:t>
            </a:r>
            <a:r>
              <a:rPr lang="en-US" altLang="ko-KR" sz="2400" dirty="0"/>
              <a:t>: </a:t>
            </a:r>
            <a:r>
              <a:rPr lang="ko-KR" altLang="en-US" sz="2400" dirty="0"/>
              <a:t>실제로는 각 환자의 조건이 다르지만 실제 복잡한 구조를 간단한 구조로 정리하여 이론화하는 작업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CAED3F-9AC2-46C3-81EF-9141FD409327}"/>
              </a:ext>
            </a:extLst>
          </p:cNvPr>
          <p:cNvSpPr/>
          <p:nvPr/>
        </p:nvSpPr>
        <p:spPr>
          <a:xfrm>
            <a:off x="611560" y="6309320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125538"/>
            <a:ext cx="7772400" cy="4703762"/>
          </a:xfrm>
        </p:spPr>
        <p:txBody>
          <a:bodyPr/>
          <a:lstStyle/>
          <a:p>
            <a:pPr eaLnBrk="1" hangingPunct="1"/>
            <a:r>
              <a:rPr lang="en-US" altLang="ko-KR" sz="3600" dirty="0"/>
              <a:t> </a:t>
            </a:r>
            <a:r>
              <a:rPr lang="en-US" altLang="ko-KR" dirty="0"/>
              <a:t>n</a:t>
            </a:r>
            <a:r>
              <a:rPr lang="ko-KR" altLang="en-US" dirty="0"/>
              <a:t>회 베르누이 시행 중 </a:t>
            </a:r>
            <a:r>
              <a:rPr lang="en-US" altLang="ko-KR" dirty="0"/>
              <a:t>X</a:t>
            </a:r>
            <a:r>
              <a:rPr lang="ko-KR" altLang="en-US" dirty="0"/>
              <a:t>회 성공할 확률</a:t>
            </a:r>
          </a:p>
          <a:p>
            <a:pPr lvl="1" eaLnBrk="1" hangingPunct="1"/>
            <a:r>
              <a:rPr lang="en-US" altLang="ko-KR" dirty="0"/>
              <a:t>n: </a:t>
            </a:r>
            <a:r>
              <a:rPr lang="ko-KR" altLang="en-US" dirty="0"/>
              <a:t>베르누이 시행의 반복 횟수</a:t>
            </a:r>
          </a:p>
          <a:p>
            <a:pPr lvl="1" eaLnBrk="1" hangingPunct="1"/>
            <a:r>
              <a:rPr lang="en-US" altLang="ko-KR" dirty="0"/>
              <a:t>p: </a:t>
            </a:r>
            <a:r>
              <a:rPr lang="ko-KR" altLang="en-US" dirty="0"/>
              <a:t>각 시행에서 성공할 확률</a:t>
            </a:r>
            <a:r>
              <a:rPr lang="en-US" altLang="ko-KR" dirty="0"/>
              <a:t>, P(S)</a:t>
            </a:r>
          </a:p>
          <a:p>
            <a:pPr lvl="1" eaLnBrk="1" hangingPunct="1"/>
            <a:r>
              <a:rPr lang="en-US" altLang="ko-KR" dirty="0"/>
              <a:t> </a:t>
            </a:r>
            <a:r>
              <a:rPr lang="ko-KR" altLang="en-US" dirty="0"/>
              <a:t>확률변수 </a:t>
            </a:r>
            <a:r>
              <a:rPr lang="en-US" altLang="ko-KR" dirty="0"/>
              <a:t>X: n</a:t>
            </a:r>
            <a:r>
              <a:rPr lang="ko-KR" altLang="en-US" dirty="0"/>
              <a:t>번 시행 중 성공한 횟수</a:t>
            </a:r>
          </a:p>
          <a:p>
            <a:pPr lvl="1" eaLnBrk="1" hangingPunct="1"/>
            <a:endParaRPr lang="ko-KR" altLang="en-US" dirty="0"/>
          </a:p>
          <a:p>
            <a:pPr eaLnBrk="1" hangingPunct="1"/>
            <a:r>
              <a:rPr lang="ko-KR" altLang="en-US" dirty="0"/>
              <a:t> 확률분포</a:t>
            </a:r>
            <a:r>
              <a:rPr lang="en-US" altLang="ko-KR" dirty="0"/>
              <a:t>: X ~ B(</a:t>
            </a:r>
            <a:r>
              <a:rPr lang="en-US" altLang="ko-KR" dirty="0" err="1"/>
              <a:t>n,p</a:t>
            </a:r>
            <a:r>
              <a:rPr lang="en-US" altLang="ko-KR" dirty="0"/>
              <a:t>)</a:t>
            </a:r>
          </a:p>
          <a:p>
            <a:pPr eaLnBrk="1" hangingPunct="1"/>
            <a:endParaRPr lang="en-US" altLang="ko-KR" dirty="0"/>
          </a:p>
          <a:p>
            <a:pPr eaLnBrk="1" hangingPunct="1"/>
            <a:endParaRPr lang="en-US" altLang="ko-KR" dirty="0"/>
          </a:p>
          <a:p>
            <a:pPr eaLnBrk="1" hangingPunct="1"/>
            <a:endParaRPr lang="en-US" altLang="ko-KR" dirty="0"/>
          </a:p>
          <a:p>
            <a:pPr eaLnBrk="1" hangingPunct="1"/>
            <a:endParaRPr lang="en-US" altLang="ko-KR" dirty="0"/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noFill/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chemeClr val="accent2"/>
                </a:solidFill>
              </a:rPr>
              <a:t>5. </a:t>
            </a:r>
            <a:r>
              <a:rPr lang="en-US" altLang="ko-KR" dirty="0"/>
              <a:t>binomial distribution(</a:t>
            </a:r>
            <a:r>
              <a:rPr lang="ko-KR" altLang="en-US" dirty="0"/>
              <a:t>이항분포</a:t>
            </a:r>
            <a:r>
              <a:rPr lang="en-US" altLang="ko-KR" dirty="0"/>
              <a:t>)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1619250" y="4508500"/>
          <a:ext cx="5799138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6" name="Equation" r:id="rId3" imgW="2577960" imgH="457200" progId="Equation.3">
                  <p:embed/>
                </p:oleObj>
              </mc:Choice>
              <mc:Fallback>
                <p:oleObj name="Equation" r:id="rId3" imgW="257796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508500"/>
                        <a:ext cx="5799138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4213" y="620713"/>
            <a:ext cx="7772400" cy="53292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(</a:t>
            </a:r>
            <a:r>
              <a:rPr lang="ko-KR" altLang="en-US" sz="2800" dirty="0"/>
              <a:t>예제</a:t>
            </a:r>
            <a:r>
              <a:rPr lang="en-US" altLang="ko-KR" sz="2800" dirty="0"/>
              <a:t>3) </a:t>
            </a:r>
            <a:r>
              <a:rPr lang="ko-KR" altLang="en-US" sz="2800" dirty="0"/>
              <a:t>앞면이 나올 확률 </a:t>
            </a:r>
            <a:r>
              <a:rPr lang="en-US" altLang="ko-KR" sz="2800" dirty="0"/>
              <a:t>p=0.7</a:t>
            </a:r>
            <a:r>
              <a:rPr lang="ko-KR" altLang="en-US" sz="2800" dirty="0"/>
              <a:t>인 동전을 네 번 던질 때 앞면이 세번 나올 확률은</a:t>
            </a:r>
            <a:r>
              <a:rPr lang="en-US" altLang="ko-KR" sz="2800" dirty="0"/>
              <a:t>?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    </a:t>
            </a:r>
            <a:r>
              <a:rPr lang="ko-KR" altLang="en-US" sz="2800" dirty="0"/>
              <a:t>앞면</a:t>
            </a:r>
            <a:r>
              <a:rPr lang="en-US" altLang="ko-KR" sz="2800" dirty="0"/>
              <a:t>(S), </a:t>
            </a:r>
            <a:r>
              <a:rPr lang="ko-KR" altLang="en-US" sz="2800" dirty="0"/>
              <a:t>뒷면</a:t>
            </a:r>
            <a:r>
              <a:rPr lang="en-US" altLang="ko-KR" sz="2800" dirty="0"/>
              <a:t>(F)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sz="2400" dirty="0"/>
              <a:t>동전을 </a:t>
            </a:r>
            <a:r>
              <a:rPr lang="ko-KR" altLang="en-US" sz="2400" dirty="0" err="1"/>
              <a:t>네번</a:t>
            </a:r>
            <a:r>
              <a:rPr lang="ko-KR" altLang="en-US" sz="2400" dirty="0"/>
              <a:t> 던질 때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sz="2400" dirty="0"/>
              <a:t>앞면이 세번 나올 경우            확률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sz="2400" dirty="0"/>
              <a:t>   </a:t>
            </a:r>
            <a:r>
              <a:rPr lang="en-US" altLang="ko-KR" sz="2400" dirty="0">
                <a:solidFill>
                  <a:schemeClr val="accent2"/>
                </a:solidFill>
              </a:rPr>
              <a:t>SSS</a:t>
            </a:r>
            <a:r>
              <a:rPr lang="en-US" altLang="ko-KR" sz="2400" dirty="0">
                <a:solidFill>
                  <a:srgbClr val="FF3300"/>
                </a:solidFill>
              </a:rPr>
              <a:t>F</a:t>
            </a:r>
            <a:r>
              <a:rPr lang="en-US" altLang="ko-KR" sz="2400" dirty="0"/>
              <a:t>                            (0.7)</a:t>
            </a:r>
            <a:r>
              <a:rPr lang="en-US" altLang="ko-KR" sz="2400" baseline="30000" dirty="0"/>
              <a:t>3</a:t>
            </a:r>
            <a:r>
              <a:rPr lang="en-US" altLang="ko-KR" sz="2400" dirty="0"/>
              <a:t>*(0.3)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400" dirty="0"/>
              <a:t>   </a:t>
            </a:r>
            <a:r>
              <a:rPr lang="en-US" altLang="ko-KR" sz="2400" dirty="0">
                <a:solidFill>
                  <a:schemeClr val="accent2"/>
                </a:solidFill>
              </a:rPr>
              <a:t>SS</a:t>
            </a:r>
            <a:r>
              <a:rPr lang="en-US" altLang="ko-KR" sz="2400" dirty="0">
                <a:solidFill>
                  <a:srgbClr val="FF3300"/>
                </a:solidFill>
              </a:rPr>
              <a:t>F</a:t>
            </a:r>
            <a:r>
              <a:rPr lang="en-US" altLang="ko-KR" sz="2400" dirty="0">
                <a:solidFill>
                  <a:schemeClr val="accent2"/>
                </a:solidFill>
              </a:rPr>
              <a:t>S</a:t>
            </a:r>
            <a:r>
              <a:rPr lang="en-US" altLang="ko-KR" sz="2400" dirty="0"/>
              <a:t>                            (0.7)</a:t>
            </a:r>
            <a:r>
              <a:rPr lang="en-US" altLang="ko-KR" sz="2400" baseline="30000" dirty="0"/>
              <a:t>2</a:t>
            </a:r>
            <a:r>
              <a:rPr lang="en-US" altLang="ko-KR" sz="2400" dirty="0"/>
              <a:t>*(0.3)*(0.7)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400" dirty="0"/>
              <a:t>   </a:t>
            </a:r>
            <a:r>
              <a:rPr lang="en-US" altLang="ko-KR" sz="2400" dirty="0">
                <a:solidFill>
                  <a:schemeClr val="accent2"/>
                </a:solidFill>
              </a:rPr>
              <a:t>S</a:t>
            </a:r>
            <a:r>
              <a:rPr lang="en-US" altLang="ko-KR" sz="2400" dirty="0">
                <a:solidFill>
                  <a:srgbClr val="FF3300"/>
                </a:solidFill>
              </a:rPr>
              <a:t>F</a:t>
            </a:r>
            <a:r>
              <a:rPr lang="en-US" altLang="ko-KR" sz="2400" dirty="0">
                <a:solidFill>
                  <a:schemeClr val="accent2"/>
                </a:solidFill>
              </a:rPr>
              <a:t>SS</a:t>
            </a:r>
            <a:r>
              <a:rPr lang="en-US" altLang="ko-KR" sz="2400" dirty="0"/>
              <a:t>                            (0.7)*(0.3)*(0.7)</a:t>
            </a:r>
            <a:r>
              <a:rPr lang="en-US" altLang="ko-KR" sz="2400" baseline="30000" dirty="0"/>
              <a:t>2</a:t>
            </a:r>
            <a:endParaRPr lang="en-US" altLang="ko-KR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ko-KR" sz="2400" dirty="0"/>
              <a:t>   </a:t>
            </a:r>
            <a:r>
              <a:rPr lang="en-US" altLang="ko-KR" sz="2400" dirty="0">
                <a:solidFill>
                  <a:srgbClr val="FF3300"/>
                </a:solidFill>
              </a:rPr>
              <a:t>F</a:t>
            </a:r>
            <a:r>
              <a:rPr lang="en-US" altLang="ko-KR" sz="2400" dirty="0">
                <a:solidFill>
                  <a:schemeClr val="accent2"/>
                </a:solidFill>
              </a:rPr>
              <a:t>SSS</a:t>
            </a:r>
            <a:r>
              <a:rPr lang="en-US" altLang="ko-KR" sz="2400" dirty="0"/>
              <a:t>                            (0.3)*(0.7)</a:t>
            </a:r>
            <a:r>
              <a:rPr lang="en-US" altLang="ko-KR" sz="2400" baseline="30000" dirty="0"/>
              <a:t>3</a:t>
            </a:r>
            <a:endParaRPr lang="en-US" altLang="ko-KR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ko-KR" sz="2400" dirty="0"/>
              <a:t>   </a:t>
            </a:r>
            <a:r>
              <a:rPr lang="ko-KR" altLang="en-US" sz="2400" dirty="0"/>
              <a:t>합계                          </a:t>
            </a:r>
            <a:r>
              <a:rPr lang="en-US" altLang="ko-KR" sz="2400" dirty="0"/>
              <a:t>4* (0.7)</a:t>
            </a:r>
            <a:r>
              <a:rPr lang="en-US" altLang="ko-KR" sz="2400" baseline="30000" dirty="0"/>
              <a:t>3</a:t>
            </a:r>
            <a:r>
              <a:rPr lang="en-US" altLang="ko-KR" sz="2400" dirty="0"/>
              <a:t>*(0.3)</a:t>
            </a: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1116013" y="5445125"/>
          <a:ext cx="532765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Equation" r:id="rId3" imgW="3352680" imgH="520560" progId="Equation.3">
                  <p:embed/>
                </p:oleObj>
              </mc:Choice>
              <mc:Fallback>
                <p:oleObj name="Equation" r:id="rId3" imgW="3352680" imgH="5205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445125"/>
                        <a:ext cx="532765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Line 5"/>
          <p:cNvSpPr>
            <a:spLocks noChangeShapeType="1"/>
          </p:cNvSpPr>
          <p:nvPr/>
        </p:nvSpPr>
        <p:spPr bwMode="auto">
          <a:xfrm>
            <a:off x="609600" y="2971800"/>
            <a:ext cx="662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7" name="Line 6"/>
          <p:cNvSpPr>
            <a:spLocks noChangeShapeType="1"/>
          </p:cNvSpPr>
          <p:nvPr/>
        </p:nvSpPr>
        <p:spPr bwMode="auto">
          <a:xfrm>
            <a:off x="609600" y="2133600"/>
            <a:ext cx="655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8" name="Line 7"/>
          <p:cNvSpPr>
            <a:spLocks noChangeShapeType="1"/>
          </p:cNvSpPr>
          <p:nvPr/>
        </p:nvSpPr>
        <p:spPr bwMode="auto">
          <a:xfrm>
            <a:off x="3962400" y="2133600"/>
            <a:ext cx="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9" name="Line 8"/>
          <p:cNvSpPr>
            <a:spLocks noChangeShapeType="1"/>
          </p:cNvSpPr>
          <p:nvPr/>
        </p:nvSpPr>
        <p:spPr bwMode="auto">
          <a:xfrm>
            <a:off x="685800" y="5334000"/>
            <a:ext cx="624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80" name="Line 9"/>
          <p:cNvSpPr>
            <a:spLocks noChangeShapeType="1"/>
          </p:cNvSpPr>
          <p:nvPr/>
        </p:nvSpPr>
        <p:spPr bwMode="auto">
          <a:xfrm>
            <a:off x="533400" y="4724400"/>
            <a:ext cx="655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333375"/>
            <a:ext cx="8229600" cy="52895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(</a:t>
            </a:r>
            <a:r>
              <a:rPr lang="ko-KR" altLang="en-US" sz="2800" dirty="0"/>
              <a:t>예제</a:t>
            </a:r>
            <a:r>
              <a:rPr lang="en-US" altLang="ko-KR" sz="2800" dirty="0"/>
              <a:t>4) </a:t>
            </a:r>
            <a:r>
              <a:rPr lang="ko-KR" altLang="en-US" sz="2800" dirty="0" err="1"/>
              <a:t>멘델의</a:t>
            </a:r>
            <a:r>
              <a:rPr lang="ko-KR" altLang="en-US" sz="2800" dirty="0"/>
              <a:t> 법칙에 의하면 </a:t>
            </a:r>
            <a:r>
              <a:rPr lang="ko-KR" altLang="en-US" sz="2800" dirty="0" err="1"/>
              <a:t>혼합색의</a:t>
            </a:r>
            <a:r>
              <a:rPr lang="ko-KR" altLang="en-US" sz="2800" dirty="0"/>
              <a:t> 꽃나무</a:t>
            </a:r>
            <a:r>
              <a:rPr lang="en-US" altLang="ko-KR" sz="2800" dirty="0"/>
              <a:t>(</a:t>
            </a:r>
            <a:r>
              <a:rPr lang="ko-KR" altLang="en-US" sz="2800" dirty="0"/>
              <a:t>빨간색과 흰색 혼합</a:t>
            </a:r>
            <a:r>
              <a:rPr lang="en-US" altLang="ko-KR" sz="2800" dirty="0"/>
              <a:t>)</a:t>
            </a:r>
            <a:r>
              <a:rPr lang="ko-KR" altLang="en-US" sz="2800" dirty="0"/>
              <a:t>의 자가수정인 경우 </a:t>
            </a:r>
            <a:r>
              <a:rPr lang="en-US" altLang="ko-KR" sz="2800" dirty="0"/>
              <a:t>25%</a:t>
            </a:r>
            <a:r>
              <a:rPr lang="ko-KR" altLang="en-US" sz="2800" dirty="0"/>
              <a:t>는 빨간색 꽃을 피운다</a:t>
            </a:r>
            <a:r>
              <a:rPr lang="en-US" altLang="ko-KR" sz="2800" dirty="0"/>
              <a:t>. 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sz="2800" dirty="0" err="1"/>
              <a:t>혼합색</a:t>
            </a:r>
            <a:r>
              <a:rPr lang="ko-KR" altLang="en-US" sz="2800" dirty="0"/>
              <a:t> </a:t>
            </a:r>
            <a:r>
              <a:rPr lang="en-US" altLang="ko-KR" sz="2800" dirty="0"/>
              <a:t>5</a:t>
            </a:r>
            <a:r>
              <a:rPr lang="ko-KR" altLang="en-US" sz="2800" dirty="0"/>
              <a:t>그루 꽃나무를 자가수정 시켰을 경우 다음 확률을 구하라</a:t>
            </a:r>
            <a:r>
              <a:rPr lang="en-US" altLang="ko-KR" sz="2800" dirty="0"/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 1) </a:t>
            </a:r>
            <a:r>
              <a:rPr lang="ko-KR" altLang="en-US" sz="2800" dirty="0"/>
              <a:t>빨간 꽃나무가 하나도 없다</a:t>
            </a:r>
            <a:r>
              <a:rPr lang="en-US" altLang="ko-KR" sz="2800" dirty="0"/>
              <a:t>.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 sz="2800" dirty="0"/>
          </a:p>
          <a:p>
            <a:pPr eaLnBrk="1" hangingPunct="1">
              <a:buFont typeface="Wingdings" pitchFamily="2" charset="2"/>
              <a:buNone/>
            </a:pPr>
            <a:endParaRPr lang="en-US" altLang="ko-KR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 2) </a:t>
            </a:r>
            <a:r>
              <a:rPr lang="ko-KR" altLang="en-US" sz="2800" dirty="0"/>
              <a:t>빨간 꽃나무가 </a:t>
            </a:r>
            <a:r>
              <a:rPr lang="en-US" altLang="ko-KR" sz="2800" dirty="0"/>
              <a:t>4</a:t>
            </a:r>
            <a:r>
              <a:rPr lang="ko-KR" altLang="en-US" sz="2800" dirty="0"/>
              <a:t>그루 이상이다</a:t>
            </a:r>
            <a:r>
              <a:rPr lang="en-US" altLang="ko-KR" sz="2800" dirty="0"/>
              <a:t>. 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5366923-774E-4CBD-89B4-FB6DF1842CAF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z="3200"/>
              <a:t>이항분포의 확률 히스토그램</a:t>
            </a:r>
          </a:p>
        </p:txBody>
      </p:sp>
      <p:pic>
        <p:nvPicPr>
          <p:cNvPr id="16387" name="내용 개체 틀 3" descr="195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85875" y="2214563"/>
            <a:ext cx="6623050" cy="2286000"/>
          </a:xfrm>
        </p:spPr>
      </p:pic>
      <p:sp>
        <p:nvSpPr>
          <p:cNvPr id="16388" name="TextBox 3"/>
          <p:cNvSpPr txBox="1">
            <a:spLocks noChangeArrowheads="1"/>
          </p:cNvSpPr>
          <p:nvPr/>
        </p:nvSpPr>
        <p:spPr bwMode="auto">
          <a:xfrm>
            <a:off x="1857375" y="1857375"/>
            <a:ext cx="1285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p=0.3</a:t>
            </a:r>
            <a:endParaRPr lang="ko-KR" altLang="en-US"/>
          </a:p>
        </p:txBody>
      </p:sp>
      <p:sp>
        <p:nvSpPr>
          <p:cNvPr id="16389" name="TextBox 4"/>
          <p:cNvSpPr txBox="1">
            <a:spLocks noChangeArrowheads="1"/>
          </p:cNvSpPr>
          <p:nvPr/>
        </p:nvSpPr>
        <p:spPr bwMode="auto">
          <a:xfrm>
            <a:off x="3929063" y="1785938"/>
            <a:ext cx="1285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p=0.5</a:t>
            </a:r>
            <a:endParaRPr lang="ko-KR" altLang="en-US"/>
          </a:p>
        </p:txBody>
      </p:sp>
      <p:sp>
        <p:nvSpPr>
          <p:cNvPr id="16390" name="TextBox 5"/>
          <p:cNvSpPr txBox="1">
            <a:spLocks noChangeArrowheads="1"/>
          </p:cNvSpPr>
          <p:nvPr/>
        </p:nvSpPr>
        <p:spPr bwMode="auto">
          <a:xfrm>
            <a:off x="6215063" y="1785938"/>
            <a:ext cx="1285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p=0.9</a:t>
            </a:r>
            <a:endParaRPr lang="ko-KR" altLang="en-US"/>
          </a:p>
        </p:txBody>
      </p:sp>
      <p:sp>
        <p:nvSpPr>
          <p:cNvPr id="16391" name="TextBox 6"/>
          <p:cNvSpPr txBox="1">
            <a:spLocks noChangeArrowheads="1"/>
          </p:cNvSpPr>
          <p:nvPr/>
        </p:nvSpPr>
        <p:spPr bwMode="auto">
          <a:xfrm>
            <a:off x="928688" y="1214438"/>
            <a:ext cx="1643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X ~ B( 8, p)</a:t>
            </a: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8E2CE42-5E97-432A-93A1-AB62E68CCC42}"/>
              </a:ext>
            </a:extLst>
          </p:cNvPr>
          <p:cNvSpPr/>
          <p:nvPr/>
        </p:nvSpPr>
        <p:spPr>
          <a:xfrm>
            <a:off x="619620" y="6436438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8"/>
          <p:cNvSpPr>
            <a:spLocks noGrp="1" noChangeArrowheads="1"/>
          </p:cNvSpPr>
          <p:nvPr>
            <p:ph type="title"/>
          </p:nvPr>
        </p:nvSpPr>
        <p:spPr>
          <a:xfrm>
            <a:off x="457200" y="274639"/>
            <a:ext cx="8229600" cy="490066"/>
          </a:xfrm>
        </p:spPr>
        <p:txBody>
          <a:bodyPr/>
          <a:lstStyle/>
          <a:p>
            <a:pPr eaLnBrk="1" hangingPunct="1"/>
            <a:r>
              <a:rPr lang="ko-KR" altLang="en-US" sz="3200" dirty="0"/>
              <a:t>확률계산 및 </a:t>
            </a:r>
            <a:r>
              <a:rPr lang="ko-KR" altLang="en-US" sz="3200" dirty="0" err="1"/>
              <a:t>특징값</a:t>
            </a:r>
            <a:endParaRPr lang="ko-KR" altLang="en-US" sz="3200" dirty="0"/>
          </a:p>
        </p:txBody>
      </p:sp>
      <p:graphicFrame>
        <p:nvGraphicFramePr>
          <p:cNvPr id="4098" name="Object 0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99045451"/>
              </p:ext>
            </p:extLst>
          </p:nvPr>
        </p:nvGraphicFramePr>
        <p:xfrm>
          <a:off x="1331640" y="1052736"/>
          <a:ext cx="6120407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9" name="Equation" r:id="rId3" imgW="2438280" imgH="888840" progId="Equation.3">
                  <p:embed/>
                </p:oleObj>
              </mc:Choice>
              <mc:Fallback>
                <p:oleObj name="Equation" r:id="rId3" imgW="2438280" imgH="88884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1052736"/>
                        <a:ext cx="6120407" cy="1872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1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50134230"/>
              </p:ext>
            </p:extLst>
          </p:nvPr>
        </p:nvGraphicFramePr>
        <p:xfrm>
          <a:off x="1331640" y="3068960"/>
          <a:ext cx="2937926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0" name="Equation" r:id="rId5" imgW="1079280" imgH="431640" progId="Equation.3">
                  <p:embed/>
                </p:oleObj>
              </mc:Choice>
              <mc:Fallback>
                <p:oleObj name="Equation" r:id="rId5" imgW="1079280" imgH="431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068960"/>
                        <a:ext cx="2937926" cy="864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55576" y="4221088"/>
            <a:ext cx="76328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(</a:t>
            </a:r>
            <a:r>
              <a:rPr lang="ko-KR" altLang="en-US" sz="2400" dirty="0"/>
              <a:t>예제</a:t>
            </a:r>
            <a:r>
              <a:rPr lang="en-US" altLang="ko-KR" sz="2400" dirty="0"/>
              <a:t>4) p=0.5, n=15 </a:t>
            </a:r>
            <a:r>
              <a:rPr lang="ko-KR" altLang="en-US" sz="2400" dirty="0"/>
              <a:t>다음 확률을 </a:t>
            </a:r>
            <a:r>
              <a:rPr lang="en-US" altLang="ko-KR" sz="2400" dirty="0"/>
              <a:t>EXCEL</a:t>
            </a:r>
            <a:r>
              <a:rPr lang="ko-KR" altLang="en-US" sz="2400" dirty="0"/>
              <a:t>을 이용하여 </a:t>
            </a:r>
            <a:r>
              <a:rPr lang="ko-KR" altLang="en-US" sz="2400" dirty="0" err="1"/>
              <a:t>구하시오</a:t>
            </a:r>
            <a:r>
              <a:rPr lang="en-US" altLang="ko-KR" sz="2400" dirty="0"/>
              <a:t>.</a:t>
            </a:r>
          </a:p>
          <a:p>
            <a:pPr marL="342900" indent="-342900">
              <a:buAutoNum type="arabicParenR"/>
            </a:pPr>
            <a:r>
              <a:rPr lang="en-US" altLang="ko-KR" sz="2400" dirty="0"/>
              <a:t>P(X&lt;=6)</a:t>
            </a:r>
          </a:p>
          <a:p>
            <a:r>
              <a:rPr lang="en-US" altLang="ko-KR" sz="2400" dirty="0"/>
              <a:t>2) P(6&lt;=X&lt;=10)=P(X&lt;=10)-P(X&lt;=5)</a:t>
            </a:r>
          </a:p>
          <a:p>
            <a:r>
              <a:rPr lang="en-US" altLang="ko-KR" sz="2400" dirty="0"/>
              <a:t>3) P(X&gt;=12)=1-P(X&lt;=11)</a:t>
            </a:r>
            <a:endParaRPr lang="ko-KR" alt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ko-KR" dirty="0"/>
              <a:t>EXCEL </a:t>
            </a:r>
            <a:r>
              <a:rPr lang="ko-KR" altLang="en-US" dirty="0"/>
              <a:t>연습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052736"/>
            <a:ext cx="7772400" cy="5029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(</a:t>
            </a:r>
            <a:r>
              <a:rPr lang="ko-KR" altLang="en-US" sz="2800" dirty="0"/>
              <a:t>예제</a:t>
            </a:r>
            <a:r>
              <a:rPr lang="en-US" altLang="ko-KR" sz="2800" dirty="0"/>
              <a:t>5) </a:t>
            </a:r>
            <a:r>
              <a:rPr lang="ko-KR" altLang="en-US" sz="2800" dirty="0"/>
              <a:t>컴퓨터 칩을 만드는 회사에서 </a:t>
            </a:r>
            <a:r>
              <a:rPr lang="en-US" altLang="ko-KR" sz="2800" dirty="0"/>
              <a:t>5% </a:t>
            </a:r>
            <a:r>
              <a:rPr lang="ko-KR" altLang="en-US" sz="2800" dirty="0"/>
              <a:t>불량품이 만들어진다</a:t>
            </a:r>
            <a:r>
              <a:rPr lang="en-US" altLang="ko-KR" sz="2800" dirty="0"/>
              <a:t>. </a:t>
            </a:r>
            <a:r>
              <a:rPr lang="ko-KR" altLang="en-US" sz="2800" dirty="0"/>
              <a:t>임의로 </a:t>
            </a:r>
            <a:r>
              <a:rPr lang="en-US" altLang="ko-KR" sz="2800" dirty="0"/>
              <a:t>10</a:t>
            </a:r>
            <a:r>
              <a:rPr lang="ko-KR" altLang="en-US" sz="2800" dirty="0"/>
              <a:t>개를 추출하여 검사한다</a:t>
            </a:r>
            <a:r>
              <a:rPr lang="en-US" altLang="ko-KR" sz="2800" dirty="0"/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 1) X</a:t>
            </a:r>
            <a:r>
              <a:rPr lang="ko-KR" altLang="en-US" sz="2800" dirty="0"/>
              <a:t>를 불량품 개수라면 </a:t>
            </a:r>
            <a:r>
              <a:rPr lang="en-US" altLang="ko-KR" sz="2800" dirty="0"/>
              <a:t>X</a:t>
            </a:r>
            <a:r>
              <a:rPr lang="ko-KR" altLang="en-US" sz="2800" dirty="0"/>
              <a:t>의 확률분포 표를 </a:t>
            </a:r>
            <a:r>
              <a:rPr lang="en-US" altLang="ko-KR" sz="2800" dirty="0"/>
              <a:t>EXCEL</a:t>
            </a:r>
            <a:r>
              <a:rPr lang="ko-KR" altLang="en-US" sz="2800" dirty="0"/>
              <a:t>을 이용하여 구하고 히스토그램을 그려라</a:t>
            </a:r>
            <a:r>
              <a:rPr lang="en-US" altLang="ko-KR" sz="2800" dirty="0"/>
              <a:t>.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   </a:t>
            </a:r>
            <a:r>
              <a:rPr lang="ko-KR" altLang="en-US" sz="2800" dirty="0"/>
              <a:t>수식</a:t>
            </a:r>
            <a:r>
              <a:rPr lang="en-US" altLang="ko-KR" sz="2800" dirty="0"/>
              <a:t>=&gt;</a:t>
            </a:r>
            <a:r>
              <a:rPr lang="ko-KR" altLang="en-US" sz="2800" dirty="0"/>
              <a:t>함수</a:t>
            </a:r>
            <a:r>
              <a:rPr lang="en-US" altLang="ko-KR" sz="2800" dirty="0"/>
              <a:t>=&gt;</a:t>
            </a:r>
            <a:r>
              <a:rPr lang="ko-KR" altLang="en-US" sz="2800" dirty="0"/>
              <a:t>통계</a:t>
            </a:r>
            <a:r>
              <a:rPr lang="en-US" altLang="ko-KR" sz="2800" dirty="0"/>
              <a:t>=&gt;BINOM.DIST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   </a:t>
            </a:r>
            <a:r>
              <a:rPr lang="ko-KR" altLang="en-US" sz="2800" dirty="0"/>
              <a:t>삽입</a:t>
            </a:r>
            <a:r>
              <a:rPr lang="en-US" altLang="ko-KR" sz="2800" dirty="0"/>
              <a:t>=&gt;</a:t>
            </a:r>
            <a:r>
              <a:rPr lang="ko-KR" altLang="en-US" sz="2800" dirty="0"/>
              <a:t>차트</a:t>
            </a:r>
            <a:r>
              <a:rPr lang="en-US" altLang="ko-KR" sz="2800" dirty="0"/>
              <a:t>=&gt;</a:t>
            </a:r>
            <a:r>
              <a:rPr lang="ko-KR" altLang="en-US" sz="2800" dirty="0"/>
              <a:t>세로막대형</a:t>
            </a:r>
            <a:r>
              <a:rPr lang="en-US" altLang="ko-KR" sz="2800" dirty="0"/>
              <a:t>=&gt;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 2) </a:t>
            </a:r>
            <a:r>
              <a:rPr lang="ko-KR" altLang="en-US" sz="2800" dirty="0"/>
              <a:t>평균을 구하고 </a:t>
            </a:r>
            <a:r>
              <a:rPr lang="en-US" altLang="ko-KR" sz="2800" dirty="0"/>
              <a:t>np</a:t>
            </a:r>
            <a:r>
              <a:rPr lang="ko-KR" altLang="en-US" sz="2800" dirty="0"/>
              <a:t>와 비교하여라</a:t>
            </a:r>
            <a:r>
              <a:rPr lang="en-US" altLang="ko-KR" sz="2800" dirty="0"/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 3) </a:t>
            </a:r>
            <a:r>
              <a:rPr lang="ko-KR" altLang="en-US" sz="2800" dirty="0"/>
              <a:t>분산을 구하고 </a:t>
            </a:r>
            <a:r>
              <a:rPr lang="en-US" altLang="ko-KR" sz="2800" dirty="0"/>
              <a:t>np(1-p)</a:t>
            </a:r>
            <a:r>
              <a:rPr lang="ko-KR" altLang="en-US" sz="2800" dirty="0"/>
              <a:t>와 비교하라</a:t>
            </a:r>
            <a:r>
              <a:rPr lang="en-US" altLang="ko-KR" sz="2800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3F988DB-D8BD-4725-A1EC-2518F9D5E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71" y="980728"/>
            <a:ext cx="5015175" cy="27695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B8CE761-1A5C-437F-8EE4-134997F3154C}"/>
              </a:ext>
            </a:extLst>
          </p:cNvPr>
          <p:cNvSpPr/>
          <p:nvPr/>
        </p:nvSpPr>
        <p:spPr>
          <a:xfrm>
            <a:off x="660890" y="190381"/>
            <a:ext cx="47243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수식</a:t>
            </a:r>
            <a:r>
              <a:rPr lang="en-US" altLang="ko-KR" dirty="0"/>
              <a:t>=&gt;</a:t>
            </a:r>
            <a:r>
              <a:rPr lang="ko-KR" altLang="en-US" dirty="0"/>
              <a:t>함수</a:t>
            </a:r>
            <a:r>
              <a:rPr lang="en-US" altLang="ko-KR" dirty="0"/>
              <a:t>=&gt;</a:t>
            </a:r>
            <a:r>
              <a:rPr lang="ko-KR" altLang="en-US" dirty="0"/>
              <a:t>통계</a:t>
            </a:r>
            <a:r>
              <a:rPr lang="en-US" altLang="ko-KR" dirty="0"/>
              <a:t>=&gt;BINOM.DIST</a:t>
            </a:r>
          </a:p>
          <a:p>
            <a:r>
              <a:rPr lang="ko-KR" altLang="en-US" dirty="0"/>
              <a:t>들어가야 할 인수의 종류</a:t>
            </a:r>
            <a:r>
              <a:rPr lang="en-US" altLang="ko-KR" dirty="0"/>
              <a:t>: </a:t>
            </a:r>
            <a:r>
              <a:rPr lang="ko-KR" altLang="en-US" dirty="0"/>
              <a:t>값이 들어가야 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C4F3AC-E6BA-4905-9D70-EC9BD93DAED9}"/>
              </a:ext>
            </a:extLst>
          </p:cNvPr>
          <p:cNvSpPr txBox="1"/>
          <p:nvPr/>
        </p:nvSpPr>
        <p:spPr>
          <a:xfrm>
            <a:off x="683568" y="4077072"/>
            <a:ext cx="4379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</a:t>
            </a:r>
            <a:r>
              <a:rPr lang="ko-KR" altLang="en-US" dirty="0"/>
              <a:t>축 좌표 선택</a:t>
            </a:r>
            <a:r>
              <a:rPr lang="en-US" altLang="ko-KR" dirty="0"/>
              <a:t>-&gt;</a:t>
            </a:r>
            <a:r>
              <a:rPr lang="ko-KR" altLang="en-US" dirty="0"/>
              <a:t>마우스 오른쪽 버튼</a:t>
            </a:r>
            <a:r>
              <a:rPr lang="en-US" altLang="ko-KR" dirty="0"/>
              <a:t>-&gt;</a:t>
            </a:r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/>
              <a:t>선택</a:t>
            </a:r>
            <a:r>
              <a:rPr lang="en-US" altLang="ko-KR" dirty="0"/>
              <a:t>-&gt;</a:t>
            </a:r>
            <a:r>
              <a:rPr lang="ko-KR" altLang="en-US" dirty="0"/>
              <a:t>가로</a:t>
            </a:r>
            <a:r>
              <a:rPr lang="en-US" altLang="ko-KR" dirty="0"/>
              <a:t>(</a:t>
            </a:r>
            <a:r>
              <a:rPr lang="ko-KR" altLang="en-US" dirty="0"/>
              <a:t>항목</a:t>
            </a:r>
            <a:r>
              <a:rPr lang="en-US" altLang="ko-KR" dirty="0"/>
              <a:t>) </a:t>
            </a:r>
            <a:r>
              <a:rPr lang="ko-KR" altLang="en-US" dirty="0"/>
              <a:t>축 레이블</a:t>
            </a:r>
            <a:r>
              <a:rPr lang="en-US" altLang="ko-KR" dirty="0"/>
              <a:t>-&gt;</a:t>
            </a:r>
            <a:r>
              <a:rPr lang="ko-KR" altLang="en-US" dirty="0"/>
              <a:t>편집</a:t>
            </a:r>
            <a:r>
              <a:rPr lang="en-US" altLang="ko-KR" dirty="0"/>
              <a:t>-&gt;={0,1,2,3,4,5,6,7,8,9,10}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9533DB2-279E-4F9D-94B3-C59577E7D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5124" y="4077072"/>
            <a:ext cx="4078876" cy="2304256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56FC88D-6FC0-44B2-A806-694DE930769D}"/>
              </a:ext>
            </a:extLst>
          </p:cNvPr>
          <p:cNvCxnSpPr>
            <a:cxnSpLocks/>
          </p:cNvCxnSpPr>
          <p:nvPr/>
        </p:nvCxnSpPr>
        <p:spPr>
          <a:xfrm>
            <a:off x="3059832" y="5000402"/>
            <a:ext cx="2592288" cy="116490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244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ko-KR"/>
              <a:t>EXCEL </a:t>
            </a:r>
            <a:r>
              <a:rPr lang="ko-KR" altLang="en-US"/>
              <a:t>연습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029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ko-KR" altLang="en-US" sz="2800" dirty="0"/>
              <a:t>예제</a:t>
            </a:r>
            <a:r>
              <a:rPr lang="en-US" altLang="ko-KR" sz="2800" dirty="0"/>
              <a:t>6) </a:t>
            </a:r>
            <a:r>
              <a:rPr lang="ko-KR" altLang="en-US" sz="2800" dirty="0"/>
              <a:t>컴퓨터 칩을 만드는 회사에서 임의로 </a:t>
            </a:r>
            <a:r>
              <a:rPr lang="en-US" altLang="ko-KR" sz="2800" dirty="0"/>
              <a:t>10</a:t>
            </a:r>
            <a:r>
              <a:rPr lang="ko-KR" altLang="en-US" sz="2800" dirty="0"/>
              <a:t>개를 추출하여 검사한다</a:t>
            </a:r>
            <a:r>
              <a:rPr lang="en-US" altLang="ko-KR" sz="2800" dirty="0"/>
              <a:t>. X</a:t>
            </a:r>
            <a:r>
              <a:rPr lang="ko-KR" altLang="en-US" sz="2800" dirty="0"/>
              <a:t>를 불량품 개수라면 </a:t>
            </a:r>
            <a:r>
              <a:rPr lang="en-US" altLang="ko-KR" sz="2800" dirty="0"/>
              <a:t>p</a:t>
            </a:r>
            <a:r>
              <a:rPr lang="ko-KR" altLang="en-US" sz="2800" dirty="0"/>
              <a:t>가 아래와 같을 때 </a:t>
            </a:r>
            <a:r>
              <a:rPr lang="en-US" altLang="ko-KR" sz="2800" dirty="0"/>
              <a:t>X</a:t>
            </a:r>
            <a:r>
              <a:rPr lang="ko-KR" altLang="en-US" sz="2800" dirty="0"/>
              <a:t>의 확률분포 표를 </a:t>
            </a:r>
            <a:r>
              <a:rPr lang="en-US" altLang="ko-KR" sz="2800" dirty="0"/>
              <a:t>EXCEL</a:t>
            </a:r>
            <a:r>
              <a:rPr lang="ko-KR" altLang="en-US" sz="2800" dirty="0"/>
              <a:t>을 이용하여 구하고 히스토그램을 그려라</a:t>
            </a:r>
            <a:r>
              <a:rPr lang="en-US" altLang="ko-KR" sz="2800" dirty="0"/>
              <a:t>. </a:t>
            </a:r>
            <a:r>
              <a:rPr lang="ko-KR" altLang="en-US" sz="2800" dirty="0"/>
              <a:t>그린 히스토그램을 비교하여 보아라</a:t>
            </a:r>
            <a:r>
              <a:rPr lang="en-US" altLang="ko-KR" sz="2800" dirty="0"/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   1) p=0.1   2) p=0.5    3) p=0.9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 sz="2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3CFFD0-2016-41BD-9B0E-2B54942293F1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229600" cy="5145088"/>
          </a:xfrm>
        </p:spPr>
        <p:txBody>
          <a:bodyPr/>
          <a:lstStyle/>
          <a:p>
            <a:pPr eaLnBrk="1" hangingPunct="1"/>
            <a:r>
              <a:rPr lang="ko-KR" altLang="en-US" dirty="0"/>
              <a:t>예제</a:t>
            </a:r>
            <a:r>
              <a:rPr lang="en-US" altLang="ko-KR" dirty="0"/>
              <a:t>7) </a:t>
            </a:r>
            <a:r>
              <a:rPr lang="ko-KR" altLang="en-US" dirty="0"/>
              <a:t>어떤 암에 대하여 초기상태에 발견될 경우 </a:t>
            </a:r>
            <a:r>
              <a:rPr lang="en-US" altLang="ko-KR" dirty="0"/>
              <a:t>5</a:t>
            </a:r>
            <a:r>
              <a:rPr lang="ko-KR" altLang="en-US" dirty="0"/>
              <a:t>년 후 생존율이 </a:t>
            </a:r>
            <a:r>
              <a:rPr lang="en-US" altLang="ko-KR" dirty="0"/>
              <a:t>80%</a:t>
            </a:r>
            <a:r>
              <a:rPr lang="ko-KR" altLang="en-US" dirty="0"/>
              <a:t>라고 한다</a:t>
            </a:r>
            <a:r>
              <a:rPr lang="en-US" altLang="ko-KR" dirty="0"/>
              <a:t>. 18</a:t>
            </a:r>
            <a:r>
              <a:rPr lang="ko-KR" altLang="en-US" dirty="0"/>
              <a:t>명의 암 초기 환자가 있다고 할 때 </a:t>
            </a:r>
            <a:r>
              <a:rPr lang="en-US" altLang="ko-KR" dirty="0"/>
              <a:t>5</a:t>
            </a:r>
            <a:r>
              <a:rPr lang="ko-KR" altLang="en-US" dirty="0"/>
              <a:t>년 후 생존자를 조사하였다</a:t>
            </a:r>
            <a:r>
              <a:rPr lang="en-US" altLang="ko-KR" dirty="0"/>
              <a:t>. </a:t>
            </a:r>
            <a:r>
              <a:rPr lang="ko-KR" altLang="en-US" dirty="0"/>
              <a:t>다음 확률은</a:t>
            </a:r>
            <a:r>
              <a:rPr lang="en-US" altLang="ko-KR" dirty="0"/>
              <a:t>?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1) 14</a:t>
            </a:r>
            <a:r>
              <a:rPr lang="ko-KR" altLang="en-US" dirty="0"/>
              <a:t>명의 환자가 살아있다</a:t>
            </a:r>
            <a:r>
              <a:rPr lang="en-US" altLang="ko-KR" dirty="0"/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2) 6</a:t>
            </a:r>
            <a:r>
              <a:rPr lang="ko-KR" altLang="en-US" dirty="0"/>
              <a:t>명 이상이 </a:t>
            </a:r>
            <a:r>
              <a:rPr lang="en-US" altLang="ko-KR" dirty="0"/>
              <a:t>5</a:t>
            </a:r>
            <a:r>
              <a:rPr lang="ko-KR" altLang="en-US" dirty="0"/>
              <a:t>년 이내 죽는다</a:t>
            </a:r>
            <a:r>
              <a:rPr lang="en-US" altLang="ko-KR" dirty="0"/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3) 9</a:t>
            </a:r>
            <a:r>
              <a:rPr lang="ko-KR" altLang="en-US" dirty="0"/>
              <a:t>명 이상 </a:t>
            </a:r>
            <a:r>
              <a:rPr lang="en-US" altLang="ko-KR" dirty="0"/>
              <a:t>13</a:t>
            </a:r>
            <a:r>
              <a:rPr lang="ko-KR" altLang="en-US" dirty="0"/>
              <a:t>명 이하 사람이 살아있다</a:t>
            </a:r>
            <a:r>
              <a:rPr lang="en-US" altLang="ko-KR" dirty="0"/>
              <a:t>.</a:t>
            </a:r>
          </a:p>
        </p:txBody>
      </p:sp>
      <p:sp>
        <p:nvSpPr>
          <p:cNvPr id="19459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533400"/>
          </a:xfrm>
          <a:noFill/>
        </p:spPr>
        <p:txBody>
          <a:bodyPr/>
          <a:lstStyle/>
          <a:p>
            <a:pPr eaLnBrk="1" hangingPunct="1"/>
            <a:r>
              <a:rPr lang="en-US" altLang="ko-KR" dirty="0"/>
              <a:t>EXCEL </a:t>
            </a:r>
            <a:r>
              <a:rPr lang="ko-KR" altLang="en-US" dirty="0"/>
              <a:t>연습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B4902B-8C25-464A-BA73-EFFEA8347DCD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706437"/>
          </a:xfrm>
        </p:spPr>
        <p:txBody>
          <a:bodyPr/>
          <a:lstStyle/>
          <a:p>
            <a:pPr eaLnBrk="1" hangingPunct="1"/>
            <a:r>
              <a:rPr lang="en-US" altLang="ko-KR" sz="3200" dirty="0"/>
              <a:t>4. </a:t>
            </a:r>
            <a:r>
              <a:rPr lang="ko-KR" altLang="en-US" sz="3200" dirty="0"/>
              <a:t>초기하분포</a:t>
            </a:r>
            <a:r>
              <a:rPr lang="en-US" altLang="ko-KR" sz="3200" dirty="0"/>
              <a:t>(hypergeometric distribution)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908720"/>
            <a:ext cx="8401050" cy="4911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ko-KR" altLang="en-US" dirty="0"/>
              <a:t>유한모집단에서 실험 결과는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r>
              <a:rPr lang="en-US" altLang="ko-KR" dirty="0"/>
              <a:t>(</a:t>
            </a:r>
            <a:r>
              <a:rPr lang="ko-KR" altLang="en-US" dirty="0"/>
              <a:t>성공</a:t>
            </a:r>
            <a:r>
              <a:rPr lang="en-US" altLang="ko-KR" dirty="0"/>
              <a:t>, </a:t>
            </a:r>
            <a:r>
              <a:rPr lang="ko-KR" altLang="en-US" dirty="0"/>
              <a:t>실패</a:t>
            </a:r>
            <a:r>
              <a:rPr lang="en-US" altLang="ko-KR" dirty="0"/>
              <a:t>)</a:t>
            </a:r>
            <a:r>
              <a:rPr lang="ko-KR" altLang="en-US" dirty="0"/>
              <a:t>이나 각 시행이 독립적이지 않을 때</a:t>
            </a:r>
            <a:endParaRPr lang="en-US" altLang="ko-KR" dirty="0"/>
          </a:p>
          <a:p>
            <a:pPr eaLnBrk="1" hangingPunct="1">
              <a:lnSpc>
                <a:spcPct val="90000"/>
              </a:lnSpc>
            </a:pPr>
            <a:endParaRPr lang="ko-KR" altLang="en-US" sz="1000" dirty="0"/>
          </a:p>
          <a:p>
            <a:pPr lvl="1" eaLnBrk="1" hangingPunct="1">
              <a:lnSpc>
                <a:spcPct val="90000"/>
              </a:lnSpc>
            </a:pPr>
            <a:r>
              <a:rPr lang="ko-KR" altLang="en-US" u="sng" dirty="0"/>
              <a:t>비복원추출</a:t>
            </a:r>
            <a:r>
              <a:rPr lang="en-US" altLang="ko-KR" dirty="0"/>
              <a:t>: </a:t>
            </a:r>
            <a:r>
              <a:rPr lang="ko-KR" altLang="en-US" dirty="0"/>
              <a:t>각 시행마다 성공할 확률이 다르다</a:t>
            </a:r>
            <a:r>
              <a:rPr lang="en-US" altLang="ko-KR" dirty="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dirty="0"/>
              <a:t>초기하분포는 유한모집단에서 비복원추출인 경우 </a:t>
            </a:r>
            <a:r>
              <a:rPr lang="ko-KR" altLang="en-US" u="sng" dirty="0"/>
              <a:t>확률변수 </a:t>
            </a:r>
            <a:r>
              <a:rPr lang="en-US" altLang="ko-KR" u="sng" dirty="0"/>
              <a:t>X</a:t>
            </a:r>
            <a:r>
              <a:rPr lang="ko-KR" altLang="en-US" dirty="0"/>
              <a:t>에 대한 확률을 구하는데 사용</a:t>
            </a:r>
            <a:endParaRPr lang="en-US" altLang="ko-KR" dirty="0"/>
          </a:p>
          <a:p>
            <a:pPr lvl="1" eaLnBrk="1" hangingPunct="1">
              <a:lnSpc>
                <a:spcPct val="90000"/>
              </a:lnSpc>
            </a:pPr>
            <a:r>
              <a:rPr lang="ko-KR" altLang="en-US" dirty="0"/>
              <a:t>확률변수 </a:t>
            </a:r>
            <a:r>
              <a:rPr lang="en-US" altLang="ko-KR" dirty="0"/>
              <a:t>X: n</a:t>
            </a:r>
            <a:r>
              <a:rPr lang="ko-KR" altLang="en-US" dirty="0"/>
              <a:t>회 시행 중 성공한 횟수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/>
              <a:t>N: </a:t>
            </a:r>
            <a:r>
              <a:rPr lang="ko-KR" altLang="en-US" dirty="0"/>
              <a:t>유한모집단의 크기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/>
              <a:t>n: </a:t>
            </a:r>
            <a:r>
              <a:rPr lang="ko-KR" altLang="en-US" dirty="0"/>
              <a:t>표본의 크기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/>
              <a:t>D: </a:t>
            </a:r>
            <a:r>
              <a:rPr lang="ko-KR" altLang="en-US" dirty="0"/>
              <a:t>모집단 내에서 범주 </a:t>
            </a:r>
            <a:r>
              <a:rPr lang="en-US" altLang="ko-KR" dirty="0"/>
              <a:t>A(</a:t>
            </a:r>
            <a:r>
              <a:rPr lang="ko-KR" altLang="en-US" dirty="0"/>
              <a:t>성공</a:t>
            </a:r>
            <a:r>
              <a:rPr lang="en-US" altLang="ko-KR" dirty="0"/>
              <a:t>)</a:t>
            </a:r>
            <a:r>
              <a:rPr lang="ko-KR" altLang="en-US" dirty="0"/>
              <a:t>에 속하는 구성원소의 수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/>
              <a:t>X: </a:t>
            </a:r>
            <a:r>
              <a:rPr lang="ko-KR" altLang="en-US" dirty="0"/>
              <a:t>표본 내에서 범주 </a:t>
            </a:r>
            <a:r>
              <a:rPr lang="en-US" altLang="ko-KR" dirty="0"/>
              <a:t>A(</a:t>
            </a:r>
            <a:r>
              <a:rPr lang="ko-KR" altLang="en-US" dirty="0"/>
              <a:t>성공</a:t>
            </a:r>
            <a:r>
              <a:rPr lang="en-US" altLang="ko-KR" dirty="0"/>
              <a:t>)</a:t>
            </a:r>
            <a:r>
              <a:rPr lang="ko-KR" altLang="en-US" dirty="0"/>
              <a:t>에 속하는 구성원소 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Line 4"/>
          <p:cNvSpPr>
            <a:spLocks noChangeShapeType="1"/>
          </p:cNvSpPr>
          <p:nvPr/>
        </p:nvSpPr>
        <p:spPr bwMode="auto">
          <a:xfrm>
            <a:off x="1042988" y="2133600"/>
            <a:ext cx="0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4" name="Line 5"/>
          <p:cNvSpPr>
            <a:spLocks noChangeShapeType="1"/>
          </p:cNvSpPr>
          <p:nvPr/>
        </p:nvSpPr>
        <p:spPr bwMode="auto">
          <a:xfrm>
            <a:off x="1042988" y="3429000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5" name="Line 6"/>
          <p:cNvSpPr>
            <a:spLocks noChangeShapeType="1"/>
          </p:cNvSpPr>
          <p:nvPr/>
        </p:nvSpPr>
        <p:spPr bwMode="auto">
          <a:xfrm flipV="1">
            <a:off x="2411413" y="2133600"/>
            <a:ext cx="0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6" name="AutoShape 8"/>
          <p:cNvSpPr>
            <a:spLocks noChangeArrowheads="1"/>
          </p:cNvSpPr>
          <p:nvPr/>
        </p:nvSpPr>
        <p:spPr bwMode="auto">
          <a:xfrm>
            <a:off x="1331913" y="1700213"/>
            <a:ext cx="2447925" cy="288925"/>
          </a:xfrm>
          <a:prstGeom prst="curvedDownArrow">
            <a:avLst>
              <a:gd name="adj1" fmla="val 169451"/>
              <a:gd name="adj2" fmla="val 338901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7" name="Text Box 9"/>
          <p:cNvSpPr txBox="1">
            <a:spLocks noChangeArrowheads="1"/>
          </p:cNvSpPr>
          <p:nvPr/>
        </p:nvSpPr>
        <p:spPr bwMode="auto">
          <a:xfrm>
            <a:off x="3059113" y="1989138"/>
            <a:ext cx="12239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/>
              <a:t>n</a:t>
            </a:r>
          </a:p>
        </p:txBody>
      </p:sp>
      <p:sp>
        <p:nvSpPr>
          <p:cNvPr id="5128" name="Text Box 10"/>
          <p:cNvSpPr>
            <a:spLocks noGrp="1" noChangeArrowheads="1"/>
          </p:cNvSpPr>
          <p:nvPr>
            <p:ph type="body" sz="half"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800"/>
              <a:t> </a:t>
            </a:r>
          </a:p>
        </p:txBody>
      </p:sp>
      <p:sp>
        <p:nvSpPr>
          <p:cNvPr id="5129" name="Text Box 11"/>
          <p:cNvSpPr txBox="1">
            <a:spLocks noChangeArrowheads="1"/>
          </p:cNvSpPr>
          <p:nvPr/>
        </p:nvSpPr>
        <p:spPr bwMode="auto">
          <a:xfrm>
            <a:off x="1258888" y="2349500"/>
            <a:ext cx="1223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/>
              <a:t>N</a:t>
            </a:r>
          </a:p>
        </p:txBody>
      </p:sp>
      <p:sp>
        <p:nvSpPr>
          <p:cNvPr id="5130" name="Text Box 12"/>
          <p:cNvSpPr txBox="1">
            <a:spLocks noChangeArrowheads="1"/>
          </p:cNvSpPr>
          <p:nvPr/>
        </p:nvSpPr>
        <p:spPr bwMode="auto">
          <a:xfrm>
            <a:off x="4140200" y="1700213"/>
            <a:ext cx="273685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/>
              <a:t>x  ∈ D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 sz="2800"/>
              <a:t>n-x ∈ N-D</a:t>
            </a:r>
          </a:p>
        </p:txBody>
      </p:sp>
      <p:sp>
        <p:nvSpPr>
          <p:cNvPr id="5131" name="AutoShape 13"/>
          <p:cNvSpPr>
            <a:spLocks/>
          </p:cNvSpPr>
          <p:nvPr/>
        </p:nvSpPr>
        <p:spPr bwMode="auto">
          <a:xfrm>
            <a:off x="3924300" y="1916113"/>
            <a:ext cx="142875" cy="865187"/>
          </a:xfrm>
          <a:prstGeom prst="leftBrace">
            <a:avLst>
              <a:gd name="adj1" fmla="val 5046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graphicFrame>
        <p:nvGraphicFramePr>
          <p:cNvPr id="5122" name="Object 1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8933001"/>
              </p:ext>
            </p:extLst>
          </p:nvPr>
        </p:nvGraphicFramePr>
        <p:xfrm>
          <a:off x="802879" y="3861048"/>
          <a:ext cx="6674642" cy="18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7" name="수식" r:id="rId3" imgW="3390840" imgH="914400" progId="Equation.3">
                  <p:embed/>
                </p:oleObj>
              </mc:Choice>
              <mc:Fallback>
                <p:oleObj name="수식" r:id="rId3" imgW="3390840" imgH="914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879" y="3861048"/>
                        <a:ext cx="6674642" cy="18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Rectangle 17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ko-KR" sz="3200"/>
              <a:t>4. </a:t>
            </a:r>
            <a:r>
              <a:rPr lang="ko-KR" altLang="en-US" sz="3200"/>
              <a:t>초기하분포</a:t>
            </a:r>
            <a:r>
              <a:rPr lang="en-US" altLang="ko-KR" sz="3200"/>
              <a:t>(hypergeometric distribution)</a:t>
            </a:r>
          </a:p>
        </p:txBody>
      </p:sp>
      <p:sp>
        <p:nvSpPr>
          <p:cNvPr id="5133" name="Text Box 18"/>
          <p:cNvSpPr txBox="1">
            <a:spLocks noChangeArrowheads="1"/>
          </p:cNvSpPr>
          <p:nvPr/>
        </p:nvSpPr>
        <p:spPr bwMode="auto">
          <a:xfrm>
            <a:off x="1763713" y="2060575"/>
            <a:ext cx="273685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/>
              <a:t> D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 sz="2800"/>
              <a:t> N-D</a:t>
            </a:r>
          </a:p>
        </p:txBody>
      </p:sp>
      <p:sp>
        <p:nvSpPr>
          <p:cNvPr id="5134" name="AutoShape 19"/>
          <p:cNvSpPr>
            <a:spLocks/>
          </p:cNvSpPr>
          <p:nvPr/>
        </p:nvSpPr>
        <p:spPr bwMode="auto">
          <a:xfrm>
            <a:off x="1692275" y="2276475"/>
            <a:ext cx="142875" cy="865188"/>
          </a:xfrm>
          <a:prstGeom prst="leftBrace">
            <a:avLst>
              <a:gd name="adj1" fmla="val 5046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549275"/>
            <a:ext cx="8218487" cy="4784725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(</a:t>
            </a:r>
            <a:r>
              <a:rPr lang="ko-KR" altLang="en-US" sz="2800" dirty="0"/>
              <a:t>예제</a:t>
            </a:r>
            <a:r>
              <a:rPr lang="en-US" altLang="ko-KR" sz="2800" dirty="0"/>
              <a:t>8) </a:t>
            </a:r>
            <a:r>
              <a:rPr lang="ko-KR" altLang="en-US" sz="2800" dirty="0"/>
              <a:t>어느 자동차 회사 제품 각 영업소에 보낸 </a:t>
            </a:r>
            <a:r>
              <a:rPr lang="en-US" altLang="ko-KR" sz="2800" dirty="0"/>
              <a:t>48</a:t>
            </a:r>
            <a:r>
              <a:rPr lang="ko-KR" altLang="en-US" sz="2800" dirty="0"/>
              <a:t>대 중 </a:t>
            </a:r>
            <a:r>
              <a:rPr lang="en-US" altLang="ko-KR" sz="2800" dirty="0"/>
              <a:t>12</a:t>
            </a:r>
            <a:r>
              <a:rPr lang="ko-KR" altLang="en-US" sz="2800" dirty="0"/>
              <a:t>대가 라디오 불량</a:t>
            </a:r>
            <a:r>
              <a:rPr lang="en-US" altLang="ko-KR" sz="2800" dirty="0"/>
              <a:t>. </a:t>
            </a:r>
            <a:r>
              <a:rPr lang="ko-KR" altLang="en-US" sz="2800" dirty="0"/>
              <a:t>어느 영업소가 </a:t>
            </a:r>
            <a:r>
              <a:rPr lang="en-US" altLang="ko-KR" sz="2800" dirty="0"/>
              <a:t>8</a:t>
            </a:r>
            <a:r>
              <a:rPr lang="ko-KR" altLang="en-US" sz="2800" dirty="0"/>
              <a:t>대를 인수했는데 이 중에 라디오가 불량인 차가 적어도 </a:t>
            </a:r>
            <a:r>
              <a:rPr lang="en-US" altLang="ko-KR" sz="2800" dirty="0"/>
              <a:t>1</a:t>
            </a:r>
            <a:r>
              <a:rPr lang="ko-KR" altLang="en-US" sz="2800" dirty="0"/>
              <a:t>대 이상일 확률은</a:t>
            </a:r>
            <a:r>
              <a:rPr lang="en-US" altLang="ko-KR" sz="2800" dirty="0"/>
              <a:t>?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   </a:t>
            </a:r>
            <a:r>
              <a:rPr lang="ko-KR" altLang="en-US" sz="2800" dirty="0"/>
              <a:t>수식</a:t>
            </a:r>
            <a:r>
              <a:rPr lang="en-US" altLang="ko-KR" sz="2800" dirty="0"/>
              <a:t>=&gt; </a:t>
            </a:r>
            <a:r>
              <a:rPr lang="ko-KR" altLang="en-US" sz="2800" dirty="0"/>
              <a:t>함수</a:t>
            </a:r>
            <a:r>
              <a:rPr lang="en-US" altLang="ko-KR" sz="2800" dirty="0"/>
              <a:t>=&gt;HYPGEOM.DIST=&gt;</a:t>
            </a:r>
            <a:r>
              <a:rPr lang="en-US" altLang="ko-KR" sz="2800" dirty="0" err="1"/>
              <a:t>x,n,D,N</a:t>
            </a:r>
            <a:r>
              <a:rPr lang="ko-KR" altLang="en-US" sz="2800" dirty="0"/>
              <a:t>입력</a:t>
            </a:r>
          </a:p>
        </p:txBody>
      </p:sp>
      <p:graphicFrame>
        <p:nvGraphicFramePr>
          <p:cNvPr id="6146" name="Object 0"/>
          <p:cNvGraphicFramePr>
            <a:graphicFrameLocks noGrp="1" noChangeAspect="1"/>
          </p:cNvGraphicFramePr>
          <p:nvPr>
            <p:ph sz="half" idx="2"/>
          </p:nvPr>
        </p:nvGraphicFramePr>
        <p:xfrm>
          <a:off x="838200" y="3048000"/>
          <a:ext cx="40386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" name="Equation" r:id="rId3" imgW="1485720" imgH="203040" progId="Equation.3">
                  <p:embed/>
                </p:oleObj>
              </mc:Choice>
              <mc:Fallback>
                <p:oleObj name="Equation" r:id="rId3" imgW="1485720" imgH="203040" progId="Equation.3">
                  <p:embed/>
                  <p:pic>
                    <p:nvPicPr>
                      <p:cNvPr id="6146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048000"/>
                        <a:ext cx="40386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402849E2-5085-40A7-9EDD-619DB5D6D76B}"/>
              </a:ext>
            </a:extLst>
          </p:cNvPr>
          <p:cNvSpPr/>
          <p:nvPr/>
        </p:nvSpPr>
        <p:spPr>
          <a:xfrm>
            <a:off x="683568" y="6573087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53F47B7-6BE4-4492-B218-333AA36E06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21" y="3746623"/>
            <a:ext cx="3699543" cy="24541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6632"/>
            <a:ext cx="7772400" cy="392088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chemeClr val="accent2"/>
                </a:solidFill>
              </a:rPr>
              <a:t>5. </a:t>
            </a:r>
            <a:r>
              <a:rPr lang="ko-KR" altLang="en-US" dirty="0" err="1">
                <a:solidFill>
                  <a:schemeClr val="accent2"/>
                </a:solidFill>
              </a:rPr>
              <a:t>포아송분포</a:t>
            </a:r>
            <a:r>
              <a:rPr lang="en-US" altLang="ko-KR" dirty="0">
                <a:solidFill>
                  <a:schemeClr val="accent2"/>
                </a:solidFill>
              </a:rPr>
              <a:t>(Poisson distribution)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692696"/>
            <a:ext cx="8208912" cy="5105400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연속된 시간 상에 매 순간마다 사건 발생이 가능하나 매 순간의 사건 발생 확률은 아주 작은 경우</a:t>
            </a:r>
            <a:r>
              <a:rPr lang="en-US" altLang="ko-KR" sz="2800" dirty="0"/>
              <a:t>=&gt;</a:t>
            </a:r>
            <a:r>
              <a:rPr lang="ko-KR" altLang="en-US" sz="2800" dirty="0"/>
              <a:t>이항분포로 설명하기 어려움</a:t>
            </a:r>
            <a:r>
              <a:rPr lang="en-US" altLang="ko-KR" sz="2800" dirty="0"/>
              <a:t>.=&gt;</a:t>
            </a:r>
            <a:r>
              <a:rPr lang="ko-KR" altLang="en-US" sz="2800" dirty="0" err="1"/>
              <a:t>포아송분포</a:t>
            </a:r>
            <a:endParaRPr lang="en-US" altLang="ko-KR" sz="2800" dirty="0"/>
          </a:p>
          <a:p>
            <a:pPr eaLnBrk="1" hangingPunct="1"/>
            <a:endParaRPr lang="ko-KR" altLang="en-US" sz="1200" dirty="0"/>
          </a:p>
          <a:p>
            <a:pPr eaLnBrk="1" hangingPunct="1"/>
            <a:r>
              <a:rPr lang="ko-KR" altLang="en-US" sz="2800" dirty="0"/>
              <a:t>단위면적</a:t>
            </a:r>
            <a:r>
              <a:rPr lang="en-US" altLang="ko-KR" sz="2800" dirty="0"/>
              <a:t>, </a:t>
            </a:r>
            <a:r>
              <a:rPr lang="ko-KR" altLang="en-US" sz="2800" dirty="0"/>
              <a:t>단위시간</a:t>
            </a:r>
            <a:r>
              <a:rPr lang="en-US" altLang="ko-KR" sz="2800" dirty="0"/>
              <a:t>, </a:t>
            </a:r>
            <a:r>
              <a:rPr lang="ko-KR" altLang="en-US" sz="2800" dirty="0"/>
              <a:t>또는 단위공간에서 발생되는 특정 사건의 수에 대한 발생 확률을 구함    </a:t>
            </a:r>
            <a:r>
              <a:rPr lang="en-US" altLang="ko-KR" sz="2800" dirty="0"/>
              <a:t>=&gt; </a:t>
            </a:r>
            <a:r>
              <a:rPr lang="ko-KR" altLang="en-US" sz="2800" dirty="0"/>
              <a:t>평균 발생 횟수를 이용하여 확률분포를 구함</a:t>
            </a:r>
            <a:r>
              <a:rPr lang="en-US" altLang="ko-KR" sz="2800" dirty="0"/>
              <a:t>.</a:t>
            </a:r>
            <a:endParaRPr lang="ko-KR" altLang="en-US" sz="2800" dirty="0"/>
          </a:p>
          <a:p>
            <a:pPr lvl="1" eaLnBrk="1" hangingPunct="1"/>
            <a:r>
              <a:rPr lang="ko-KR" altLang="en-US" sz="2400" dirty="0"/>
              <a:t>일주일 동안 고속도로에서 발생하는 사건의 수</a:t>
            </a:r>
          </a:p>
          <a:p>
            <a:pPr lvl="1" eaLnBrk="1" hangingPunct="1"/>
            <a:r>
              <a:rPr lang="en-US" altLang="ko-KR" sz="2400" dirty="0"/>
              <a:t>119</a:t>
            </a:r>
            <a:r>
              <a:rPr lang="ko-KR" altLang="en-US" sz="2400" dirty="0"/>
              <a:t>구조대에 시간당 걸려오는 전화횟수</a:t>
            </a:r>
          </a:p>
          <a:p>
            <a:pPr lvl="1" eaLnBrk="1" hangingPunct="1"/>
            <a:r>
              <a:rPr lang="en-US" altLang="ko-KR" sz="2400" dirty="0"/>
              <a:t>1</a:t>
            </a:r>
            <a:r>
              <a:rPr lang="ko-KR" altLang="en-US" sz="2400" dirty="0"/>
              <a:t>시간 동안 식품점에 들어오는 고객의 수</a:t>
            </a:r>
          </a:p>
          <a:p>
            <a:pPr lvl="1" eaLnBrk="1" hangingPunct="1"/>
            <a:r>
              <a:rPr lang="ko-KR" altLang="en-US" sz="2400" dirty="0"/>
              <a:t>새 자동차의 품질 검사에서 발견된 표면 결함의 수</a:t>
            </a:r>
          </a:p>
          <a:p>
            <a:pPr lvl="1" eaLnBrk="1" hangingPunct="1"/>
            <a:r>
              <a:rPr lang="ko-KR" altLang="en-US" sz="2400" dirty="0"/>
              <a:t>한 야구 경기에서 실책의 수</a:t>
            </a:r>
            <a:endParaRPr lang="en-US" altLang="ko-KR" sz="2400" dirty="0"/>
          </a:p>
          <a:p>
            <a:pPr lvl="1" eaLnBrk="1" hangingPunct="1"/>
            <a:r>
              <a:rPr lang="ko-KR" altLang="en-US" sz="2400" dirty="0"/>
              <a:t>프러시아 기병 중 매년 말에 머리를 차여 사망하는 병사의 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CB376F-9BF7-44CF-8482-CD960370330D}"/>
              </a:ext>
            </a:extLst>
          </p:cNvPr>
          <p:cNvSpPr/>
          <p:nvPr/>
        </p:nvSpPr>
        <p:spPr>
          <a:xfrm>
            <a:off x="3809485" y="6495147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Rectangle 1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ko-KR"/>
              <a:t>5. </a:t>
            </a:r>
            <a:r>
              <a:rPr lang="ko-KR" altLang="en-US"/>
              <a:t>포아송분포</a:t>
            </a:r>
            <a:r>
              <a:rPr lang="en-US" altLang="ko-KR"/>
              <a:t>(Poisson distribution)</a:t>
            </a:r>
          </a:p>
        </p:txBody>
      </p:sp>
      <p:sp>
        <p:nvSpPr>
          <p:cNvPr id="717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41438"/>
            <a:ext cx="7715250" cy="4784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</a:t>
            </a:r>
            <a:r>
              <a:rPr lang="en-US" altLang="ko-KR" sz="2800" dirty="0"/>
              <a:t>- </a:t>
            </a:r>
            <a:r>
              <a:rPr lang="ko-KR" altLang="en-US" sz="2800" dirty="0"/>
              <a:t>확률변수 </a:t>
            </a:r>
            <a:r>
              <a:rPr lang="en-US" altLang="ko-KR" sz="2800" dirty="0"/>
              <a:t>X</a:t>
            </a:r>
            <a:r>
              <a:rPr lang="ko-KR" altLang="en-US" sz="2800" dirty="0"/>
              <a:t>가 </a:t>
            </a:r>
            <a:r>
              <a:rPr lang="ko-KR" altLang="en-US" sz="2800" dirty="0" err="1"/>
              <a:t>모수</a:t>
            </a:r>
            <a:r>
              <a:rPr lang="ko-KR" altLang="en-US" sz="2800" dirty="0"/>
              <a:t>       인 </a:t>
            </a:r>
            <a:r>
              <a:rPr lang="ko-KR" altLang="en-US" sz="2800" dirty="0" err="1"/>
              <a:t>포아송분포일</a:t>
            </a:r>
            <a:r>
              <a:rPr lang="ko-KR" altLang="en-US" sz="2800" dirty="0"/>
              <a:t> 때 </a:t>
            </a:r>
          </a:p>
          <a:p>
            <a:pPr eaLnBrk="1" hangingPunct="1">
              <a:buFont typeface="Wingdings" pitchFamily="2" charset="2"/>
              <a:buNone/>
            </a:pPr>
            <a:endParaRPr lang="ko-KR" altLang="en-US" sz="2800" dirty="0"/>
          </a:p>
          <a:p>
            <a:pPr eaLnBrk="1" hangingPunct="1">
              <a:buFont typeface="Wingdings" pitchFamily="2" charset="2"/>
              <a:buNone/>
            </a:pPr>
            <a:endParaRPr lang="ko-KR" altLang="en-US" sz="2800" dirty="0"/>
          </a:p>
          <a:p>
            <a:pPr eaLnBrk="1" hangingPunct="1">
              <a:buFont typeface="Wingdings" pitchFamily="2" charset="2"/>
              <a:buNone/>
            </a:pPr>
            <a:endParaRPr lang="ko-KR" altLang="en-US" sz="2800" dirty="0"/>
          </a:p>
          <a:p>
            <a:pPr eaLnBrk="1" hangingPunct="1">
              <a:buFont typeface="Wingdings" pitchFamily="2" charset="2"/>
              <a:buNone/>
            </a:pPr>
            <a:r>
              <a:rPr lang="ko-KR" altLang="en-US" sz="2800" dirty="0"/>
              <a:t>    여기서        는 단위시간</a:t>
            </a:r>
            <a:r>
              <a:rPr lang="en-US" altLang="ko-KR" sz="2800" dirty="0"/>
              <a:t>, </a:t>
            </a:r>
            <a:r>
              <a:rPr lang="ko-KR" altLang="en-US" sz="2800" dirty="0"/>
              <a:t>단위면적</a:t>
            </a:r>
            <a:r>
              <a:rPr lang="en-US" altLang="ko-KR" sz="2800" dirty="0"/>
              <a:t>, </a:t>
            </a:r>
            <a:r>
              <a:rPr lang="ko-KR" altLang="en-US" sz="2800" dirty="0"/>
              <a:t>또는 </a:t>
            </a:r>
            <a:r>
              <a:rPr lang="ko-KR" altLang="en-US" sz="2800" u="sng" dirty="0"/>
              <a:t>단위공간에서 발생하는 사건 수의 평균</a:t>
            </a:r>
            <a:r>
              <a:rPr lang="ko-KR" altLang="en-US" sz="2800" dirty="0"/>
              <a:t>이다</a:t>
            </a:r>
            <a:r>
              <a:rPr lang="en-US" altLang="ko-KR" sz="2800" dirty="0"/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	X ~ Poisson(  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    </a:t>
            </a:r>
            <a:r>
              <a:rPr lang="ko-KR" altLang="en-US" sz="2800" dirty="0"/>
              <a:t>평균 </a:t>
            </a:r>
            <a:r>
              <a:rPr lang="en-US" altLang="ko-KR" sz="2800" dirty="0"/>
              <a:t>: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    </a:t>
            </a:r>
            <a:r>
              <a:rPr lang="ko-KR" altLang="en-US" sz="2800" dirty="0"/>
              <a:t>분산 </a:t>
            </a:r>
            <a:r>
              <a:rPr lang="en-US" altLang="ko-KR" sz="2800" dirty="0"/>
              <a:t>: </a:t>
            </a:r>
          </a:p>
        </p:txBody>
      </p:sp>
      <p:graphicFrame>
        <p:nvGraphicFramePr>
          <p:cNvPr id="7170" name="Object 102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051050" y="5516563"/>
          <a:ext cx="4318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2" name="Equation" r:id="rId3" imgW="164880" imgH="139680" progId="Equation.3">
                  <p:embed/>
                </p:oleObj>
              </mc:Choice>
              <mc:Fallback>
                <p:oleObj name="Equation" r:id="rId3" imgW="164880" imgH="13968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516563"/>
                        <a:ext cx="4318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1025"/>
          <p:cNvGraphicFramePr>
            <a:graphicFrameLocks noChangeAspect="1"/>
          </p:cNvGraphicFramePr>
          <p:nvPr/>
        </p:nvGraphicFramePr>
        <p:xfrm>
          <a:off x="1490663" y="2205038"/>
          <a:ext cx="5684837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3" name="Equation" r:id="rId5" imgW="2527200" imgH="419040" progId="Equation.3">
                  <p:embed/>
                </p:oleObj>
              </mc:Choice>
              <mc:Fallback>
                <p:oleObj name="Equation" r:id="rId5" imgW="2527200" imgH="41904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663" y="2205038"/>
                        <a:ext cx="5684837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1026"/>
          <p:cNvGraphicFramePr>
            <a:graphicFrameLocks noChangeAspect="1"/>
          </p:cNvGraphicFramePr>
          <p:nvPr/>
        </p:nvGraphicFramePr>
        <p:xfrm>
          <a:off x="4211638" y="1484313"/>
          <a:ext cx="48418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4" name="Equation" r:id="rId7" imgW="164880" imgH="139680" progId="Equation.3">
                  <p:embed/>
                </p:oleObj>
              </mc:Choice>
              <mc:Fallback>
                <p:oleObj name="Equation" r:id="rId7" imgW="164880" imgH="139680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1484313"/>
                        <a:ext cx="484187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1027"/>
          <p:cNvGraphicFramePr>
            <a:graphicFrameLocks noChangeAspect="1"/>
          </p:cNvGraphicFramePr>
          <p:nvPr/>
        </p:nvGraphicFramePr>
        <p:xfrm>
          <a:off x="2051050" y="5013325"/>
          <a:ext cx="4841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5" name="Equation" r:id="rId8" imgW="164880" imgH="139680" progId="Equation.3">
                  <p:embed/>
                </p:oleObj>
              </mc:Choice>
              <mc:Fallback>
                <p:oleObj name="Equation" r:id="rId8" imgW="164880" imgH="139680" progId="Equation.3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013325"/>
                        <a:ext cx="484188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102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411413" y="3573463"/>
          <a:ext cx="4318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6" name="Equation" r:id="rId9" imgW="164880" imgH="139680" progId="Equation.3">
                  <p:embed/>
                </p:oleObj>
              </mc:Choice>
              <mc:Fallback>
                <p:oleObj name="Equation" r:id="rId9" imgW="164880" imgH="13968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573463"/>
                        <a:ext cx="4318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1029"/>
          <p:cNvGraphicFramePr>
            <a:graphicFrameLocks noChangeAspect="1"/>
          </p:cNvGraphicFramePr>
          <p:nvPr/>
        </p:nvGraphicFramePr>
        <p:xfrm>
          <a:off x="2987675" y="4508500"/>
          <a:ext cx="4318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7" name="Equation" r:id="rId10" imgW="164880" imgH="139680" progId="Equation.3">
                  <p:embed/>
                </p:oleObj>
              </mc:Choice>
              <mc:Fallback>
                <p:oleObj name="Equation" r:id="rId10" imgW="164880" imgH="139680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508500"/>
                        <a:ext cx="4318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88640"/>
            <a:ext cx="7772400" cy="51054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(</a:t>
            </a:r>
            <a:r>
              <a:rPr lang="ko-KR" altLang="en-US" dirty="0"/>
              <a:t>예제</a:t>
            </a:r>
            <a:r>
              <a:rPr lang="en-US" altLang="ko-KR" dirty="0"/>
              <a:t>9) </a:t>
            </a:r>
            <a:r>
              <a:rPr lang="ko-KR" altLang="en-US" dirty="0"/>
              <a:t>백화점 한달 평균 </a:t>
            </a:r>
            <a:r>
              <a:rPr lang="en-US" altLang="ko-KR" dirty="0"/>
              <a:t>TV </a:t>
            </a:r>
            <a:r>
              <a:rPr lang="ko-KR" altLang="en-US" dirty="0"/>
              <a:t>판매 수가 </a:t>
            </a:r>
            <a:r>
              <a:rPr lang="en-US" altLang="ko-KR" dirty="0"/>
              <a:t>12.7</a:t>
            </a:r>
            <a:r>
              <a:rPr lang="ko-KR" altLang="en-US" dirty="0"/>
              <a:t>대이다</a:t>
            </a:r>
            <a:r>
              <a:rPr lang="en-US" altLang="ko-KR" dirty="0"/>
              <a:t>. </a:t>
            </a:r>
            <a:r>
              <a:rPr lang="ko-KR" altLang="en-US" dirty="0"/>
              <a:t>다음 달에 </a:t>
            </a:r>
            <a:r>
              <a:rPr lang="en-US" altLang="ko-KR" dirty="0"/>
              <a:t>9</a:t>
            </a:r>
            <a:r>
              <a:rPr lang="ko-KR" altLang="en-US" dirty="0"/>
              <a:t>대의 </a:t>
            </a:r>
            <a:r>
              <a:rPr lang="en-US" altLang="ko-KR" dirty="0"/>
              <a:t>TV</a:t>
            </a:r>
            <a:r>
              <a:rPr lang="ko-KR" altLang="en-US" dirty="0"/>
              <a:t>가 팔릴 확률은</a:t>
            </a:r>
            <a:r>
              <a:rPr lang="en-US" altLang="ko-KR" dirty="0"/>
              <a:t>?</a:t>
            </a:r>
          </a:p>
          <a:p>
            <a:pPr eaLnBrk="1" hangingPunct="1">
              <a:buNone/>
            </a:pPr>
            <a:r>
              <a:rPr lang="ko-KR" altLang="en-US" dirty="0"/>
              <a:t>   수식</a:t>
            </a:r>
            <a:r>
              <a:rPr lang="en-US" altLang="ko-KR" dirty="0"/>
              <a:t>=&gt;</a:t>
            </a:r>
            <a:r>
              <a:rPr lang="ko-KR" altLang="en-US" dirty="0"/>
              <a:t>함수</a:t>
            </a:r>
            <a:r>
              <a:rPr lang="en-US" altLang="ko-KR" dirty="0"/>
              <a:t>=&gt;</a:t>
            </a:r>
            <a:r>
              <a:rPr lang="ko-KR" altLang="en-US" dirty="0"/>
              <a:t>통계</a:t>
            </a:r>
            <a:r>
              <a:rPr lang="en-US" altLang="ko-KR" dirty="0"/>
              <a:t>=&gt;POISSON.DIST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 dirty="0"/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     =12.7,   X=9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   </a:t>
            </a:r>
            <a:endParaRPr lang="en-US" altLang="ko-KR" sz="2800" dirty="0"/>
          </a:p>
        </p:txBody>
      </p:sp>
      <p:graphicFrame>
        <p:nvGraphicFramePr>
          <p:cNvPr id="8194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329937"/>
              </p:ext>
            </p:extLst>
          </p:nvPr>
        </p:nvGraphicFramePr>
        <p:xfrm>
          <a:off x="1429718" y="2740204"/>
          <a:ext cx="495935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6" name="Equation" r:id="rId3" imgW="2082600" imgH="419040" progId="Equation.3">
                  <p:embed/>
                </p:oleObj>
              </mc:Choice>
              <mc:Fallback>
                <p:oleObj name="Equation" r:id="rId3" imgW="2082600" imgH="41904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718" y="2740204"/>
                        <a:ext cx="4959350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10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678319"/>
              </p:ext>
            </p:extLst>
          </p:nvPr>
        </p:nvGraphicFramePr>
        <p:xfrm>
          <a:off x="1187624" y="4210648"/>
          <a:ext cx="4841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" name="Equation" r:id="rId5" imgW="164880" imgH="139680" progId="Equation.3">
                  <p:embed/>
                </p:oleObj>
              </mc:Choice>
              <mc:Fallback>
                <p:oleObj name="Equation" r:id="rId5" imgW="164880" imgH="13968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4210648"/>
                        <a:ext cx="484188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10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4034891"/>
              </p:ext>
            </p:extLst>
          </p:nvPr>
        </p:nvGraphicFramePr>
        <p:xfrm>
          <a:off x="1588120" y="4869160"/>
          <a:ext cx="53340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" name="Equation" r:id="rId7" imgW="2070000" imgH="419040" progId="Equation.3">
                  <p:embed/>
                </p:oleObj>
              </mc:Choice>
              <mc:Fallback>
                <p:oleObj name="Equation" r:id="rId7" imgW="2070000" imgH="419040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120" y="4869160"/>
                        <a:ext cx="53340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549275"/>
            <a:ext cx="8229600" cy="4784725"/>
          </a:xfrm>
        </p:spPr>
        <p:txBody>
          <a:bodyPr/>
          <a:lstStyle/>
          <a:p>
            <a:pPr eaLnBrk="1" hangingPunct="1"/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10) </a:t>
            </a:r>
            <a:r>
              <a:rPr lang="ko-KR" altLang="en-US" dirty="0"/>
              <a:t>초등학교에서 </a:t>
            </a:r>
            <a:r>
              <a:rPr lang="en-US" altLang="ko-KR" dirty="0"/>
              <a:t>10</a:t>
            </a:r>
            <a:r>
              <a:rPr lang="ko-KR" altLang="en-US" dirty="0"/>
              <a:t>년간 조사</a:t>
            </a:r>
            <a:r>
              <a:rPr lang="en-US" altLang="ko-KR" dirty="0"/>
              <a:t>, </a:t>
            </a:r>
            <a:r>
              <a:rPr lang="ko-KR" altLang="en-US" dirty="0"/>
              <a:t>평균 </a:t>
            </a:r>
            <a:r>
              <a:rPr lang="en-US" altLang="ko-KR" dirty="0"/>
              <a:t>4%</a:t>
            </a:r>
            <a:r>
              <a:rPr lang="ko-KR" altLang="en-US" dirty="0"/>
              <a:t>가 색맹</a:t>
            </a:r>
            <a:r>
              <a:rPr lang="en-US" altLang="ko-KR" dirty="0"/>
              <a:t>. </a:t>
            </a:r>
            <a:r>
              <a:rPr lang="ko-KR" altLang="en-US" dirty="0"/>
              <a:t>임의로 추출한 </a:t>
            </a:r>
            <a:r>
              <a:rPr lang="en-US" altLang="ko-KR" dirty="0"/>
              <a:t>200</a:t>
            </a:r>
            <a:r>
              <a:rPr lang="ko-KR" altLang="en-US" dirty="0"/>
              <a:t>명 학생 중 색맹인 학생의 수가 </a:t>
            </a:r>
            <a:r>
              <a:rPr lang="en-US" altLang="ko-KR" dirty="0"/>
              <a:t>10</a:t>
            </a:r>
            <a:r>
              <a:rPr lang="ko-KR" altLang="en-US" dirty="0"/>
              <a:t>명 이하일 확률은</a:t>
            </a:r>
            <a:r>
              <a:rPr lang="en-US" altLang="ko-KR" dirty="0"/>
              <a:t>? p(X&lt;=10)=?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</a:t>
            </a:r>
            <a:r>
              <a:rPr lang="ko-KR" altLang="en-US" dirty="0"/>
              <a:t>확률변수 </a:t>
            </a:r>
            <a:r>
              <a:rPr lang="en-US" altLang="ko-KR" dirty="0"/>
              <a:t>X:  200</a:t>
            </a:r>
            <a:r>
              <a:rPr lang="ko-KR" altLang="en-US" dirty="0"/>
              <a:t>명 중 색맹인 학생 수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	</a:t>
            </a:r>
            <a:r>
              <a:rPr lang="en-US" altLang="ko-KR" dirty="0"/>
              <a:t>1) X ~ B(200, 0.04)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2) X ~ Poisson(8), m=np=200*0.04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328F07-4CB1-451A-958B-2DA1D7A73558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93348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ko-KR" dirty="0"/>
              <a:t>EXCEL </a:t>
            </a:r>
            <a:r>
              <a:rPr lang="ko-KR" altLang="en-US" dirty="0"/>
              <a:t>연습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67144"/>
            <a:ext cx="7772400" cy="5029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11) </a:t>
            </a:r>
            <a:r>
              <a:rPr lang="ko-KR" altLang="en-US" dirty="0"/>
              <a:t>대학생이 한 달간 도서관에서 대여하는 책의 평균은 </a:t>
            </a:r>
            <a:r>
              <a:rPr lang="en-US" altLang="ko-KR" dirty="0"/>
              <a:t>2.7</a:t>
            </a:r>
            <a:r>
              <a:rPr lang="ko-KR" altLang="en-US" dirty="0"/>
              <a:t>권이다</a:t>
            </a:r>
            <a:r>
              <a:rPr lang="en-US" altLang="ko-KR" dirty="0"/>
              <a:t>. </a:t>
            </a:r>
            <a:r>
              <a:rPr lang="ko-KR" altLang="en-US" dirty="0"/>
              <a:t>어떤 학생이 다음 한달 동안 책 </a:t>
            </a:r>
            <a:r>
              <a:rPr lang="en-US" altLang="ko-KR" dirty="0"/>
              <a:t>0</a:t>
            </a:r>
            <a:r>
              <a:rPr lang="ko-KR" altLang="en-US" dirty="0"/>
              <a:t>에서 </a:t>
            </a:r>
            <a:r>
              <a:rPr lang="en-US" altLang="ko-KR" dirty="0"/>
              <a:t>9</a:t>
            </a:r>
            <a:r>
              <a:rPr lang="ko-KR" altLang="en-US" dirty="0"/>
              <a:t>권 까지 빌릴 확률을 구하고 히스토그램을 구하라</a:t>
            </a:r>
            <a:r>
              <a:rPr lang="en-US" altLang="ko-KR" dirty="0"/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1) 0 </a:t>
            </a:r>
            <a:r>
              <a:rPr lang="en-US" altLang="ko-KR" dirty="0">
                <a:latin typeface="Arial" charset="0"/>
              </a:rPr>
              <a:t>–</a:t>
            </a:r>
            <a:r>
              <a:rPr lang="en-US" altLang="ko-KR" dirty="0"/>
              <a:t> 9</a:t>
            </a:r>
            <a:r>
              <a:rPr lang="ko-KR" altLang="en-US" dirty="0"/>
              <a:t>까지 </a:t>
            </a:r>
            <a:r>
              <a:rPr lang="en-US" altLang="ko-KR" dirty="0"/>
              <a:t>Excel </a:t>
            </a:r>
            <a:r>
              <a:rPr lang="ko-KR" altLang="en-US" dirty="0"/>
              <a:t>창에 입력</a:t>
            </a:r>
            <a:r>
              <a:rPr lang="en-US" altLang="ko-KR" dirty="0"/>
              <a:t>, </a:t>
            </a:r>
            <a:r>
              <a:rPr lang="ko-KR" altLang="en-US" dirty="0"/>
              <a:t>평균입력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 </a:t>
            </a:r>
            <a:r>
              <a:rPr lang="en-US" altLang="ko-KR" dirty="0"/>
              <a:t>2) </a:t>
            </a:r>
            <a:r>
              <a:rPr lang="ko-KR" altLang="en-US" dirty="0"/>
              <a:t>수식</a:t>
            </a:r>
            <a:r>
              <a:rPr lang="en-US" altLang="ko-KR" dirty="0"/>
              <a:t>=&gt;</a:t>
            </a:r>
            <a:r>
              <a:rPr lang="ko-KR" altLang="en-US" dirty="0"/>
              <a:t>함수</a:t>
            </a:r>
            <a:r>
              <a:rPr lang="en-US" altLang="ko-KR" dirty="0"/>
              <a:t>=&gt;</a:t>
            </a:r>
            <a:r>
              <a:rPr lang="ko-KR" altLang="en-US" dirty="0"/>
              <a:t>통계</a:t>
            </a:r>
            <a:r>
              <a:rPr lang="en-US" altLang="ko-KR" dirty="0"/>
              <a:t>=&gt;POISSON.DIST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   =&gt;x </a:t>
            </a:r>
            <a:r>
              <a:rPr lang="ko-KR" altLang="en-US" dirty="0"/>
              <a:t>입력</a:t>
            </a:r>
            <a:r>
              <a:rPr lang="en-US" altLang="ko-KR" dirty="0"/>
              <a:t>=&gt;</a:t>
            </a:r>
            <a:r>
              <a:rPr lang="ko-KR" altLang="en-US" dirty="0"/>
              <a:t>평균</a:t>
            </a:r>
            <a:r>
              <a:rPr lang="en-US" altLang="ko-KR" dirty="0"/>
              <a:t>(    )</a:t>
            </a:r>
            <a:r>
              <a:rPr lang="ko-KR" altLang="en-US" dirty="0"/>
              <a:t>입력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 </a:t>
            </a:r>
            <a:r>
              <a:rPr lang="en-US" altLang="ko-KR" dirty="0"/>
              <a:t>3) </a:t>
            </a:r>
            <a:r>
              <a:rPr lang="ko-KR" altLang="en-US" dirty="0"/>
              <a:t>차트</a:t>
            </a:r>
            <a:r>
              <a:rPr lang="en-US" altLang="ko-KR" dirty="0"/>
              <a:t>=&gt;</a:t>
            </a:r>
            <a:r>
              <a:rPr lang="ko-KR" altLang="en-US" dirty="0"/>
              <a:t>세로막대형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  </a:t>
            </a:r>
          </a:p>
        </p:txBody>
      </p:sp>
      <p:graphicFrame>
        <p:nvGraphicFramePr>
          <p:cNvPr id="92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1739032"/>
              </p:ext>
            </p:extLst>
          </p:nvPr>
        </p:nvGraphicFramePr>
        <p:xfrm>
          <a:off x="4716016" y="4797152"/>
          <a:ext cx="48418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9" name="Equation" r:id="rId3" imgW="164880" imgH="139680" progId="Equation.3">
                  <p:embed/>
                </p:oleObj>
              </mc:Choice>
              <mc:Fallback>
                <p:oleObj name="Equation" r:id="rId3" imgW="164880" imgH="139680" progId="Equation.3">
                  <p:embed/>
                  <p:pic>
                    <p:nvPicPr>
                      <p:cNvPr id="92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4797152"/>
                        <a:ext cx="484187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609FD5ED-BB00-45A2-8B6B-AFB086AE181B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1223"/>
            <a:ext cx="8229600" cy="313331"/>
          </a:xfrm>
        </p:spPr>
        <p:txBody>
          <a:bodyPr/>
          <a:lstStyle/>
          <a:p>
            <a:pPr eaLnBrk="1" hangingPunct="1"/>
            <a:r>
              <a:rPr lang="en-US" altLang="ko-KR" dirty="0"/>
              <a:t>HW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220920"/>
            <a:ext cx="8229600" cy="478472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ko-KR" sz="1400" dirty="0"/>
              <a:t>1.</a:t>
            </a:r>
          </a:p>
          <a:p>
            <a:pPr marL="0" indent="0" eaLnBrk="1" hangingPunct="1">
              <a:buNone/>
            </a:pPr>
            <a:endParaRPr lang="en-US" altLang="ko-KR" sz="1400" dirty="0"/>
          </a:p>
          <a:p>
            <a:pPr marL="0" indent="0" eaLnBrk="1" hangingPunct="1">
              <a:buNone/>
            </a:pPr>
            <a:endParaRPr lang="en-US" altLang="ko-KR" sz="1400" dirty="0"/>
          </a:p>
          <a:p>
            <a:pPr marL="0" indent="0" eaLnBrk="1" hangingPunct="1">
              <a:buNone/>
            </a:pPr>
            <a:endParaRPr lang="en-US" altLang="ko-KR" sz="1400" dirty="0"/>
          </a:p>
          <a:p>
            <a:pPr marL="0" indent="0" eaLnBrk="1" hangingPunct="1">
              <a:buNone/>
            </a:pPr>
            <a:endParaRPr lang="en-US" altLang="ko-KR" sz="1400" dirty="0"/>
          </a:p>
          <a:p>
            <a:pPr marL="0" indent="0" eaLnBrk="1" hangingPunct="1">
              <a:buNone/>
            </a:pPr>
            <a:endParaRPr lang="en-US" altLang="ko-KR" sz="1400" dirty="0"/>
          </a:p>
          <a:p>
            <a:pPr marL="0" indent="0" eaLnBrk="1" hangingPunct="1">
              <a:buNone/>
            </a:pPr>
            <a:endParaRPr lang="en-US" altLang="ko-KR" sz="1400" dirty="0"/>
          </a:p>
          <a:p>
            <a:pPr marL="0" indent="0" eaLnBrk="1" hangingPunct="1">
              <a:buNone/>
            </a:pPr>
            <a:endParaRPr lang="en-US" altLang="ko-KR" sz="1400" dirty="0"/>
          </a:p>
          <a:p>
            <a:pPr marL="0" indent="0" eaLnBrk="1" hangingPunct="1">
              <a:buNone/>
            </a:pPr>
            <a:endParaRPr lang="en-US" altLang="ko-KR" sz="1400" dirty="0"/>
          </a:p>
          <a:p>
            <a:pPr marL="0" indent="0" eaLnBrk="1" hangingPunct="1">
              <a:buNone/>
            </a:pPr>
            <a:endParaRPr lang="en-US" altLang="ko-KR" sz="1400" dirty="0"/>
          </a:p>
          <a:p>
            <a:pPr marL="0" indent="0" eaLnBrk="1" hangingPunct="1">
              <a:buNone/>
            </a:pPr>
            <a:endParaRPr lang="en-US" altLang="ko-KR" sz="1400" dirty="0"/>
          </a:p>
          <a:p>
            <a:pPr marL="0" indent="0" eaLnBrk="1" hangingPunct="1">
              <a:buNone/>
            </a:pPr>
            <a:endParaRPr lang="en-US" altLang="ko-KR" sz="1400" dirty="0"/>
          </a:p>
          <a:p>
            <a:pPr marL="0" indent="0" eaLnBrk="1" hangingPunct="1">
              <a:buNone/>
            </a:pPr>
            <a:r>
              <a:rPr lang="en-US" altLang="ko-KR" sz="1400" dirty="0"/>
              <a:t>2.</a:t>
            </a:r>
          </a:p>
          <a:p>
            <a:pPr marL="0" indent="0" eaLnBrk="1" hangingPunct="1">
              <a:buNone/>
            </a:pPr>
            <a:endParaRPr lang="en-US" altLang="ko-KR" sz="1400" dirty="0"/>
          </a:p>
          <a:p>
            <a:pPr marL="0" indent="0" eaLnBrk="1" hangingPunct="1">
              <a:buNone/>
            </a:pPr>
            <a:endParaRPr lang="en-US" altLang="ko-KR" sz="1400" dirty="0"/>
          </a:p>
          <a:p>
            <a:pPr marL="0" indent="0" eaLnBrk="1" hangingPunct="1">
              <a:buNone/>
            </a:pPr>
            <a:endParaRPr lang="en-US" altLang="ko-KR" sz="1400" dirty="0"/>
          </a:p>
          <a:p>
            <a:pPr marL="0" indent="0" eaLnBrk="1" hangingPunct="1">
              <a:buNone/>
            </a:pPr>
            <a:endParaRPr lang="en-US" altLang="ko-KR" sz="1400" dirty="0"/>
          </a:p>
          <a:p>
            <a:pPr marL="0" indent="0" eaLnBrk="1" hangingPunct="1">
              <a:buNone/>
            </a:pPr>
            <a:endParaRPr lang="en-US" altLang="ko-KR" sz="1400" dirty="0"/>
          </a:p>
          <a:p>
            <a:pPr marL="0" indent="0" eaLnBrk="1" hangingPunct="1">
              <a:buNone/>
            </a:pPr>
            <a:endParaRPr lang="en-US" altLang="ko-KR" sz="1400" dirty="0"/>
          </a:p>
          <a:p>
            <a:pPr marL="0" indent="0" eaLnBrk="1" hangingPunct="1">
              <a:buNone/>
            </a:pPr>
            <a:endParaRPr lang="en-US" altLang="ko-KR" sz="1400" dirty="0"/>
          </a:p>
          <a:p>
            <a:pPr marL="0" indent="0" eaLnBrk="1" hangingPunct="1">
              <a:buNone/>
            </a:pPr>
            <a:r>
              <a:rPr lang="en-US" altLang="ko-KR" sz="1400" dirty="0"/>
              <a:t>3.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E79A9E7-B9F3-448B-A777-23E279B15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89388"/>
            <a:ext cx="9144000" cy="107354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F634C0F-B5F4-48A9-B1A1-1364166349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5" y="3581349"/>
            <a:ext cx="9144000" cy="171616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6B5035F-3EC8-44DA-B48A-FFAFF45EA2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6664"/>
            <a:ext cx="9144000" cy="275998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80B07D-429B-4B67-97EB-B6745222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CEB070-0F7C-4CD1-A633-27D1741EC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4. </a:t>
            </a:r>
            <a:r>
              <a:rPr lang="ko-KR" altLang="en-US" sz="2400" dirty="0"/>
              <a:t>어느 회사에서 사원을 </a:t>
            </a:r>
            <a:r>
              <a:rPr lang="en-US" altLang="ko-KR" sz="2400" dirty="0"/>
              <a:t>8</a:t>
            </a:r>
            <a:r>
              <a:rPr lang="ko-KR" altLang="en-US" sz="2400" dirty="0"/>
              <a:t>명 모집하기 위해 신문에 광고를 </a:t>
            </a:r>
            <a:r>
              <a:rPr lang="ko-KR" altLang="en-US" sz="2400" dirty="0" err="1"/>
              <a:t>내었더니</a:t>
            </a:r>
            <a:r>
              <a:rPr lang="ko-KR" altLang="en-US" sz="2400" dirty="0"/>
              <a:t> </a:t>
            </a:r>
            <a:r>
              <a:rPr lang="en-US" altLang="ko-KR" sz="2400" dirty="0"/>
              <a:t>15</a:t>
            </a:r>
            <a:r>
              <a:rPr lang="ko-KR" altLang="en-US" sz="2400" dirty="0"/>
              <a:t>명의 남자와 </a:t>
            </a:r>
            <a:r>
              <a:rPr lang="en-US" altLang="ko-KR" sz="2400" dirty="0"/>
              <a:t>8</a:t>
            </a:r>
            <a:r>
              <a:rPr lang="ko-KR" altLang="en-US" sz="2400" dirty="0"/>
              <a:t>명의 여자가 지원하였다</a:t>
            </a:r>
            <a:r>
              <a:rPr lang="en-US" altLang="ko-KR" sz="2400" dirty="0"/>
              <a:t>. </a:t>
            </a:r>
            <a:r>
              <a:rPr lang="ko-KR" altLang="en-US" sz="2400" dirty="0"/>
              <a:t>임의로 </a:t>
            </a:r>
            <a:r>
              <a:rPr lang="en-US" altLang="ko-KR" sz="2400" dirty="0"/>
              <a:t>8</a:t>
            </a:r>
            <a:r>
              <a:rPr lang="ko-KR" altLang="en-US" sz="2400" dirty="0"/>
              <a:t>명을 선택한다고 한다면 </a:t>
            </a:r>
            <a:r>
              <a:rPr lang="en-US" altLang="ko-KR" sz="2400" dirty="0"/>
              <a:t>8</a:t>
            </a:r>
            <a:r>
              <a:rPr lang="ko-KR" altLang="en-US" sz="2400" dirty="0"/>
              <a:t>명 중에 여자가 </a:t>
            </a:r>
            <a:r>
              <a:rPr lang="en-US" altLang="ko-KR" sz="2400" dirty="0"/>
              <a:t>3</a:t>
            </a:r>
            <a:r>
              <a:rPr lang="ko-KR" altLang="en-US" sz="2400" dirty="0"/>
              <a:t>명 이상일 확률을 구하여라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62880039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3036</TotalTime>
  <Words>1583</Words>
  <Application>Microsoft Office PowerPoint</Application>
  <PresentationFormat>화면 슬라이드 쇼(4:3)</PresentationFormat>
  <Paragraphs>187</Paragraphs>
  <Slides>26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굴림</vt:lpstr>
      <vt:lpstr>Arial</vt:lpstr>
      <vt:lpstr>Wingdings</vt:lpstr>
      <vt:lpstr>기본 디자인</vt:lpstr>
      <vt:lpstr>Equation</vt:lpstr>
      <vt:lpstr>수식</vt:lpstr>
      <vt:lpstr>이산형 변수의 확률분포</vt:lpstr>
      <vt:lpstr>1. 이산형 변수의 확률분포</vt:lpstr>
      <vt:lpstr>2. 이산 균등분포(discrete uniform distribution)</vt:lpstr>
      <vt:lpstr>3. 이항분포와 그에 관련된 분포</vt:lpstr>
      <vt:lpstr>4. bernoulli trial(베르누이 시행)</vt:lpstr>
      <vt:lpstr>PowerPoint 프레젠테이션</vt:lpstr>
      <vt:lpstr>PowerPoint 프레젠테이션</vt:lpstr>
      <vt:lpstr>5. binomial distribution(이항분포)</vt:lpstr>
      <vt:lpstr>PowerPoint 프레젠테이션</vt:lpstr>
      <vt:lpstr>PowerPoint 프레젠테이션</vt:lpstr>
      <vt:lpstr>이항분포의 확률 히스토그램</vt:lpstr>
      <vt:lpstr>확률계산 및 특징값</vt:lpstr>
      <vt:lpstr>EXCEL 연습</vt:lpstr>
      <vt:lpstr>PowerPoint 프레젠테이션</vt:lpstr>
      <vt:lpstr>EXCEL 연습</vt:lpstr>
      <vt:lpstr>EXCEL 연습</vt:lpstr>
      <vt:lpstr>4. 초기하분포(hypergeometric distribution)</vt:lpstr>
      <vt:lpstr>4. 초기하분포(hypergeometric distribution)</vt:lpstr>
      <vt:lpstr>PowerPoint 프레젠테이션</vt:lpstr>
      <vt:lpstr>5. 포아송분포(Poisson distribution)</vt:lpstr>
      <vt:lpstr>5. 포아송분포(Poisson distribution)</vt:lpstr>
      <vt:lpstr>PowerPoint 프레젠테이션</vt:lpstr>
      <vt:lpstr>PowerPoint 프레젠테이션</vt:lpstr>
      <vt:lpstr>EXCEL 연습</vt:lpstr>
      <vt:lpstr>HW</vt:lpstr>
      <vt:lpstr>HW</vt:lpstr>
    </vt:vector>
  </TitlesOfParts>
  <Company>멀티미디어공학과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이항분포와 그에 관련된  분포들</dc:title>
  <dc:creator>엄종석</dc:creator>
  <cp:lastModifiedBy>Windows 사용자</cp:lastModifiedBy>
  <cp:revision>98</cp:revision>
  <dcterms:created xsi:type="dcterms:W3CDTF">2005-04-24T08:32:08Z</dcterms:created>
  <dcterms:modified xsi:type="dcterms:W3CDTF">2026-04-12T08:20:15Z</dcterms:modified>
</cp:coreProperties>
</file>